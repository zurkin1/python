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1" r:id="rId15"/>
    <p:sldId id="270"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3" d="100"/>
          <a:sy n="73" d="100"/>
        </p:scale>
        <p:origin x="380"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3992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שיעור 5: היום כל הכיתה מתחרה! שתי קבוצות בונות בוט שמנסה לגלות אם הוא מדבר עם בן אדם או עם מחשב.</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אלן טיורינג (1912-1954) היה מתמטיקאי בריטי. במלחמת העולם השנייה עזר לפצח את מכונת ההצפנה הגרמנית אניגמה. הוא נחשב לאבי מדעי המחשב. ב-1950 כתב מאמר ששאל: "האם מכונות יכולות לחשוב?" - ובמקום לענות, הציע משחק.</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משחק החיקוי: שופט אנושי מתכתב (רק בטקסט!) עם שני צדדים שהוא לא רואה: בן אדם ומחשב. הוא שואל שאלות, ובסוף צריך להגיד מי הוא מי. למה רק טקסט? כדי שהקול או המראה לא יסגירו את המחשב.</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אם השופט לא מצליח להבדיל בין האדם למחשב - המחשב "עבר" את המבחן. במשך 70 שנה זה היה כמעט בלתי אפשרי. היום מודלי שפה כמו Gemini מדברים כל כך טבעי, שבניסויים חדשים (למשל מחקר מאוניברסיטת סן דייגו ב-2025) שופטים רבים לא הצליחו להבדיל - ולפעמים אפילו בחרו במחשב בתור "הבן אדם".</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הטוויסט של היום: השופט הוא לא בן אדם - השופט הוא הבוט שלכם! הבוט מנהל שיחה ומחליט אם הצד השני הוא בן אדם או מחשב. יש לו עד 8 משפטים של הצד השני - ואז הוא חייב לנחש. ובאותו זמן הוא גם צריך לענות לשאלות של הצד השני.</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החוקים: כל הודעה עד 30 מילים. בהגדרות יש STARTS_FIRST שקובע אם הבוט פותח את השיחה. אחרי כל תשובה של הצד השני, הבוט בוחר: להמשיך לשוחח, או לנחש. ניחוש נגמר את המשחק. בתור 8 הבוט חייב לנחש. הניחוש נכתב בדיוק כך: GUESS: HUMAN או GUESS: BOT.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הניקוד פשוט: ניחוש שגוי - הפסד מיידי. ניחוש נכון - ניצחון, ומספר הצעדים הוא התוצאה: כמה הודעות הבוט קיבל לפני שניחש. כמה שפחות - יותר טוב. כלומר צריך לאזן: לנחש מהר, אבל לא לנחש סתם.</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דוגמה (מומצאת) לשיחה קצרה. הבוט שאל שאלת חשבון קשה, ואז שאלה אישית. התשובות היו קצרות, עם סלנג, ובלי ידע מושלם - ולכן הבוט ניחש HUMAN אחרי 3 צעדים. ניחוש נכון!</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יש שני קבצים. turing_bot.py - הבוט של הקבוצה, וכל מה שבו משנים: הגדרות, SYSTEM_PROMPT, OPENING_LINES והפונקציה decide. bot_tools.py - הכלים המוכנים: ask_gemini, history_text, clean_reply, המשחק וההיסטוריה, המפתח והמודל. לא נוגעים בו - רק מדביקים בו את המפתח. כדי לבדוק את הבוט מריצים את bot_tools.py. בסוף מגישים את turing_bot.py.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Gemini לא זוכר כלום בין קריאה לקריאה! כל פעם שאנחנו שולחים שאלה, הוא מתחיל מאפס. לכן שומרים את כל השיחה ברשימה history, ובכל תור שולחים לו את כל השיחה. הקובץ המוכן עושה את זה בשבילכם: respond מוסיפה כל הודעה לרשימה, ו-history_text הופכת אותה למחרוזת אחת.</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system_instruction הן הוראות קבועות שמגדירות מי Gemini ואיך הוא מתנהג - בנפרד מהשאלה עצמה. כאן קובעים את האישיות של הבוט: גיל, סגנון דיבור, ואיך לגלות מחשבים. ask_gemini מקבלת שני דברים: system (ההוראות) ו-prompt (הבקשה של התור הזה).</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decide היא המוח של הבוט. היא מקבלת את השיחה עד עכשיו (history), כמה הודעות קיבלנו (turn) וכמה שלחנו (sent), ומחזירה הודעה או ניחוש. בקובץ המוכן היא עושה שלושה דברים: משפטי פתיחה קבועים, ניחוש בתור 8, ואחרת - מבקשת מ-Gemini לכתוב את ההודעה הבאה או לנחש. אחרי זה bot_tools בודק את התשובה עם clean_reply (30 מילים, פורמט הניחוש) - כמו שלמדנו: לא סומכים על AI בעיניים עצומות.</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רעיונות לשיפור - כל קבוצה בוחרת את האסטרטגיה שלה. אפשר לשלב: משפטים קבועים חוסכים זמן; בלש שמחפש סתירות (בני אדם שוכחים מה אמרו) או ידע מושלם מדי (Gemini יודע הכול ומנסח יפה); שאלות מכשילות; קריאה שנייה ל-Gemini שרק מנתחת את השיחה ומחליטה אם לנחש; ובתפקיד המתחזה - שגיאות כתיב, סלנג, "לא יודע".</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שלושה דברים שכדאי לשנות. 1) SYSTEM_PROMPT: אישיות מפורטת (גיל, עיר, תחביבים), סגנון כתיבה אנושי, ורמזים לבלש: מה מסגיר מחשב. 2) OPENING_LINES: שאלות מלכודת קבועות - חשבון קשה, מה קורה עכשיו בחוץ, משימה מוזרה. 3) decide: אפשר להוסיף פונקציה חדשה - "בלש" - שמבקשת מ-Gemini רק לנתח את השיחה ולענות HUMAN / BOT / UNSURE. אם הבלש בטוח, ואחרי כמה תורות - מנחשים. בדקנו: על תשובה "של ספר" הבלש ענה BOT, ועל "כלום חחח איחרתי" ענה HUMAN.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בודקים את הבוט: מריצים את bot_tools.py ומקלידים בעצמכם את התשובות של הצד השני. נסו לענות כמו בן אדם, ונסו לענות כמו מחשב (אפשר להעתיק תשובה מ-Gemini). האם הבוט מנחש נכון? לוח זמנים: 45 דקות פיתוח, ואז מגישים את turing_bot.py עם שם הקבוצה.</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שיעורי בית: המשחק "20 שאלות". אתם חושבים על משהו (אדם מפורסם, חיה, ספר, מקום...), ו-Gemini מנסה לגלות מה זה. בכל תור Gemini שואל שאלה אחת של כן/לא, ואתם עונים עם input. אחרי כל תשובה - שומרים את השאלה והתשובה בהיסטוריה (כמו היום), ושולחים ל-Gemini את כל השיחה כדי שישאל את השאלה הבאה. כשהוא בטוח, או אחרי 20 שאלות, הוא מנחש. אפשר להשתמש ב-ask_gemini וב-history_text מ-bot_tools.py. בונוס: להפוך את התפקידים - Gemini חושב על משהו ואתם שואלים.</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Oval 1"/>
          <p:cNvSpPr/>
          <p:nvPr/>
        </p:nvSpPr>
        <p:spPr>
          <a:xfrm>
            <a:off x="685800" y="868680"/>
            <a:ext cx="5120640" cy="512064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868680"/>
            <a:ext cx="5120640" cy="5120640"/>
          </a:xfrm>
          <a:prstGeom prst="rect">
            <a:avLst/>
          </a:prstGeom>
          <a:noFill/>
        </p:spPr>
        <p:txBody>
          <a:bodyPr wrap="square" lIns="45720" rIns="45720" anchor="ctr">
            <a:spAutoFit/>
          </a:bodyPr>
          <a:lstStyle/>
          <a:p>
            <a:pPr algn="ctr" rtl="0"/>
            <a:r>
              <a:rPr lang="en-US" sz="11000" b="0" i="0">
                <a:solidFill>
                  <a:srgbClr val="1B2B34"/>
                </a:solidFill>
                <a:latin typeface="Arial"/>
                <a:cs typeface="Arial"/>
              </a:rPr>
              <a:t>🕵️🤖</a:t>
            </a:r>
          </a:p>
        </p:txBody>
      </p:sp>
      <p:sp>
        <p:nvSpPr>
          <p:cNvPr id="4" name="Oval 3"/>
          <p:cNvSpPr/>
          <p:nvPr/>
        </p:nvSpPr>
        <p:spPr>
          <a:xfrm>
            <a:off x="5074920" y="731520"/>
            <a:ext cx="502920" cy="50292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85800" y="5257800"/>
            <a:ext cx="457200" cy="45720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486400" y="4937760"/>
            <a:ext cx="347472" cy="347472"/>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09360" y="1737360"/>
            <a:ext cx="5349240" cy="1014984"/>
          </a:xfrm>
          <a:prstGeom prst="rect">
            <a:avLst/>
          </a:prstGeom>
          <a:noFill/>
        </p:spPr>
        <p:txBody>
          <a:bodyPr wrap="square" lIns="45720" rIns="45720" anchor="t">
            <a:spAutoFit/>
          </a:bodyPr>
          <a:lstStyle/>
          <a:p>
            <a:pPr algn="r" rtl="1"/>
            <a:r>
              <a:rPr lang="he-IL" sz="6000" b="1" i="0">
                <a:solidFill>
                  <a:srgbClr val="FFFFFF"/>
                </a:solidFill>
                <a:latin typeface="Arial"/>
                <a:cs typeface="Arial"/>
              </a:rPr>
              <a:t>שיעור 5</a:t>
            </a:r>
          </a:p>
        </p:txBody>
      </p:sp>
      <p:sp>
        <p:nvSpPr>
          <p:cNvPr id="8" name="TextBox 7"/>
          <p:cNvSpPr txBox="1"/>
          <p:nvPr/>
        </p:nvSpPr>
        <p:spPr>
          <a:xfrm>
            <a:off x="6309360" y="2834640"/>
            <a:ext cx="5349240" cy="523220"/>
          </a:xfrm>
          <a:prstGeom prst="rect">
            <a:avLst/>
          </a:prstGeom>
          <a:noFill/>
        </p:spPr>
        <p:txBody>
          <a:bodyPr wrap="square" lIns="45720" rIns="45720" anchor="t">
            <a:spAutoFit/>
          </a:bodyPr>
          <a:lstStyle/>
          <a:p>
            <a:pPr algn="r" rtl="1"/>
            <a:r>
              <a:rPr lang="he-IL" sz="2800" b="0" i="0" dirty="0">
                <a:solidFill>
                  <a:srgbClr val="FFD166"/>
                </a:solidFill>
                <a:latin typeface="Arial"/>
                <a:cs typeface="Arial"/>
              </a:rPr>
              <a:t>מבחן טיורינג</a:t>
            </a:r>
          </a:p>
        </p:txBody>
      </p:sp>
      <p:sp>
        <p:nvSpPr>
          <p:cNvPr id="9" name="TextBox 8"/>
          <p:cNvSpPr txBox="1"/>
          <p:nvPr/>
        </p:nvSpPr>
        <p:spPr>
          <a:xfrm>
            <a:off x="6309360" y="3657600"/>
            <a:ext cx="5349240" cy="707886"/>
          </a:xfrm>
          <a:prstGeom prst="rect">
            <a:avLst/>
          </a:prstGeom>
          <a:noFill/>
        </p:spPr>
        <p:txBody>
          <a:bodyPr wrap="square" lIns="45720" rIns="45720" anchor="t">
            <a:spAutoFit/>
          </a:bodyPr>
          <a:lstStyle/>
          <a:p>
            <a:pPr algn="r" rtl="1"/>
            <a:r>
              <a:rPr lang="he-IL" sz="2000" b="0" i="0" dirty="0">
                <a:solidFill>
                  <a:srgbClr val="CDE8D8"/>
                </a:solidFill>
                <a:latin typeface="Arial"/>
                <a:cs typeface="Arial"/>
              </a:rPr>
              <a:t>איזה בוט יגלה הכי מהר אם הוא מדבר עם בן אדם או עם מחשב?</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2</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מי היה אלן טיורינג?</a:t>
            </a:r>
          </a:p>
        </p:txBody>
      </p:sp>
      <p:sp>
        <p:nvSpPr>
          <p:cNvPr id="4" name="Rounded Rectangle 3"/>
          <p:cNvSpPr/>
          <p:nvPr/>
        </p:nvSpPr>
        <p:spPr>
          <a:xfrm>
            <a:off x="8092440" y="1417320"/>
            <a:ext cx="3520440" cy="246888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436608" y="1554480"/>
            <a:ext cx="822960" cy="82296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600" b="1" i="0">
                <a:solidFill>
                  <a:srgbClr val="FFFFFF"/>
                </a:solidFill>
                <a:latin typeface="Arial"/>
                <a:cs typeface="Arial"/>
              </a:rPr>
              <a:t>🧮</a:t>
            </a:r>
          </a:p>
        </p:txBody>
      </p:sp>
      <p:sp>
        <p:nvSpPr>
          <p:cNvPr id="6" name="TextBox 5"/>
          <p:cNvSpPr txBox="1"/>
          <p:nvPr/>
        </p:nvSpPr>
        <p:spPr>
          <a:xfrm>
            <a:off x="8092440" y="2514600"/>
            <a:ext cx="3520440" cy="457200"/>
          </a:xfrm>
          <a:prstGeom prst="rect">
            <a:avLst/>
          </a:prstGeom>
          <a:noFill/>
        </p:spPr>
        <p:txBody>
          <a:bodyPr wrap="square" lIns="45720" rIns="45720" anchor="t">
            <a:spAutoFit/>
          </a:bodyPr>
          <a:lstStyle/>
          <a:p>
            <a:pPr algn="ctr" rtl="1"/>
            <a:r>
              <a:rPr lang="he-IL" sz="2100" b="1" i="0">
                <a:solidFill>
                  <a:srgbClr val="1B2B34"/>
                </a:solidFill>
                <a:latin typeface="Arial"/>
                <a:cs typeface="Arial"/>
              </a:rPr>
              <a:t>מתמטיקאי בריטי</a:t>
            </a:r>
          </a:p>
        </p:txBody>
      </p:sp>
      <p:sp>
        <p:nvSpPr>
          <p:cNvPr id="7" name="TextBox 6"/>
          <p:cNvSpPr txBox="1"/>
          <p:nvPr/>
        </p:nvSpPr>
        <p:spPr>
          <a:xfrm>
            <a:off x="8275319" y="3017520"/>
            <a:ext cx="3154680" cy="73152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1912 - 1954</a:t>
            </a:r>
          </a:p>
        </p:txBody>
      </p:sp>
      <p:sp>
        <p:nvSpPr>
          <p:cNvPr id="8" name="Rounded Rectangle 7"/>
          <p:cNvSpPr/>
          <p:nvPr/>
        </p:nvSpPr>
        <p:spPr>
          <a:xfrm>
            <a:off x="4343400" y="1417320"/>
            <a:ext cx="3520440" cy="246888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687568" y="1554480"/>
            <a:ext cx="822960" cy="82296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600" b="1" i="0">
                <a:solidFill>
                  <a:srgbClr val="FFFFFF"/>
                </a:solidFill>
                <a:latin typeface="Arial"/>
                <a:cs typeface="Arial"/>
              </a:rPr>
              <a:t>🔐</a:t>
            </a:r>
          </a:p>
        </p:txBody>
      </p:sp>
      <p:sp>
        <p:nvSpPr>
          <p:cNvPr id="10" name="TextBox 9"/>
          <p:cNvSpPr txBox="1"/>
          <p:nvPr/>
        </p:nvSpPr>
        <p:spPr>
          <a:xfrm>
            <a:off x="4343400" y="2514600"/>
            <a:ext cx="3520440" cy="457200"/>
          </a:xfrm>
          <a:prstGeom prst="rect">
            <a:avLst/>
          </a:prstGeom>
          <a:noFill/>
        </p:spPr>
        <p:txBody>
          <a:bodyPr wrap="square" lIns="45720" rIns="45720" anchor="t">
            <a:spAutoFit/>
          </a:bodyPr>
          <a:lstStyle/>
          <a:p>
            <a:pPr algn="ctr" rtl="1"/>
            <a:r>
              <a:rPr lang="he-IL" sz="2100" b="1" i="0">
                <a:solidFill>
                  <a:srgbClr val="1B2B34"/>
                </a:solidFill>
                <a:latin typeface="Arial"/>
                <a:cs typeface="Arial"/>
              </a:rPr>
              <a:t>פיצח את האניגמה</a:t>
            </a:r>
          </a:p>
        </p:txBody>
      </p:sp>
      <p:sp>
        <p:nvSpPr>
          <p:cNvPr id="11" name="TextBox 10"/>
          <p:cNvSpPr txBox="1"/>
          <p:nvPr/>
        </p:nvSpPr>
        <p:spPr>
          <a:xfrm>
            <a:off x="4526280" y="3017520"/>
            <a:ext cx="3154680" cy="73152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קוד סודי במלחמת העולם השנייה</a:t>
            </a:r>
          </a:p>
        </p:txBody>
      </p:sp>
      <p:sp>
        <p:nvSpPr>
          <p:cNvPr id="12" name="Rounded Rectangle 11"/>
          <p:cNvSpPr/>
          <p:nvPr/>
        </p:nvSpPr>
        <p:spPr>
          <a:xfrm>
            <a:off x="579121" y="2525351"/>
            <a:ext cx="3520440" cy="246888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923289" y="2662511"/>
            <a:ext cx="822960" cy="82296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600" b="1" i="0">
                <a:solidFill>
                  <a:srgbClr val="FFFFFF"/>
                </a:solidFill>
                <a:latin typeface="Arial"/>
                <a:cs typeface="Arial"/>
              </a:rPr>
              <a:t>💻</a:t>
            </a:r>
          </a:p>
        </p:txBody>
      </p:sp>
      <p:sp>
        <p:nvSpPr>
          <p:cNvPr id="14" name="TextBox 13"/>
          <p:cNvSpPr txBox="1"/>
          <p:nvPr/>
        </p:nvSpPr>
        <p:spPr>
          <a:xfrm>
            <a:off x="579121" y="3622631"/>
            <a:ext cx="3520440" cy="457200"/>
          </a:xfrm>
          <a:prstGeom prst="rect">
            <a:avLst/>
          </a:prstGeom>
          <a:noFill/>
        </p:spPr>
        <p:txBody>
          <a:bodyPr wrap="square" lIns="45720" rIns="45720" anchor="t">
            <a:spAutoFit/>
          </a:bodyPr>
          <a:lstStyle/>
          <a:p>
            <a:pPr algn="ctr" rtl="1"/>
            <a:r>
              <a:rPr lang="he-IL" sz="2100" b="1" i="0">
                <a:solidFill>
                  <a:srgbClr val="1B2B34"/>
                </a:solidFill>
                <a:latin typeface="Arial"/>
                <a:cs typeface="Arial"/>
              </a:rPr>
              <a:t>אבי מדעי המחשב</a:t>
            </a:r>
          </a:p>
        </p:txBody>
      </p:sp>
      <p:sp>
        <p:nvSpPr>
          <p:cNvPr id="15" name="TextBox 14"/>
          <p:cNvSpPr txBox="1"/>
          <p:nvPr/>
        </p:nvSpPr>
        <p:spPr>
          <a:xfrm>
            <a:off x="762001" y="4125551"/>
            <a:ext cx="3154680" cy="73152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המציא את הרעיון של מחשב</a:t>
            </a:r>
          </a:p>
        </p:txBody>
      </p:sp>
      <p:sp>
        <p:nvSpPr>
          <p:cNvPr id="16" name="Rounded Rectangle 15"/>
          <p:cNvSpPr/>
          <p:nvPr/>
        </p:nvSpPr>
        <p:spPr>
          <a:xfrm>
            <a:off x="777240" y="5086839"/>
            <a:ext cx="11091672" cy="1463040"/>
          </a:xfrm>
          <a:prstGeom prst="roundRect">
            <a:avLst>
              <a:gd name="adj" fmla="val 12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5272056"/>
            <a:ext cx="10607040" cy="1092607"/>
          </a:xfrm>
          <a:prstGeom prst="rect">
            <a:avLst/>
          </a:prstGeom>
          <a:noFill/>
        </p:spPr>
        <p:txBody>
          <a:bodyPr wrap="square" lIns="45720" rIns="45720" anchor="ctr">
            <a:spAutoFit/>
          </a:bodyPr>
          <a:lstStyle/>
          <a:p>
            <a:pPr algn="r" rtl="1">
              <a:spcAft>
                <a:spcPts val="600"/>
              </a:spcAft>
            </a:pPr>
            <a:r>
              <a:rPr lang="he-IL" sz="2000" b="1" i="0" dirty="0">
                <a:solidFill>
                  <a:srgbClr val="1B2B34"/>
                </a:solidFill>
                <a:latin typeface="Arial"/>
                <a:cs typeface="Arial"/>
              </a:rPr>
              <a:t>ב-1950 טיורינג שאל: </a:t>
            </a:r>
            <a:r>
              <a:rPr lang="he-IL" sz="2000" b="1" i="0" dirty="0">
                <a:solidFill>
                  <a:srgbClr val="EF476F"/>
                </a:solidFill>
                <a:latin typeface="Arial"/>
                <a:cs typeface="Arial"/>
              </a:rPr>
              <a:t>האם מכונה יכולה לחשוב?, האם תתכן תודעה למחשב?, האם מחשב יכול להיות אינטיליגנטי כמו בן-אדם?</a:t>
            </a:r>
          </a:p>
          <a:p>
            <a:pPr algn="r" rtl="1">
              <a:spcAft>
                <a:spcPts val="600"/>
              </a:spcAft>
            </a:pPr>
            <a:r>
              <a:rPr lang="he-IL" sz="2000" b="0" i="0" dirty="0">
                <a:solidFill>
                  <a:srgbClr val="1B2B34"/>
                </a:solidFill>
                <a:latin typeface="Arial"/>
                <a:cs typeface="Arial"/>
              </a:rPr>
              <a:t>קשה להגדיר "לחשוב"... אז במקום לענות, הוא המציא משחק.</a:t>
            </a:r>
          </a:p>
        </p:txBody>
      </p:sp>
      <p:pic>
        <p:nvPicPr>
          <p:cNvPr id="18" name="Picture 17" descr="Alan Turing: The Father of Artificial Intelligence and His Relevance to  Data Scientists">
            <a:extLst>
              <a:ext uri="{FF2B5EF4-FFF2-40B4-BE49-F238E27FC236}">
                <a16:creationId xmlns:a16="http://schemas.microsoft.com/office/drawing/2014/main" id="{4D560CEF-1861-6DEF-9CDA-AD24B7C94FD6}"/>
              </a:ext>
            </a:extLst>
          </p:cNvPr>
          <p:cNvPicPr>
            <a:picLocks noChangeAspect="1"/>
          </p:cNvPicPr>
          <p:nvPr/>
        </p:nvPicPr>
        <p:blipFill>
          <a:blip r:embed="rId3"/>
          <a:stretch>
            <a:fillRect/>
          </a:stretch>
        </p:blipFill>
        <p:spPr>
          <a:xfrm>
            <a:off x="166353" y="160736"/>
            <a:ext cx="4057304" cy="22784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3</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מבחן טיורינג: </a:t>
            </a:r>
            <a:r>
              <a:rPr lang="he-IL" sz="3600" b="1" i="0" dirty="0">
                <a:solidFill>
                  <a:srgbClr val="FF0000"/>
                </a:solidFill>
                <a:latin typeface="Arial"/>
                <a:cs typeface="Arial"/>
              </a:rPr>
              <a:t>משחק החיקוי</a:t>
            </a:r>
          </a:p>
        </p:txBody>
      </p:sp>
      <p:sp>
        <p:nvSpPr>
          <p:cNvPr id="4" name="Rounded Rectangle 3"/>
          <p:cNvSpPr/>
          <p:nvPr/>
        </p:nvSpPr>
        <p:spPr>
          <a:xfrm>
            <a:off x="8686800" y="2103120"/>
            <a:ext cx="2926080" cy="2377440"/>
          </a:xfrm>
          <a:prstGeom prst="roundRect">
            <a:avLst>
              <a:gd name="adj" fmla="val 8000"/>
            </a:avLst>
          </a:prstGeom>
          <a:solidFill>
            <a:srgbClr val="E3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0" y="2240280"/>
            <a:ext cx="2926080" cy="914400"/>
          </a:xfrm>
          <a:prstGeom prst="rect">
            <a:avLst/>
          </a:prstGeom>
          <a:noFill/>
        </p:spPr>
        <p:txBody>
          <a:bodyPr wrap="square" lIns="45720" rIns="45720" anchor="t">
            <a:spAutoFit/>
          </a:bodyPr>
          <a:lstStyle/>
          <a:p>
            <a:pPr algn="ctr" rtl="0"/>
            <a:r>
              <a:rPr lang="en-US" sz="4400" b="0" i="0">
                <a:solidFill>
                  <a:srgbClr val="1B2B34"/>
                </a:solidFill>
                <a:latin typeface="Arial"/>
                <a:cs typeface="Arial"/>
              </a:rPr>
              <a:t>🧑‍⚖️</a:t>
            </a:r>
          </a:p>
        </p:txBody>
      </p:sp>
      <p:sp>
        <p:nvSpPr>
          <p:cNvPr id="6" name="TextBox 5"/>
          <p:cNvSpPr txBox="1"/>
          <p:nvPr/>
        </p:nvSpPr>
        <p:spPr>
          <a:xfrm>
            <a:off x="8686800" y="3246120"/>
            <a:ext cx="2926080" cy="430887"/>
          </a:xfrm>
          <a:prstGeom prst="rect">
            <a:avLst/>
          </a:prstGeom>
          <a:noFill/>
        </p:spPr>
        <p:txBody>
          <a:bodyPr wrap="square" lIns="45720" rIns="45720" anchor="t">
            <a:spAutoFit/>
          </a:bodyPr>
          <a:lstStyle/>
          <a:p>
            <a:pPr algn="ctr" rtl="1"/>
            <a:r>
              <a:rPr lang="he-IL" sz="2200" b="1" i="0" dirty="0">
                <a:solidFill>
                  <a:srgbClr val="1B2B34"/>
                </a:solidFill>
                <a:latin typeface="Arial"/>
                <a:cs typeface="Arial"/>
              </a:rPr>
              <a:t>שופט</a:t>
            </a:r>
          </a:p>
        </p:txBody>
      </p:sp>
      <p:sp>
        <p:nvSpPr>
          <p:cNvPr id="7" name="TextBox 6"/>
          <p:cNvSpPr txBox="1"/>
          <p:nvPr/>
        </p:nvSpPr>
        <p:spPr>
          <a:xfrm>
            <a:off x="8778240" y="3703320"/>
            <a:ext cx="2743200" cy="640080"/>
          </a:xfrm>
          <a:prstGeom prst="rect">
            <a:avLst/>
          </a:prstGeom>
          <a:noFill/>
        </p:spPr>
        <p:txBody>
          <a:bodyPr wrap="square" lIns="45720" rIns="45720" anchor="t">
            <a:spAutoFit/>
          </a:bodyPr>
          <a:lstStyle/>
          <a:p>
            <a:pPr algn="ctr" rtl="1"/>
            <a:r>
              <a:rPr lang="he-IL" sz="1400" b="0" i="0">
                <a:solidFill>
                  <a:srgbClr val="5F6F78"/>
                </a:solidFill>
                <a:latin typeface="Arial"/>
                <a:cs typeface="Arial"/>
              </a:rPr>
              <a:t>שואל שאלות בהודעות טקסט</a:t>
            </a:r>
          </a:p>
        </p:txBody>
      </p:sp>
      <p:sp>
        <p:nvSpPr>
          <p:cNvPr id="8" name="Rounded Rectangle 7"/>
          <p:cNvSpPr/>
          <p:nvPr/>
        </p:nvSpPr>
        <p:spPr>
          <a:xfrm>
            <a:off x="4206240" y="1463040"/>
            <a:ext cx="320040" cy="3931920"/>
          </a:xfrm>
          <a:prstGeom prst="roundRect">
            <a:avLst>
              <a:gd name="adj" fmla="val 30000"/>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840480" y="5486400"/>
            <a:ext cx="1097280" cy="365760"/>
          </a:xfrm>
          <a:prstGeom prst="rect">
            <a:avLst/>
          </a:prstGeom>
          <a:noFill/>
        </p:spPr>
        <p:txBody>
          <a:bodyPr wrap="square" lIns="45720" rIns="45720" anchor="t">
            <a:spAutoFit/>
          </a:bodyPr>
          <a:lstStyle/>
          <a:p>
            <a:pPr algn="ctr" rtl="1"/>
            <a:r>
              <a:rPr lang="he-IL" sz="1300" b="0" i="0">
                <a:solidFill>
                  <a:srgbClr val="5F6F78"/>
                </a:solidFill>
                <a:latin typeface="Arial"/>
                <a:cs typeface="Arial"/>
              </a:rPr>
              <a:t>קיר</a:t>
            </a:r>
          </a:p>
        </p:txBody>
      </p:sp>
      <p:sp>
        <p:nvSpPr>
          <p:cNvPr id="10" name="Rounded Rectangle 9"/>
          <p:cNvSpPr/>
          <p:nvPr/>
        </p:nvSpPr>
        <p:spPr>
          <a:xfrm>
            <a:off x="548640" y="1463040"/>
            <a:ext cx="3291840" cy="173736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651760" y="1874520"/>
            <a:ext cx="914400" cy="91440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a:t>
            </a:r>
          </a:p>
        </p:txBody>
      </p:sp>
      <p:sp>
        <p:nvSpPr>
          <p:cNvPr id="12" name="TextBox 11"/>
          <p:cNvSpPr txBox="1"/>
          <p:nvPr/>
        </p:nvSpPr>
        <p:spPr>
          <a:xfrm>
            <a:off x="731520" y="1828800"/>
            <a:ext cx="1828800" cy="457200"/>
          </a:xfrm>
          <a:prstGeom prst="rect">
            <a:avLst/>
          </a:prstGeom>
          <a:noFill/>
        </p:spPr>
        <p:txBody>
          <a:bodyPr wrap="square" lIns="45720" rIns="45720" anchor="t">
            <a:spAutoFit/>
          </a:bodyPr>
          <a:lstStyle/>
          <a:p>
            <a:pPr algn="r" rtl="1"/>
            <a:r>
              <a:rPr lang="he-IL" sz="2200" b="1" i="0">
                <a:solidFill>
                  <a:srgbClr val="1B2B34"/>
                </a:solidFill>
                <a:latin typeface="Arial"/>
                <a:cs typeface="Arial"/>
              </a:rPr>
              <a:t>בן אדם</a:t>
            </a:r>
          </a:p>
        </p:txBody>
      </p:sp>
      <p:sp>
        <p:nvSpPr>
          <p:cNvPr id="13" name="TextBox 12"/>
          <p:cNvSpPr txBox="1"/>
          <p:nvPr/>
        </p:nvSpPr>
        <p:spPr>
          <a:xfrm>
            <a:off x="731520" y="2331720"/>
            <a:ext cx="1828800" cy="731520"/>
          </a:xfrm>
          <a:prstGeom prst="rect">
            <a:avLst/>
          </a:prstGeom>
          <a:noFill/>
        </p:spPr>
        <p:txBody>
          <a:bodyPr wrap="square" lIns="45720" rIns="45720" anchor="t">
            <a:spAutoFit/>
          </a:bodyPr>
          <a:lstStyle/>
          <a:p>
            <a:pPr algn="r" rtl="1"/>
            <a:r>
              <a:rPr lang="he-IL" sz="1400" b="0" i="0">
                <a:solidFill>
                  <a:srgbClr val="5F6F78"/>
                </a:solidFill>
                <a:latin typeface="Arial"/>
                <a:cs typeface="Arial"/>
              </a:rPr>
              <a:t>מסתתר מאחורי הקיר</a:t>
            </a:r>
          </a:p>
        </p:txBody>
      </p:sp>
      <p:cxnSp>
        <p:nvCxnSpPr>
          <p:cNvPr id="14" name="Connector 13"/>
          <p:cNvCxnSpPr/>
          <p:nvPr/>
        </p:nvCxnSpPr>
        <p:spPr>
          <a:xfrm flipH="1" flipV="1">
            <a:off x="4617720" y="2331720"/>
            <a:ext cx="3977640" cy="960120"/>
          </a:xfrm>
          <a:prstGeom prst="line">
            <a:avLst/>
          </a:prstGeom>
          <a:ln w="38100">
            <a:solidFill>
              <a:srgbClr val="118A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8640" y="3657600"/>
            <a:ext cx="3291840" cy="173736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2651760" y="4069080"/>
            <a:ext cx="914400" cy="91440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a:t>
            </a:r>
          </a:p>
        </p:txBody>
      </p:sp>
      <p:sp>
        <p:nvSpPr>
          <p:cNvPr id="17" name="TextBox 16"/>
          <p:cNvSpPr txBox="1"/>
          <p:nvPr/>
        </p:nvSpPr>
        <p:spPr>
          <a:xfrm>
            <a:off x="731520" y="4023360"/>
            <a:ext cx="1828800" cy="457200"/>
          </a:xfrm>
          <a:prstGeom prst="rect">
            <a:avLst/>
          </a:prstGeom>
          <a:noFill/>
        </p:spPr>
        <p:txBody>
          <a:bodyPr wrap="square" lIns="45720" rIns="45720" anchor="t">
            <a:spAutoFit/>
          </a:bodyPr>
          <a:lstStyle/>
          <a:p>
            <a:pPr algn="r" rtl="1"/>
            <a:r>
              <a:rPr lang="he-IL" sz="2200" b="1" i="0">
                <a:solidFill>
                  <a:srgbClr val="1B2B34"/>
                </a:solidFill>
                <a:latin typeface="Arial"/>
                <a:cs typeface="Arial"/>
              </a:rPr>
              <a:t>מחשב</a:t>
            </a:r>
          </a:p>
        </p:txBody>
      </p:sp>
      <p:sp>
        <p:nvSpPr>
          <p:cNvPr id="18" name="TextBox 17"/>
          <p:cNvSpPr txBox="1"/>
          <p:nvPr/>
        </p:nvSpPr>
        <p:spPr>
          <a:xfrm>
            <a:off x="731520" y="4526280"/>
            <a:ext cx="1828800" cy="731520"/>
          </a:xfrm>
          <a:prstGeom prst="rect">
            <a:avLst/>
          </a:prstGeom>
          <a:noFill/>
        </p:spPr>
        <p:txBody>
          <a:bodyPr wrap="square" lIns="45720" rIns="45720" anchor="t">
            <a:spAutoFit/>
          </a:bodyPr>
          <a:lstStyle/>
          <a:p>
            <a:pPr algn="r" rtl="1"/>
            <a:r>
              <a:rPr lang="he-IL" sz="1400" b="0" i="0">
                <a:solidFill>
                  <a:srgbClr val="5F6F78"/>
                </a:solidFill>
                <a:latin typeface="Arial"/>
                <a:cs typeface="Arial"/>
              </a:rPr>
              <a:t>מסתתר מאחורי הקיר</a:t>
            </a:r>
          </a:p>
        </p:txBody>
      </p:sp>
      <p:cxnSp>
        <p:nvCxnSpPr>
          <p:cNvPr id="19" name="Connector 18"/>
          <p:cNvCxnSpPr/>
          <p:nvPr/>
        </p:nvCxnSpPr>
        <p:spPr>
          <a:xfrm flipH="1">
            <a:off x="4617720" y="3291840"/>
            <a:ext cx="3977640" cy="1234440"/>
          </a:xfrm>
          <a:prstGeom prst="line">
            <a:avLst/>
          </a:prstGeom>
          <a:ln w="38100">
            <a:solidFill>
              <a:srgbClr val="118A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937760" y="4892040"/>
            <a:ext cx="3566160" cy="822960"/>
          </a:xfrm>
          <a:prstGeom prst="roundRect">
            <a:avLst>
              <a:gd name="adj" fmla="val 30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400" b="1" i="0">
                <a:solidFill>
                  <a:srgbClr val="1B2B34"/>
                </a:solidFill>
                <a:latin typeface="Arial"/>
                <a:cs typeface="Arial"/>
              </a:rPr>
              <a:t>מי הוא מי?</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4</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מתי מחשב "מנצח" את המבחן?</a:t>
            </a:r>
          </a:p>
        </p:txBody>
      </p:sp>
      <p:sp>
        <p:nvSpPr>
          <p:cNvPr id="4" name="Rounded Rectangle 3"/>
          <p:cNvSpPr/>
          <p:nvPr/>
        </p:nvSpPr>
        <p:spPr>
          <a:xfrm>
            <a:off x="6263640" y="1417320"/>
            <a:ext cx="5376672" cy="237744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515600" y="1600200"/>
            <a:ext cx="822960" cy="82296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a:t>
            </a:r>
          </a:p>
        </p:txBody>
      </p:sp>
      <p:sp>
        <p:nvSpPr>
          <p:cNvPr id="6" name="TextBox 5"/>
          <p:cNvSpPr txBox="1"/>
          <p:nvPr/>
        </p:nvSpPr>
        <p:spPr>
          <a:xfrm>
            <a:off x="6446520" y="1600200"/>
            <a:ext cx="3931920" cy="430887"/>
          </a:xfrm>
          <a:prstGeom prst="rect">
            <a:avLst/>
          </a:prstGeom>
          <a:noFill/>
        </p:spPr>
        <p:txBody>
          <a:bodyPr wrap="square" lIns="45720" rIns="45720" anchor="t">
            <a:spAutoFit/>
          </a:bodyPr>
          <a:lstStyle/>
          <a:p>
            <a:pPr algn="r" rtl="1"/>
            <a:r>
              <a:rPr lang="he-IL" sz="2200" b="1" i="0" dirty="0">
                <a:solidFill>
                  <a:srgbClr val="1B2B34"/>
                </a:solidFill>
                <a:latin typeface="Arial"/>
                <a:cs typeface="Arial"/>
              </a:rPr>
              <a:t>המחשב ניצח</a:t>
            </a:r>
          </a:p>
        </p:txBody>
      </p:sp>
      <p:sp>
        <p:nvSpPr>
          <p:cNvPr id="7" name="TextBox 6"/>
          <p:cNvSpPr txBox="1"/>
          <p:nvPr/>
        </p:nvSpPr>
        <p:spPr>
          <a:xfrm>
            <a:off x="6446520" y="2148840"/>
            <a:ext cx="3931920" cy="1463040"/>
          </a:xfrm>
          <a:prstGeom prst="rect">
            <a:avLst/>
          </a:prstGeom>
          <a:noFill/>
        </p:spPr>
        <p:txBody>
          <a:bodyPr wrap="square" lIns="45720" rIns="45720" anchor="t">
            <a:spAutoFit/>
          </a:bodyPr>
          <a:lstStyle/>
          <a:p>
            <a:pPr algn="r" rtl="1"/>
            <a:r>
              <a:rPr lang="he-IL" sz="1700" b="0" i="0">
                <a:solidFill>
                  <a:srgbClr val="5F6F78"/>
                </a:solidFill>
                <a:latin typeface="Arial"/>
                <a:cs typeface="Arial"/>
              </a:rPr>
              <a:t>השופט לא מצליח להבדיל בין האדם לבין המחשב</a:t>
            </a:r>
          </a:p>
        </p:txBody>
      </p:sp>
      <p:sp>
        <p:nvSpPr>
          <p:cNvPr id="8" name="Rounded Rectangle 7"/>
          <p:cNvSpPr/>
          <p:nvPr/>
        </p:nvSpPr>
        <p:spPr>
          <a:xfrm>
            <a:off x="548640" y="1417320"/>
            <a:ext cx="5376672" cy="2377440"/>
          </a:xfrm>
          <a:prstGeom prst="roundRect">
            <a:avLst>
              <a:gd name="adj" fmla="val 8000"/>
            </a:avLst>
          </a:prstGeom>
          <a:solidFill>
            <a:srgbClr val="FD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800600" y="1600200"/>
            <a:ext cx="822960" cy="82296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800" b="1" i="0">
                <a:solidFill>
                  <a:srgbClr val="FFFFFF"/>
                </a:solidFill>
                <a:latin typeface="Arial"/>
                <a:cs typeface="Arial"/>
              </a:rPr>
              <a:t>✗</a:t>
            </a:r>
          </a:p>
        </p:txBody>
      </p:sp>
      <p:sp>
        <p:nvSpPr>
          <p:cNvPr id="10" name="TextBox 9"/>
          <p:cNvSpPr txBox="1"/>
          <p:nvPr/>
        </p:nvSpPr>
        <p:spPr>
          <a:xfrm>
            <a:off x="731520" y="1600200"/>
            <a:ext cx="3931920" cy="457200"/>
          </a:xfrm>
          <a:prstGeom prst="rect">
            <a:avLst/>
          </a:prstGeom>
          <a:noFill/>
        </p:spPr>
        <p:txBody>
          <a:bodyPr wrap="square" lIns="45720" rIns="45720" anchor="t">
            <a:spAutoFit/>
          </a:bodyPr>
          <a:lstStyle/>
          <a:p>
            <a:pPr algn="r" rtl="1"/>
            <a:r>
              <a:rPr lang="he-IL" sz="2200" b="1" i="0">
                <a:solidFill>
                  <a:srgbClr val="1B2B34"/>
                </a:solidFill>
                <a:latin typeface="Arial"/>
                <a:cs typeface="Arial"/>
              </a:rPr>
              <a:t>המחשב נכשל</a:t>
            </a:r>
          </a:p>
        </p:txBody>
      </p:sp>
      <p:sp>
        <p:nvSpPr>
          <p:cNvPr id="11" name="TextBox 10"/>
          <p:cNvSpPr txBox="1"/>
          <p:nvPr/>
        </p:nvSpPr>
        <p:spPr>
          <a:xfrm>
            <a:off x="731520" y="2148840"/>
            <a:ext cx="3931920" cy="1463040"/>
          </a:xfrm>
          <a:prstGeom prst="rect">
            <a:avLst/>
          </a:prstGeom>
          <a:noFill/>
        </p:spPr>
        <p:txBody>
          <a:bodyPr wrap="square" lIns="45720" rIns="45720" anchor="t">
            <a:spAutoFit/>
          </a:bodyPr>
          <a:lstStyle/>
          <a:p>
            <a:pPr algn="r" rtl="1"/>
            <a:r>
              <a:rPr lang="he-IL" sz="1700" b="0" i="0">
                <a:solidFill>
                  <a:srgbClr val="5F6F78"/>
                </a:solidFill>
                <a:latin typeface="Arial"/>
                <a:cs typeface="Arial"/>
              </a:rPr>
              <a:t>השופט מגלה מי המחשב: תשובה מוזרה, מושלמת מדי, או לא הגיונית</a:t>
            </a:r>
          </a:p>
        </p:txBody>
      </p:sp>
      <p:sp>
        <p:nvSpPr>
          <p:cNvPr id="12" name="Rounded Rectangle 11"/>
          <p:cNvSpPr/>
          <p:nvPr/>
        </p:nvSpPr>
        <p:spPr>
          <a:xfrm>
            <a:off x="548640" y="4114800"/>
            <a:ext cx="11091672" cy="1600200"/>
          </a:xfrm>
          <a:prstGeom prst="roundRect">
            <a:avLst>
              <a:gd name="adj" fmla="val 12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4525049"/>
            <a:ext cx="10607040" cy="779701"/>
          </a:xfrm>
          <a:prstGeom prst="rect">
            <a:avLst/>
          </a:prstGeom>
          <a:noFill/>
        </p:spPr>
        <p:txBody>
          <a:bodyPr wrap="square" lIns="45720" rIns="45720" anchor="ctr">
            <a:spAutoFit/>
          </a:bodyPr>
          <a:lstStyle/>
          <a:p>
            <a:pPr algn="r" rtl="1">
              <a:spcAft>
                <a:spcPts val="800"/>
              </a:spcAft>
            </a:pPr>
            <a:r>
              <a:rPr lang="he-IL" sz="1900" i="0" dirty="0">
                <a:solidFill>
                  <a:srgbClr val="1B2B34"/>
                </a:solidFill>
                <a:latin typeface="Arial"/>
                <a:cs typeface="Arial"/>
              </a:rPr>
              <a:t>כיום</a:t>
            </a:r>
            <a:r>
              <a:rPr lang="he-IL" sz="1900" b="1" i="0" dirty="0">
                <a:solidFill>
                  <a:srgbClr val="1B2B34"/>
                </a:solidFill>
                <a:latin typeface="Arial"/>
                <a:cs typeface="Arial"/>
              </a:rPr>
              <a:t> </a:t>
            </a:r>
            <a:r>
              <a:rPr lang="he-IL" sz="1900" b="0" i="0" dirty="0">
                <a:solidFill>
                  <a:srgbClr val="1B2B34"/>
                </a:solidFill>
                <a:latin typeface="Arial"/>
                <a:cs typeface="Arial"/>
              </a:rPr>
              <a:t>מודלי שפה כמו </a:t>
            </a:r>
            <a:r>
              <a:rPr lang="en-US" sz="1900" b="0" i="0" dirty="0">
                <a:solidFill>
                  <a:srgbClr val="1B2B34"/>
                </a:solidFill>
                <a:latin typeface="Arial"/>
                <a:cs typeface="Arial"/>
              </a:rPr>
              <a:t>Gemini</a:t>
            </a:r>
            <a:r>
              <a:rPr lang="he-IL" sz="1900" b="0" i="0" dirty="0">
                <a:solidFill>
                  <a:srgbClr val="1B2B34"/>
                </a:solidFill>
                <a:latin typeface="Arial"/>
                <a:cs typeface="Arial"/>
              </a:rPr>
              <a:t> מדברים כל כך טבעי, שבניסויים חדשים שופטים רבים כבר לא מצליחים להבדיל!</a:t>
            </a:r>
          </a:p>
          <a:p>
            <a:pPr algn="r" rtl="1">
              <a:spcAft>
                <a:spcPts val="800"/>
              </a:spcAft>
            </a:pPr>
            <a:r>
              <a:rPr lang="he-IL" sz="1900" b="1" i="0" dirty="0">
                <a:solidFill>
                  <a:srgbClr val="EF476F"/>
                </a:solidFill>
                <a:latin typeface="Arial"/>
                <a:cs typeface="Arial"/>
              </a:rPr>
              <a:t>אז איך בכל זאת תופסים מחשב? </a:t>
            </a:r>
            <a:r>
              <a:rPr lang="he-IL" sz="1900" b="0" i="0" dirty="0">
                <a:solidFill>
                  <a:srgbClr val="1B2B34"/>
                </a:solidFill>
                <a:latin typeface="Arial"/>
                <a:cs typeface="Arial"/>
              </a:rPr>
              <a:t>זה האתגר של היום.</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5</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היום: כותבים בוט שמתמודד נגדי</a:t>
            </a:r>
          </a:p>
        </p:txBody>
      </p:sp>
      <p:sp>
        <p:nvSpPr>
          <p:cNvPr id="4" name="Rounded Rectangle 3"/>
          <p:cNvSpPr/>
          <p:nvPr/>
        </p:nvSpPr>
        <p:spPr>
          <a:xfrm>
            <a:off x="6949440" y="1554480"/>
            <a:ext cx="4023360" cy="246888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458200" y="1691640"/>
            <a:ext cx="1005840" cy="100584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3200" b="1" i="0">
                <a:solidFill>
                  <a:srgbClr val="FFFFFF"/>
                </a:solidFill>
                <a:latin typeface="Arial"/>
                <a:cs typeface="Arial"/>
              </a:rPr>
              <a:t>🕵️</a:t>
            </a:r>
          </a:p>
        </p:txBody>
      </p:sp>
      <p:sp>
        <p:nvSpPr>
          <p:cNvPr id="6" name="TextBox 5"/>
          <p:cNvSpPr txBox="1"/>
          <p:nvPr/>
        </p:nvSpPr>
        <p:spPr>
          <a:xfrm>
            <a:off x="6949440" y="2788920"/>
            <a:ext cx="4023360" cy="502920"/>
          </a:xfrm>
          <a:prstGeom prst="rect">
            <a:avLst/>
          </a:prstGeom>
          <a:noFill/>
        </p:spPr>
        <p:txBody>
          <a:bodyPr wrap="square" lIns="45720" rIns="45720" anchor="t">
            <a:spAutoFit/>
          </a:bodyPr>
          <a:lstStyle/>
          <a:p>
            <a:pPr algn="ctr" rtl="1"/>
            <a:r>
              <a:rPr lang="he-IL" sz="2400" b="1" i="0">
                <a:solidFill>
                  <a:srgbClr val="1B2B34"/>
                </a:solidFill>
                <a:latin typeface="Arial"/>
                <a:cs typeface="Arial"/>
              </a:rPr>
              <a:t>הבוט שלכם</a:t>
            </a:r>
          </a:p>
        </p:txBody>
      </p:sp>
      <p:sp>
        <p:nvSpPr>
          <p:cNvPr id="7" name="TextBox 6"/>
          <p:cNvSpPr txBox="1"/>
          <p:nvPr/>
        </p:nvSpPr>
        <p:spPr>
          <a:xfrm>
            <a:off x="6949440" y="3291840"/>
            <a:ext cx="4023360" cy="457200"/>
          </a:xfrm>
          <a:prstGeom prst="rect">
            <a:avLst/>
          </a:prstGeom>
          <a:noFill/>
        </p:spPr>
        <p:txBody>
          <a:bodyPr wrap="square" lIns="45720" rIns="45720" anchor="t">
            <a:spAutoFit/>
          </a:bodyPr>
          <a:lstStyle/>
          <a:p>
            <a:pPr algn="ctr" rtl="1"/>
            <a:r>
              <a:rPr lang="he-IL" sz="1700" b="0" i="0">
                <a:solidFill>
                  <a:srgbClr val="5F6F78"/>
                </a:solidFill>
                <a:latin typeface="Arial"/>
                <a:cs typeface="Arial"/>
              </a:rPr>
              <a:t>שואל, מנתח ומחליט</a:t>
            </a:r>
          </a:p>
        </p:txBody>
      </p:sp>
      <p:sp>
        <p:nvSpPr>
          <p:cNvPr id="8" name="Rounded Rectangle 7"/>
          <p:cNvSpPr/>
          <p:nvPr/>
        </p:nvSpPr>
        <p:spPr>
          <a:xfrm>
            <a:off x="1463039" y="1554480"/>
            <a:ext cx="4023360" cy="246888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2971799" y="1691640"/>
            <a:ext cx="1005840" cy="100584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3200" b="1" i="0">
                <a:solidFill>
                  <a:srgbClr val="FFFFFF"/>
                </a:solidFill>
                <a:latin typeface="Arial"/>
                <a:cs typeface="Arial"/>
              </a:rPr>
              <a:t>❓</a:t>
            </a:r>
          </a:p>
        </p:txBody>
      </p:sp>
      <p:sp>
        <p:nvSpPr>
          <p:cNvPr id="10" name="TextBox 9"/>
          <p:cNvSpPr txBox="1"/>
          <p:nvPr/>
        </p:nvSpPr>
        <p:spPr>
          <a:xfrm>
            <a:off x="1463039" y="2788920"/>
            <a:ext cx="4023360" cy="461665"/>
          </a:xfrm>
          <a:prstGeom prst="rect">
            <a:avLst/>
          </a:prstGeom>
          <a:noFill/>
        </p:spPr>
        <p:txBody>
          <a:bodyPr wrap="square" lIns="45720" rIns="45720" anchor="t">
            <a:spAutoFit/>
          </a:bodyPr>
          <a:lstStyle/>
          <a:p>
            <a:pPr algn="ctr" rtl="1"/>
            <a:r>
              <a:rPr lang="he-IL" sz="2400" b="1" i="0" dirty="0">
                <a:solidFill>
                  <a:srgbClr val="1B2B34"/>
                </a:solidFill>
                <a:latin typeface="Arial"/>
                <a:cs typeface="Arial"/>
              </a:rPr>
              <a:t>הצד השני (אני או ג'מיני)</a:t>
            </a:r>
          </a:p>
        </p:txBody>
      </p:sp>
      <p:sp>
        <p:nvSpPr>
          <p:cNvPr id="11" name="TextBox 10"/>
          <p:cNvSpPr txBox="1"/>
          <p:nvPr/>
        </p:nvSpPr>
        <p:spPr>
          <a:xfrm>
            <a:off x="1463039" y="3291840"/>
            <a:ext cx="4023360" cy="353943"/>
          </a:xfrm>
          <a:prstGeom prst="rect">
            <a:avLst/>
          </a:prstGeom>
          <a:noFill/>
        </p:spPr>
        <p:txBody>
          <a:bodyPr wrap="square" lIns="45720" rIns="45720" anchor="t">
            <a:spAutoFit/>
          </a:bodyPr>
          <a:lstStyle/>
          <a:p>
            <a:pPr algn="ctr" rtl="1"/>
            <a:r>
              <a:rPr lang="he-IL" sz="1700" b="0" i="0" dirty="0">
                <a:solidFill>
                  <a:srgbClr val="5F6F78"/>
                </a:solidFill>
                <a:latin typeface="Arial"/>
                <a:cs typeface="Arial"/>
              </a:rPr>
              <a:t>בן אדם? מחשב?</a:t>
            </a:r>
          </a:p>
        </p:txBody>
      </p:sp>
      <p:cxnSp>
        <p:nvCxnSpPr>
          <p:cNvPr id="12" name="Connector 11"/>
          <p:cNvCxnSpPr/>
          <p:nvPr/>
        </p:nvCxnSpPr>
        <p:spPr>
          <a:xfrm flipH="1">
            <a:off x="5623560" y="2468880"/>
            <a:ext cx="1188720" cy="0"/>
          </a:xfrm>
          <a:prstGeom prst="line">
            <a:avLst/>
          </a:prstGeom>
          <a:ln w="38100">
            <a:solidFill>
              <a:srgbClr val="118A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623560" y="3108960"/>
            <a:ext cx="1188720" cy="0"/>
          </a:xfrm>
          <a:prstGeom prst="line">
            <a:avLst/>
          </a:prstGeom>
          <a:ln w="38100">
            <a:solidFill>
              <a:srgbClr val="EF47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4389120"/>
            <a:ext cx="11091672" cy="1325880"/>
          </a:xfrm>
          <a:prstGeom prst="roundRect">
            <a:avLst>
              <a:gd name="adj" fmla="val 15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4434840"/>
            <a:ext cx="10607040" cy="1234440"/>
          </a:xfrm>
          <a:prstGeom prst="rect">
            <a:avLst/>
          </a:prstGeom>
          <a:noFill/>
        </p:spPr>
        <p:txBody>
          <a:bodyPr wrap="square" lIns="45720" rIns="45720" anchor="ctr">
            <a:spAutoFit/>
          </a:bodyPr>
          <a:lstStyle/>
          <a:p>
            <a:pPr algn="r" rtl="1">
              <a:spcAft>
                <a:spcPts val="800"/>
              </a:spcAft>
            </a:pPr>
            <a:r>
              <a:rPr lang="he-IL" sz="1900" b="1" i="0">
                <a:solidFill>
                  <a:srgbClr val="1B2B34"/>
                </a:solidFill>
                <a:latin typeface="Arial"/>
                <a:cs typeface="Arial"/>
              </a:rPr>
              <a:t>המשימה: </a:t>
            </a:r>
            <a:r>
              <a:rPr lang="he-IL" sz="1900" b="0" i="0">
                <a:solidFill>
                  <a:srgbClr val="1B2B34"/>
                </a:solidFill>
                <a:latin typeface="Arial"/>
                <a:cs typeface="Arial"/>
              </a:rPr>
              <a:t>לגלות תוך 8 משפטים לכל היותר אם בצד השני יושב בן אדם או מחשב. אחרי 8 משפטים - חייבים לנחש!</a:t>
            </a:r>
          </a:p>
          <a:p>
            <a:pPr algn="r" rtl="1">
              <a:spcAft>
                <a:spcPts val="800"/>
              </a:spcAft>
            </a:pPr>
            <a:r>
              <a:rPr lang="he-IL" sz="1900" b="1" i="0">
                <a:solidFill>
                  <a:srgbClr val="EF476F"/>
                </a:solidFill>
                <a:latin typeface="Arial"/>
                <a:cs typeface="Arial"/>
              </a:rPr>
              <a:t>שימו לב: </a:t>
            </a:r>
            <a:r>
              <a:rPr lang="he-IL" sz="1900" b="0" i="0">
                <a:solidFill>
                  <a:srgbClr val="1B2B34"/>
                </a:solidFill>
                <a:latin typeface="Arial"/>
                <a:cs typeface="Arial"/>
              </a:rPr>
              <a:t>הבוט אף פעם לא יודע מי באמת עונה לו!</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6</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חוקי המשחק</a:t>
            </a:r>
          </a:p>
        </p:txBody>
      </p:sp>
      <p:sp>
        <p:nvSpPr>
          <p:cNvPr id="4" name="Oval 3"/>
          <p:cNvSpPr/>
          <p:nvPr/>
        </p:nvSpPr>
        <p:spPr>
          <a:xfrm>
            <a:off x="10972800" y="1371600"/>
            <a:ext cx="640080" cy="64008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1</a:t>
            </a:r>
          </a:p>
        </p:txBody>
      </p:sp>
      <p:sp>
        <p:nvSpPr>
          <p:cNvPr id="5" name="TextBox 4"/>
          <p:cNvSpPr txBox="1"/>
          <p:nvPr/>
        </p:nvSpPr>
        <p:spPr>
          <a:xfrm>
            <a:off x="5212080" y="1499279"/>
            <a:ext cx="5623560" cy="384721"/>
          </a:xfrm>
          <a:prstGeom prst="rect">
            <a:avLst/>
          </a:prstGeom>
          <a:noFill/>
        </p:spPr>
        <p:txBody>
          <a:bodyPr wrap="square" lIns="45720" rIns="45720" anchor="ctr">
            <a:spAutoFit/>
          </a:bodyPr>
          <a:lstStyle/>
          <a:p>
            <a:pPr algn="r" rtl="1"/>
            <a:r>
              <a:rPr lang="he-IL" sz="1900" b="0" i="0" dirty="0">
                <a:solidFill>
                  <a:srgbClr val="1B2B34"/>
                </a:solidFill>
                <a:latin typeface="Arial"/>
                <a:cs typeface="Arial"/>
              </a:rPr>
              <a:t>כל הודעה מוגבלת ל 30 מילים</a:t>
            </a:r>
          </a:p>
        </p:txBody>
      </p:sp>
      <p:sp>
        <p:nvSpPr>
          <p:cNvPr id="6" name="Oval 5"/>
          <p:cNvSpPr/>
          <p:nvPr/>
        </p:nvSpPr>
        <p:spPr>
          <a:xfrm>
            <a:off x="10972800" y="2240280"/>
            <a:ext cx="640080" cy="64008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2</a:t>
            </a:r>
          </a:p>
        </p:txBody>
      </p:sp>
      <p:sp>
        <p:nvSpPr>
          <p:cNvPr id="7" name="TextBox 6"/>
          <p:cNvSpPr txBox="1"/>
          <p:nvPr/>
        </p:nvSpPr>
        <p:spPr>
          <a:xfrm>
            <a:off x="5212080" y="2194560"/>
            <a:ext cx="5623560" cy="731520"/>
          </a:xfrm>
          <a:prstGeom prst="rect">
            <a:avLst/>
          </a:prstGeom>
          <a:noFill/>
        </p:spPr>
        <p:txBody>
          <a:bodyPr wrap="square" lIns="45720" rIns="45720" anchor="ctr">
            <a:spAutoFit/>
          </a:bodyPr>
          <a:lstStyle/>
          <a:p>
            <a:pPr algn="r" rtl="1"/>
            <a:r>
              <a:rPr lang="en-US" sz="1900" b="0" i="0">
                <a:solidFill>
                  <a:srgbClr val="1B2B34"/>
                </a:solidFill>
                <a:latin typeface="Arial"/>
                <a:cs typeface="Arial"/>
              </a:rPr>
              <a:t>STARTS_FIRST</a:t>
            </a:r>
            <a:r>
              <a:rPr lang="he-IL" sz="1900" b="0" i="0">
                <a:solidFill>
                  <a:srgbClr val="1B2B34"/>
                </a:solidFill>
                <a:latin typeface="Arial"/>
                <a:cs typeface="Arial"/>
              </a:rPr>
              <a:t> קובע מי פותח את השיחה</a:t>
            </a:r>
          </a:p>
        </p:txBody>
      </p:sp>
      <p:sp>
        <p:nvSpPr>
          <p:cNvPr id="8" name="Oval 7"/>
          <p:cNvSpPr/>
          <p:nvPr/>
        </p:nvSpPr>
        <p:spPr>
          <a:xfrm>
            <a:off x="10972800" y="3108960"/>
            <a:ext cx="640080" cy="64008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3</a:t>
            </a:r>
          </a:p>
        </p:txBody>
      </p:sp>
      <p:sp>
        <p:nvSpPr>
          <p:cNvPr id="9" name="TextBox 8"/>
          <p:cNvSpPr txBox="1"/>
          <p:nvPr/>
        </p:nvSpPr>
        <p:spPr>
          <a:xfrm>
            <a:off x="5212080" y="3236639"/>
            <a:ext cx="5623560" cy="384721"/>
          </a:xfrm>
          <a:prstGeom prst="rect">
            <a:avLst/>
          </a:prstGeom>
          <a:noFill/>
        </p:spPr>
        <p:txBody>
          <a:bodyPr wrap="square" lIns="45720" rIns="45720" anchor="ctr">
            <a:spAutoFit/>
          </a:bodyPr>
          <a:lstStyle/>
          <a:p>
            <a:pPr algn="r" rtl="1"/>
            <a:r>
              <a:rPr lang="he-IL" sz="1900" b="0" i="0" dirty="0">
                <a:solidFill>
                  <a:srgbClr val="1B2B34"/>
                </a:solidFill>
                <a:latin typeface="Arial"/>
                <a:cs typeface="Arial"/>
              </a:rPr>
              <a:t>אחרי כל תשובה של הצד השני: ממשיכים לשוחח או מנחשים</a:t>
            </a:r>
          </a:p>
        </p:txBody>
      </p:sp>
      <p:sp>
        <p:nvSpPr>
          <p:cNvPr id="10" name="Oval 9"/>
          <p:cNvSpPr/>
          <p:nvPr/>
        </p:nvSpPr>
        <p:spPr>
          <a:xfrm>
            <a:off x="10972800" y="3977639"/>
            <a:ext cx="640080" cy="64008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4</a:t>
            </a:r>
          </a:p>
        </p:txBody>
      </p:sp>
      <p:sp>
        <p:nvSpPr>
          <p:cNvPr id="11" name="TextBox 10"/>
          <p:cNvSpPr txBox="1"/>
          <p:nvPr/>
        </p:nvSpPr>
        <p:spPr>
          <a:xfrm>
            <a:off x="5212080" y="3931920"/>
            <a:ext cx="5623560" cy="731520"/>
          </a:xfrm>
          <a:prstGeom prst="rect">
            <a:avLst/>
          </a:prstGeom>
          <a:noFill/>
        </p:spPr>
        <p:txBody>
          <a:bodyPr wrap="square" lIns="45720" rIns="45720" anchor="ctr">
            <a:spAutoFit/>
          </a:bodyPr>
          <a:lstStyle/>
          <a:p>
            <a:pPr algn="r" rtl="1"/>
            <a:r>
              <a:rPr lang="he-IL" sz="1900" b="0" i="0">
                <a:solidFill>
                  <a:srgbClr val="1B2B34"/>
                </a:solidFill>
                <a:latin typeface="Arial"/>
                <a:cs typeface="Arial"/>
              </a:rPr>
              <a:t>ניחוש = סוף המשחק</a:t>
            </a:r>
          </a:p>
        </p:txBody>
      </p:sp>
      <p:sp>
        <p:nvSpPr>
          <p:cNvPr id="12" name="Oval 11"/>
          <p:cNvSpPr/>
          <p:nvPr/>
        </p:nvSpPr>
        <p:spPr>
          <a:xfrm>
            <a:off x="10972800" y="4846320"/>
            <a:ext cx="640080" cy="640080"/>
          </a:xfrm>
          <a:prstGeom prst="ellipse">
            <a:avLst/>
          </a:prstGeom>
          <a:solidFill>
            <a:srgbClr val="7B4FB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5</a:t>
            </a:r>
          </a:p>
        </p:txBody>
      </p:sp>
      <p:sp>
        <p:nvSpPr>
          <p:cNvPr id="13" name="TextBox 12"/>
          <p:cNvSpPr txBox="1"/>
          <p:nvPr/>
        </p:nvSpPr>
        <p:spPr>
          <a:xfrm>
            <a:off x="5212080" y="4800600"/>
            <a:ext cx="5623560" cy="731520"/>
          </a:xfrm>
          <a:prstGeom prst="rect">
            <a:avLst/>
          </a:prstGeom>
          <a:noFill/>
        </p:spPr>
        <p:txBody>
          <a:bodyPr wrap="square" lIns="45720" rIns="45720" anchor="ctr">
            <a:spAutoFit/>
          </a:bodyPr>
          <a:lstStyle/>
          <a:p>
            <a:pPr algn="r" rtl="1"/>
            <a:r>
              <a:rPr lang="he-IL" sz="1900" b="0" i="0">
                <a:solidFill>
                  <a:srgbClr val="1B2B34"/>
                </a:solidFill>
                <a:latin typeface="Arial"/>
                <a:cs typeface="Arial"/>
              </a:rPr>
              <a:t>בתור 8 חייבים לנחש</a:t>
            </a:r>
          </a:p>
        </p:txBody>
      </p:sp>
      <p:sp>
        <p:nvSpPr>
          <p:cNvPr id="14" name="Rounded Rectangle 13"/>
          <p:cNvSpPr/>
          <p:nvPr/>
        </p:nvSpPr>
        <p:spPr>
          <a:xfrm>
            <a:off x="548640" y="1463040"/>
            <a:ext cx="4389120" cy="2926080"/>
          </a:xfrm>
          <a:prstGeom prst="roundRect">
            <a:avLst>
              <a:gd name="adj" fmla="val 6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1600200"/>
            <a:ext cx="4023360" cy="365760"/>
          </a:xfrm>
          <a:prstGeom prst="rect">
            <a:avLst/>
          </a:prstGeom>
          <a:noFill/>
        </p:spPr>
        <p:txBody>
          <a:bodyPr wrap="square" lIns="45720" rIns="45720" anchor="t">
            <a:spAutoFit/>
          </a:bodyPr>
          <a:lstStyle/>
          <a:p>
            <a:pPr algn="r" rtl="1"/>
            <a:r>
              <a:rPr lang="he-IL" sz="1500" b="0" i="0">
                <a:solidFill>
                  <a:srgbClr val="8A93A6"/>
                </a:solidFill>
                <a:latin typeface="Arial"/>
                <a:cs typeface="Arial"/>
              </a:rPr>
              <a:t>הניחוש נכתב בדיוק כך:</a:t>
            </a:r>
          </a:p>
        </p:txBody>
      </p:sp>
      <p:sp>
        <p:nvSpPr>
          <p:cNvPr id="16" name="TextBox 15"/>
          <p:cNvSpPr txBox="1"/>
          <p:nvPr/>
        </p:nvSpPr>
        <p:spPr>
          <a:xfrm>
            <a:off x="731520" y="2148840"/>
            <a:ext cx="4023360" cy="2011680"/>
          </a:xfrm>
          <a:prstGeom prst="rect">
            <a:avLst/>
          </a:prstGeom>
          <a:noFill/>
        </p:spPr>
        <p:txBody>
          <a:bodyPr wrap="square" lIns="45720" rIns="45720" anchor="ctr">
            <a:spAutoFit/>
          </a:bodyPr>
          <a:lstStyle/>
          <a:p>
            <a:pPr algn="ctr" rtl="0"/>
            <a:r>
              <a:rPr lang="en-US" sz="2800" b="0" i="0">
                <a:solidFill>
                  <a:srgbClr val="FFD166"/>
                </a:solidFill>
                <a:latin typeface="Consolas"/>
                <a:cs typeface="Consolas"/>
              </a:rPr>
              <a:t>GUESS: HUMAN</a:t>
            </a:r>
          </a:p>
          <a:p>
            <a:pPr algn="ctr" rtl="0"/>
            <a:r>
              <a:rPr lang="en-US" sz="1600" b="0" i="0">
                <a:solidFill>
                  <a:srgbClr val="8A93A6"/>
                </a:solidFill>
                <a:latin typeface="Arial"/>
                <a:cs typeface="Arial"/>
              </a:rPr>
              <a:t>או</a:t>
            </a:r>
          </a:p>
          <a:p>
            <a:pPr algn="ctr" rtl="0"/>
            <a:r>
              <a:rPr lang="en-US" sz="2800" b="0" i="0">
                <a:solidFill>
                  <a:srgbClr val="66D9EF"/>
                </a:solidFill>
                <a:latin typeface="Consolas"/>
                <a:cs typeface="Consolas"/>
              </a:rPr>
              <a:t>GUESS: BOT</a:t>
            </a:r>
          </a:p>
        </p:txBody>
      </p:sp>
      <p:sp>
        <p:nvSpPr>
          <p:cNvPr id="17" name="Rounded Rectangle 16"/>
          <p:cNvSpPr/>
          <p:nvPr/>
        </p:nvSpPr>
        <p:spPr>
          <a:xfrm>
            <a:off x="548640" y="4617720"/>
            <a:ext cx="4389120" cy="1143000"/>
          </a:xfrm>
          <a:prstGeom prst="roundRect">
            <a:avLst>
              <a:gd name="adj" fmla="val 15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4866054"/>
            <a:ext cx="4023360" cy="646331"/>
          </a:xfrm>
          <a:prstGeom prst="rect">
            <a:avLst/>
          </a:prstGeom>
          <a:noFill/>
        </p:spPr>
        <p:txBody>
          <a:bodyPr wrap="square" lIns="45720" rIns="45720" anchor="ctr">
            <a:spAutoFit/>
          </a:bodyPr>
          <a:lstStyle/>
          <a:p>
            <a:pPr algn="r" rtl="1"/>
            <a:r>
              <a:rPr lang="he-IL" sz="1800" b="1" i="0" dirty="0">
                <a:solidFill>
                  <a:srgbClr val="1B2B34"/>
                </a:solidFill>
                <a:latin typeface="Arial"/>
                <a:cs typeface="Arial"/>
              </a:rPr>
              <a:t>נגד מי מתחרים? </a:t>
            </a:r>
            <a:r>
              <a:rPr lang="he-IL" sz="1800" b="0" i="0" dirty="0">
                <a:solidFill>
                  <a:srgbClr val="1B2B34"/>
                </a:solidFill>
                <a:latin typeface="Arial"/>
                <a:cs typeface="Arial"/>
              </a:rPr>
              <a:t>נגד דני ואולי גם נגד </a:t>
            </a:r>
            <a:r>
              <a:rPr lang="en-US" sz="1800" b="0" i="0" dirty="0">
                <a:solidFill>
                  <a:srgbClr val="1B2B34"/>
                </a:solidFill>
                <a:latin typeface="Arial"/>
                <a:cs typeface="Arial"/>
              </a:rPr>
              <a:t>Gemini</a:t>
            </a:r>
            <a:r>
              <a:rPr lang="he-IL" sz="1800" b="0" i="0" dirty="0">
                <a:solidFill>
                  <a:srgbClr val="1B2B34"/>
                </a:solidFill>
                <a:latin typeface="Arial"/>
                <a:cs typeface="Arial"/>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7</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הניקוד</a:t>
            </a:r>
          </a:p>
        </p:txBody>
      </p:sp>
      <p:sp>
        <p:nvSpPr>
          <p:cNvPr id="4" name="Rounded Rectangle 3"/>
          <p:cNvSpPr/>
          <p:nvPr/>
        </p:nvSpPr>
        <p:spPr>
          <a:xfrm>
            <a:off x="6263640" y="1417320"/>
            <a:ext cx="5376672" cy="301752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503920" y="1600200"/>
            <a:ext cx="914400" cy="91440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3400" b="1" i="0">
                <a:solidFill>
                  <a:srgbClr val="FFFFFF"/>
                </a:solidFill>
                <a:latin typeface="Arial"/>
                <a:cs typeface="Arial"/>
              </a:rPr>
              <a:t>✓</a:t>
            </a:r>
          </a:p>
        </p:txBody>
      </p:sp>
      <p:sp>
        <p:nvSpPr>
          <p:cNvPr id="6" name="TextBox 5"/>
          <p:cNvSpPr txBox="1"/>
          <p:nvPr/>
        </p:nvSpPr>
        <p:spPr>
          <a:xfrm>
            <a:off x="6263640" y="2651760"/>
            <a:ext cx="5376672" cy="548640"/>
          </a:xfrm>
          <a:prstGeom prst="rect">
            <a:avLst/>
          </a:prstGeom>
          <a:noFill/>
        </p:spPr>
        <p:txBody>
          <a:bodyPr wrap="square" lIns="45720" rIns="45720" anchor="t">
            <a:spAutoFit/>
          </a:bodyPr>
          <a:lstStyle/>
          <a:p>
            <a:pPr algn="ctr" rtl="1"/>
            <a:r>
              <a:rPr lang="he-IL" sz="2600" b="1" i="0">
                <a:solidFill>
                  <a:srgbClr val="1B2B34"/>
                </a:solidFill>
                <a:latin typeface="Arial"/>
                <a:cs typeface="Arial"/>
              </a:rPr>
              <a:t>ניחוש נכון = ניצחון</a:t>
            </a:r>
          </a:p>
        </p:txBody>
      </p:sp>
      <p:sp>
        <p:nvSpPr>
          <p:cNvPr id="7" name="TextBox 6"/>
          <p:cNvSpPr txBox="1"/>
          <p:nvPr/>
        </p:nvSpPr>
        <p:spPr>
          <a:xfrm>
            <a:off x="6492240" y="3246120"/>
            <a:ext cx="4937760" cy="369332"/>
          </a:xfrm>
          <a:prstGeom prst="rect">
            <a:avLst/>
          </a:prstGeom>
          <a:noFill/>
        </p:spPr>
        <p:txBody>
          <a:bodyPr wrap="square" lIns="45720" rIns="45720" anchor="t">
            <a:spAutoFit/>
          </a:bodyPr>
          <a:lstStyle/>
          <a:p>
            <a:pPr algn="ctr" rtl="1"/>
            <a:r>
              <a:rPr lang="he-IL" sz="1800" b="0" i="0" dirty="0">
                <a:solidFill>
                  <a:srgbClr val="5F6F78"/>
                </a:solidFill>
                <a:latin typeface="Arial"/>
                <a:cs typeface="Arial"/>
              </a:rPr>
              <a:t>התוצאה: כמה צעדים לקח. כמה שפחות יותר טוב!</a:t>
            </a:r>
          </a:p>
        </p:txBody>
      </p:sp>
      <p:sp>
        <p:nvSpPr>
          <p:cNvPr id="8" name="Rounded Rectangle 7"/>
          <p:cNvSpPr/>
          <p:nvPr/>
        </p:nvSpPr>
        <p:spPr>
          <a:xfrm>
            <a:off x="548640" y="1417320"/>
            <a:ext cx="5376672" cy="3017520"/>
          </a:xfrm>
          <a:prstGeom prst="roundRect">
            <a:avLst>
              <a:gd name="adj" fmla="val 8000"/>
            </a:avLst>
          </a:prstGeom>
          <a:solidFill>
            <a:srgbClr val="FD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2788920" y="1600200"/>
            <a:ext cx="914400" cy="91440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3400" b="1" i="0">
                <a:solidFill>
                  <a:srgbClr val="FFFFFF"/>
                </a:solidFill>
                <a:latin typeface="Arial"/>
                <a:cs typeface="Arial"/>
              </a:rPr>
              <a:t>✗</a:t>
            </a:r>
          </a:p>
        </p:txBody>
      </p:sp>
      <p:sp>
        <p:nvSpPr>
          <p:cNvPr id="10" name="TextBox 9"/>
          <p:cNvSpPr txBox="1"/>
          <p:nvPr/>
        </p:nvSpPr>
        <p:spPr>
          <a:xfrm>
            <a:off x="548640" y="2651760"/>
            <a:ext cx="5376672" cy="548640"/>
          </a:xfrm>
          <a:prstGeom prst="rect">
            <a:avLst/>
          </a:prstGeom>
          <a:noFill/>
        </p:spPr>
        <p:txBody>
          <a:bodyPr wrap="square" lIns="45720" rIns="45720" anchor="t">
            <a:spAutoFit/>
          </a:bodyPr>
          <a:lstStyle/>
          <a:p>
            <a:pPr algn="ctr" rtl="1"/>
            <a:r>
              <a:rPr lang="he-IL" sz="2600" b="1" i="0">
                <a:solidFill>
                  <a:srgbClr val="1B2B34"/>
                </a:solidFill>
                <a:latin typeface="Arial"/>
                <a:cs typeface="Arial"/>
              </a:rPr>
              <a:t>ניחוש שגוי = הפסד</a:t>
            </a:r>
          </a:p>
        </p:txBody>
      </p:sp>
      <p:sp>
        <p:nvSpPr>
          <p:cNvPr id="11" name="TextBox 10"/>
          <p:cNvSpPr txBox="1"/>
          <p:nvPr/>
        </p:nvSpPr>
        <p:spPr>
          <a:xfrm>
            <a:off x="777240" y="3246120"/>
            <a:ext cx="4937760" cy="369332"/>
          </a:xfrm>
          <a:prstGeom prst="rect">
            <a:avLst/>
          </a:prstGeom>
          <a:noFill/>
        </p:spPr>
        <p:txBody>
          <a:bodyPr wrap="square" lIns="45720" rIns="45720" anchor="t">
            <a:spAutoFit/>
          </a:bodyPr>
          <a:lstStyle/>
          <a:p>
            <a:pPr algn="ctr" rtl="1"/>
            <a:r>
              <a:rPr lang="he-IL" sz="1800" b="0" i="0" dirty="0">
                <a:solidFill>
                  <a:srgbClr val="5F6F78"/>
                </a:solidFill>
                <a:latin typeface="Arial"/>
                <a:cs typeface="Arial"/>
              </a:rPr>
              <a:t>המשחק נגמר והבוט הפסיד</a:t>
            </a:r>
          </a:p>
        </p:txBody>
      </p:sp>
      <p:sp>
        <p:nvSpPr>
          <p:cNvPr id="12" name="Rounded Rectangle 11"/>
          <p:cNvSpPr/>
          <p:nvPr/>
        </p:nvSpPr>
        <p:spPr>
          <a:xfrm>
            <a:off x="548640" y="4754880"/>
            <a:ext cx="11091672" cy="1005840"/>
          </a:xfrm>
          <a:prstGeom prst="roundRect">
            <a:avLst>
              <a:gd name="adj" fmla="val 20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100" b="1" i="0" dirty="0">
                <a:solidFill>
                  <a:srgbClr val="1B2B34"/>
                </a:solidFill>
                <a:latin typeface="Arial"/>
                <a:cs typeface="Arial"/>
              </a:rPr>
              <a:t>המטרה: </a:t>
            </a:r>
            <a:r>
              <a:rPr lang="he-IL" sz="2100" b="0" i="0" dirty="0">
                <a:solidFill>
                  <a:srgbClr val="1B2B34"/>
                </a:solidFill>
                <a:latin typeface="Arial"/>
                <a:cs typeface="Arial"/>
              </a:rPr>
              <a:t>לנחש מהר אבל לא לנחש סתם!</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8</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איך נראה קרב? (לדוגמה)</a:t>
            </a:r>
          </a:p>
        </p:txBody>
      </p:sp>
      <p:sp>
        <p:nvSpPr>
          <p:cNvPr id="4" name="Rounded Rectangle 3"/>
          <p:cNvSpPr/>
          <p:nvPr/>
        </p:nvSpPr>
        <p:spPr>
          <a:xfrm>
            <a:off x="4754880" y="1325880"/>
            <a:ext cx="6858000" cy="640080"/>
          </a:xfrm>
          <a:prstGeom prst="roundRect">
            <a:avLst>
              <a:gd name="adj" fmla="val 25000"/>
            </a:avLst>
          </a:prstGeom>
          <a:solidFill>
            <a:srgbClr val="E3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892040" y="1371600"/>
            <a:ext cx="6583680" cy="274320"/>
          </a:xfrm>
          <a:prstGeom prst="rect">
            <a:avLst/>
          </a:prstGeom>
          <a:noFill/>
        </p:spPr>
        <p:txBody>
          <a:bodyPr wrap="square" lIns="45720" rIns="45720" anchor="t">
            <a:spAutoFit/>
          </a:bodyPr>
          <a:lstStyle/>
          <a:p>
            <a:pPr algn="r" rtl="1"/>
            <a:r>
              <a:rPr lang="he-IL" sz="1200" b="1" i="0">
                <a:solidFill>
                  <a:srgbClr val="5F6F78"/>
                </a:solidFill>
                <a:latin typeface="Arial"/>
                <a:cs typeface="Arial"/>
              </a:rPr>
              <a:t>הבוט 🤖</a:t>
            </a:r>
          </a:p>
        </p:txBody>
      </p:sp>
      <p:sp>
        <p:nvSpPr>
          <p:cNvPr id="6" name="TextBox 5"/>
          <p:cNvSpPr txBox="1"/>
          <p:nvPr/>
        </p:nvSpPr>
        <p:spPr>
          <a:xfrm>
            <a:off x="4892040" y="1618488"/>
            <a:ext cx="6583680" cy="301751"/>
          </a:xfrm>
          <a:prstGeom prst="rect">
            <a:avLst/>
          </a:prstGeom>
          <a:noFill/>
        </p:spPr>
        <p:txBody>
          <a:bodyPr wrap="square" lIns="45720" rIns="45720" anchor="t">
            <a:spAutoFit/>
          </a:bodyPr>
          <a:lstStyle/>
          <a:p>
            <a:pPr algn="r" rtl="1"/>
            <a:r>
              <a:rPr lang="he-IL" sz="1500" b="0" i="0">
                <a:solidFill>
                  <a:srgbClr val="1B2B34"/>
                </a:solidFill>
                <a:latin typeface="Arial"/>
                <a:cs typeface="Arial"/>
              </a:rPr>
              <a:t>היי, מה קורה? מה אכלת היום בבוקר?</a:t>
            </a:r>
          </a:p>
        </p:txBody>
      </p:sp>
      <p:sp>
        <p:nvSpPr>
          <p:cNvPr id="7" name="Rounded Rectangle 6"/>
          <p:cNvSpPr/>
          <p:nvPr/>
        </p:nvSpPr>
        <p:spPr>
          <a:xfrm>
            <a:off x="548640" y="2039112"/>
            <a:ext cx="7223760" cy="640080"/>
          </a:xfrm>
          <a:prstGeom prst="roundRect">
            <a:avLst>
              <a:gd name="adj" fmla="val 25000"/>
            </a:avLst>
          </a:prstGeom>
          <a:solidFill>
            <a:srgbClr val="FD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084831"/>
            <a:ext cx="6949440" cy="274320"/>
          </a:xfrm>
          <a:prstGeom prst="rect">
            <a:avLst/>
          </a:prstGeom>
          <a:noFill/>
        </p:spPr>
        <p:txBody>
          <a:bodyPr wrap="square" lIns="45720" rIns="45720" anchor="t">
            <a:spAutoFit/>
          </a:bodyPr>
          <a:lstStyle/>
          <a:p>
            <a:pPr algn="l" rtl="0"/>
            <a:r>
              <a:rPr lang="en-US" sz="1200" b="1" i="0">
                <a:solidFill>
                  <a:srgbClr val="5F6F78"/>
                </a:solidFill>
                <a:latin typeface="Arial"/>
                <a:cs typeface="Arial"/>
              </a:rPr>
              <a:t>דני</a:t>
            </a:r>
          </a:p>
        </p:txBody>
      </p:sp>
      <p:sp>
        <p:nvSpPr>
          <p:cNvPr id="9" name="TextBox 8"/>
          <p:cNvSpPr txBox="1"/>
          <p:nvPr/>
        </p:nvSpPr>
        <p:spPr>
          <a:xfrm>
            <a:off x="685800" y="2331720"/>
            <a:ext cx="6949440" cy="301751"/>
          </a:xfrm>
          <a:prstGeom prst="rect">
            <a:avLst/>
          </a:prstGeom>
          <a:noFill/>
        </p:spPr>
        <p:txBody>
          <a:bodyPr wrap="square" lIns="45720" rIns="45720" anchor="t">
            <a:spAutoFit/>
          </a:bodyPr>
          <a:lstStyle/>
          <a:p>
            <a:pPr algn="r" rtl="1"/>
            <a:r>
              <a:rPr lang="he-IL" sz="1500" b="0" i="0">
                <a:solidFill>
                  <a:srgbClr val="1B2B34"/>
                </a:solidFill>
                <a:latin typeface="Arial"/>
                <a:cs typeface="Arial"/>
              </a:rPr>
              <a:t>חחח כלום, איחרתי לבית ספר 😅 ואתה?</a:t>
            </a:r>
          </a:p>
        </p:txBody>
      </p:sp>
      <p:sp>
        <p:nvSpPr>
          <p:cNvPr id="10" name="Rounded Rectangle 9"/>
          <p:cNvSpPr/>
          <p:nvPr/>
        </p:nvSpPr>
        <p:spPr>
          <a:xfrm>
            <a:off x="4754880" y="2752344"/>
            <a:ext cx="6858000" cy="640080"/>
          </a:xfrm>
          <a:prstGeom prst="roundRect">
            <a:avLst>
              <a:gd name="adj" fmla="val 25000"/>
            </a:avLst>
          </a:prstGeom>
          <a:solidFill>
            <a:srgbClr val="E3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92040" y="2798063"/>
            <a:ext cx="6583680" cy="274320"/>
          </a:xfrm>
          <a:prstGeom prst="rect">
            <a:avLst/>
          </a:prstGeom>
          <a:noFill/>
        </p:spPr>
        <p:txBody>
          <a:bodyPr wrap="square" lIns="45720" rIns="45720" anchor="t">
            <a:spAutoFit/>
          </a:bodyPr>
          <a:lstStyle/>
          <a:p>
            <a:pPr algn="r" rtl="1"/>
            <a:r>
              <a:rPr lang="he-IL" sz="1200" b="1" i="0">
                <a:solidFill>
                  <a:srgbClr val="5F6F78"/>
                </a:solidFill>
                <a:latin typeface="Arial"/>
                <a:cs typeface="Arial"/>
              </a:rPr>
              <a:t>הבוט 🤖</a:t>
            </a:r>
          </a:p>
        </p:txBody>
      </p:sp>
      <p:sp>
        <p:nvSpPr>
          <p:cNvPr id="12" name="TextBox 11"/>
          <p:cNvSpPr txBox="1"/>
          <p:nvPr/>
        </p:nvSpPr>
        <p:spPr>
          <a:xfrm>
            <a:off x="4892040" y="3044951"/>
            <a:ext cx="6583680" cy="301751"/>
          </a:xfrm>
          <a:prstGeom prst="rect">
            <a:avLst/>
          </a:prstGeom>
          <a:noFill/>
        </p:spPr>
        <p:txBody>
          <a:bodyPr wrap="square" lIns="45720" rIns="45720" anchor="t">
            <a:spAutoFit/>
          </a:bodyPr>
          <a:lstStyle/>
          <a:p>
            <a:pPr algn="r" rtl="1"/>
            <a:r>
              <a:rPr lang="he-IL" sz="1500" b="0" i="0">
                <a:solidFill>
                  <a:srgbClr val="1B2B34"/>
                </a:solidFill>
                <a:latin typeface="Arial"/>
                <a:cs typeface="Arial"/>
              </a:rPr>
              <a:t>כמה זה 347 כפול 29?</a:t>
            </a:r>
          </a:p>
        </p:txBody>
      </p:sp>
      <p:sp>
        <p:nvSpPr>
          <p:cNvPr id="13" name="Rounded Rectangle 12"/>
          <p:cNvSpPr/>
          <p:nvPr/>
        </p:nvSpPr>
        <p:spPr>
          <a:xfrm>
            <a:off x="548640" y="3465576"/>
            <a:ext cx="7223760" cy="640080"/>
          </a:xfrm>
          <a:prstGeom prst="roundRect">
            <a:avLst>
              <a:gd name="adj" fmla="val 25000"/>
            </a:avLst>
          </a:prstGeom>
          <a:solidFill>
            <a:srgbClr val="FD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511296"/>
            <a:ext cx="6949440" cy="274320"/>
          </a:xfrm>
          <a:prstGeom prst="rect">
            <a:avLst/>
          </a:prstGeom>
          <a:noFill/>
        </p:spPr>
        <p:txBody>
          <a:bodyPr wrap="square" lIns="45720" rIns="45720" anchor="t">
            <a:spAutoFit/>
          </a:bodyPr>
          <a:lstStyle/>
          <a:p>
            <a:pPr algn="l" rtl="0"/>
            <a:r>
              <a:rPr lang="en-US" sz="1200" b="1" i="0">
                <a:solidFill>
                  <a:srgbClr val="5F6F78"/>
                </a:solidFill>
                <a:latin typeface="Arial"/>
                <a:cs typeface="Arial"/>
              </a:rPr>
              <a:t>דני</a:t>
            </a:r>
          </a:p>
        </p:txBody>
      </p:sp>
      <p:sp>
        <p:nvSpPr>
          <p:cNvPr id="15" name="TextBox 14"/>
          <p:cNvSpPr txBox="1"/>
          <p:nvPr/>
        </p:nvSpPr>
        <p:spPr>
          <a:xfrm>
            <a:off x="685800" y="3758184"/>
            <a:ext cx="6949440" cy="301751"/>
          </a:xfrm>
          <a:prstGeom prst="rect">
            <a:avLst/>
          </a:prstGeom>
          <a:noFill/>
        </p:spPr>
        <p:txBody>
          <a:bodyPr wrap="square" lIns="45720" rIns="45720" anchor="t">
            <a:spAutoFit/>
          </a:bodyPr>
          <a:lstStyle/>
          <a:p>
            <a:pPr algn="r" rtl="1"/>
            <a:r>
              <a:rPr lang="he-IL" sz="1500" b="0" i="0">
                <a:solidFill>
                  <a:srgbClr val="1B2B34"/>
                </a:solidFill>
                <a:latin typeface="Arial"/>
                <a:cs typeface="Arial"/>
              </a:rPr>
              <a:t>וואי אין לי מושג, אני לא מחשבון</a:t>
            </a:r>
          </a:p>
        </p:txBody>
      </p:sp>
      <p:sp>
        <p:nvSpPr>
          <p:cNvPr id="16" name="Rounded Rectangle 15"/>
          <p:cNvSpPr/>
          <p:nvPr/>
        </p:nvSpPr>
        <p:spPr>
          <a:xfrm>
            <a:off x="4754880" y="4178808"/>
            <a:ext cx="6858000" cy="640080"/>
          </a:xfrm>
          <a:prstGeom prst="roundRect">
            <a:avLst>
              <a:gd name="adj" fmla="val 25000"/>
            </a:avLst>
          </a:prstGeom>
          <a:solidFill>
            <a:srgbClr val="E3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92040" y="4224528"/>
            <a:ext cx="6583680" cy="274320"/>
          </a:xfrm>
          <a:prstGeom prst="rect">
            <a:avLst/>
          </a:prstGeom>
          <a:noFill/>
        </p:spPr>
        <p:txBody>
          <a:bodyPr wrap="square" lIns="45720" rIns="45720" anchor="t">
            <a:spAutoFit/>
          </a:bodyPr>
          <a:lstStyle/>
          <a:p>
            <a:pPr algn="r" rtl="1"/>
            <a:r>
              <a:rPr lang="he-IL" sz="1200" b="1" i="0">
                <a:solidFill>
                  <a:srgbClr val="5F6F78"/>
                </a:solidFill>
                <a:latin typeface="Arial"/>
                <a:cs typeface="Arial"/>
              </a:rPr>
              <a:t>הבוט 🤖</a:t>
            </a:r>
          </a:p>
        </p:txBody>
      </p:sp>
      <p:sp>
        <p:nvSpPr>
          <p:cNvPr id="18" name="TextBox 17"/>
          <p:cNvSpPr txBox="1"/>
          <p:nvPr/>
        </p:nvSpPr>
        <p:spPr>
          <a:xfrm>
            <a:off x="4892040" y="4471416"/>
            <a:ext cx="6583680" cy="301751"/>
          </a:xfrm>
          <a:prstGeom prst="rect">
            <a:avLst/>
          </a:prstGeom>
          <a:noFill/>
        </p:spPr>
        <p:txBody>
          <a:bodyPr wrap="square" lIns="45720" rIns="45720" anchor="t">
            <a:spAutoFit/>
          </a:bodyPr>
          <a:lstStyle/>
          <a:p>
            <a:pPr algn="r" rtl="1"/>
            <a:r>
              <a:rPr lang="he-IL" sz="1500" b="0" i="0">
                <a:solidFill>
                  <a:srgbClr val="1B2B34"/>
                </a:solidFill>
                <a:latin typeface="Arial"/>
                <a:cs typeface="Arial"/>
              </a:rPr>
              <a:t>מה ראית בדרך לבית הספר היום?</a:t>
            </a:r>
          </a:p>
        </p:txBody>
      </p:sp>
      <p:sp>
        <p:nvSpPr>
          <p:cNvPr id="19" name="Rounded Rectangle 18"/>
          <p:cNvSpPr/>
          <p:nvPr/>
        </p:nvSpPr>
        <p:spPr>
          <a:xfrm>
            <a:off x="548640" y="4892040"/>
            <a:ext cx="7223760" cy="640080"/>
          </a:xfrm>
          <a:prstGeom prst="roundRect">
            <a:avLst>
              <a:gd name="adj" fmla="val 25000"/>
            </a:avLst>
          </a:prstGeom>
          <a:solidFill>
            <a:srgbClr val="FD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4937760"/>
            <a:ext cx="6949440" cy="274320"/>
          </a:xfrm>
          <a:prstGeom prst="rect">
            <a:avLst/>
          </a:prstGeom>
          <a:noFill/>
        </p:spPr>
        <p:txBody>
          <a:bodyPr wrap="square" lIns="45720" rIns="45720" anchor="t">
            <a:spAutoFit/>
          </a:bodyPr>
          <a:lstStyle/>
          <a:p>
            <a:pPr algn="l" rtl="0"/>
            <a:r>
              <a:rPr lang="en-US" sz="1200" b="1" i="0">
                <a:solidFill>
                  <a:srgbClr val="5F6F78"/>
                </a:solidFill>
                <a:latin typeface="Arial"/>
                <a:cs typeface="Arial"/>
              </a:rPr>
              <a:t>דני</a:t>
            </a:r>
          </a:p>
        </p:txBody>
      </p:sp>
      <p:sp>
        <p:nvSpPr>
          <p:cNvPr id="21" name="TextBox 20"/>
          <p:cNvSpPr txBox="1"/>
          <p:nvPr/>
        </p:nvSpPr>
        <p:spPr>
          <a:xfrm>
            <a:off x="685800" y="5184648"/>
            <a:ext cx="6949440" cy="301751"/>
          </a:xfrm>
          <a:prstGeom prst="rect">
            <a:avLst/>
          </a:prstGeom>
          <a:noFill/>
        </p:spPr>
        <p:txBody>
          <a:bodyPr wrap="square" lIns="45720" rIns="45720" anchor="t">
            <a:spAutoFit/>
          </a:bodyPr>
          <a:lstStyle/>
          <a:p>
            <a:pPr algn="r" rtl="1"/>
            <a:r>
              <a:rPr lang="he-IL" sz="1500" b="0" i="0">
                <a:solidFill>
                  <a:srgbClr val="1B2B34"/>
                </a:solidFill>
                <a:latin typeface="Arial"/>
                <a:cs typeface="Arial"/>
              </a:rPr>
              <a:t>לא שמתי לב לכלום, הייתי בטלפון כל הדרך 😂</a:t>
            </a:r>
          </a:p>
        </p:txBody>
      </p:sp>
      <p:sp>
        <p:nvSpPr>
          <p:cNvPr id="22" name="Rounded Rectangle 21"/>
          <p:cNvSpPr/>
          <p:nvPr/>
        </p:nvSpPr>
        <p:spPr>
          <a:xfrm>
            <a:off x="7982712" y="5605272"/>
            <a:ext cx="3657600" cy="548640"/>
          </a:xfrm>
          <a:prstGeom prst="roundRect">
            <a:avLst>
              <a:gd name="adj" fmla="val 50000"/>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800" b="1" i="0">
                <a:solidFill>
                  <a:srgbClr val="FFFFFF"/>
                </a:solidFill>
                <a:latin typeface="Consolas"/>
                <a:cs typeface="Consolas"/>
              </a:rPr>
              <a:t>GUESS: HUMAN</a:t>
            </a:r>
          </a:p>
        </p:txBody>
      </p:sp>
      <p:sp>
        <p:nvSpPr>
          <p:cNvPr id="23" name="TextBox 22"/>
          <p:cNvSpPr txBox="1"/>
          <p:nvPr/>
        </p:nvSpPr>
        <p:spPr>
          <a:xfrm>
            <a:off x="7067005" y="6245352"/>
            <a:ext cx="3108960" cy="548640"/>
          </a:xfrm>
          <a:prstGeom prst="rect">
            <a:avLst/>
          </a:prstGeom>
          <a:noFill/>
        </p:spPr>
        <p:txBody>
          <a:bodyPr wrap="square" lIns="45720" rIns="45720" anchor="ctr">
            <a:spAutoFit/>
          </a:bodyPr>
          <a:lstStyle/>
          <a:p>
            <a:pPr algn="r" rtl="1"/>
            <a:r>
              <a:rPr lang="he-IL" sz="1800" b="1" i="0" dirty="0">
                <a:solidFill>
                  <a:srgbClr val="2D9F5C"/>
                </a:solidFill>
                <a:latin typeface="Arial"/>
                <a:cs typeface="Arial"/>
              </a:rPr>
              <a:t>✓ נכון! 3 צעדים</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9</a:t>
            </a:r>
          </a:p>
        </p:txBody>
      </p:sp>
      <p:sp>
        <p:nvSpPr>
          <p:cNvPr id="3" name="TextBox 2"/>
          <p:cNvSpPr txBox="1"/>
          <p:nvPr/>
        </p:nvSpPr>
        <p:spPr>
          <a:xfrm>
            <a:off x="548640" y="320040"/>
            <a:ext cx="11091672" cy="777240"/>
          </a:xfrm>
          <a:prstGeom prst="rect">
            <a:avLst/>
          </a:prstGeom>
          <a:noFill/>
        </p:spPr>
        <p:txBody>
          <a:bodyPr wrap="square" lIns="45720" rIns="45720" anchor="ctr">
            <a:spAutoFit/>
          </a:bodyPr>
          <a:lstStyle/>
          <a:p>
            <a:pPr algn="r" rtl="1"/>
            <a:r>
              <a:rPr lang="he-IL" sz="3600" b="1" i="0">
                <a:solidFill>
                  <a:srgbClr val="1B4332"/>
                </a:solidFill>
                <a:latin typeface="Arial"/>
                <a:cs typeface="Arial"/>
              </a:rPr>
              <a:t>שני קבצים: הבוט שלכם והכלים המוכנים</a:t>
            </a:r>
          </a:p>
        </p:txBody>
      </p:sp>
      <p:sp>
        <p:nvSpPr>
          <p:cNvPr id="4" name="Rounded Rectangle 3"/>
          <p:cNvSpPr/>
          <p:nvPr/>
        </p:nvSpPr>
        <p:spPr>
          <a:xfrm>
            <a:off x="6035040" y="1371600"/>
            <a:ext cx="5605272" cy="640080"/>
          </a:xfrm>
          <a:prstGeom prst="roundRect">
            <a:avLst>
              <a:gd name="adj" fmla="val 40000"/>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en-US" sz="1900" b="1" i="0">
                <a:solidFill>
                  <a:srgbClr val="FFFFFF"/>
                </a:solidFill>
                <a:latin typeface="Consolas"/>
                <a:cs typeface="Consolas"/>
              </a:rPr>
              <a:t>turing_bot.py</a:t>
            </a:r>
            <a:r>
              <a:rPr lang="he-IL" sz="1900" b="1" i="0">
                <a:solidFill>
                  <a:srgbClr val="FFFFFF"/>
                </a:solidFill>
                <a:latin typeface="Arial"/>
                <a:cs typeface="Arial"/>
              </a:rPr>
              <a:t>  -  הבוט שלכם ✏️</a:t>
            </a:r>
          </a:p>
        </p:txBody>
      </p:sp>
      <p:sp>
        <p:nvSpPr>
          <p:cNvPr id="5" name="Rounded Rectangle 4"/>
          <p:cNvSpPr/>
          <p:nvPr/>
        </p:nvSpPr>
        <p:spPr>
          <a:xfrm>
            <a:off x="6035040" y="2194560"/>
            <a:ext cx="5605272" cy="914400"/>
          </a:xfrm>
          <a:prstGeom prst="roundRect">
            <a:avLst>
              <a:gd name="adj" fmla="val 15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835640" y="2331720"/>
            <a:ext cx="640080" cy="64008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a:solidFill>
                  <a:srgbClr val="FFFFFF"/>
                </a:solidFill>
                <a:latin typeface="Arial"/>
                <a:cs typeface="Arial"/>
              </a:rPr>
              <a:t>⚙️</a:t>
            </a:r>
          </a:p>
        </p:txBody>
      </p:sp>
      <p:sp>
        <p:nvSpPr>
          <p:cNvPr id="7" name="TextBox 6"/>
          <p:cNvSpPr txBox="1"/>
          <p:nvPr/>
        </p:nvSpPr>
        <p:spPr>
          <a:xfrm>
            <a:off x="8778240" y="2194560"/>
            <a:ext cx="2011680" cy="914400"/>
          </a:xfrm>
          <a:prstGeom prst="rect">
            <a:avLst/>
          </a:prstGeom>
          <a:noFill/>
        </p:spPr>
        <p:txBody>
          <a:bodyPr wrap="square" lIns="45720" rIns="45720" anchor="ctr">
            <a:spAutoFit/>
          </a:bodyPr>
          <a:lstStyle/>
          <a:p>
            <a:pPr algn="r" rtl="1"/>
            <a:r>
              <a:rPr lang="he-IL" sz="1800" b="1" i="0">
                <a:solidFill>
                  <a:srgbClr val="1B2B34"/>
                </a:solidFill>
                <a:latin typeface="Arial"/>
                <a:cs typeface="Arial"/>
              </a:rPr>
              <a:t>הגדרות</a:t>
            </a:r>
          </a:p>
        </p:txBody>
      </p:sp>
      <p:sp>
        <p:nvSpPr>
          <p:cNvPr id="8" name="TextBox 7"/>
          <p:cNvSpPr txBox="1"/>
          <p:nvPr/>
        </p:nvSpPr>
        <p:spPr>
          <a:xfrm>
            <a:off x="6172200" y="2194560"/>
            <a:ext cx="2651760" cy="914400"/>
          </a:xfrm>
          <a:prstGeom prst="rect">
            <a:avLst/>
          </a:prstGeom>
          <a:noFill/>
        </p:spPr>
        <p:txBody>
          <a:bodyPr wrap="square" lIns="45720" rIns="45720" anchor="ctr">
            <a:spAutoFit/>
          </a:bodyPr>
          <a:lstStyle/>
          <a:p>
            <a:pPr algn="l" rtl="0"/>
            <a:r>
              <a:rPr lang="en-US" sz="1300" b="0" i="0">
                <a:solidFill>
                  <a:srgbClr val="1B2B34"/>
                </a:solidFill>
                <a:latin typeface="Consolas"/>
                <a:cs typeface="Consolas"/>
              </a:rPr>
              <a:t>TEAM_NAME, STARTS_FIRST</a:t>
            </a:r>
          </a:p>
        </p:txBody>
      </p:sp>
      <p:sp>
        <p:nvSpPr>
          <p:cNvPr id="9" name="Rounded Rectangle 8"/>
          <p:cNvSpPr/>
          <p:nvPr/>
        </p:nvSpPr>
        <p:spPr>
          <a:xfrm>
            <a:off x="6035040" y="3246120"/>
            <a:ext cx="5605272" cy="914400"/>
          </a:xfrm>
          <a:prstGeom prst="roundRect">
            <a:avLst>
              <a:gd name="adj" fmla="val 15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835640" y="3383279"/>
            <a:ext cx="640080" cy="64008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a:solidFill>
                  <a:srgbClr val="FFFFFF"/>
                </a:solidFill>
                <a:latin typeface="Arial"/>
                <a:cs typeface="Arial"/>
              </a:rPr>
              <a:t>💬</a:t>
            </a:r>
          </a:p>
        </p:txBody>
      </p:sp>
      <p:sp>
        <p:nvSpPr>
          <p:cNvPr id="11" name="TextBox 10"/>
          <p:cNvSpPr txBox="1"/>
          <p:nvPr/>
        </p:nvSpPr>
        <p:spPr>
          <a:xfrm>
            <a:off x="8778240" y="3518654"/>
            <a:ext cx="2011680" cy="369332"/>
          </a:xfrm>
          <a:prstGeom prst="rect">
            <a:avLst/>
          </a:prstGeom>
          <a:noFill/>
        </p:spPr>
        <p:txBody>
          <a:bodyPr wrap="square" lIns="45720" rIns="45720" anchor="ctr">
            <a:spAutoFit/>
          </a:bodyPr>
          <a:lstStyle/>
          <a:p>
            <a:pPr algn="r" rtl="1"/>
            <a:r>
              <a:rPr lang="he-IL" sz="1800" b="1" i="0" dirty="0">
                <a:solidFill>
                  <a:srgbClr val="1B2B34"/>
                </a:solidFill>
                <a:latin typeface="Arial"/>
                <a:cs typeface="Arial"/>
              </a:rPr>
              <a:t>פרומפטים</a:t>
            </a:r>
          </a:p>
        </p:txBody>
      </p:sp>
      <p:sp>
        <p:nvSpPr>
          <p:cNvPr id="12" name="TextBox 11"/>
          <p:cNvSpPr txBox="1"/>
          <p:nvPr/>
        </p:nvSpPr>
        <p:spPr>
          <a:xfrm>
            <a:off x="6172200" y="3246120"/>
            <a:ext cx="2651760" cy="914400"/>
          </a:xfrm>
          <a:prstGeom prst="rect">
            <a:avLst/>
          </a:prstGeom>
          <a:noFill/>
        </p:spPr>
        <p:txBody>
          <a:bodyPr wrap="square" lIns="45720" rIns="45720" anchor="ctr">
            <a:spAutoFit/>
          </a:bodyPr>
          <a:lstStyle/>
          <a:p>
            <a:pPr algn="l" rtl="0"/>
            <a:r>
              <a:rPr lang="en-US" sz="1300" b="0" i="0">
                <a:solidFill>
                  <a:srgbClr val="1B2B34"/>
                </a:solidFill>
                <a:latin typeface="Consolas"/>
                <a:cs typeface="Consolas"/>
              </a:rPr>
              <a:t>SYSTEM_PROMPT, OPENING_LINES</a:t>
            </a:r>
          </a:p>
        </p:txBody>
      </p:sp>
      <p:sp>
        <p:nvSpPr>
          <p:cNvPr id="13" name="Rounded Rectangle 12"/>
          <p:cNvSpPr/>
          <p:nvPr/>
        </p:nvSpPr>
        <p:spPr>
          <a:xfrm>
            <a:off x="6035040" y="4297679"/>
            <a:ext cx="5605272" cy="914400"/>
          </a:xfrm>
          <a:prstGeom prst="roundRect">
            <a:avLst>
              <a:gd name="adj" fmla="val 15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835640" y="4434840"/>
            <a:ext cx="640080" cy="64008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a:solidFill>
                  <a:srgbClr val="FFFFFF"/>
                </a:solidFill>
                <a:latin typeface="Arial"/>
                <a:cs typeface="Arial"/>
              </a:rPr>
              <a:t>🧠</a:t>
            </a:r>
          </a:p>
        </p:txBody>
      </p:sp>
      <p:sp>
        <p:nvSpPr>
          <p:cNvPr id="15" name="TextBox 14"/>
          <p:cNvSpPr txBox="1"/>
          <p:nvPr/>
        </p:nvSpPr>
        <p:spPr>
          <a:xfrm>
            <a:off x="8778240" y="4297679"/>
            <a:ext cx="2011680" cy="914400"/>
          </a:xfrm>
          <a:prstGeom prst="rect">
            <a:avLst/>
          </a:prstGeom>
          <a:noFill/>
        </p:spPr>
        <p:txBody>
          <a:bodyPr wrap="square" lIns="45720" rIns="45720" anchor="ctr">
            <a:spAutoFit/>
          </a:bodyPr>
          <a:lstStyle/>
          <a:p>
            <a:pPr algn="r" rtl="1"/>
            <a:r>
              <a:rPr lang="he-IL" sz="1800" b="1" i="0" dirty="0">
                <a:solidFill>
                  <a:srgbClr val="1B2B34"/>
                </a:solidFill>
                <a:latin typeface="Arial"/>
                <a:cs typeface="Arial"/>
              </a:rPr>
              <a:t>המוח</a:t>
            </a:r>
          </a:p>
        </p:txBody>
      </p:sp>
      <p:sp>
        <p:nvSpPr>
          <p:cNvPr id="16" name="TextBox 15"/>
          <p:cNvSpPr txBox="1"/>
          <p:nvPr/>
        </p:nvSpPr>
        <p:spPr>
          <a:xfrm>
            <a:off x="6172200" y="4297679"/>
            <a:ext cx="2651760" cy="914400"/>
          </a:xfrm>
          <a:prstGeom prst="rect">
            <a:avLst/>
          </a:prstGeom>
          <a:noFill/>
        </p:spPr>
        <p:txBody>
          <a:bodyPr wrap="square" lIns="45720" rIns="45720" anchor="ctr">
            <a:spAutoFit/>
          </a:bodyPr>
          <a:lstStyle/>
          <a:p>
            <a:pPr algn="l" rtl="0"/>
            <a:r>
              <a:rPr lang="en-US" sz="1300" b="0" i="0">
                <a:solidFill>
                  <a:srgbClr val="1B2B34"/>
                </a:solidFill>
                <a:latin typeface="Consolas"/>
                <a:cs typeface="Consolas"/>
              </a:rPr>
              <a:t>decide(history, turn, sent)</a:t>
            </a:r>
          </a:p>
        </p:txBody>
      </p:sp>
      <p:sp>
        <p:nvSpPr>
          <p:cNvPr id="17" name="Rounded Rectangle 16"/>
          <p:cNvSpPr/>
          <p:nvPr/>
        </p:nvSpPr>
        <p:spPr>
          <a:xfrm>
            <a:off x="548640" y="1371600"/>
            <a:ext cx="5120640" cy="640080"/>
          </a:xfrm>
          <a:prstGeom prst="roundRect">
            <a:avLst>
              <a:gd name="adj" fmla="val 40000"/>
            </a:avLst>
          </a:prstGeom>
          <a:solidFill>
            <a:srgbClr val="5F6F7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en-US" sz="1900" b="1" i="0">
                <a:solidFill>
                  <a:srgbClr val="FFFFFF"/>
                </a:solidFill>
                <a:latin typeface="Consolas"/>
                <a:cs typeface="Consolas"/>
              </a:rPr>
              <a:t>bot_tools.py</a:t>
            </a:r>
            <a:r>
              <a:rPr lang="he-IL" sz="1900" b="1" i="0">
                <a:solidFill>
                  <a:srgbClr val="FFFFFF"/>
                </a:solidFill>
                <a:latin typeface="Arial"/>
                <a:cs typeface="Arial"/>
              </a:rPr>
              <a:t>  -  כלים מוכנים 🔒</a:t>
            </a:r>
          </a:p>
        </p:txBody>
      </p:sp>
      <p:sp>
        <p:nvSpPr>
          <p:cNvPr id="18" name="Rounded Rectangle 17"/>
          <p:cNvSpPr/>
          <p:nvPr/>
        </p:nvSpPr>
        <p:spPr>
          <a:xfrm>
            <a:off x="548640" y="2194560"/>
            <a:ext cx="5120640" cy="301752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2286000"/>
            <a:ext cx="2834640" cy="548640"/>
          </a:xfrm>
          <a:prstGeom prst="rect">
            <a:avLst/>
          </a:prstGeom>
          <a:noFill/>
        </p:spPr>
        <p:txBody>
          <a:bodyPr wrap="square" lIns="45720" rIns="45720" anchor="ctr">
            <a:spAutoFit/>
          </a:bodyPr>
          <a:lstStyle/>
          <a:p>
            <a:pPr algn="l" rtl="0"/>
            <a:r>
              <a:rPr lang="en-US" sz="1300" b="1" i="0">
                <a:solidFill>
                  <a:srgbClr val="118AB2"/>
                </a:solidFill>
                <a:latin typeface="Consolas"/>
                <a:cs typeface="Consolas"/>
              </a:rPr>
              <a:t>ask_gemini(system, prompt)</a:t>
            </a:r>
          </a:p>
        </p:txBody>
      </p:sp>
      <p:sp>
        <p:nvSpPr>
          <p:cNvPr id="20" name="TextBox 19"/>
          <p:cNvSpPr txBox="1"/>
          <p:nvPr/>
        </p:nvSpPr>
        <p:spPr>
          <a:xfrm>
            <a:off x="3566160" y="2286000"/>
            <a:ext cx="1965960" cy="548640"/>
          </a:xfrm>
          <a:prstGeom prst="rect">
            <a:avLst/>
          </a:prstGeom>
          <a:noFill/>
        </p:spPr>
        <p:txBody>
          <a:bodyPr wrap="square" lIns="45720" rIns="45720" anchor="ctr">
            <a:spAutoFit/>
          </a:bodyPr>
          <a:lstStyle/>
          <a:p>
            <a:pPr algn="r" rtl="1"/>
            <a:r>
              <a:rPr lang="he-IL" sz="1400" b="0" i="0">
                <a:solidFill>
                  <a:srgbClr val="5F6F78"/>
                </a:solidFill>
                <a:latin typeface="Arial"/>
                <a:cs typeface="Arial"/>
              </a:rPr>
              <a:t>שולחת ל-</a:t>
            </a:r>
            <a:r>
              <a:rPr lang="en-US" sz="1400" b="0" i="0">
                <a:solidFill>
                  <a:srgbClr val="5F6F78"/>
                </a:solidFill>
                <a:latin typeface="Arial"/>
                <a:cs typeface="Arial"/>
              </a:rPr>
              <a:t>Gemini</a:t>
            </a:r>
          </a:p>
        </p:txBody>
      </p:sp>
      <p:sp>
        <p:nvSpPr>
          <p:cNvPr id="21" name="TextBox 20"/>
          <p:cNvSpPr txBox="1"/>
          <p:nvPr/>
        </p:nvSpPr>
        <p:spPr>
          <a:xfrm>
            <a:off x="731520" y="2852928"/>
            <a:ext cx="2834640" cy="548640"/>
          </a:xfrm>
          <a:prstGeom prst="rect">
            <a:avLst/>
          </a:prstGeom>
          <a:noFill/>
        </p:spPr>
        <p:txBody>
          <a:bodyPr wrap="square" lIns="45720" rIns="45720" anchor="ctr">
            <a:spAutoFit/>
          </a:bodyPr>
          <a:lstStyle/>
          <a:p>
            <a:pPr algn="l" rtl="0"/>
            <a:r>
              <a:rPr lang="en-US" sz="1300" b="1" i="0">
                <a:solidFill>
                  <a:srgbClr val="118AB2"/>
                </a:solidFill>
                <a:latin typeface="Consolas"/>
                <a:cs typeface="Consolas"/>
              </a:rPr>
              <a:t>history_text(history)</a:t>
            </a:r>
          </a:p>
        </p:txBody>
      </p:sp>
      <p:sp>
        <p:nvSpPr>
          <p:cNvPr id="22" name="TextBox 21"/>
          <p:cNvSpPr txBox="1"/>
          <p:nvPr/>
        </p:nvSpPr>
        <p:spPr>
          <a:xfrm>
            <a:off x="3566160" y="2852928"/>
            <a:ext cx="1965960" cy="548640"/>
          </a:xfrm>
          <a:prstGeom prst="rect">
            <a:avLst/>
          </a:prstGeom>
          <a:noFill/>
        </p:spPr>
        <p:txBody>
          <a:bodyPr wrap="square" lIns="45720" rIns="45720" anchor="ctr">
            <a:spAutoFit/>
          </a:bodyPr>
          <a:lstStyle/>
          <a:p>
            <a:pPr algn="r" rtl="1"/>
            <a:r>
              <a:rPr lang="he-IL" sz="1400" b="0" i="0">
                <a:solidFill>
                  <a:srgbClr val="5F6F78"/>
                </a:solidFill>
                <a:latin typeface="Arial"/>
                <a:cs typeface="Arial"/>
              </a:rPr>
              <a:t>השיחה כמחרוזת</a:t>
            </a:r>
          </a:p>
        </p:txBody>
      </p:sp>
      <p:sp>
        <p:nvSpPr>
          <p:cNvPr id="23" name="TextBox 22"/>
          <p:cNvSpPr txBox="1"/>
          <p:nvPr/>
        </p:nvSpPr>
        <p:spPr>
          <a:xfrm>
            <a:off x="731520" y="3419856"/>
            <a:ext cx="2834640" cy="548640"/>
          </a:xfrm>
          <a:prstGeom prst="rect">
            <a:avLst/>
          </a:prstGeom>
          <a:noFill/>
        </p:spPr>
        <p:txBody>
          <a:bodyPr wrap="square" lIns="45720" rIns="45720" anchor="ctr">
            <a:spAutoFit/>
          </a:bodyPr>
          <a:lstStyle/>
          <a:p>
            <a:pPr algn="l" rtl="0"/>
            <a:r>
              <a:rPr lang="en-US" sz="1300" b="1" i="0">
                <a:solidFill>
                  <a:srgbClr val="118AB2"/>
                </a:solidFill>
                <a:latin typeface="Consolas"/>
                <a:cs typeface="Consolas"/>
              </a:rPr>
              <a:t>clean_reply(reply)</a:t>
            </a:r>
          </a:p>
        </p:txBody>
      </p:sp>
      <p:sp>
        <p:nvSpPr>
          <p:cNvPr id="24" name="TextBox 23"/>
          <p:cNvSpPr txBox="1"/>
          <p:nvPr/>
        </p:nvSpPr>
        <p:spPr>
          <a:xfrm>
            <a:off x="3566160" y="3419856"/>
            <a:ext cx="1965960" cy="548640"/>
          </a:xfrm>
          <a:prstGeom prst="rect">
            <a:avLst/>
          </a:prstGeom>
          <a:noFill/>
        </p:spPr>
        <p:txBody>
          <a:bodyPr wrap="square" lIns="45720" rIns="45720" anchor="ctr">
            <a:spAutoFit/>
          </a:bodyPr>
          <a:lstStyle/>
          <a:p>
            <a:pPr algn="r" rtl="1"/>
            <a:r>
              <a:rPr lang="he-IL" sz="1400" b="0" i="0">
                <a:solidFill>
                  <a:srgbClr val="5F6F78"/>
                </a:solidFill>
                <a:latin typeface="Arial"/>
                <a:cs typeface="Arial"/>
              </a:rPr>
              <a:t>בודקת 30 מילים וניחוש</a:t>
            </a:r>
          </a:p>
        </p:txBody>
      </p:sp>
      <p:sp>
        <p:nvSpPr>
          <p:cNvPr id="25" name="TextBox 24"/>
          <p:cNvSpPr txBox="1"/>
          <p:nvPr/>
        </p:nvSpPr>
        <p:spPr>
          <a:xfrm>
            <a:off x="731520" y="3986783"/>
            <a:ext cx="2834640" cy="548640"/>
          </a:xfrm>
          <a:prstGeom prst="rect">
            <a:avLst/>
          </a:prstGeom>
          <a:noFill/>
        </p:spPr>
        <p:txBody>
          <a:bodyPr wrap="square" lIns="45720" rIns="45720" anchor="ctr">
            <a:spAutoFit/>
          </a:bodyPr>
          <a:lstStyle/>
          <a:p>
            <a:pPr algn="l" rtl="0"/>
            <a:r>
              <a:rPr lang="en-US" sz="1300" b="1" i="0">
                <a:solidFill>
                  <a:srgbClr val="118AB2"/>
                </a:solidFill>
                <a:latin typeface="Consolas"/>
                <a:cs typeface="Consolas"/>
              </a:rPr>
              <a:t>respond, play</a:t>
            </a:r>
          </a:p>
        </p:txBody>
      </p:sp>
      <p:sp>
        <p:nvSpPr>
          <p:cNvPr id="26" name="TextBox 25"/>
          <p:cNvSpPr txBox="1"/>
          <p:nvPr/>
        </p:nvSpPr>
        <p:spPr>
          <a:xfrm>
            <a:off x="3566160" y="3986783"/>
            <a:ext cx="1965960" cy="548640"/>
          </a:xfrm>
          <a:prstGeom prst="rect">
            <a:avLst/>
          </a:prstGeom>
          <a:noFill/>
        </p:spPr>
        <p:txBody>
          <a:bodyPr wrap="square" lIns="45720" rIns="45720" anchor="ctr">
            <a:spAutoFit/>
          </a:bodyPr>
          <a:lstStyle/>
          <a:p>
            <a:pPr algn="r" rtl="1"/>
            <a:r>
              <a:rPr lang="he-IL" sz="1400" b="0" i="0">
                <a:solidFill>
                  <a:srgbClr val="5F6F78"/>
                </a:solidFill>
                <a:latin typeface="Arial"/>
                <a:cs typeface="Arial"/>
              </a:rPr>
              <a:t>המשחק וההיסטוריה</a:t>
            </a:r>
          </a:p>
        </p:txBody>
      </p:sp>
      <p:sp>
        <p:nvSpPr>
          <p:cNvPr id="27" name="TextBox 26"/>
          <p:cNvSpPr txBox="1"/>
          <p:nvPr/>
        </p:nvSpPr>
        <p:spPr>
          <a:xfrm>
            <a:off x="731520" y="4553712"/>
            <a:ext cx="2834640" cy="548640"/>
          </a:xfrm>
          <a:prstGeom prst="rect">
            <a:avLst/>
          </a:prstGeom>
          <a:noFill/>
        </p:spPr>
        <p:txBody>
          <a:bodyPr wrap="square" lIns="45720" rIns="45720" anchor="ctr">
            <a:spAutoFit/>
          </a:bodyPr>
          <a:lstStyle/>
          <a:p>
            <a:pPr algn="l" rtl="0"/>
            <a:r>
              <a:rPr lang="en-US" sz="1300" b="1" i="0">
                <a:solidFill>
                  <a:srgbClr val="118AB2"/>
                </a:solidFill>
                <a:latin typeface="Consolas"/>
                <a:cs typeface="Consolas"/>
              </a:rPr>
              <a:t>API_KEY, MODEL</a:t>
            </a:r>
          </a:p>
        </p:txBody>
      </p:sp>
      <p:sp>
        <p:nvSpPr>
          <p:cNvPr id="28" name="TextBox 27"/>
          <p:cNvSpPr txBox="1"/>
          <p:nvPr/>
        </p:nvSpPr>
        <p:spPr>
          <a:xfrm>
            <a:off x="3566160" y="4553712"/>
            <a:ext cx="1965960" cy="548640"/>
          </a:xfrm>
          <a:prstGeom prst="rect">
            <a:avLst/>
          </a:prstGeom>
          <a:noFill/>
        </p:spPr>
        <p:txBody>
          <a:bodyPr wrap="square" lIns="45720" rIns="45720" anchor="ctr">
            <a:spAutoFit/>
          </a:bodyPr>
          <a:lstStyle/>
          <a:p>
            <a:pPr algn="r" rtl="1"/>
            <a:r>
              <a:rPr lang="he-IL" sz="1400" b="0" i="0">
                <a:solidFill>
                  <a:srgbClr val="5F6F78"/>
                </a:solidFill>
                <a:latin typeface="Arial"/>
                <a:cs typeface="Arial"/>
              </a:rPr>
              <a:t>המפתח והמודל</a:t>
            </a:r>
          </a:p>
        </p:txBody>
      </p:sp>
      <p:sp>
        <p:nvSpPr>
          <p:cNvPr id="29" name="Rounded Rectangle 28"/>
          <p:cNvSpPr/>
          <p:nvPr/>
        </p:nvSpPr>
        <p:spPr>
          <a:xfrm>
            <a:off x="548640" y="5486400"/>
            <a:ext cx="11091672" cy="594360"/>
          </a:xfrm>
          <a:prstGeom prst="roundRect">
            <a:avLst>
              <a:gd name="adj" fmla="val 40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600" b="0" i="0" dirty="0">
                <a:solidFill>
                  <a:srgbClr val="1B2B34"/>
                </a:solidFill>
                <a:latin typeface="Arial"/>
                <a:cs typeface="Arial"/>
              </a:rPr>
              <a:t>משנים רק את </a:t>
            </a:r>
            <a:r>
              <a:rPr lang="en-US" sz="1600" b="1" i="0" dirty="0">
                <a:solidFill>
                  <a:srgbClr val="1B2B34"/>
                </a:solidFill>
                <a:latin typeface="Consolas"/>
                <a:cs typeface="Consolas"/>
              </a:rPr>
              <a:t>turing_bot.py</a:t>
            </a:r>
            <a:endParaRPr lang="he-IL" sz="1600" b="0" i="0" dirty="0">
              <a:solidFill>
                <a:srgbClr val="1B2B34"/>
              </a:solidFill>
              <a:latin typeface="Arial"/>
              <a:cs typeface="Arial"/>
            </a:endParaRPr>
          </a:p>
          <a:p>
            <a:pPr algn="ctr" rtl="1"/>
            <a:r>
              <a:rPr lang="he-IL" sz="1600" b="0" i="0" dirty="0">
                <a:solidFill>
                  <a:srgbClr val="1B2B34"/>
                </a:solidFill>
                <a:latin typeface="Arial"/>
                <a:cs typeface="Arial"/>
              </a:rPr>
              <a:t> כדי להריץ: </a:t>
            </a:r>
            <a:r>
              <a:rPr lang="en-US" sz="1600" b="1" i="0" dirty="0">
                <a:solidFill>
                  <a:srgbClr val="1B2B34"/>
                </a:solidFill>
                <a:latin typeface="Consolas"/>
                <a:cs typeface="Consolas"/>
              </a:rPr>
              <a:t>bot_tools.py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10</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היסטוריה של השיחה (</a:t>
            </a:r>
            <a:r>
              <a:rPr lang="en-US" sz="3600" b="1" i="0" dirty="0">
                <a:solidFill>
                  <a:srgbClr val="1B4332"/>
                </a:solidFill>
                <a:latin typeface="Arial"/>
                <a:cs typeface="Arial"/>
              </a:rPr>
              <a:t>Gemini</a:t>
            </a:r>
            <a:r>
              <a:rPr lang="he-IL" sz="3600" b="1" i="0" dirty="0">
                <a:solidFill>
                  <a:srgbClr val="1B4332"/>
                </a:solidFill>
                <a:latin typeface="Arial"/>
                <a:cs typeface="Arial"/>
              </a:rPr>
              <a:t> לא זוכר כלום!)</a:t>
            </a:r>
          </a:p>
        </p:txBody>
      </p:sp>
      <p:sp>
        <p:nvSpPr>
          <p:cNvPr id="4" name="Rounded Rectangle 3"/>
          <p:cNvSpPr/>
          <p:nvPr/>
        </p:nvSpPr>
        <p:spPr>
          <a:xfrm>
            <a:off x="548640" y="1371600"/>
            <a:ext cx="6949440" cy="274320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08760"/>
            <a:ext cx="6492240" cy="2468880"/>
          </a:xfrm>
          <a:prstGeom prst="rect">
            <a:avLst/>
          </a:prstGeom>
          <a:noFill/>
        </p:spPr>
        <p:txBody>
          <a:bodyPr wrap="square" lIns="45720" rIns="45720" anchor="ctr">
            <a:spAutoFit/>
          </a:bodyPr>
          <a:lstStyle/>
          <a:p>
            <a:pPr algn="l" rtl="0"/>
            <a:r>
              <a:rPr lang="en-US" sz="1800" b="0" i="0">
                <a:solidFill>
                  <a:srgbClr val="E6E6E6"/>
                </a:solidFill>
                <a:latin typeface="Consolas"/>
                <a:cs typeface="Consolas"/>
              </a:rPr>
              <a:t>history = []</a:t>
            </a:r>
          </a:p>
          <a:p>
            <a:pPr algn="l" rtl="0"/>
            <a:r>
              <a:rPr lang="en-US" sz="1800" b="0" i="0">
                <a:solidFill>
                  <a:srgbClr val="E6E6E6"/>
                </a:solidFill>
                <a:latin typeface="Consolas"/>
                <a:cs typeface="Consolas"/>
              </a:rPr>
              <a:t>history.</a:t>
            </a:r>
            <a:r>
              <a:rPr lang="en-US" sz="1800" b="0" i="0">
                <a:solidFill>
                  <a:srgbClr val="66D9EF"/>
                </a:solidFill>
                <a:latin typeface="Consolas"/>
                <a:cs typeface="Consolas"/>
              </a:rPr>
              <a:t>append</a:t>
            </a:r>
            <a:r>
              <a:rPr lang="en-US" sz="1800" b="0" i="0">
                <a:solidFill>
                  <a:srgbClr val="E6E6E6"/>
                </a:solidFill>
                <a:latin typeface="Consolas"/>
                <a:cs typeface="Consolas"/>
              </a:rPr>
              <a:t>(</a:t>
            </a:r>
            <a:r>
              <a:rPr lang="en-US" sz="1800" b="0" i="0">
                <a:solidFill>
                  <a:srgbClr val="A6E22E"/>
                </a:solidFill>
                <a:latin typeface="Consolas"/>
                <a:cs typeface="Consolas"/>
              </a:rPr>
              <a:t>"Other: "</a:t>
            </a:r>
            <a:r>
              <a:rPr lang="en-US" sz="1800" b="0" i="0">
                <a:solidFill>
                  <a:srgbClr val="E6E6E6"/>
                </a:solidFill>
                <a:latin typeface="Consolas"/>
                <a:cs typeface="Consolas"/>
              </a:rPr>
              <a:t> + their_message)</a:t>
            </a:r>
          </a:p>
          <a:p>
            <a:pPr algn="l" rtl="0"/>
            <a:r>
              <a:rPr lang="en-US" sz="1800" b="0" i="0">
                <a:solidFill>
                  <a:srgbClr val="E6E6E6"/>
                </a:solidFill>
                <a:latin typeface="Consolas"/>
                <a:cs typeface="Consolas"/>
              </a:rPr>
              <a:t>history.</a:t>
            </a:r>
            <a:r>
              <a:rPr lang="en-US" sz="1800" b="0" i="0">
                <a:solidFill>
                  <a:srgbClr val="66D9EF"/>
                </a:solidFill>
                <a:latin typeface="Consolas"/>
                <a:cs typeface="Consolas"/>
              </a:rPr>
              <a:t>append</a:t>
            </a:r>
            <a:r>
              <a:rPr lang="en-US" sz="1800" b="0" i="0">
                <a:solidFill>
                  <a:srgbClr val="E6E6E6"/>
                </a:solidFill>
                <a:latin typeface="Consolas"/>
                <a:cs typeface="Consolas"/>
              </a:rPr>
              <a:t>(</a:t>
            </a:r>
            <a:r>
              <a:rPr lang="en-US" sz="1800" b="0" i="0">
                <a:solidFill>
                  <a:srgbClr val="A6E22E"/>
                </a:solidFill>
                <a:latin typeface="Consolas"/>
                <a:cs typeface="Consolas"/>
              </a:rPr>
              <a:t>"Me: "</a:t>
            </a:r>
            <a:r>
              <a:rPr lang="en-US" sz="1800" b="0" i="0">
                <a:solidFill>
                  <a:srgbClr val="E6E6E6"/>
                </a:solidFill>
                <a:latin typeface="Consolas"/>
                <a:cs typeface="Consolas"/>
              </a:rPr>
              <a:t> + message)</a:t>
            </a:r>
          </a:p>
          <a:p>
            <a:pPr algn="l" rtl="0"/>
            <a:r>
              <a:rPr lang="en-US" sz="1800" b="0" i="0">
                <a:solidFill>
                  <a:srgbClr val="E6E6E6"/>
                </a:solidFill>
                <a:latin typeface="Consolas"/>
                <a:cs typeface="Consolas"/>
              </a:rPr>
              <a:t> </a:t>
            </a:r>
          </a:p>
          <a:p>
            <a:pPr algn="l" rtl="0"/>
            <a:r>
              <a:rPr lang="en-US" sz="1800" b="0" i="0">
                <a:solidFill>
                  <a:srgbClr val="FF9F1C"/>
                </a:solidFill>
                <a:latin typeface="Consolas"/>
                <a:cs typeface="Consolas"/>
              </a:rPr>
              <a:t>def</a:t>
            </a:r>
            <a:r>
              <a:rPr lang="en-US" sz="1800" b="0" i="0">
                <a:solidFill>
                  <a:srgbClr val="E6E6E6"/>
                </a:solidFill>
                <a:latin typeface="Consolas"/>
                <a:cs typeface="Consolas"/>
              </a:rPr>
              <a:t> history_text(history):</a:t>
            </a:r>
          </a:p>
          <a:p>
            <a:pPr algn="l" rtl="0"/>
            <a:r>
              <a:rPr lang="en-US" sz="1800" b="0" i="0">
                <a:solidFill>
                  <a:srgbClr val="E6E6E6"/>
                </a:solidFill>
                <a:latin typeface="Consolas"/>
                <a:cs typeface="Consolas"/>
              </a:rPr>
              <a:t>    </a:t>
            </a:r>
            <a:r>
              <a:rPr lang="en-US" sz="1800" b="0" i="0">
                <a:solidFill>
                  <a:srgbClr val="FF9F1C"/>
                </a:solidFill>
                <a:latin typeface="Consolas"/>
                <a:cs typeface="Consolas"/>
              </a:rPr>
              <a:t>return</a:t>
            </a:r>
            <a:r>
              <a:rPr lang="en-US" sz="1800" b="0" i="0">
                <a:solidFill>
                  <a:srgbClr val="E6E6E6"/>
                </a:solidFill>
                <a:latin typeface="Consolas"/>
                <a:cs typeface="Consolas"/>
              </a:rPr>
              <a:t> </a:t>
            </a:r>
            <a:r>
              <a:rPr lang="en-US" sz="1800" b="0" i="0">
                <a:solidFill>
                  <a:srgbClr val="A6E22E"/>
                </a:solidFill>
                <a:latin typeface="Consolas"/>
                <a:cs typeface="Consolas"/>
              </a:rPr>
              <a:t>"\n"</a:t>
            </a:r>
            <a:r>
              <a:rPr lang="en-US" sz="1800" b="0" i="0">
                <a:solidFill>
                  <a:srgbClr val="E6E6E6"/>
                </a:solidFill>
                <a:latin typeface="Consolas"/>
                <a:cs typeface="Consolas"/>
              </a:rPr>
              <a:t>.join(history)</a:t>
            </a:r>
          </a:p>
        </p:txBody>
      </p:sp>
      <p:sp>
        <p:nvSpPr>
          <p:cNvPr id="6" name="Rounded Rectangle 5"/>
          <p:cNvSpPr/>
          <p:nvPr/>
        </p:nvSpPr>
        <p:spPr>
          <a:xfrm>
            <a:off x="7772400" y="1371600"/>
            <a:ext cx="3867912" cy="274320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09560" y="1463040"/>
            <a:ext cx="3611880" cy="365760"/>
          </a:xfrm>
          <a:prstGeom prst="rect">
            <a:avLst/>
          </a:prstGeom>
          <a:noFill/>
        </p:spPr>
        <p:txBody>
          <a:bodyPr wrap="square" lIns="45720" rIns="45720" anchor="t">
            <a:spAutoFit/>
          </a:bodyPr>
          <a:lstStyle/>
          <a:p>
            <a:pPr algn="r" rtl="1"/>
            <a:r>
              <a:rPr lang="he-IL" sz="1400" b="1" i="0">
                <a:solidFill>
                  <a:srgbClr val="5F6F78"/>
                </a:solidFill>
                <a:latin typeface="Arial"/>
                <a:cs typeface="Arial"/>
              </a:rPr>
              <a:t>מה </a:t>
            </a:r>
            <a:r>
              <a:rPr lang="en-US" sz="1400" b="1" i="0">
                <a:solidFill>
                  <a:srgbClr val="5F6F78"/>
                </a:solidFill>
                <a:latin typeface="Arial"/>
                <a:cs typeface="Arial"/>
              </a:rPr>
              <a:t>Gemini</a:t>
            </a:r>
            <a:r>
              <a:rPr lang="he-IL" sz="1400" b="1" i="0">
                <a:solidFill>
                  <a:srgbClr val="5F6F78"/>
                </a:solidFill>
                <a:latin typeface="Arial"/>
                <a:cs typeface="Arial"/>
              </a:rPr>
              <a:t> מקבל בכל תור:</a:t>
            </a:r>
          </a:p>
        </p:txBody>
      </p:sp>
      <p:sp>
        <p:nvSpPr>
          <p:cNvPr id="8" name="TextBox 7"/>
          <p:cNvSpPr txBox="1"/>
          <p:nvPr/>
        </p:nvSpPr>
        <p:spPr>
          <a:xfrm>
            <a:off x="7909560" y="1874519"/>
            <a:ext cx="3611880" cy="2148840"/>
          </a:xfrm>
          <a:prstGeom prst="rect">
            <a:avLst/>
          </a:prstGeom>
          <a:noFill/>
        </p:spPr>
        <p:txBody>
          <a:bodyPr wrap="square" lIns="45720" rIns="45720" anchor="t">
            <a:spAutoFit/>
          </a:bodyPr>
          <a:lstStyle/>
          <a:p>
            <a:pPr algn="r" rtl="1">
              <a:spcAft>
                <a:spcPts val="400"/>
              </a:spcAft>
            </a:pPr>
            <a:r>
              <a:rPr lang="en-US" sz="1500" b="0" i="0">
                <a:solidFill>
                  <a:srgbClr val="1B2B34"/>
                </a:solidFill>
                <a:latin typeface="Arial"/>
                <a:cs typeface="Arial"/>
              </a:rPr>
              <a:t>Me</a:t>
            </a:r>
            <a:r>
              <a:rPr lang="he-IL" sz="1500" b="0" i="0">
                <a:solidFill>
                  <a:srgbClr val="1B2B34"/>
                </a:solidFill>
                <a:latin typeface="Arial"/>
                <a:cs typeface="Arial"/>
              </a:rPr>
              <a:t>: היי, מה אכלת היום?</a:t>
            </a:r>
          </a:p>
          <a:p>
            <a:pPr algn="r" rtl="1">
              <a:spcAft>
                <a:spcPts val="400"/>
              </a:spcAft>
            </a:pPr>
            <a:r>
              <a:rPr lang="en-US" sz="1500" b="0" i="0">
                <a:solidFill>
                  <a:srgbClr val="1B2B34"/>
                </a:solidFill>
                <a:latin typeface="Arial"/>
                <a:cs typeface="Arial"/>
              </a:rPr>
              <a:t>Other</a:t>
            </a:r>
            <a:r>
              <a:rPr lang="he-IL" sz="1500" b="0" i="0">
                <a:solidFill>
                  <a:srgbClr val="1B2B34"/>
                </a:solidFill>
                <a:latin typeface="Arial"/>
                <a:cs typeface="Arial"/>
              </a:rPr>
              <a:t>: כלום, איחרתי</a:t>
            </a:r>
          </a:p>
          <a:p>
            <a:pPr algn="r" rtl="1">
              <a:spcAft>
                <a:spcPts val="400"/>
              </a:spcAft>
            </a:pPr>
            <a:r>
              <a:rPr lang="en-US" sz="1500" b="0" i="0">
                <a:solidFill>
                  <a:srgbClr val="1B2B34"/>
                </a:solidFill>
                <a:latin typeface="Arial"/>
                <a:cs typeface="Arial"/>
              </a:rPr>
              <a:t>Me</a:t>
            </a:r>
            <a:r>
              <a:rPr lang="he-IL" sz="1500" b="0" i="0">
                <a:solidFill>
                  <a:srgbClr val="1B2B34"/>
                </a:solidFill>
                <a:latin typeface="Arial"/>
                <a:cs typeface="Arial"/>
              </a:rPr>
              <a:t>: איזה סרט ראית לאחרונה?</a:t>
            </a:r>
          </a:p>
          <a:p>
            <a:pPr algn="r" rtl="1">
              <a:spcAft>
                <a:spcPts val="400"/>
              </a:spcAft>
            </a:pPr>
            <a:r>
              <a:rPr lang="en-US" sz="1500" b="0" i="0">
                <a:solidFill>
                  <a:srgbClr val="1B2B34"/>
                </a:solidFill>
                <a:latin typeface="Arial"/>
                <a:cs typeface="Arial"/>
              </a:rPr>
              <a:t>Other</a:t>
            </a:r>
            <a:r>
              <a:rPr lang="he-IL" sz="1500" b="0" i="0">
                <a:solidFill>
                  <a:srgbClr val="1B2B34"/>
                </a:solidFill>
                <a:latin typeface="Arial"/>
                <a:cs typeface="Arial"/>
              </a:rPr>
              <a:t>: לא זוכר, משהו עם רובוטים</a:t>
            </a:r>
          </a:p>
        </p:txBody>
      </p:sp>
      <p:sp>
        <p:nvSpPr>
          <p:cNvPr id="9" name="Rounded Rectangle 8"/>
          <p:cNvSpPr/>
          <p:nvPr/>
        </p:nvSpPr>
        <p:spPr>
          <a:xfrm>
            <a:off x="548640" y="4434840"/>
            <a:ext cx="11091672" cy="1280160"/>
          </a:xfrm>
          <a:prstGeom prst="roundRect">
            <a:avLst>
              <a:gd name="adj" fmla="val 15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4697893"/>
            <a:ext cx="10607040" cy="754053"/>
          </a:xfrm>
          <a:prstGeom prst="rect">
            <a:avLst/>
          </a:prstGeom>
          <a:noFill/>
        </p:spPr>
        <p:txBody>
          <a:bodyPr wrap="square" lIns="45720" rIns="45720" anchor="ctr">
            <a:spAutoFit/>
          </a:bodyPr>
          <a:lstStyle/>
          <a:p>
            <a:pPr algn="r" rtl="1">
              <a:spcAft>
                <a:spcPts val="600"/>
              </a:spcAft>
            </a:pPr>
            <a:r>
              <a:rPr lang="he-IL" sz="1900" b="1" i="0" u="sng" dirty="0">
                <a:solidFill>
                  <a:srgbClr val="1B2B34"/>
                </a:solidFill>
                <a:latin typeface="Arial"/>
                <a:cs typeface="Arial"/>
              </a:rPr>
              <a:t>כל קריאה ל-</a:t>
            </a:r>
            <a:r>
              <a:rPr lang="en-US" sz="1900" b="1" i="0" u="sng" dirty="0">
                <a:solidFill>
                  <a:srgbClr val="1B2B34"/>
                </a:solidFill>
                <a:latin typeface="Arial"/>
                <a:cs typeface="Arial"/>
              </a:rPr>
              <a:t>Gemini</a:t>
            </a:r>
            <a:r>
              <a:rPr lang="he-IL" sz="1900" b="1" i="0" u="sng" dirty="0">
                <a:solidFill>
                  <a:srgbClr val="1B2B34"/>
                </a:solidFill>
                <a:latin typeface="Arial"/>
                <a:cs typeface="Arial"/>
              </a:rPr>
              <a:t> מתחילה מאפס. </a:t>
            </a:r>
            <a:r>
              <a:rPr lang="he-IL" sz="1900" b="0" i="0" dirty="0">
                <a:solidFill>
                  <a:srgbClr val="1B2B34"/>
                </a:solidFill>
                <a:latin typeface="Arial"/>
                <a:cs typeface="Arial"/>
              </a:rPr>
              <a:t>לכן בכל תור שולחים לו את כל השיחה.</a:t>
            </a:r>
          </a:p>
          <a:p>
            <a:pPr algn="r" rtl="1">
              <a:spcAft>
                <a:spcPts val="600"/>
              </a:spcAft>
            </a:pPr>
            <a:r>
              <a:rPr lang="he-IL" sz="1900" b="0" i="0" dirty="0">
                <a:solidFill>
                  <a:srgbClr val="1B2B34"/>
                </a:solidFill>
                <a:latin typeface="Arial"/>
                <a:cs typeface="Arial"/>
              </a:rPr>
              <a:t>הקובץ המוכן כבר עושה את זה בשבילכם.</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11</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הוראות מערכת</a:t>
            </a:r>
          </a:p>
        </p:txBody>
      </p:sp>
      <p:sp>
        <p:nvSpPr>
          <p:cNvPr id="4" name="Rounded Rectangle 3"/>
          <p:cNvSpPr/>
          <p:nvPr/>
        </p:nvSpPr>
        <p:spPr>
          <a:xfrm>
            <a:off x="548640" y="1371600"/>
            <a:ext cx="11091672" cy="210312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463040"/>
            <a:ext cx="3657600" cy="411480"/>
          </a:xfrm>
          <a:prstGeom prst="rect">
            <a:avLst/>
          </a:prstGeom>
          <a:noFill/>
        </p:spPr>
        <p:txBody>
          <a:bodyPr wrap="square" lIns="45720" rIns="45720" anchor="t">
            <a:spAutoFit/>
          </a:bodyPr>
          <a:lstStyle/>
          <a:p>
            <a:pPr algn="l" rtl="0"/>
            <a:r>
              <a:rPr lang="en-US" sz="1800" b="1" i="0">
                <a:solidFill>
                  <a:srgbClr val="2D9F5C"/>
                </a:solidFill>
                <a:latin typeface="Consolas"/>
                <a:cs typeface="Consolas"/>
              </a:rPr>
              <a:t>SYSTEM_PROMPT = """</a:t>
            </a:r>
          </a:p>
        </p:txBody>
      </p:sp>
      <p:sp>
        <p:nvSpPr>
          <p:cNvPr id="6" name="TextBox 5"/>
          <p:cNvSpPr txBox="1"/>
          <p:nvPr/>
        </p:nvSpPr>
        <p:spPr>
          <a:xfrm>
            <a:off x="777240" y="1874519"/>
            <a:ext cx="10607040" cy="697627"/>
          </a:xfrm>
          <a:prstGeom prst="rect">
            <a:avLst/>
          </a:prstGeom>
          <a:noFill/>
        </p:spPr>
        <p:txBody>
          <a:bodyPr wrap="square" lIns="45720" rIns="45720" anchor="t">
            <a:spAutoFit/>
          </a:bodyPr>
          <a:lstStyle/>
          <a:p>
            <a:pPr algn="r" rtl="1">
              <a:spcAft>
                <a:spcPts val="400"/>
              </a:spcAft>
            </a:pPr>
            <a:r>
              <a:rPr lang="he-IL" sz="1800" b="0" i="0" dirty="0">
                <a:solidFill>
                  <a:srgbClr val="1B2B34"/>
                </a:solidFill>
                <a:latin typeface="Arial"/>
                <a:cs typeface="Arial"/>
              </a:rPr>
              <a:t>אתה משתתף במבחן טיורינג. אתה צריך לגלות אם הצד השני הוא בן אדם או מחשב וגם להתחזות לבן אדם.</a:t>
            </a:r>
          </a:p>
          <a:p>
            <a:pPr algn="r" rtl="1">
              <a:spcAft>
                <a:spcPts val="400"/>
              </a:spcAft>
            </a:pPr>
            <a:r>
              <a:rPr lang="he-IL" sz="1800" b="0" i="0" dirty="0">
                <a:solidFill>
                  <a:srgbClr val="1B2B34"/>
                </a:solidFill>
                <a:latin typeface="Arial"/>
                <a:cs typeface="Arial"/>
              </a:rPr>
              <a:t>תתנהג כמו נער אמיתי בן 13: תשובות קצרות, בשפה של נוער. עד 30 מילים.</a:t>
            </a:r>
          </a:p>
        </p:txBody>
      </p:sp>
      <p:sp>
        <p:nvSpPr>
          <p:cNvPr id="7" name="Rounded Rectangle 6"/>
          <p:cNvSpPr/>
          <p:nvPr/>
        </p:nvSpPr>
        <p:spPr>
          <a:xfrm>
            <a:off x="548640" y="3749039"/>
            <a:ext cx="6949440" cy="128016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886200"/>
            <a:ext cx="6492240" cy="1005839"/>
          </a:xfrm>
          <a:prstGeom prst="rect">
            <a:avLst/>
          </a:prstGeom>
          <a:noFill/>
        </p:spPr>
        <p:txBody>
          <a:bodyPr wrap="square" lIns="45720" rIns="45720" anchor="ctr">
            <a:spAutoFit/>
          </a:bodyPr>
          <a:lstStyle/>
          <a:p>
            <a:pPr algn="l" rtl="0"/>
            <a:r>
              <a:rPr lang="en-US" sz="1800" b="0" i="0">
                <a:solidFill>
                  <a:srgbClr val="E6E6E6"/>
                </a:solidFill>
                <a:latin typeface="Consolas"/>
                <a:cs typeface="Consolas"/>
              </a:rPr>
              <a:t>reply = ask_gemini(SYSTEM_PROMPT, prompt)</a:t>
            </a:r>
          </a:p>
        </p:txBody>
      </p:sp>
      <p:sp>
        <p:nvSpPr>
          <p:cNvPr id="9" name="Rounded Rectangle 8"/>
          <p:cNvSpPr/>
          <p:nvPr/>
        </p:nvSpPr>
        <p:spPr>
          <a:xfrm>
            <a:off x="7772400" y="3749039"/>
            <a:ext cx="3867912" cy="594360"/>
          </a:xfrm>
          <a:prstGeom prst="roundRect">
            <a:avLst>
              <a:gd name="adj" fmla="val 2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60" y="3749039"/>
            <a:ext cx="1737360" cy="594360"/>
          </a:xfrm>
          <a:prstGeom prst="rect">
            <a:avLst/>
          </a:prstGeom>
          <a:noFill/>
        </p:spPr>
        <p:txBody>
          <a:bodyPr wrap="square" lIns="45720" rIns="45720" anchor="ctr">
            <a:spAutoFit/>
          </a:bodyPr>
          <a:lstStyle/>
          <a:p>
            <a:pPr algn="l" rtl="0"/>
            <a:r>
              <a:rPr lang="en-US" sz="1500" b="1" i="0">
                <a:solidFill>
                  <a:srgbClr val="2D9F5C"/>
                </a:solidFill>
                <a:latin typeface="Consolas"/>
                <a:cs typeface="Consolas"/>
              </a:rPr>
              <a:t>SYSTEM_PROMPT</a:t>
            </a:r>
          </a:p>
        </p:txBody>
      </p:sp>
      <p:sp>
        <p:nvSpPr>
          <p:cNvPr id="11" name="TextBox 10"/>
          <p:cNvSpPr txBox="1"/>
          <p:nvPr/>
        </p:nvSpPr>
        <p:spPr>
          <a:xfrm>
            <a:off x="9601200" y="3749039"/>
            <a:ext cx="1920240" cy="594360"/>
          </a:xfrm>
          <a:prstGeom prst="rect">
            <a:avLst/>
          </a:prstGeom>
          <a:noFill/>
        </p:spPr>
        <p:txBody>
          <a:bodyPr wrap="square" lIns="45720" rIns="45720" anchor="ctr">
            <a:spAutoFit/>
          </a:bodyPr>
          <a:lstStyle/>
          <a:p>
            <a:pPr algn="r" rtl="1"/>
            <a:r>
              <a:rPr lang="he-IL" sz="1300" b="0" i="0">
                <a:solidFill>
                  <a:srgbClr val="5F6F78"/>
                </a:solidFill>
                <a:latin typeface="Arial"/>
                <a:cs typeface="Arial"/>
              </a:rPr>
              <a:t>מי הבוט ואיך הוא מתנהג - קבוע</a:t>
            </a:r>
          </a:p>
        </p:txBody>
      </p:sp>
      <p:sp>
        <p:nvSpPr>
          <p:cNvPr id="12" name="Rounded Rectangle 11"/>
          <p:cNvSpPr/>
          <p:nvPr/>
        </p:nvSpPr>
        <p:spPr>
          <a:xfrm>
            <a:off x="7772400" y="4434840"/>
            <a:ext cx="3867912" cy="594360"/>
          </a:xfrm>
          <a:prstGeom prst="roundRect">
            <a:avLst>
              <a:gd name="adj" fmla="val 2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09560" y="4434840"/>
            <a:ext cx="1737360" cy="594360"/>
          </a:xfrm>
          <a:prstGeom prst="rect">
            <a:avLst/>
          </a:prstGeom>
          <a:noFill/>
        </p:spPr>
        <p:txBody>
          <a:bodyPr wrap="square" lIns="45720" rIns="45720" anchor="ctr">
            <a:spAutoFit/>
          </a:bodyPr>
          <a:lstStyle/>
          <a:p>
            <a:pPr algn="l" rtl="0"/>
            <a:r>
              <a:rPr lang="en-US" sz="1500" b="1" i="0">
                <a:solidFill>
                  <a:srgbClr val="FF9F1C"/>
                </a:solidFill>
                <a:latin typeface="Consolas"/>
                <a:cs typeface="Consolas"/>
              </a:rPr>
              <a:t>prompt</a:t>
            </a:r>
          </a:p>
        </p:txBody>
      </p:sp>
      <p:sp>
        <p:nvSpPr>
          <p:cNvPr id="14" name="TextBox 13"/>
          <p:cNvSpPr txBox="1"/>
          <p:nvPr/>
        </p:nvSpPr>
        <p:spPr>
          <a:xfrm>
            <a:off x="9601200" y="4434840"/>
            <a:ext cx="1920240" cy="594360"/>
          </a:xfrm>
          <a:prstGeom prst="rect">
            <a:avLst/>
          </a:prstGeom>
          <a:noFill/>
        </p:spPr>
        <p:txBody>
          <a:bodyPr wrap="square" lIns="45720" rIns="45720" anchor="ctr">
            <a:spAutoFit/>
          </a:bodyPr>
          <a:lstStyle/>
          <a:p>
            <a:pPr algn="r" rtl="1"/>
            <a:r>
              <a:rPr lang="he-IL" sz="1300" b="0" i="0">
                <a:solidFill>
                  <a:srgbClr val="5F6F78"/>
                </a:solidFill>
                <a:latin typeface="Arial"/>
                <a:cs typeface="Arial"/>
              </a:rPr>
              <a:t>מה מבקשים בתור הזה</a:t>
            </a:r>
          </a:p>
        </p:txBody>
      </p:sp>
      <p:sp>
        <p:nvSpPr>
          <p:cNvPr id="15" name="TextBox 14"/>
          <p:cNvSpPr txBox="1"/>
          <p:nvPr/>
        </p:nvSpPr>
        <p:spPr>
          <a:xfrm>
            <a:off x="548640" y="5303520"/>
            <a:ext cx="11091672" cy="353943"/>
          </a:xfrm>
          <a:prstGeom prst="rect">
            <a:avLst/>
          </a:prstGeom>
          <a:noFill/>
        </p:spPr>
        <p:txBody>
          <a:bodyPr wrap="square" lIns="45720" rIns="45720" anchor="t">
            <a:spAutoFit/>
          </a:bodyPr>
          <a:lstStyle/>
          <a:p>
            <a:pPr algn="ctr" rtl="1"/>
            <a:r>
              <a:rPr lang="he-IL" sz="1700" b="0" i="0" dirty="0">
                <a:solidFill>
                  <a:srgbClr val="5F6F78"/>
                </a:solidFill>
                <a:latin typeface="Arial"/>
                <a:cs typeface="Arial"/>
              </a:rPr>
              <a:t>אפשר לשנות את האישיות</a:t>
            </a:r>
            <a:r>
              <a:rPr lang="he-IL" sz="1700" dirty="0">
                <a:solidFill>
                  <a:srgbClr val="5F6F78"/>
                </a:solidFill>
                <a:latin typeface="Arial"/>
                <a:cs typeface="Arial"/>
              </a:rPr>
              <a:t>.</a:t>
            </a:r>
            <a:r>
              <a:rPr lang="he-IL" sz="1700" b="0" i="0" dirty="0">
                <a:solidFill>
                  <a:srgbClr val="5F6F78"/>
                </a:solidFill>
                <a:latin typeface="Arial"/>
                <a:cs typeface="Arial"/>
              </a:rPr>
              <a:t> גיל, תחביבים, סגנון דיבור - כל מה שיעזור לבוט לבלוש ולהתחזות</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12</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en-US" sz="3600" b="1" i="0" dirty="0">
                <a:solidFill>
                  <a:srgbClr val="1B4332"/>
                </a:solidFill>
                <a:latin typeface="Arial"/>
                <a:cs typeface="Arial"/>
              </a:rPr>
              <a:t>decide()</a:t>
            </a:r>
            <a:r>
              <a:rPr lang="he-IL" sz="3600" b="1" i="0" dirty="0">
                <a:solidFill>
                  <a:srgbClr val="1B4332"/>
                </a:solidFill>
                <a:latin typeface="Arial"/>
                <a:cs typeface="Arial"/>
              </a:rPr>
              <a:t>: פונקצית המוח של הבוט</a:t>
            </a:r>
          </a:p>
        </p:txBody>
      </p:sp>
      <p:sp>
        <p:nvSpPr>
          <p:cNvPr id="6" name="Oval 5"/>
          <p:cNvSpPr/>
          <p:nvPr/>
        </p:nvSpPr>
        <p:spPr>
          <a:xfrm>
            <a:off x="11018520" y="1463040"/>
            <a:ext cx="594360" cy="59436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1</a:t>
            </a:r>
          </a:p>
        </p:txBody>
      </p:sp>
      <p:sp>
        <p:nvSpPr>
          <p:cNvPr id="7" name="TextBox 6"/>
          <p:cNvSpPr txBox="1"/>
          <p:nvPr/>
        </p:nvSpPr>
        <p:spPr>
          <a:xfrm>
            <a:off x="8412480" y="1417320"/>
            <a:ext cx="2514600" cy="685800"/>
          </a:xfrm>
          <a:prstGeom prst="rect">
            <a:avLst/>
          </a:prstGeom>
          <a:noFill/>
        </p:spPr>
        <p:txBody>
          <a:bodyPr wrap="square" lIns="45720" rIns="45720" anchor="ctr">
            <a:spAutoFit/>
          </a:bodyPr>
          <a:lstStyle/>
          <a:p>
            <a:pPr algn="r" rtl="1"/>
            <a:r>
              <a:rPr lang="he-IL" sz="1700" b="0" i="0">
                <a:solidFill>
                  <a:srgbClr val="1B2B34"/>
                </a:solidFill>
                <a:latin typeface="Arial"/>
                <a:cs typeface="Arial"/>
              </a:rPr>
              <a:t>משפטים קבועים</a:t>
            </a:r>
          </a:p>
        </p:txBody>
      </p:sp>
      <p:sp>
        <p:nvSpPr>
          <p:cNvPr id="8" name="Oval 7"/>
          <p:cNvSpPr/>
          <p:nvPr/>
        </p:nvSpPr>
        <p:spPr>
          <a:xfrm>
            <a:off x="11018520" y="2423160"/>
            <a:ext cx="594360" cy="594360"/>
          </a:xfrm>
          <a:prstGeom prst="ellipse">
            <a:avLst/>
          </a:prstGeom>
          <a:solidFill>
            <a:srgbClr val="7B4FB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2</a:t>
            </a:r>
          </a:p>
        </p:txBody>
      </p:sp>
      <p:sp>
        <p:nvSpPr>
          <p:cNvPr id="9" name="TextBox 8"/>
          <p:cNvSpPr txBox="1"/>
          <p:nvPr/>
        </p:nvSpPr>
        <p:spPr>
          <a:xfrm>
            <a:off x="8412480" y="2543368"/>
            <a:ext cx="2514600" cy="353943"/>
          </a:xfrm>
          <a:prstGeom prst="rect">
            <a:avLst/>
          </a:prstGeom>
          <a:noFill/>
        </p:spPr>
        <p:txBody>
          <a:bodyPr wrap="square" lIns="45720" rIns="45720" anchor="ctr">
            <a:spAutoFit/>
          </a:bodyPr>
          <a:lstStyle/>
          <a:p>
            <a:pPr algn="r" rtl="1"/>
            <a:r>
              <a:rPr lang="he-IL" sz="1700" b="0" i="0" dirty="0">
                <a:solidFill>
                  <a:srgbClr val="1B2B34"/>
                </a:solidFill>
                <a:latin typeface="Arial"/>
                <a:cs typeface="Arial"/>
              </a:rPr>
              <a:t>בתור 8 ניחוש חובה</a:t>
            </a:r>
          </a:p>
        </p:txBody>
      </p:sp>
      <p:sp>
        <p:nvSpPr>
          <p:cNvPr id="10" name="Oval 9"/>
          <p:cNvSpPr/>
          <p:nvPr/>
        </p:nvSpPr>
        <p:spPr>
          <a:xfrm>
            <a:off x="11018520" y="3383280"/>
            <a:ext cx="594360" cy="5943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3</a:t>
            </a:r>
          </a:p>
        </p:txBody>
      </p:sp>
      <p:sp>
        <p:nvSpPr>
          <p:cNvPr id="11" name="TextBox 10"/>
          <p:cNvSpPr txBox="1"/>
          <p:nvPr/>
        </p:nvSpPr>
        <p:spPr>
          <a:xfrm>
            <a:off x="8412480" y="3337560"/>
            <a:ext cx="2514600" cy="685800"/>
          </a:xfrm>
          <a:prstGeom prst="rect">
            <a:avLst/>
          </a:prstGeom>
          <a:noFill/>
        </p:spPr>
        <p:txBody>
          <a:bodyPr wrap="square" lIns="45720" rIns="45720" anchor="ctr">
            <a:spAutoFit/>
          </a:bodyPr>
          <a:lstStyle/>
          <a:p>
            <a:pPr algn="r" rtl="1"/>
            <a:r>
              <a:rPr lang="en-US" sz="1700" b="0" i="0">
                <a:solidFill>
                  <a:srgbClr val="1B2B34"/>
                </a:solidFill>
                <a:latin typeface="Arial"/>
                <a:cs typeface="Arial"/>
              </a:rPr>
              <a:t>Gemini</a:t>
            </a:r>
            <a:r>
              <a:rPr lang="he-IL" sz="1700" b="0" i="0">
                <a:solidFill>
                  <a:srgbClr val="1B2B34"/>
                </a:solidFill>
                <a:latin typeface="Arial"/>
                <a:cs typeface="Arial"/>
              </a:rPr>
              <a:t> כותב או מנחש</a:t>
            </a:r>
          </a:p>
        </p:txBody>
      </p:sp>
      <p:sp>
        <p:nvSpPr>
          <p:cNvPr id="12" name="Oval 11"/>
          <p:cNvSpPr/>
          <p:nvPr/>
        </p:nvSpPr>
        <p:spPr>
          <a:xfrm>
            <a:off x="11018520" y="4343400"/>
            <a:ext cx="594360" cy="59436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4</a:t>
            </a:r>
          </a:p>
        </p:txBody>
      </p:sp>
      <p:sp>
        <p:nvSpPr>
          <p:cNvPr id="13" name="TextBox 12"/>
          <p:cNvSpPr txBox="1"/>
          <p:nvPr/>
        </p:nvSpPr>
        <p:spPr>
          <a:xfrm>
            <a:off x="8412480" y="4332803"/>
            <a:ext cx="2514600" cy="615553"/>
          </a:xfrm>
          <a:prstGeom prst="rect">
            <a:avLst/>
          </a:prstGeom>
          <a:noFill/>
        </p:spPr>
        <p:txBody>
          <a:bodyPr wrap="square" lIns="45720" rIns="45720" anchor="ctr">
            <a:spAutoFit/>
          </a:bodyPr>
          <a:lstStyle/>
          <a:p>
            <a:pPr algn="r" rtl="1"/>
            <a:r>
              <a:rPr lang="en-US" sz="1700" b="0" i="0" dirty="0" err="1">
                <a:solidFill>
                  <a:srgbClr val="1B2B34"/>
                </a:solidFill>
                <a:latin typeface="Arial"/>
                <a:cs typeface="Arial"/>
              </a:rPr>
              <a:t>clean_reply</a:t>
            </a:r>
            <a:r>
              <a:rPr lang="he-IL" sz="1700" b="0" i="0" dirty="0">
                <a:solidFill>
                  <a:srgbClr val="1B2B34"/>
                </a:solidFill>
                <a:latin typeface="Arial"/>
                <a:cs typeface="Arial"/>
              </a:rPr>
              <a:t> פונקציה שבודקת מה שג'מיני ענה</a:t>
            </a:r>
          </a:p>
        </p:txBody>
      </p:sp>
      <p:sp>
        <p:nvSpPr>
          <p:cNvPr id="14" name="Rounded Rectangle 13"/>
          <p:cNvSpPr/>
          <p:nvPr/>
        </p:nvSpPr>
        <p:spPr>
          <a:xfrm>
            <a:off x="548640" y="5532120"/>
            <a:ext cx="2743200" cy="502920"/>
          </a:xfrm>
          <a:prstGeom prst="roundRect">
            <a:avLst>
              <a:gd name="adj" fmla="val 50000"/>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0"/>
            <a:r>
              <a:rPr lang="en-US" sz="1700" b="1" i="0">
                <a:solidFill>
                  <a:srgbClr val="FFFFFF"/>
                </a:solidFill>
                <a:latin typeface="Consolas"/>
                <a:cs typeface="Consolas"/>
              </a:rPr>
              <a:t>&lt;/&gt;  </a:t>
            </a:r>
            <a:r>
              <a:rPr lang="en-US" sz="1700" b="1" i="0">
                <a:solidFill>
                  <a:srgbClr val="FFFFFF"/>
                </a:solidFill>
                <a:latin typeface="Arial"/>
                <a:cs typeface="Arial"/>
              </a:rPr>
              <a:t>turing_bot.py</a:t>
            </a:r>
          </a:p>
        </p:txBody>
      </p:sp>
      <p:sp>
        <p:nvSpPr>
          <p:cNvPr id="15" name="Rounded Rectangle 14"/>
          <p:cNvSpPr/>
          <p:nvPr/>
        </p:nvSpPr>
        <p:spPr>
          <a:xfrm>
            <a:off x="548640" y="1371600"/>
            <a:ext cx="7589520" cy="3931920"/>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1852538"/>
            <a:ext cx="7132320" cy="2970044"/>
          </a:xfrm>
          <a:prstGeom prst="rect">
            <a:avLst/>
          </a:prstGeom>
          <a:noFill/>
        </p:spPr>
        <p:txBody>
          <a:bodyPr wrap="square" lIns="45720" rIns="45720" anchor="ctr">
            <a:spAutoFit/>
          </a:bodyPr>
          <a:lstStyle/>
          <a:p>
            <a:pPr algn="l" rtl="0"/>
            <a:r>
              <a:rPr lang="en-US" sz="1700" b="0" i="0" dirty="0">
                <a:solidFill>
                  <a:srgbClr val="FF9F1C"/>
                </a:solidFill>
                <a:latin typeface="Consolas"/>
                <a:cs typeface="Consolas"/>
              </a:rPr>
              <a:t>def</a:t>
            </a:r>
            <a:r>
              <a:rPr lang="en-US" sz="1700" b="0" i="0" dirty="0">
                <a:solidFill>
                  <a:srgbClr val="E6E6E6"/>
                </a:solidFill>
                <a:latin typeface="Consolas"/>
                <a:cs typeface="Consolas"/>
              </a:rPr>
              <a:t> decide(history, turn, sent):</a:t>
            </a:r>
          </a:p>
          <a:p>
            <a:pPr algn="l" rtl="0"/>
            <a:r>
              <a:rPr lang="en-US" sz="1700" b="0" i="0" dirty="0">
                <a:solidFill>
                  <a:srgbClr val="E6E6E6"/>
                </a:solidFill>
                <a:latin typeface="Consolas"/>
                <a:cs typeface="Consolas"/>
              </a:rPr>
              <a:t>    </a:t>
            </a:r>
            <a:r>
              <a:rPr lang="en-US" sz="1700" b="0" i="0" dirty="0">
                <a:solidFill>
                  <a:srgbClr val="FF9F1C"/>
                </a:solidFill>
                <a:latin typeface="Consolas"/>
                <a:cs typeface="Consolas"/>
              </a:rPr>
              <a:t>if</a:t>
            </a:r>
            <a:r>
              <a:rPr lang="en-US" sz="1700" b="0" i="0" dirty="0">
                <a:solidFill>
                  <a:srgbClr val="E6E6E6"/>
                </a:solidFill>
                <a:latin typeface="Consolas"/>
                <a:cs typeface="Consolas"/>
              </a:rPr>
              <a:t> STARTS_FIRST </a:t>
            </a:r>
            <a:r>
              <a:rPr lang="en-US" sz="1700" b="0" i="0" dirty="0">
                <a:solidFill>
                  <a:srgbClr val="FF9F1C"/>
                </a:solidFill>
                <a:latin typeface="Consolas"/>
                <a:cs typeface="Consolas"/>
              </a:rPr>
              <a:t>and</a:t>
            </a:r>
            <a:r>
              <a:rPr lang="en-US" sz="1700" b="0" i="0" dirty="0">
                <a:solidFill>
                  <a:srgbClr val="E6E6E6"/>
                </a:solidFill>
                <a:latin typeface="Consolas"/>
                <a:cs typeface="Consolas"/>
              </a:rPr>
              <a:t> sent &lt; </a:t>
            </a:r>
            <a:r>
              <a:rPr lang="en-US" sz="1700" b="0" i="0" dirty="0" err="1">
                <a:solidFill>
                  <a:srgbClr val="66D9EF"/>
                </a:solidFill>
                <a:latin typeface="Consolas"/>
                <a:cs typeface="Consolas"/>
              </a:rPr>
              <a:t>len</a:t>
            </a:r>
            <a:r>
              <a:rPr lang="en-US" sz="1700" b="0" i="0" dirty="0">
                <a:solidFill>
                  <a:srgbClr val="E6E6E6"/>
                </a:solidFill>
                <a:latin typeface="Consolas"/>
                <a:cs typeface="Consolas"/>
              </a:rPr>
              <a:t>(OPENING_LINES):</a:t>
            </a:r>
          </a:p>
          <a:p>
            <a:pPr algn="l" rtl="0"/>
            <a:r>
              <a:rPr lang="en-US" sz="1700" b="0" i="0" dirty="0">
                <a:solidFill>
                  <a:srgbClr val="E6E6E6"/>
                </a:solidFill>
                <a:latin typeface="Consolas"/>
                <a:cs typeface="Consolas"/>
              </a:rPr>
              <a:t>        </a:t>
            </a:r>
            <a:r>
              <a:rPr lang="en-US" sz="1700" b="0" i="0" dirty="0">
                <a:solidFill>
                  <a:srgbClr val="FF9F1C"/>
                </a:solidFill>
                <a:latin typeface="Consolas"/>
                <a:cs typeface="Consolas"/>
              </a:rPr>
              <a:t>return</a:t>
            </a:r>
            <a:r>
              <a:rPr lang="en-US" sz="1700" b="0" i="0" dirty="0">
                <a:solidFill>
                  <a:srgbClr val="E6E6E6"/>
                </a:solidFill>
                <a:latin typeface="Consolas"/>
                <a:cs typeface="Consolas"/>
              </a:rPr>
              <a:t> OPENING_LINES[sent]</a:t>
            </a:r>
          </a:p>
          <a:p>
            <a:pPr algn="l" rtl="0"/>
            <a:r>
              <a:rPr lang="en-US" sz="1700" b="0" i="0" dirty="0">
                <a:solidFill>
                  <a:srgbClr val="E6E6E6"/>
                </a:solidFill>
                <a:latin typeface="Consolas"/>
                <a:cs typeface="Consolas"/>
              </a:rPr>
              <a:t> </a:t>
            </a:r>
          </a:p>
          <a:p>
            <a:pPr algn="l" rtl="0"/>
            <a:r>
              <a:rPr lang="en-US" sz="1700" b="0" i="0" dirty="0">
                <a:solidFill>
                  <a:srgbClr val="E6E6E6"/>
                </a:solidFill>
                <a:latin typeface="Consolas"/>
                <a:cs typeface="Consolas"/>
              </a:rPr>
              <a:t>    </a:t>
            </a:r>
            <a:r>
              <a:rPr lang="en-US" sz="1700" b="0" i="0" dirty="0">
                <a:solidFill>
                  <a:srgbClr val="FF9F1C"/>
                </a:solidFill>
                <a:latin typeface="Consolas"/>
                <a:cs typeface="Consolas"/>
              </a:rPr>
              <a:t>if</a:t>
            </a:r>
            <a:r>
              <a:rPr lang="en-US" sz="1700" b="0" i="0" dirty="0">
                <a:solidFill>
                  <a:srgbClr val="E6E6E6"/>
                </a:solidFill>
                <a:latin typeface="Consolas"/>
                <a:cs typeface="Consolas"/>
              </a:rPr>
              <a:t> turn &gt;= MAX_TURNS:</a:t>
            </a:r>
          </a:p>
          <a:p>
            <a:pPr algn="l" rtl="0"/>
            <a:r>
              <a:rPr lang="en-US" sz="1700" b="0" i="0" dirty="0">
                <a:solidFill>
                  <a:srgbClr val="E6E6E6"/>
                </a:solidFill>
                <a:latin typeface="Consolas"/>
                <a:cs typeface="Consolas"/>
              </a:rPr>
              <a:t>        ... </a:t>
            </a:r>
            <a:r>
              <a:rPr lang="en-US" sz="1700" b="0" i="0" dirty="0">
                <a:solidFill>
                  <a:srgbClr val="8A93A6"/>
                </a:solidFill>
                <a:latin typeface="Consolas"/>
                <a:cs typeface="Consolas"/>
              </a:rPr>
              <a:t># must guess now</a:t>
            </a:r>
          </a:p>
          <a:p>
            <a:pPr algn="l" rtl="0"/>
            <a:r>
              <a:rPr lang="en-US" sz="1700" b="0" i="0" dirty="0">
                <a:solidFill>
                  <a:srgbClr val="E6E6E6"/>
                </a:solidFill>
                <a:latin typeface="Consolas"/>
                <a:cs typeface="Consolas"/>
              </a:rPr>
              <a:t> </a:t>
            </a:r>
          </a:p>
          <a:p>
            <a:pPr algn="l" rtl="0"/>
            <a:endParaRPr lang="en-US" sz="1700" b="0" i="0" dirty="0">
              <a:solidFill>
                <a:srgbClr val="E6E6E6"/>
              </a:solidFill>
              <a:latin typeface="Consolas"/>
              <a:cs typeface="Consolas"/>
            </a:endParaRPr>
          </a:p>
          <a:p>
            <a:r>
              <a:rPr lang="en-US" sz="1700" dirty="0">
                <a:solidFill>
                  <a:srgbClr val="E6E6E6"/>
                </a:solidFill>
                <a:latin typeface="Consolas"/>
                <a:cs typeface="Consolas"/>
              </a:rPr>
              <a:t>    prompt = </a:t>
            </a:r>
            <a:r>
              <a:rPr lang="en-US" sz="1700" dirty="0">
                <a:solidFill>
                  <a:srgbClr val="A6E22E"/>
                </a:solidFill>
                <a:latin typeface="Consolas"/>
                <a:cs typeface="Consolas"/>
              </a:rPr>
              <a:t>"..."</a:t>
            </a:r>
            <a:r>
              <a:rPr lang="en-US" sz="1700" dirty="0">
                <a:solidFill>
                  <a:srgbClr val="E6E6E6"/>
                </a:solidFill>
                <a:latin typeface="Consolas"/>
                <a:cs typeface="Consolas"/>
              </a:rPr>
              <a:t> + </a:t>
            </a:r>
            <a:r>
              <a:rPr lang="en-US" sz="1700" dirty="0" err="1">
                <a:solidFill>
                  <a:srgbClr val="E6E6E6"/>
                </a:solidFill>
                <a:latin typeface="Consolas"/>
                <a:cs typeface="Consolas"/>
              </a:rPr>
              <a:t>history_text</a:t>
            </a:r>
            <a:r>
              <a:rPr lang="en-US" sz="1700" dirty="0">
                <a:solidFill>
                  <a:srgbClr val="E6E6E6"/>
                </a:solidFill>
                <a:latin typeface="Consolas"/>
                <a:cs typeface="Consolas"/>
              </a:rPr>
              <a:t>(history)</a:t>
            </a:r>
          </a:p>
          <a:p>
            <a:r>
              <a:rPr lang="en-US" sz="1700" dirty="0">
                <a:solidFill>
                  <a:srgbClr val="E6E6E6"/>
                </a:solidFill>
                <a:latin typeface="Consolas"/>
                <a:cs typeface="Consolas"/>
              </a:rPr>
              <a:t>    prompt = prompt + </a:t>
            </a:r>
            <a:r>
              <a:rPr lang="en-US" sz="1700" dirty="0">
                <a:solidFill>
                  <a:srgbClr val="A6E22E"/>
                </a:solidFill>
                <a:latin typeface="Consolas"/>
                <a:cs typeface="Consolas"/>
              </a:rPr>
              <a:t>"</a:t>
            </a:r>
            <a:r>
              <a:rPr lang="he-IL" sz="1700" dirty="0">
                <a:solidFill>
                  <a:srgbClr val="E6E6E6"/>
                </a:solidFill>
                <a:latin typeface="Consolas"/>
                <a:cs typeface="Consolas"/>
              </a:rPr>
              <a:t> "כתוב את ההודעה הבאה, או נחש</a:t>
            </a:r>
            <a:endParaRPr lang="en-US" sz="1700" dirty="0">
              <a:solidFill>
                <a:srgbClr val="A6E22E"/>
              </a:solidFill>
              <a:latin typeface="Consolas"/>
              <a:cs typeface="Consolas"/>
            </a:endParaRPr>
          </a:p>
          <a:p>
            <a:r>
              <a:rPr lang="en-US" sz="1700" dirty="0">
                <a:solidFill>
                  <a:srgbClr val="E6E6E6"/>
                </a:solidFill>
                <a:latin typeface="Consolas"/>
                <a:cs typeface="Consolas"/>
              </a:rPr>
              <a:t>    </a:t>
            </a:r>
            <a:r>
              <a:rPr lang="en-US" sz="1700" dirty="0">
                <a:solidFill>
                  <a:srgbClr val="FF9F1C"/>
                </a:solidFill>
                <a:latin typeface="Consolas"/>
                <a:cs typeface="Consolas"/>
              </a:rPr>
              <a:t>return</a:t>
            </a:r>
            <a:r>
              <a:rPr lang="en-US" sz="1700" dirty="0">
                <a:solidFill>
                  <a:srgbClr val="E6E6E6"/>
                </a:solidFill>
                <a:latin typeface="Consolas"/>
                <a:cs typeface="Consolas"/>
              </a:rPr>
              <a:t> </a:t>
            </a:r>
            <a:r>
              <a:rPr lang="en-US" sz="1700" dirty="0" err="1">
                <a:solidFill>
                  <a:srgbClr val="E6E6E6"/>
                </a:solidFill>
                <a:latin typeface="Consolas"/>
                <a:cs typeface="Consolas"/>
              </a:rPr>
              <a:t>ask_gemini</a:t>
            </a:r>
            <a:r>
              <a:rPr lang="en-US" sz="1700" dirty="0">
                <a:solidFill>
                  <a:srgbClr val="E6E6E6"/>
                </a:solidFill>
                <a:latin typeface="Consolas"/>
                <a:cs typeface="Consolas"/>
              </a:rPr>
              <a:t>(SYSTEM_PROMPT, prompt)</a:t>
            </a:r>
            <a:endParaRPr lang="en-US" sz="1700" b="0" i="0" dirty="0">
              <a:solidFill>
                <a:srgbClr val="E6E6E6"/>
              </a:solidFill>
              <a:latin typeface="Consolas"/>
              <a:cs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13</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רעיונות: איך "תופסים" מחשב?</a:t>
            </a:r>
          </a:p>
        </p:txBody>
      </p:sp>
      <p:sp>
        <p:nvSpPr>
          <p:cNvPr id="4" name="Rounded Rectangle 3"/>
          <p:cNvSpPr/>
          <p:nvPr/>
        </p:nvSpPr>
        <p:spPr>
          <a:xfrm>
            <a:off x="8092440" y="1371600"/>
            <a:ext cx="3520440" cy="201168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789920" y="1554480"/>
            <a:ext cx="640080" cy="64008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a:t>
            </a:r>
          </a:p>
        </p:txBody>
      </p:sp>
      <p:sp>
        <p:nvSpPr>
          <p:cNvPr id="6" name="TextBox 5"/>
          <p:cNvSpPr txBox="1"/>
          <p:nvPr/>
        </p:nvSpPr>
        <p:spPr>
          <a:xfrm>
            <a:off x="8275319" y="1600200"/>
            <a:ext cx="2423160" cy="548640"/>
          </a:xfrm>
          <a:prstGeom prst="rect">
            <a:avLst/>
          </a:prstGeom>
          <a:noFill/>
        </p:spPr>
        <p:txBody>
          <a:bodyPr wrap="square" lIns="45720" rIns="45720" anchor="ctr">
            <a:spAutoFit/>
          </a:bodyPr>
          <a:lstStyle/>
          <a:p>
            <a:pPr algn="r" rtl="1"/>
            <a:r>
              <a:rPr lang="he-IL" sz="1900" b="1" i="0">
                <a:solidFill>
                  <a:srgbClr val="1B2B34"/>
                </a:solidFill>
                <a:latin typeface="Arial"/>
                <a:cs typeface="Arial"/>
              </a:rPr>
              <a:t>משפטים קבועים</a:t>
            </a:r>
          </a:p>
        </p:txBody>
      </p:sp>
      <p:sp>
        <p:nvSpPr>
          <p:cNvPr id="7" name="TextBox 6"/>
          <p:cNvSpPr txBox="1"/>
          <p:nvPr/>
        </p:nvSpPr>
        <p:spPr>
          <a:xfrm>
            <a:off x="8275319" y="2240280"/>
            <a:ext cx="3154680" cy="1051560"/>
          </a:xfrm>
          <a:prstGeom prst="rect">
            <a:avLst/>
          </a:prstGeom>
          <a:noFill/>
        </p:spPr>
        <p:txBody>
          <a:bodyPr wrap="square" lIns="45720" rIns="45720" anchor="t">
            <a:spAutoFit/>
          </a:bodyPr>
          <a:lstStyle/>
          <a:p>
            <a:pPr algn="r" rtl="1"/>
            <a:r>
              <a:rPr lang="he-IL" sz="1500" b="0" i="0">
                <a:solidFill>
                  <a:srgbClr val="5F6F78"/>
                </a:solidFill>
                <a:latin typeface="Arial"/>
                <a:cs typeface="Arial"/>
              </a:rPr>
              <a:t>שאלות פתיחה שאתם כותבים ב-</a:t>
            </a:r>
            <a:r>
              <a:rPr lang="en-US" sz="1500" b="0" i="0">
                <a:solidFill>
                  <a:srgbClr val="5F6F78"/>
                </a:solidFill>
                <a:latin typeface="Arial"/>
                <a:cs typeface="Arial"/>
              </a:rPr>
              <a:t>OPENING_LINES</a:t>
            </a:r>
          </a:p>
        </p:txBody>
      </p:sp>
      <p:sp>
        <p:nvSpPr>
          <p:cNvPr id="8" name="Rounded Rectangle 7"/>
          <p:cNvSpPr/>
          <p:nvPr/>
        </p:nvSpPr>
        <p:spPr>
          <a:xfrm>
            <a:off x="4343400" y="1371600"/>
            <a:ext cx="3520440" cy="201168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040880" y="1554480"/>
            <a:ext cx="640080" cy="64008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a:t>
            </a:r>
          </a:p>
        </p:txBody>
      </p:sp>
      <p:sp>
        <p:nvSpPr>
          <p:cNvPr id="10" name="TextBox 9"/>
          <p:cNvSpPr txBox="1"/>
          <p:nvPr/>
        </p:nvSpPr>
        <p:spPr>
          <a:xfrm>
            <a:off x="4526280" y="1600200"/>
            <a:ext cx="2423160" cy="548640"/>
          </a:xfrm>
          <a:prstGeom prst="rect">
            <a:avLst/>
          </a:prstGeom>
          <a:noFill/>
        </p:spPr>
        <p:txBody>
          <a:bodyPr wrap="square" lIns="45720" rIns="45720" anchor="ctr">
            <a:spAutoFit/>
          </a:bodyPr>
          <a:lstStyle/>
          <a:p>
            <a:pPr algn="r" rtl="1"/>
            <a:r>
              <a:rPr lang="he-IL" sz="1900" b="1" i="0">
                <a:solidFill>
                  <a:srgbClr val="1B2B34"/>
                </a:solidFill>
                <a:latin typeface="Arial"/>
                <a:cs typeface="Arial"/>
              </a:rPr>
              <a:t>חיפוש סתירות</a:t>
            </a:r>
          </a:p>
        </p:txBody>
      </p:sp>
      <p:sp>
        <p:nvSpPr>
          <p:cNvPr id="11" name="TextBox 10"/>
          <p:cNvSpPr txBox="1"/>
          <p:nvPr/>
        </p:nvSpPr>
        <p:spPr>
          <a:xfrm>
            <a:off x="4526280" y="2240280"/>
            <a:ext cx="3154680" cy="1051560"/>
          </a:xfrm>
          <a:prstGeom prst="rect">
            <a:avLst/>
          </a:prstGeom>
          <a:noFill/>
        </p:spPr>
        <p:txBody>
          <a:bodyPr wrap="square" lIns="45720" rIns="45720" anchor="t">
            <a:spAutoFit/>
          </a:bodyPr>
          <a:lstStyle/>
          <a:p>
            <a:pPr algn="r" rtl="1"/>
            <a:r>
              <a:rPr lang="he-IL" sz="1500" b="0" i="0">
                <a:solidFill>
                  <a:srgbClr val="5F6F78"/>
                </a:solidFill>
                <a:latin typeface="Arial"/>
                <a:cs typeface="Arial"/>
              </a:rPr>
              <a:t>בני אדם שוכחים וטועים. האם הוא סותר את עצמו?</a:t>
            </a:r>
          </a:p>
        </p:txBody>
      </p:sp>
      <p:sp>
        <p:nvSpPr>
          <p:cNvPr id="12" name="Rounded Rectangle 11"/>
          <p:cNvSpPr/>
          <p:nvPr/>
        </p:nvSpPr>
        <p:spPr>
          <a:xfrm>
            <a:off x="594360" y="1371600"/>
            <a:ext cx="3520440" cy="201168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291840" y="1554480"/>
            <a:ext cx="640080" cy="64008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a:t>
            </a:r>
          </a:p>
        </p:txBody>
      </p:sp>
      <p:sp>
        <p:nvSpPr>
          <p:cNvPr id="14" name="TextBox 13"/>
          <p:cNvSpPr txBox="1"/>
          <p:nvPr/>
        </p:nvSpPr>
        <p:spPr>
          <a:xfrm>
            <a:off x="777240" y="1600200"/>
            <a:ext cx="2423160" cy="548640"/>
          </a:xfrm>
          <a:prstGeom prst="rect">
            <a:avLst/>
          </a:prstGeom>
          <a:noFill/>
        </p:spPr>
        <p:txBody>
          <a:bodyPr wrap="square" lIns="45720" rIns="45720" anchor="ctr">
            <a:spAutoFit/>
          </a:bodyPr>
          <a:lstStyle/>
          <a:p>
            <a:pPr algn="r" rtl="1"/>
            <a:r>
              <a:rPr lang="he-IL" sz="1900" b="1" i="0">
                <a:solidFill>
                  <a:srgbClr val="1B2B34"/>
                </a:solidFill>
                <a:latin typeface="Arial"/>
                <a:cs typeface="Arial"/>
              </a:rPr>
              <a:t>מושלם מדי</a:t>
            </a:r>
          </a:p>
        </p:txBody>
      </p:sp>
      <p:sp>
        <p:nvSpPr>
          <p:cNvPr id="15" name="TextBox 14"/>
          <p:cNvSpPr txBox="1"/>
          <p:nvPr/>
        </p:nvSpPr>
        <p:spPr>
          <a:xfrm>
            <a:off x="777240" y="2240280"/>
            <a:ext cx="3154680" cy="1051560"/>
          </a:xfrm>
          <a:prstGeom prst="rect">
            <a:avLst/>
          </a:prstGeom>
          <a:noFill/>
        </p:spPr>
        <p:txBody>
          <a:bodyPr wrap="square" lIns="45720" rIns="45720" anchor="t">
            <a:spAutoFit/>
          </a:bodyPr>
          <a:lstStyle/>
          <a:p>
            <a:pPr algn="r" rtl="1"/>
            <a:r>
              <a:rPr lang="he-IL" sz="1500" b="0" i="0">
                <a:solidFill>
                  <a:srgbClr val="5F6F78"/>
                </a:solidFill>
                <a:latin typeface="Arial"/>
                <a:cs typeface="Arial"/>
              </a:rPr>
              <a:t>ידע עמוק, ניסוח של ספר, אין שגיאות? חשוד!</a:t>
            </a:r>
          </a:p>
        </p:txBody>
      </p:sp>
      <p:sp>
        <p:nvSpPr>
          <p:cNvPr id="16" name="Rounded Rectangle 15"/>
          <p:cNvSpPr/>
          <p:nvPr/>
        </p:nvSpPr>
        <p:spPr>
          <a:xfrm>
            <a:off x="8092440" y="3611880"/>
            <a:ext cx="3520440" cy="201168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789920" y="3794760"/>
            <a:ext cx="640080" cy="64008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a:t>
            </a:r>
          </a:p>
        </p:txBody>
      </p:sp>
      <p:sp>
        <p:nvSpPr>
          <p:cNvPr id="18" name="TextBox 17"/>
          <p:cNvSpPr txBox="1"/>
          <p:nvPr/>
        </p:nvSpPr>
        <p:spPr>
          <a:xfrm>
            <a:off x="8275319" y="3840480"/>
            <a:ext cx="2423160" cy="548640"/>
          </a:xfrm>
          <a:prstGeom prst="rect">
            <a:avLst/>
          </a:prstGeom>
          <a:noFill/>
        </p:spPr>
        <p:txBody>
          <a:bodyPr wrap="square" lIns="45720" rIns="45720" anchor="ctr">
            <a:spAutoFit/>
          </a:bodyPr>
          <a:lstStyle/>
          <a:p>
            <a:pPr algn="r" rtl="1"/>
            <a:r>
              <a:rPr lang="he-IL" sz="1900" b="1" i="0">
                <a:solidFill>
                  <a:srgbClr val="1B2B34"/>
                </a:solidFill>
                <a:latin typeface="Arial"/>
                <a:cs typeface="Arial"/>
              </a:rPr>
              <a:t>שאלות מכשילות</a:t>
            </a:r>
          </a:p>
        </p:txBody>
      </p:sp>
      <p:sp>
        <p:nvSpPr>
          <p:cNvPr id="19" name="TextBox 18"/>
          <p:cNvSpPr txBox="1"/>
          <p:nvPr/>
        </p:nvSpPr>
        <p:spPr>
          <a:xfrm>
            <a:off x="8275319" y="4480560"/>
            <a:ext cx="3154680" cy="1051560"/>
          </a:xfrm>
          <a:prstGeom prst="rect">
            <a:avLst/>
          </a:prstGeom>
          <a:noFill/>
        </p:spPr>
        <p:txBody>
          <a:bodyPr wrap="square" lIns="45720" rIns="45720" anchor="t">
            <a:spAutoFit/>
          </a:bodyPr>
          <a:lstStyle/>
          <a:p>
            <a:pPr algn="r" rtl="1"/>
            <a:r>
              <a:rPr lang="he-IL" sz="1500" b="0" i="0">
                <a:solidFill>
                  <a:srgbClr val="5F6F78"/>
                </a:solidFill>
                <a:latin typeface="Arial"/>
                <a:cs typeface="Arial"/>
              </a:rPr>
              <a:t>חשבון קשה, מה היה היום, בדיחות, רגשות</a:t>
            </a:r>
          </a:p>
        </p:txBody>
      </p:sp>
      <p:sp>
        <p:nvSpPr>
          <p:cNvPr id="20" name="Rounded Rectangle 19"/>
          <p:cNvSpPr/>
          <p:nvPr/>
        </p:nvSpPr>
        <p:spPr>
          <a:xfrm>
            <a:off x="4343400" y="3611880"/>
            <a:ext cx="3520440" cy="201168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7040880" y="3794760"/>
            <a:ext cx="640080" cy="640080"/>
          </a:xfrm>
          <a:prstGeom prst="ellipse">
            <a:avLst/>
          </a:prstGeom>
          <a:solidFill>
            <a:srgbClr val="7B4FB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a:t>
            </a:r>
          </a:p>
        </p:txBody>
      </p:sp>
      <p:sp>
        <p:nvSpPr>
          <p:cNvPr id="22" name="TextBox 21"/>
          <p:cNvSpPr txBox="1"/>
          <p:nvPr/>
        </p:nvSpPr>
        <p:spPr>
          <a:xfrm>
            <a:off x="4526280" y="3840480"/>
            <a:ext cx="2423160" cy="548640"/>
          </a:xfrm>
          <a:prstGeom prst="rect">
            <a:avLst/>
          </a:prstGeom>
          <a:noFill/>
        </p:spPr>
        <p:txBody>
          <a:bodyPr wrap="square" lIns="45720" rIns="45720" anchor="ctr">
            <a:spAutoFit/>
          </a:bodyPr>
          <a:lstStyle/>
          <a:p>
            <a:pPr algn="r" rtl="1"/>
            <a:r>
              <a:rPr lang="en-US" sz="1900" b="1" i="0">
                <a:solidFill>
                  <a:srgbClr val="1B2B34"/>
                </a:solidFill>
                <a:latin typeface="Arial"/>
                <a:cs typeface="Arial"/>
              </a:rPr>
              <a:t>Gemini</a:t>
            </a:r>
            <a:r>
              <a:rPr lang="he-IL" sz="1900" b="1" i="0">
                <a:solidFill>
                  <a:srgbClr val="1B2B34"/>
                </a:solidFill>
                <a:latin typeface="Arial"/>
                <a:cs typeface="Arial"/>
              </a:rPr>
              <a:t> בלש</a:t>
            </a:r>
          </a:p>
        </p:txBody>
      </p:sp>
      <p:sp>
        <p:nvSpPr>
          <p:cNvPr id="23" name="TextBox 22"/>
          <p:cNvSpPr txBox="1"/>
          <p:nvPr/>
        </p:nvSpPr>
        <p:spPr>
          <a:xfrm>
            <a:off x="4526280" y="4480560"/>
            <a:ext cx="3154680" cy="553998"/>
          </a:xfrm>
          <a:prstGeom prst="rect">
            <a:avLst/>
          </a:prstGeom>
          <a:noFill/>
        </p:spPr>
        <p:txBody>
          <a:bodyPr wrap="square" lIns="45720" rIns="45720" anchor="t">
            <a:spAutoFit/>
          </a:bodyPr>
          <a:lstStyle/>
          <a:p>
            <a:pPr algn="r" rtl="1"/>
            <a:r>
              <a:rPr lang="he-IL" sz="1500" b="0" i="0" dirty="0">
                <a:solidFill>
                  <a:srgbClr val="5F6F78"/>
                </a:solidFill>
                <a:latin typeface="Arial"/>
                <a:cs typeface="Arial"/>
              </a:rPr>
              <a:t>להוסיף תנאים "</a:t>
            </a:r>
            <a:r>
              <a:rPr lang="en-US" sz="1500" b="0" i="0" dirty="0">
                <a:solidFill>
                  <a:srgbClr val="5F6F78"/>
                </a:solidFill>
                <a:latin typeface="Arial"/>
                <a:cs typeface="Arial"/>
              </a:rPr>
              <a:t>if</a:t>
            </a:r>
            <a:r>
              <a:rPr lang="he-IL" sz="1500" b="0" i="0" dirty="0">
                <a:solidFill>
                  <a:srgbClr val="5F6F78"/>
                </a:solidFill>
                <a:latin typeface="Arial"/>
                <a:cs typeface="Arial"/>
              </a:rPr>
              <a:t>" משלנו שבודקים את התשובה של היריב</a:t>
            </a:r>
          </a:p>
        </p:txBody>
      </p:sp>
      <p:sp>
        <p:nvSpPr>
          <p:cNvPr id="24" name="Rounded Rectangle 23"/>
          <p:cNvSpPr/>
          <p:nvPr/>
        </p:nvSpPr>
        <p:spPr>
          <a:xfrm>
            <a:off x="594360" y="3611880"/>
            <a:ext cx="3520440" cy="201168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3291840" y="3794760"/>
            <a:ext cx="640080" cy="64008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a:t>
            </a:r>
          </a:p>
        </p:txBody>
      </p:sp>
      <p:sp>
        <p:nvSpPr>
          <p:cNvPr id="26" name="TextBox 25"/>
          <p:cNvSpPr txBox="1"/>
          <p:nvPr/>
        </p:nvSpPr>
        <p:spPr>
          <a:xfrm>
            <a:off x="777240" y="3840480"/>
            <a:ext cx="2423160" cy="548640"/>
          </a:xfrm>
          <a:prstGeom prst="rect">
            <a:avLst/>
          </a:prstGeom>
          <a:noFill/>
        </p:spPr>
        <p:txBody>
          <a:bodyPr wrap="square" lIns="45720" rIns="45720" anchor="ctr">
            <a:spAutoFit/>
          </a:bodyPr>
          <a:lstStyle/>
          <a:p>
            <a:pPr algn="r" rtl="1"/>
            <a:r>
              <a:rPr lang="he-IL" sz="1900" b="1" i="0">
                <a:solidFill>
                  <a:srgbClr val="1B2B34"/>
                </a:solidFill>
                <a:latin typeface="Arial"/>
                <a:cs typeface="Arial"/>
              </a:rPr>
              <a:t>להתחזות לאדם</a:t>
            </a:r>
          </a:p>
        </p:txBody>
      </p:sp>
      <p:sp>
        <p:nvSpPr>
          <p:cNvPr id="27" name="TextBox 26"/>
          <p:cNvSpPr txBox="1"/>
          <p:nvPr/>
        </p:nvSpPr>
        <p:spPr>
          <a:xfrm>
            <a:off x="777240" y="4480560"/>
            <a:ext cx="3154680" cy="1051560"/>
          </a:xfrm>
          <a:prstGeom prst="rect">
            <a:avLst/>
          </a:prstGeom>
          <a:noFill/>
        </p:spPr>
        <p:txBody>
          <a:bodyPr wrap="square" lIns="45720" rIns="45720" anchor="t">
            <a:spAutoFit/>
          </a:bodyPr>
          <a:lstStyle/>
          <a:p>
            <a:pPr algn="r" rtl="1"/>
            <a:r>
              <a:rPr lang="he-IL" sz="1500" b="0" i="0">
                <a:solidFill>
                  <a:srgbClr val="5F6F78"/>
                </a:solidFill>
                <a:latin typeface="Arial"/>
                <a:cs typeface="Arial"/>
              </a:rPr>
              <a:t>שגיאות כתיב, סלנג, "לא יודע", תשובות קצרות</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14</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3 דוגמאות</a:t>
            </a:r>
          </a:p>
        </p:txBody>
      </p:sp>
      <p:sp>
        <p:nvSpPr>
          <p:cNvPr id="6" name="Oval 5"/>
          <p:cNvSpPr/>
          <p:nvPr/>
        </p:nvSpPr>
        <p:spPr>
          <a:xfrm>
            <a:off x="6767213" y="1391271"/>
            <a:ext cx="502920" cy="428237"/>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a:solidFill>
                  <a:srgbClr val="FFFFFF"/>
                </a:solidFill>
                <a:latin typeface="Arial"/>
                <a:cs typeface="Arial"/>
              </a:rPr>
              <a:t>3</a:t>
            </a:r>
          </a:p>
        </p:txBody>
      </p:sp>
      <p:sp>
        <p:nvSpPr>
          <p:cNvPr id="7" name="TextBox 6"/>
          <p:cNvSpPr txBox="1"/>
          <p:nvPr/>
        </p:nvSpPr>
        <p:spPr>
          <a:xfrm>
            <a:off x="2548998" y="1368411"/>
            <a:ext cx="4069080" cy="548640"/>
          </a:xfrm>
          <a:prstGeom prst="rect">
            <a:avLst/>
          </a:prstGeom>
          <a:noFill/>
        </p:spPr>
        <p:txBody>
          <a:bodyPr wrap="square" lIns="45720" rIns="45720" anchor="ctr">
            <a:spAutoFit/>
          </a:bodyPr>
          <a:lstStyle/>
          <a:p>
            <a:pPr algn="r" rtl="0"/>
            <a:r>
              <a:rPr lang="en-US" sz="1500" b="1" i="0" dirty="0">
                <a:solidFill>
                  <a:srgbClr val="EF476F"/>
                </a:solidFill>
                <a:latin typeface="Consolas"/>
                <a:cs typeface="Consolas"/>
              </a:rPr>
              <a:t>decide</a:t>
            </a:r>
          </a:p>
        </p:txBody>
      </p:sp>
      <p:sp>
        <p:nvSpPr>
          <p:cNvPr id="9" name="Rounded Rectangle 8"/>
          <p:cNvSpPr/>
          <p:nvPr/>
        </p:nvSpPr>
        <p:spPr>
          <a:xfrm>
            <a:off x="7863840" y="1371600"/>
            <a:ext cx="3776472" cy="201168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018520" y="1508760"/>
            <a:ext cx="502920" cy="50292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a:solidFill>
                  <a:srgbClr val="FFFFFF"/>
                </a:solidFill>
                <a:latin typeface="Arial"/>
                <a:cs typeface="Arial"/>
              </a:rPr>
              <a:t>1</a:t>
            </a:r>
          </a:p>
        </p:txBody>
      </p:sp>
      <p:sp>
        <p:nvSpPr>
          <p:cNvPr id="11" name="TextBox 10"/>
          <p:cNvSpPr txBox="1"/>
          <p:nvPr/>
        </p:nvSpPr>
        <p:spPr>
          <a:xfrm>
            <a:off x="8001000" y="1481328"/>
            <a:ext cx="2971800" cy="365760"/>
          </a:xfrm>
          <a:prstGeom prst="rect">
            <a:avLst/>
          </a:prstGeom>
          <a:noFill/>
        </p:spPr>
        <p:txBody>
          <a:bodyPr wrap="square" lIns="45720" rIns="45720" anchor="t">
            <a:spAutoFit/>
          </a:bodyPr>
          <a:lstStyle/>
          <a:p>
            <a:pPr algn="r" rtl="0"/>
            <a:r>
              <a:rPr lang="en-US" sz="1500" b="1" i="0">
                <a:solidFill>
                  <a:srgbClr val="2D9F5C"/>
                </a:solidFill>
                <a:latin typeface="Consolas"/>
                <a:cs typeface="Consolas"/>
              </a:rPr>
              <a:t>SYSTEM_PROMPT</a:t>
            </a:r>
          </a:p>
        </p:txBody>
      </p:sp>
      <p:sp>
        <p:nvSpPr>
          <p:cNvPr id="12" name="TextBox 11"/>
          <p:cNvSpPr txBox="1"/>
          <p:nvPr/>
        </p:nvSpPr>
        <p:spPr>
          <a:xfrm>
            <a:off x="8001000" y="1828800"/>
            <a:ext cx="2971800" cy="320040"/>
          </a:xfrm>
          <a:prstGeom prst="rect">
            <a:avLst/>
          </a:prstGeom>
          <a:noFill/>
        </p:spPr>
        <p:txBody>
          <a:bodyPr wrap="square" lIns="45720" rIns="45720" anchor="t">
            <a:spAutoFit/>
          </a:bodyPr>
          <a:lstStyle/>
          <a:p>
            <a:pPr algn="r" rtl="1"/>
            <a:r>
              <a:rPr lang="he-IL" sz="1300" b="0" i="0">
                <a:solidFill>
                  <a:srgbClr val="5F6F78"/>
                </a:solidFill>
                <a:latin typeface="Arial"/>
                <a:cs typeface="Arial"/>
              </a:rPr>
              <a:t>אישיות + רמזים לבלש</a:t>
            </a:r>
          </a:p>
        </p:txBody>
      </p:sp>
      <p:sp>
        <p:nvSpPr>
          <p:cNvPr id="13" name="TextBox 12"/>
          <p:cNvSpPr txBox="1"/>
          <p:nvPr/>
        </p:nvSpPr>
        <p:spPr>
          <a:xfrm>
            <a:off x="8001000" y="2194560"/>
            <a:ext cx="3520440" cy="1143000"/>
          </a:xfrm>
          <a:prstGeom prst="rect">
            <a:avLst/>
          </a:prstGeom>
          <a:noFill/>
        </p:spPr>
        <p:txBody>
          <a:bodyPr wrap="square" lIns="45720" rIns="45720" anchor="t">
            <a:spAutoFit/>
          </a:bodyPr>
          <a:lstStyle/>
          <a:p>
            <a:pPr algn="r" rtl="1">
              <a:spcAft>
                <a:spcPts val="200"/>
              </a:spcAft>
            </a:pPr>
            <a:r>
              <a:rPr lang="he-IL" sz="1400" b="0" i="0">
                <a:solidFill>
                  <a:srgbClr val="1B2B34"/>
                </a:solidFill>
                <a:latin typeface="Arial"/>
                <a:cs typeface="Arial"/>
              </a:rPr>
              <a:t>"אתה נער בן 13 מפתח תקווה, אוהד מכבי.</a:t>
            </a:r>
          </a:p>
          <a:p>
            <a:pPr algn="r" rtl="1">
              <a:spcAft>
                <a:spcPts val="200"/>
              </a:spcAft>
            </a:pPr>
            <a:r>
              <a:rPr lang="he-IL" sz="1400" b="0" i="0">
                <a:solidFill>
                  <a:srgbClr val="1B2B34"/>
                </a:solidFill>
                <a:latin typeface="Arial"/>
                <a:cs typeface="Arial"/>
              </a:rPr>
              <a:t>לפעמים תעשה שגיאות כתיב.</a:t>
            </a:r>
          </a:p>
          <a:p>
            <a:pPr algn="r" rtl="1">
              <a:spcAft>
                <a:spcPts val="200"/>
              </a:spcAft>
            </a:pPr>
            <a:r>
              <a:rPr lang="he-IL" sz="1400" b="0" i="0">
                <a:solidFill>
                  <a:srgbClr val="1B2B34"/>
                </a:solidFill>
                <a:latin typeface="Arial"/>
                <a:cs typeface="Arial"/>
              </a:rPr>
              <a:t>תשובה מושלמת מדי? חשוד!"</a:t>
            </a:r>
          </a:p>
        </p:txBody>
      </p:sp>
      <p:sp>
        <p:nvSpPr>
          <p:cNvPr id="14" name="Rounded Rectangle 13"/>
          <p:cNvSpPr/>
          <p:nvPr/>
        </p:nvSpPr>
        <p:spPr>
          <a:xfrm>
            <a:off x="7863840" y="3566160"/>
            <a:ext cx="3776472" cy="2011680"/>
          </a:xfrm>
          <a:prstGeom prst="roundRect">
            <a:avLst>
              <a:gd name="adj" fmla="val 8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018520" y="3703320"/>
            <a:ext cx="502920" cy="50292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800" b="1" i="0">
                <a:solidFill>
                  <a:srgbClr val="FFFFFF"/>
                </a:solidFill>
                <a:latin typeface="Arial"/>
                <a:cs typeface="Arial"/>
              </a:rPr>
              <a:t>2</a:t>
            </a:r>
          </a:p>
        </p:txBody>
      </p:sp>
      <p:sp>
        <p:nvSpPr>
          <p:cNvPr id="16" name="TextBox 15"/>
          <p:cNvSpPr txBox="1"/>
          <p:nvPr/>
        </p:nvSpPr>
        <p:spPr>
          <a:xfrm>
            <a:off x="8001000" y="3675887"/>
            <a:ext cx="2971800" cy="365760"/>
          </a:xfrm>
          <a:prstGeom prst="rect">
            <a:avLst/>
          </a:prstGeom>
          <a:noFill/>
        </p:spPr>
        <p:txBody>
          <a:bodyPr wrap="square" lIns="45720" rIns="45720" anchor="t">
            <a:spAutoFit/>
          </a:bodyPr>
          <a:lstStyle/>
          <a:p>
            <a:pPr algn="r" rtl="0"/>
            <a:r>
              <a:rPr lang="en-US" sz="1500" b="1" i="0">
                <a:solidFill>
                  <a:srgbClr val="FF9F1C"/>
                </a:solidFill>
                <a:latin typeface="Consolas"/>
                <a:cs typeface="Consolas"/>
              </a:rPr>
              <a:t>OPENING_LINES</a:t>
            </a:r>
          </a:p>
        </p:txBody>
      </p:sp>
      <p:sp>
        <p:nvSpPr>
          <p:cNvPr id="17" name="TextBox 16"/>
          <p:cNvSpPr txBox="1"/>
          <p:nvPr/>
        </p:nvSpPr>
        <p:spPr>
          <a:xfrm>
            <a:off x="8001000" y="4023360"/>
            <a:ext cx="2971800" cy="320040"/>
          </a:xfrm>
          <a:prstGeom prst="rect">
            <a:avLst/>
          </a:prstGeom>
          <a:noFill/>
        </p:spPr>
        <p:txBody>
          <a:bodyPr wrap="square" lIns="45720" rIns="45720" anchor="t">
            <a:spAutoFit/>
          </a:bodyPr>
          <a:lstStyle/>
          <a:p>
            <a:pPr algn="r" rtl="1"/>
            <a:r>
              <a:rPr lang="he-IL" sz="1300" b="0" i="0">
                <a:solidFill>
                  <a:srgbClr val="5F6F78"/>
                </a:solidFill>
                <a:latin typeface="Arial"/>
                <a:cs typeface="Arial"/>
              </a:rPr>
              <a:t>שאלות מלכודת קבועות</a:t>
            </a:r>
          </a:p>
        </p:txBody>
      </p:sp>
      <p:sp>
        <p:nvSpPr>
          <p:cNvPr id="18" name="TextBox 17"/>
          <p:cNvSpPr txBox="1"/>
          <p:nvPr/>
        </p:nvSpPr>
        <p:spPr>
          <a:xfrm>
            <a:off x="8001000" y="4389120"/>
            <a:ext cx="3520440" cy="1143000"/>
          </a:xfrm>
          <a:prstGeom prst="rect">
            <a:avLst/>
          </a:prstGeom>
          <a:noFill/>
        </p:spPr>
        <p:txBody>
          <a:bodyPr wrap="square" lIns="45720" rIns="45720" anchor="t">
            <a:spAutoFit/>
          </a:bodyPr>
          <a:lstStyle/>
          <a:p>
            <a:pPr algn="r" rtl="1">
              <a:spcAft>
                <a:spcPts val="200"/>
              </a:spcAft>
            </a:pPr>
            <a:r>
              <a:rPr lang="he-IL" sz="1400" b="0" i="0">
                <a:solidFill>
                  <a:srgbClr val="1B2B34"/>
                </a:solidFill>
                <a:latin typeface="Arial"/>
                <a:cs typeface="Arial"/>
              </a:rPr>
              <a:t>"כמה זה 389 כפול 47?"</a:t>
            </a:r>
          </a:p>
          <a:p>
            <a:pPr algn="r" rtl="1">
              <a:spcAft>
                <a:spcPts val="200"/>
              </a:spcAft>
            </a:pPr>
            <a:r>
              <a:rPr lang="he-IL" sz="1400" b="0" i="0">
                <a:solidFill>
                  <a:srgbClr val="1B2B34"/>
                </a:solidFill>
                <a:latin typeface="Arial"/>
                <a:cs typeface="Arial"/>
              </a:rPr>
              <a:t>"מה מזג האוויר אצלך עכשיו?"</a:t>
            </a:r>
          </a:p>
          <a:p>
            <a:pPr algn="r" rtl="1">
              <a:spcAft>
                <a:spcPts val="200"/>
              </a:spcAft>
            </a:pPr>
            <a:r>
              <a:rPr lang="he-IL" sz="1400" b="0" i="0">
                <a:solidFill>
                  <a:srgbClr val="1B2B34"/>
                </a:solidFill>
                <a:latin typeface="Arial"/>
                <a:cs typeface="Arial"/>
              </a:rPr>
              <a:t>"כתוב את המילה שולחן הפוך"</a:t>
            </a:r>
          </a:p>
        </p:txBody>
      </p:sp>
      <p:sp>
        <p:nvSpPr>
          <p:cNvPr id="19" name="Rounded Rectangle 18"/>
          <p:cNvSpPr/>
          <p:nvPr/>
        </p:nvSpPr>
        <p:spPr>
          <a:xfrm>
            <a:off x="572153" y="1950502"/>
            <a:ext cx="7040880" cy="3581618"/>
          </a:xfrm>
          <a:prstGeom prst="roundRect">
            <a:avLst>
              <a:gd name="adj" fmla="val 4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967" y="3333353"/>
            <a:ext cx="7935686" cy="1200329"/>
          </a:xfrm>
          <a:prstGeom prst="rect">
            <a:avLst/>
          </a:prstGeom>
          <a:noFill/>
        </p:spPr>
        <p:txBody>
          <a:bodyPr wrap="square" lIns="45720" rIns="45720" anchor="ctr">
            <a:spAutoFit/>
          </a:bodyPr>
          <a:lstStyle/>
          <a:p>
            <a:pPr algn="l" rtl="0"/>
            <a:r>
              <a:rPr lang="en-US" b="0" i="0" dirty="0">
                <a:solidFill>
                  <a:srgbClr val="E6E6E6"/>
                </a:solidFill>
                <a:latin typeface="Consolas"/>
                <a:cs typeface="Consolas"/>
              </a:rPr>
              <a:t>    prompt = </a:t>
            </a:r>
            <a:r>
              <a:rPr lang="en-US" b="0" i="0" dirty="0" err="1">
                <a:solidFill>
                  <a:srgbClr val="E6E6E6"/>
                </a:solidFill>
                <a:latin typeface="Consolas"/>
                <a:cs typeface="Consolas"/>
              </a:rPr>
              <a:t>history_text</a:t>
            </a:r>
            <a:r>
              <a:rPr lang="en-US" b="0" i="0" dirty="0">
                <a:solidFill>
                  <a:srgbClr val="E6E6E6"/>
                </a:solidFill>
                <a:latin typeface="Consolas"/>
                <a:cs typeface="Consolas"/>
              </a:rPr>
              <a:t>(history)</a:t>
            </a:r>
          </a:p>
          <a:p>
            <a:pPr algn="l" rtl="0"/>
            <a:r>
              <a:rPr lang="en-US" b="0" i="0" dirty="0">
                <a:solidFill>
                  <a:srgbClr val="E6E6E6"/>
                </a:solidFill>
                <a:latin typeface="Consolas"/>
                <a:cs typeface="Consolas"/>
              </a:rPr>
              <a:t>    prompt = prompt + </a:t>
            </a:r>
            <a:r>
              <a:rPr lang="en-US" b="0" i="0" dirty="0">
                <a:solidFill>
                  <a:srgbClr val="A6E22E"/>
                </a:solidFill>
                <a:latin typeface="Consolas"/>
                <a:cs typeface="Consolas"/>
              </a:rPr>
              <a:t>"\</a:t>
            </a:r>
            <a:r>
              <a:rPr lang="en-US" b="0" i="0" dirty="0" err="1">
                <a:solidFill>
                  <a:srgbClr val="A6E22E"/>
                </a:solidFill>
                <a:latin typeface="Consolas"/>
                <a:cs typeface="Consolas"/>
              </a:rPr>
              <a:t>nIs</a:t>
            </a:r>
            <a:r>
              <a:rPr lang="en-US" b="0" i="0" dirty="0">
                <a:solidFill>
                  <a:srgbClr val="A6E22E"/>
                </a:solidFill>
                <a:latin typeface="Consolas"/>
                <a:cs typeface="Consolas"/>
              </a:rPr>
              <a:t> Other a human or a bot?"</a:t>
            </a:r>
          </a:p>
          <a:p>
            <a:r>
              <a:rPr lang="en-US" b="0" i="0" dirty="0">
                <a:solidFill>
                  <a:srgbClr val="E6E6E6"/>
                </a:solidFill>
                <a:latin typeface="Consolas"/>
                <a:cs typeface="Consolas"/>
              </a:rPr>
              <a:t>    prompt = prompt + </a:t>
            </a:r>
            <a:r>
              <a:rPr lang="en-US" b="0" i="0" dirty="0">
                <a:solidFill>
                  <a:srgbClr val="A6E22E"/>
                </a:solidFill>
                <a:latin typeface="Consolas"/>
                <a:cs typeface="Consolas"/>
              </a:rPr>
              <a:t>"Look for mistakes</a:t>
            </a:r>
            <a:r>
              <a:rPr lang="en-US" dirty="0">
                <a:solidFill>
                  <a:srgbClr val="A6E22E"/>
                </a:solidFill>
                <a:latin typeface="Consolas"/>
                <a:cs typeface="Consolas"/>
              </a:rPr>
              <a:t> or perfect answers</a:t>
            </a:r>
            <a:r>
              <a:rPr lang="en-US" b="0" i="0" dirty="0">
                <a:solidFill>
                  <a:srgbClr val="A6E22E"/>
                </a:solidFill>
                <a:latin typeface="Consolas"/>
                <a:cs typeface="Consolas"/>
              </a:rPr>
              <a:t>"</a:t>
            </a:r>
          </a:p>
          <a:p>
            <a:pPr algn="l" rtl="0"/>
            <a:r>
              <a:rPr lang="en-US" b="0" i="0" dirty="0">
                <a:solidFill>
                  <a:srgbClr val="E6E6E6"/>
                </a:solidFill>
                <a:latin typeface="Consolas"/>
                <a:cs typeface="Consolas"/>
              </a:rPr>
              <a:t>    prompt = prompt + </a:t>
            </a:r>
            <a:r>
              <a:rPr lang="en-US" b="0" i="0" dirty="0">
                <a:solidFill>
                  <a:srgbClr val="A6E22E"/>
                </a:solidFill>
                <a:latin typeface="Consolas"/>
                <a:cs typeface="Consolas"/>
              </a:rPr>
              <a:t>"Maybe try a stupid question"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15</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פיתוח הבוט</a:t>
            </a:r>
          </a:p>
        </p:txBody>
      </p:sp>
      <p:sp>
        <p:nvSpPr>
          <p:cNvPr id="7" name="TextBox 6"/>
          <p:cNvSpPr txBox="1"/>
          <p:nvPr/>
        </p:nvSpPr>
        <p:spPr>
          <a:xfrm>
            <a:off x="4120242" y="2810333"/>
            <a:ext cx="5486400" cy="457200"/>
          </a:xfrm>
          <a:prstGeom prst="rect">
            <a:avLst/>
          </a:prstGeom>
          <a:noFill/>
        </p:spPr>
        <p:txBody>
          <a:bodyPr wrap="square" lIns="45720" rIns="45720" anchor="t">
            <a:spAutoFit/>
          </a:bodyPr>
          <a:lstStyle/>
          <a:p>
            <a:pPr algn="ctr" rtl="1"/>
            <a:r>
              <a:rPr lang="he-IL" sz="1500" b="0" i="0">
                <a:solidFill>
                  <a:srgbClr val="5F6F78"/>
                </a:solidFill>
                <a:latin typeface="Arial"/>
                <a:cs typeface="Arial"/>
              </a:rPr>
              <a:t>מריצים את bot_tools.py ומקלידים את התשובות בעצמכם</a:t>
            </a:r>
          </a:p>
        </p:txBody>
      </p:sp>
      <p:sp>
        <p:nvSpPr>
          <p:cNvPr id="8" name="Oval 7"/>
          <p:cNvSpPr/>
          <p:nvPr/>
        </p:nvSpPr>
        <p:spPr>
          <a:xfrm>
            <a:off x="10972800" y="1371600"/>
            <a:ext cx="685800" cy="68580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a:solidFill>
                  <a:srgbClr val="FFFFFF"/>
                </a:solidFill>
                <a:latin typeface="Arial"/>
                <a:cs typeface="Arial"/>
              </a:rPr>
              <a:t>1</a:t>
            </a:r>
          </a:p>
        </p:txBody>
      </p:sp>
      <p:sp>
        <p:nvSpPr>
          <p:cNvPr id="9" name="TextBox 8"/>
          <p:cNvSpPr txBox="1"/>
          <p:nvPr/>
        </p:nvSpPr>
        <p:spPr>
          <a:xfrm>
            <a:off x="6400800" y="1325880"/>
            <a:ext cx="4434840" cy="411480"/>
          </a:xfrm>
          <a:prstGeom prst="rect">
            <a:avLst/>
          </a:prstGeom>
          <a:noFill/>
        </p:spPr>
        <p:txBody>
          <a:bodyPr wrap="square" lIns="45720" rIns="45720" anchor="t">
            <a:spAutoFit/>
          </a:bodyPr>
          <a:lstStyle/>
          <a:p>
            <a:pPr algn="r" rtl="1"/>
            <a:r>
              <a:rPr lang="he-IL" sz="2000" b="1" i="0">
                <a:solidFill>
                  <a:srgbClr val="1B2B34"/>
                </a:solidFill>
                <a:latin typeface="Arial"/>
                <a:cs typeface="Arial"/>
              </a:rPr>
              <a:t>פיתוח</a:t>
            </a:r>
          </a:p>
        </p:txBody>
      </p:sp>
      <p:sp>
        <p:nvSpPr>
          <p:cNvPr id="10" name="TextBox 9"/>
          <p:cNvSpPr txBox="1"/>
          <p:nvPr/>
        </p:nvSpPr>
        <p:spPr>
          <a:xfrm>
            <a:off x="6400800" y="1755648"/>
            <a:ext cx="4434840" cy="323165"/>
          </a:xfrm>
          <a:prstGeom prst="rect">
            <a:avLst/>
          </a:prstGeom>
          <a:noFill/>
        </p:spPr>
        <p:txBody>
          <a:bodyPr wrap="square" lIns="45720" rIns="45720" anchor="t">
            <a:spAutoFit/>
          </a:bodyPr>
          <a:lstStyle/>
          <a:p>
            <a:pPr algn="r" rtl="1"/>
            <a:r>
              <a:rPr lang="he-IL" sz="1500" dirty="0">
                <a:solidFill>
                  <a:srgbClr val="5F6F78"/>
                </a:solidFill>
                <a:latin typeface="Arial"/>
                <a:cs typeface="Arial"/>
              </a:rPr>
              <a:t>35</a:t>
            </a:r>
            <a:r>
              <a:rPr lang="he-IL" sz="1500" b="0" i="0" dirty="0">
                <a:solidFill>
                  <a:srgbClr val="5F6F78"/>
                </a:solidFill>
                <a:latin typeface="Arial"/>
                <a:cs typeface="Arial"/>
              </a:rPr>
              <a:t> דקות - משפרים את הבוט אותו</a:t>
            </a:r>
          </a:p>
        </p:txBody>
      </p:sp>
      <p:sp>
        <p:nvSpPr>
          <p:cNvPr id="11" name="Oval 10"/>
          <p:cNvSpPr/>
          <p:nvPr/>
        </p:nvSpPr>
        <p:spPr>
          <a:xfrm>
            <a:off x="10972800" y="3566160"/>
            <a:ext cx="685800" cy="68580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i="0" dirty="0">
                <a:solidFill>
                  <a:srgbClr val="FFFFFF"/>
                </a:solidFill>
                <a:latin typeface="Arial"/>
                <a:cs typeface="Arial"/>
              </a:rPr>
              <a:t>3</a:t>
            </a:r>
          </a:p>
        </p:txBody>
      </p:sp>
      <p:sp>
        <p:nvSpPr>
          <p:cNvPr id="12" name="TextBox 11"/>
          <p:cNvSpPr txBox="1"/>
          <p:nvPr/>
        </p:nvSpPr>
        <p:spPr>
          <a:xfrm>
            <a:off x="6400800" y="3520440"/>
            <a:ext cx="4434840" cy="411480"/>
          </a:xfrm>
          <a:prstGeom prst="rect">
            <a:avLst/>
          </a:prstGeom>
          <a:noFill/>
        </p:spPr>
        <p:txBody>
          <a:bodyPr wrap="square" lIns="45720" rIns="45720" anchor="t">
            <a:spAutoFit/>
          </a:bodyPr>
          <a:lstStyle/>
          <a:p>
            <a:pPr algn="r" rtl="1"/>
            <a:r>
              <a:rPr lang="he-IL" sz="2000" b="1" i="0">
                <a:solidFill>
                  <a:srgbClr val="1B2B34"/>
                </a:solidFill>
                <a:latin typeface="Arial"/>
                <a:cs typeface="Arial"/>
              </a:rPr>
              <a:t>הגשה</a:t>
            </a:r>
          </a:p>
        </p:txBody>
      </p:sp>
      <p:sp>
        <p:nvSpPr>
          <p:cNvPr id="13" name="TextBox 12"/>
          <p:cNvSpPr txBox="1"/>
          <p:nvPr/>
        </p:nvSpPr>
        <p:spPr>
          <a:xfrm>
            <a:off x="6400800" y="3950208"/>
            <a:ext cx="4434840" cy="323165"/>
          </a:xfrm>
          <a:prstGeom prst="rect">
            <a:avLst/>
          </a:prstGeom>
          <a:noFill/>
        </p:spPr>
        <p:txBody>
          <a:bodyPr wrap="square" lIns="45720" rIns="45720" anchor="t">
            <a:spAutoFit/>
          </a:bodyPr>
          <a:lstStyle/>
          <a:p>
            <a:pPr algn="r" rtl="1"/>
            <a:r>
              <a:rPr lang="he-IL" sz="1500" b="0" i="0" dirty="0">
                <a:solidFill>
                  <a:srgbClr val="5F6F78"/>
                </a:solidFill>
                <a:latin typeface="Arial"/>
                <a:cs typeface="Arial"/>
              </a:rPr>
              <a:t>מגישים את turing_bot.py</a:t>
            </a:r>
          </a:p>
        </p:txBody>
      </p:sp>
      <p:sp>
        <p:nvSpPr>
          <p:cNvPr id="17" name="Rounded Rectangle 16"/>
          <p:cNvSpPr/>
          <p:nvPr/>
        </p:nvSpPr>
        <p:spPr>
          <a:xfrm>
            <a:off x="548640" y="4983480"/>
            <a:ext cx="11091672" cy="822960"/>
          </a:xfrm>
          <a:prstGeom prst="roundRect">
            <a:avLst>
              <a:gd name="adj" fmla="val 25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4000" b="1" i="0" dirty="0">
                <a:solidFill>
                  <a:srgbClr val="1B2B34"/>
                </a:solidFill>
                <a:latin typeface="Arial"/>
                <a:cs typeface="Arial"/>
              </a:rPr>
              <a:t>בהצלחה!</a:t>
            </a:r>
            <a:endParaRPr lang="he-IL" sz="4000" b="0" i="0" dirty="0">
              <a:solidFill>
                <a:srgbClr val="1B2B34"/>
              </a:solidFill>
              <a:latin typeface="Arial"/>
              <a:cs typeface="Arial"/>
            </a:endParaRPr>
          </a:p>
        </p:txBody>
      </p:sp>
      <p:sp>
        <p:nvSpPr>
          <p:cNvPr id="15" name="Oval 14">
            <a:extLst>
              <a:ext uri="{FF2B5EF4-FFF2-40B4-BE49-F238E27FC236}">
                <a16:creationId xmlns:a16="http://schemas.microsoft.com/office/drawing/2014/main" id="{2FF3B349-F855-88BE-96C5-E0FCD37062D7}"/>
              </a:ext>
            </a:extLst>
          </p:cNvPr>
          <p:cNvSpPr/>
          <p:nvPr/>
        </p:nvSpPr>
        <p:spPr>
          <a:xfrm>
            <a:off x="10972800" y="2427514"/>
            <a:ext cx="685800" cy="68580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200" b="1" dirty="0">
                <a:solidFill>
                  <a:srgbClr val="FFFFFF"/>
                </a:solidFill>
                <a:latin typeface="Arial"/>
                <a:cs typeface="Arial"/>
              </a:rPr>
              <a:t>2</a:t>
            </a:r>
            <a:endParaRPr lang="he-IL" sz="2200" b="1" i="0" dirty="0">
              <a:solidFill>
                <a:srgbClr val="FFFFFF"/>
              </a:solidFill>
              <a:latin typeface="Arial"/>
              <a:cs typeface="Arial"/>
            </a:endParaRPr>
          </a:p>
        </p:txBody>
      </p:sp>
      <p:sp>
        <p:nvSpPr>
          <p:cNvPr id="18" name="TextBox 17">
            <a:extLst>
              <a:ext uri="{FF2B5EF4-FFF2-40B4-BE49-F238E27FC236}">
                <a16:creationId xmlns:a16="http://schemas.microsoft.com/office/drawing/2014/main" id="{41A6A7B3-C977-E859-9CDC-1AB7B767A6E0}"/>
              </a:ext>
            </a:extLst>
          </p:cNvPr>
          <p:cNvSpPr txBox="1"/>
          <p:nvPr/>
        </p:nvSpPr>
        <p:spPr>
          <a:xfrm>
            <a:off x="6400800" y="2381794"/>
            <a:ext cx="4434840" cy="411480"/>
          </a:xfrm>
          <a:prstGeom prst="rect">
            <a:avLst/>
          </a:prstGeom>
          <a:noFill/>
        </p:spPr>
        <p:txBody>
          <a:bodyPr wrap="square" lIns="45720" rIns="45720" anchor="t">
            <a:spAutoFit/>
          </a:bodyPr>
          <a:lstStyle/>
          <a:p>
            <a:pPr algn="r" rtl="1"/>
            <a:r>
              <a:rPr lang="he-IL" sz="2000" b="1" i="0" dirty="0">
                <a:solidFill>
                  <a:srgbClr val="1B2B34"/>
                </a:solidFill>
                <a:latin typeface="Arial"/>
                <a:cs typeface="Arial"/>
              </a:rPr>
              <a:t>בדיקה</a:t>
            </a:r>
          </a:p>
        </p:txBody>
      </p:sp>
      <p:sp>
        <p:nvSpPr>
          <p:cNvPr id="20" name="TextBox 19">
            <a:extLst>
              <a:ext uri="{FF2B5EF4-FFF2-40B4-BE49-F238E27FC236}">
                <a16:creationId xmlns:a16="http://schemas.microsoft.com/office/drawing/2014/main" id="{91B52450-AC25-746E-492A-0164C77409D0}"/>
              </a:ext>
            </a:extLst>
          </p:cNvPr>
          <p:cNvSpPr txBox="1"/>
          <p:nvPr/>
        </p:nvSpPr>
        <p:spPr>
          <a:xfrm>
            <a:off x="6400800" y="2811562"/>
            <a:ext cx="4434840" cy="323165"/>
          </a:xfrm>
          <a:prstGeom prst="rect">
            <a:avLst/>
          </a:prstGeom>
          <a:noFill/>
        </p:spPr>
        <p:txBody>
          <a:bodyPr wrap="square" lIns="45720" rIns="45720" anchor="t">
            <a:spAutoFit/>
          </a:bodyPr>
          <a:lstStyle/>
          <a:p>
            <a:pPr algn="r" rtl="1"/>
            <a:r>
              <a:rPr lang="he-IL" sz="1500" dirty="0">
                <a:solidFill>
                  <a:srgbClr val="5F6F78"/>
                </a:solidFill>
                <a:latin typeface="Arial"/>
                <a:cs typeface="Arial"/>
              </a:rPr>
              <a:t>10</a:t>
            </a:r>
            <a:r>
              <a:rPr lang="he-IL" sz="1500" b="0" i="0" dirty="0">
                <a:solidFill>
                  <a:srgbClr val="5F6F78"/>
                </a:solidFill>
                <a:latin typeface="Arial"/>
                <a:cs typeface="Arial"/>
              </a:rPr>
              <a:t> דקות - בודקים אותו</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20040" y="6382512"/>
            <a:ext cx="548640" cy="274320"/>
          </a:xfrm>
          <a:prstGeom prst="rect">
            <a:avLst/>
          </a:prstGeom>
          <a:noFill/>
        </p:spPr>
        <p:txBody>
          <a:bodyPr wrap="square" lIns="45720" rIns="45720" anchor="t">
            <a:spAutoFit/>
          </a:bodyPr>
          <a:lstStyle/>
          <a:p>
            <a:pPr algn="l" rtl="0"/>
            <a:r>
              <a:rPr lang="en-US" sz="1000" b="0" i="0">
                <a:solidFill>
                  <a:srgbClr val="2D9F5C"/>
                </a:solidFill>
                <a:latin typeface="Arial"/>
                <a:cs typeface="Arial"/>
              </a:rPr>
              <a:t>16</a:t>
            </a:r>
          </a:p>
        </p:txBody>
      </p:sp>
      <p:sp>
        <p:nvSpPr>
          <p:cNvPr id="3" name="TextBox 2"/>
          <p:cNvSpPr txBox="1"/>
          <p:nvPr/>
        </p:nvSpPr>
        <p:spPr>
          <a:xfrm>
            <a:off x="548640" y="385494"/>
            <a:ext cx="11091672" cy="646331"/>
          </a:xfrm>
          <a:prstGeom prst="rect">
            <a:avLst/>
          </a:prstGeom>
          <a:noFill/>
        </p:spPr>
        <p:txBody>
          <a:bodyPr wrap="square" lIns="45720" rIns="45720" anchor="ctr">
            <a:spAutoFit/>
          </a:bodyPr>
          <a:lstStyle/>
          <a:p>
            <a:pPr algn="r" rtl="1"/>
            <a:r>
              <a:rPr lang="he-IL" sz="3600" b="1" i="0" dirty="0">
                <a:solidFill>
                  <a:srgbClr val="1B4332"/>
                </a:solidFill>
                <a:latin typeface="Arial"/>
                <a:cs typeface="Arial"/>
              </a:rPr>
              <a:t>שיעורי בית: משחק 20 שאלות 🤔</a:t>
            </a:r>
          </a:p>
        </p:txBody>
      </p:sp>
      <p:sp>
        <p:nvSpPr>
          <p:cNvPr id="4" name="Rounded Rectangle 3"/>
          <p:cNvSpPr/>
          <p:nvPr/>
        </p:nvSpPr>
        <p:spPr>
          <a:xfrm>
            <a:off x="548640" y="1325880"/>
            <a:ext cx="11091672" cy="868680"/>
          </a:xfrm>
          <a:prstGeom prst="roundRect">
            <a:avLst>
              <a:gd name="adj" fmla="val 20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437054"/>
            <a:ext cx="10607040" cy="646331"/>
          </a:xfrm>
          <a:prstGeom prst="rect">
            <a:avLst/>
          </a:prstGeom>
          <a:noFill/>
        </p:spPr>
        <p:txBody>
          <a:bodyPr wrap="square" lIns="45720" rIns="45720" anchor="ctr">
            <a:spAutoFit/>
          </a:bodyPr>
          <a:lstStyle/>
          <a:p>
            <a:pPr algn="r" rtl="1"/>
            <a:r>
              <a:rPr lang="he-IL" sz="1800" b="1" i="0" dirty="0">
                <a:solidFill>
                  <a:srgbClr val="1B2B34"/>
                </a:solidFill>
                <a:latin typeface="Arial"/>
                <a:cs typeface="Arial"/>
              </a:rPr>
              <a:t>אתם חושבים על משהו </a:t>
            </a:r>
            <a:r>
              <a:rPr lang="he-IL" sz="1800" b="0" i="0" dirty="0">
                <a:solidFill>
                  <a:srgbClr val="1B2B34"/>
                </a:solidFill>
                <a:latin typeface="Arial"/>
                <a:cs typeface="Arial"/>
              </a:rPr>
              <a:t>(אדם מפורסם, חיה, ספר, מקום...) </a:t>
            </a:r>
            <a:r>
              <a:rPr lang="he-IL" sz="1800" b="1" i="0" dirty="0">
                <a:solidFill>
                  <a:srgbClr val="1B2B34"/>
                </a:solidFill>
                <a:latin typeface="Arial"/>
                <a:cs typeface="Arial"/>
              </a:rPr>
              <a:t>ו-</a:t>
            </a:r>
            <a:r>
              <a:rPr lang="en-US" sz="1800" b="1" i="0" dirty="0">
                <a:solidFill>
                  <a:srgbClr val="1B2B34"/>
                </a:solidFill>
                <a:latin typeface="Arial"/>
                <a:cs typeface="Arial"/>
              </a:rPr>
              <a:t>Gemini</a:t>
            </a:r>
            <a:r>
              <a:rPr lang="he-IL" sz="1800" b="1" i="0" dirty="0">
                <a:solidFill>
                  <a:srgbClr val="1B2B34"/>
                </a:solidFill>
                <a:latin typeface="Arial"/>
                <a:cs typeface="Arial"/>
              </a:rPr>
              <a:t> צריך לגלות מה זה עם 20 שאלות של כן/לא לכל היותר!</a:t>
            </a:r>
          </a:p>
        </p:txBody>
      </p:sp>
      <p:sp>
        <p:nvSpPr>
          <p:cNvPr id="6" name="Oval 5"/>
          <p:cNvSpPr/>
          <p:nvPr/>
        </p:nvSpPr>
        <p:spPr>
          <a:xfrm>
            <a:off x="11018520" y="2468880"/>
            <a:ext cx="594360" cy="594360"/>
          </a:xfrm>
          <a:prstGeom prst="ellipse">
            <a:avLst/>
          </a:prstGeom>
          <a:solidFill>
            <a:srgbClr val="2D9F5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1</a:t>
            </a:r>
          </a:p>
        </p:txBody>
      </p:sp>
      <p:sp>
        <p:nvSpPr>
          <p:cNvPr id="7" name="TextBox 6"/>
          <p:cNvSpPr txBox="1"/>
          <p:nvPr/>
        </p:nvSpPr>
        <p:spPr>
          <a:xfrm>
            <a:off x="8778240" y="2423160"/>
            <a:ext cx="2148840" cy="685800"/>
          </a:xfrm>
          <a:prstGeom prst="rect">
            <a:avLst/>
          </a:prstGeom>
          <a:noFill/>
        </p:spPr>
        <p:txBody>
          <a:bodyPr wrap="square" lIns="45720" rIns="45720" anchor="ctr">
            <a:spAutoFit/>
          </a:bodyPr>
          <a:lstStyle/>
          <a:p>
            <a:pPr algn="r" rtl="1"/>
            <a:r>
              <a:rPr lang="en-US" sz="1800" b="1" i="0">
                <a:solidFill>
                  <a:srgbClr val="1B2B34"/>
                </a:solidFill>
                <a:latin typeface="Arial"/>
                <a:cs typeface="Arial"/>
              </a:rPr>
              <a:t>Gemini</a:t>
            </a:r>
            <a:r>
              <a:rPr lang="he-IL" sz="1800" b="1" i="0">
                <a:solidFill>
                  <a:srgbClr val="1B2B34"/>
                </a:solidFill>
                <a:latin typeface="Arial"/>
                <a:cs typeface="Arial"/>
              </a:rPr>
              <a:t> שואל</a:t>
            </a:r>
          </a:p>
        </p:txBody>
      </p:sp>
      <p:sp>
        <p:nvSpPr>
          <p:cNvPr id="8" name="TextBox 7"/>
          <p:cNvSpPr txBox="1"/>
          <p:nvPr/>
        </p:nvSpPr>
        <p:spPr>
          <a:xfrm>
            <a:off x="5852160" y="2423160"/>
            <a:ext cx="2926080" cy="685800"/>
          </a:xfrm>
          <a:prstGeom prst="rect">
            <a:avLst/>
          </a:prstGeom>
          <a:noFill/>
        </p:spPr>
        <p:txBody>
          <a:bodyPr wrap="square" lIns="45720" rIns="45720" anchor="ctr">
            <a:spAutoFit/>
          </a:bodyPr>
          <a:lstStyle/>
          <a:p>
            <a:pPr algn="r" rtl="1"/>
            <a:r>
              <a:rPr lang="he-IL" sz="1400" b="0" i="0">
                <a:solidFill>
                  <a:srgbClr val="5F6F78"/>
                </a:solidFill>
                <a:latin typeface="Arial"/>
                <a:cs typeface="Arial"/>
              </a:rPr>
              <a:t>בכל תור שאלה אחת של כן/לא</a:t>
            </a:r>
          </a:p>
        </p:txBody>
      </p:sp>
      <p:sp>
        <p:nvSpPr>
          <p:cNvPr id="9" name="Oval 8"/>
          <p:cNvSpPr/>
          <p:nvPr/>
        </p:nvSpPr>
        <p:spPr>
          <a:xfrm>
            <a:off x="11018520" y="3337560"/>
            <a:ext cx="594360" cy="594360"/>
          </a:xfrm>
          <a:prstGeom prst="ellipse">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2</a:t>
            </a:r>
          </a:p>
        </p:txBody>
      </p:sp>
      <p:sp>
        <p:nvSpPr>
          <p:cNvPr id="10" name="TextBox 9"/>
          <p:cNvSpPr txBox="1"/>
          <p:nvPr/>
        </p:nvSpPr>
        <p:spPr>
          <a:xfrm>
            <a:off x="8778240" y="3291840"/>
            <a:ext cx="2148840" cy="685800"/>
          </a:xfrm>
          <a:prstGeom prst="rect">
            <a:avLst/>
          </a:prstGeom>
          <a:noFill/>
        </p:spPr>
        <p:txBody>
          <a:bodyPr wrap="square" lIns="45720" rIns="45720" anchor="ctr">
            <a:spAutoFit/>
          </a:bodyPr>
          <a:lstStyle/>
          <a:p>
            <a:pPr algn="r" rtl="1"/>
            <a:r>
              <a:rPr lang="he-IL" sz="1800" b="1" i="0">
                <a:solidFill>
                  <a:srgbClr val="1B2B34"/>
                </a:solidFill>
                <a:latin typeface="Arial"/>
                <a:cs typeface="Arial"/>
              </a:rPr>
              <a:t>אתם עונים</a:t>
            </a:r>
          </a:p>
        </p:txBody>
      </p:sp>
      <p:sp>
        <p:nvSpPr>
          <p:cNvPr id="11" name="TextBox 10"/>
          <p:cNvSpPr txBox="1"/>
          <p:nvPr/>
        </p:nvSpPr>
        <p:spPr>
          <a:xfrm>
            <a:off x="5852160" y="3291840"/>
            <a:ext cx="2926080" cy="685800"/>
          </a:xfrm>
          <a:prstGeom prst="rect">
            <a:avLst/>
          </a:prstGeom>
          <a:noFill/>
        </p:spPr>
        <p:txBody>
          <a:bodyPr wrap="square" lIns="45720" rIns="45720" anchor="ctr">
            <a:spAutoFit/>
          </a:bodyPr>
          <a:lstStyle/>
          <a:p>
            <a:pPr algn="r" rtl="1"/>
            <a:r>
              <a:rPr lang="he-IL" sz="1400" b="0" i="0">
                <a:solidFill>
                  <a:srgbClr val="5F6F78"/>
                </a:solidFill>
                <a:latin typeface="Arial"/>
                <a:cs typeface="Arial"/>
              </a:rPr>
              <a:t>עם </a:t>
            </a:r>
            <a:r>
              <a:rPr lang="en-US" sz="1400" b="0" i="0">
                <a:solidFill>
                  <a:srgbClr val="5F6F78"/>
                </a:solidFill>
                <a:latin typeface="Arial"/>
                <a:cs typeface="Arial"/>
              </a:rPr>
              <a:t>input</a:t>
            </a:r>
            <a:r>
              <a:rPr lang="he-IL" sz="1400" b="0" i="0">
                <a:solidFill>
                  <a:srgbClr val="5F6F78"/>
                </a:solidFill>
                <a:latin typeface="Arial"/>
                <a:cs typeface="Arial"/>
              </a:rPr>
              <a:t>: כן / לא / לא יודע</a:t>
            </a:r>
          </a:p>
        </p:txBody>
      </p:sp>
      <p:sp>
        <p:nvSpPr>
          <p:cNvPr id="12" name="Oval 11"/>
          <p:cNvSpPr/>
          <p:nvPr/>
        </p:nvSpPr>
        <p:spPr>
          <a:xfrm>
            <a:off x="11018520" y="4206240"/>
            <a:ext cx="594360" cy="594360"/>
          </a:xfrm>
          <a:prstGeom prst="ellipse">
            <a:avLst/>
          </a:prstGeom>
          <a:solidFill>
            <a:srgbClr val="118AB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3</a:t>
            </a:r>
          </a:p>
        </p:txBody>
      </p:sp>
      <p:sp>
        <p:nvSpPr>
          <p:cNvPr id="13" name="TextBox 12"/>
          <p:cNvSpPr txBox="1"/>
          <p:nvPr/>
        </p:nvSpPr>
        <p:spPr>
          <a:xfrm>
            <a:off x="8778240" y="4160520"/>
            <a:ext cx="2148840" cy="685800"/>
          </a:xfrm>
          <a:prstGeom prst="rect">
            <a:avLst/>
          </a:prstGeom>
          <a:noFill/>
        </p:spPr>
        <p:txBody>
          <a:bodyPr wrap="square" lIns="45720" rIns="45720" anchor="ctr">
            <a:spAutoFit/>
          </a:bodyPr>
          <a:lstStyle/>
          <a:p>
            <a:pPr algn="r" rtl="1"/>
            <a:r>
              <a:rPr lang="he-IL" sz="1800" b="1" i="0">
                <a:solidFill>
                  <a:srgbClr val="1B2B34"/>
                </a:solidFill>
                <a:latin typeface="Arial"/>
                <a:cs typeface="Arial"/>
              </a:rPr>
              <a:t>היסטוריה</a:t>
            </a:r>
          </a:p>
        </p:txBody>
      </p:sp>
      <p:sp>
        <p:nvSpPr>
          <p:cNvPr id="14" name="TextBox 13"/>
          <p:cNvSpPr txBox="1"/>
          <p:nvPr/>
        </p:nvSpPr>
        <p:spPr>
          <a:xfrm>
            <a:off x="5852160" y="4160520"/>
            <a:ext cx="2926080" cy="685800"/>
          </a:xfrm>
          <a:prstGeom prst="rect">
            <a:avLst/>
          </a:prstGeom>
          <a:noFill/>
        </p:spPr>
        <p:txBody>
          <a:bodyPr wrap="square" lIns="45720" rIns="45720" anchor="ctr">
            <a:spAutoFit/>
          </a:bodyPr>
          <a:lstStyle/>
          <a:p>
            <a:pPr algn="r" rtl="1"/>
            <a:r>
              <a:rPr lang="he-IL" sz="1400" b="0" i="0">
                <a:solidFill>
                  <a:srgbClr val="5F6F78"/>
                </a:solidFill>
                <a:latin typeface="Arial"/>
                <a:cs typeface="Arial"/>
              </a:rPr>
              <a:t>שומרים כל שאלה ותשובה, ושולחים ל-</a:t>
            </a:r>
            <a:r>
              <a:rPr lang="en-US" sz="1400" b="0" i="0">
                <a:solidFill>
                  <a:srgbClr val="5F6F78"/>
                </a:solidFill>
                <a:latin typeface="Arial"/>
                <a:cs typeface="Arial"/>
              </a:rPr>
              <a:t>Gemini</a:t>
            </a:r>
            <a:r>
              <a:rPr lang="he-IL" sz="1400" b="0" i="0">
                <a:solidFill>
                  <a:srgbClr val="5F6F78"/>
                </a:solidFill>
                <a:latin typeface="Arial"/>
                <a:cs typeface="Arial"/>
              </a:rPr>
              <a:t> את הכול</a:t>
            </a:r>
          </a:p>
        </p:txBody>
      </p:sp>
      <p:sp>
        <p:nvSpPr>
          <p:cNvPr id="15" name="Oval 14"/>
          <p:cNvSpPr/>
          <p:nvPr/>
        </p:nvSpPr>
        <p:spPr>
          <a:xfrm>
            <a:off x="11018520" y="5074920"/>
            <a:ext cx="594360" cy="594360"/>
          </a:xfrm>
          <a:prstGeom prst="ellipse">
            <a:avLst/>
          </a:prstGeom>
          <a:solidFill>
            <a:srgbClr val="EF476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2000" b="1" i="0">
                <a:solidFill>
                  <a:srgbClr val="FFFFFF"/>
                </a:solidFill>
                <a:latin typeface="Arial"/>
                <a:cs typeface="Arial"/>
              </a:rPr>
              <a:t>4</a:t>
            </a:r>
          </a:p>
        </p:txBody>
      </p:sp>
      <p:sp>
        <p:nvSpPr>
          <p:cNvPr id="16" name="TextBox 15"/>
          <p:cNvSpPr txBox="1"/>
          <p:nvPr/>
        </p:nvSpPr>
        <p:spPr>
          <a:xfrm>
            <a:off x="8778240" y="5029200"/>
            <a:ext cx="2148840" cy="685800"/>
          </a:xfrm>
          <a:prstGeom prst="rect">
            <a:avLst/>
          </a:prstGeom>
          <a:noFill/>
        </p:spPr>
        <p:txBody>
          <a:bodyPr wrap="square" lIns="45720" rIns="45720" anchor="ctr">
            <a:spAutoFit/>
          </a:bodyPr>
          <a:lstStyle/>
          <a:p>
            <a:pPr algn="r" rtl="1"/>
            <a:r>
              <a:rPr lang="he-IL" sz="1800" b="1" i="0">
                <a:solidFill>
                  <a:srgbClr val="1B2B34"/>
                </a:solidFill>
                <a:latin typeface="Arial"/>
                <a:cs typeface="Arial"/>
              </a:rPr>
              <a:t>ניחוש</a:t>
            </a:r>
          </a:p>
        </p:txBody>
      </p:sp>
      <p:sp>
        <p:nvSpPr>
          <p:cNvPr id="17" name="TextBox 16"/>
          <p:cNvSpPr txBox="1"/>
          <p:nvPr/>
        </p:nvSpPr>
        <p:spPr>
          <a:xfrm>
            <a:off x="5852160" y="5029200"/>
            <a:ext cx="2926080" cy="685800"/>
          </a:xfrm>
          <a:prstGeom prst="rect">
            <a:avLst/>
          </a:prstGeom>
          <a:noFill/>
        </p:spPr>
        <p:txBody>
          <a:bodyPr wrap="square" lIns="45720" rIns="45720" anchor="ctr">
            <a:spAutoFit/>
          </a:bodyPr>
          <a:lstStyle/>
          <a:p>
            <a:pPr algn="r" rtl="1"/>
            <a:r>
              <a:rPr lang="he-IL" sz="1400" b="0" i="0">
                <a:solidFill>
                  <a:srgbClr val="5F6F78"/>
                </a:solidFill>
                <a:latin typeface="Arial"/>
                <a:cs typeface="Arial"/>
              </a:rPr>
              <a:t>כשהוא בטוח, או אחרי 20 שאלות, מדפיסים כמה שאלות היו</a:t>
            </a:r>
          </a:p>
        </p:txBody>
      </p:sp>
      <p:sp>
        <p:nvSpPr>
          <p:cNvPr id="18" name="Rounded Rectangle 17"/>
          <p:cNvSpPr/>
          <p:nvPr/>
        </p:nvSpPr>
        <p:spPr>
          <a:xfrm>
            <a:off x="548640" y="2468880"/>
            <a:ext cx="5029200" cy="3246120"/>
          </a:xfrm>
          <a:prstGeom prst="roundRect">
            <a:avLst>
              <a:gd name="adj" fmla="val 4000"/>
            </a:avLst>
          </a:prstGeom>
          <a:solidFill>
            <a:srgbClr val="0C0C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2542032"/>
            <a:ext cx="4663440" cy="274320"/>
          </a:xfrm>
          <a:prstGeom prst="rect">
            <a:avLst/>
          </a:prstGeom>
          <a:noFill/>
        </p:spPr>
        <p:txBody>
          <a:bodyPr wrap="square" lIns="45720" rIns="45720" anchor="t">
            <a:spAutoFit/>
          </a:bodyPr>
          <a:lstStyle/>
          <a:p>
            <a:pPr algn="l" rtl="0"/>
            <a:r>
              <a:rPr lang="en-US" sz="1000" b="0" i="0">
                <a:solidFill>
                  <a:srgbClr val="8A93A6"/>
                </a:solidFill>
                <a:latin typeface="Arial"/>
                <a:cs typeface="Arial"/>
              </a:rPr>
              <a:t>Terminal</a:t>
            </a:r>
          </a:p>
        </p:txBody>
      </p:sp>
      <p:sp>
        <p:nvSpPr>
          <p:cNvPr id="20" name="TextBox 19"/>
          <p:cNvSpPr txBox="1"/>
          <p:nvPr/>
        </p:nvSpPr>
        <p:spPr>
          <a:xfrm>
            <a:off x="731520" y="2880360"/>
            <a:ext cx="4663440" cy="2743200"/>
          </a:xfrm>
          <a:prstGeom prst="rect">
            <a:avLst/>
          </a:prstGeom>
          <a:noFill/>
        </p:spPr>
        <p:txBody>
          <a:bodyPr wrap="square" lIns="45720" rIns="45720" anchor="t">
            <a:spAutoFit/>
          </a:bodyPr>
          <a:lstStyle/>
          <a:p>
            <a:pPr algn="r" rtl="1">
              <a:spcAft>
                <a:spcPts val="200"/>
              </a:spcAft>
            </a:pPr>
            <a:r>
              <a:rPr lang="en-US" sz="1500" b="0" i="0">
                <a:solidFill>
                  <a:srgbClr val="66D9EF"/>
                </a:solidFill>
                <a:latin typeface="Arial"/>
                <a:cs typeface="Arial"/>
              </a:rPr>
              <a:t>Gemini</a:t>
            </a:r>
            <a:r>
              <a:rPr lang="he-IL" sz="1500" b="0" i="0">
                <a:solidFill>
                  <a:srgbClr val="66D9EF"/>
                </a:solidFill>
                <a:latin typeface="Arial"/>
                <a:cs typeface="Arial"/>
              </a:rPr>
              <a:t>: זה בן אדם?</a:t>
            </a:r>
          </a:p>
          <a:p>
            <a:pPr algn="r" rtl="1">
              <a:spcAft>
                <a:spcPts val="200"/>
              </a:spcAft>
            </a:pPr>
            <a:r>
              <a:rPr lang="en-US" sz="1500" b="0" i="0">
                <a:solidFill>
                  <a:srgbClr val="FFD166"/>
                </a:solidFill>
                <a:latin typeface="Arial"/>
                <a:cs typeface="Arial"/>
              </a:rPr>
              <a:t>You</a:t>
            </a:r>
            <a:r>
              <a:rPr lang="he-IL" sz="1500" b="0" i="0">
                <a:solidFill>
                  <a:srgbClr val="FFD166"/>
                </a:solidFill>
                <a:latin typeface="Arial"/>
                <a:cs typeface="Arial"/>
              </a:rPr>
              <a:t>: לא</a:t>
            </a:r>
          </a:p>
          <a:p>
            <a:pPr algn="r" rtl="1">
              <a:spcAft>
                <a:spcPts val="200"/>
              </a:spcAft>
            </a:pPr>
            <a:r>
              <a:rPr lang="en-US" sz="1500" b="0" i="0">
                <a:solidFill>
                  <a:srgbClr val="66D9EF"/>
                </a:solidFill>
                <a:latin typeface="Arial"/>
                <a:cs typeface="Arial"/>
              </a:rPr>
              <a:t>Gemini</a:t>
            </a:r>
            <a:r>
              <a:rPr lang="he-IL" sz="1500" b="0" i="0">
                <a:solidFill>
                  <a:srgbClr val="66D9EF"/>
                </a:solidFill>
                <a:latin typeface="Arial"/>
                <a:cs typeface="Arial"/>
              </a:rPr>
              <a:t>: זו חיה?</a:t>
            </a:r>
          </a:p>
          <a:p>
            <a:pPr algn="r" rtl="1">
              <a:spcAft>
                <a:spcPts val="200"/>
              </a:spcAft>
            </a:pPr>
            <a:r>
              <a:rPr lang="en-US" sz="1500" b="0" i="0">
                <a:solidFill>
                  <a:srgbClr val="FFD166"/>
                </a:solidFill>
                <a:latin typeface="Arial"/>
                <a:cs typeface="Arial"/>
              </a:rPr>
              <a:t>You</a:t>
            </a:r>
            <a:r>
              <a:rPr lang="he-IL" sz="1500" b="0" i="0">
                <a:solidFill>
                  <a:srgbClr val="FFD166"/>
                </a:solidFill>
                <a:latin typeface="Arial"/>
                <a:cs typeface="Arial"/>
              </a:rPr>
              <a:t>: כן</a:t>
            </a:r>
          </a:p>
          <a:p>
            <a:pPr algn="r" rtl="1">
              <a:spcAft>
                <a:spcPts val="200"/>
              </a:spcAft>
            </a:pPr>
            <a:r>
              <a:rPr lang="en-US" sz="1500" b="0" i="0">
                <a:solidFill>
                  <a:srgbClr val="66D9EF"/>
                </a:solidFill>
                <a:latin typeface="Arial"/>
                <a:cs typeface="Arial"/>
              </a:rPr>
              <a:t>Gemini</a:t>
            </a:r>
            <a:r>
              <a:rPr lang="he-IL" sz="1500" b="0" i="0">
                <a:solidFill>
                  <a:srgbClr val="66D9EF"/>
                </a:solidFill>
                <a:latin typeface="Arial"/>
                <a:cs typeface="Arial"/>
              </a:rPr>
              <a:t>: היא חיה בים?</a:t>
            </a:r>
          </a:p>
          <a:p>
            <a:pPr algn="r" rtl="1">
              <a:spcAft>
                <a:spcPts val="200"/>
              </a:spcAft>
            </a:pPr>
            <a:r>
              <a:rPr lang="en-US" sz="1500" b="0" i="0">
                <a:solidFill>
                  <a:srgbClr val="FFD166"/>
                </a:solidFill>
                <a:latin typeface="Arial"/>
                <a:cs typeface="Arial"/>
              </a:rPr>
              <a:t>You</a:t>
            </a:r>
            <a:r>
              <a:rPr lang="he-IL" sz="1500" b="0" i="0">
                <a:solidFill>
                  <a:srgbClr val="FFD166"/>
                </a:solidFill>
                <a:latin typeface="Arial"/>
                <a:cs typeface="Arial"/>
              </a:rPr>
              <a:t>: לא</a:t>
            </a:r>
          </a:p>
          <a:p>
            <a:pPr algn="r" rtl="1">
              <a:spcAft>
                <a:spcPts val="200"/>
              </a:spcAft>
            </a:pPr>
            <a:r>
              <a:rPr lang="he-IL" sz="1500" b="0" i="0">
                <a:solidFill>
                  <a:srgbClr val="E6E6E6"/>
                </a:solidFill>
                <a:latin typeface="Arial"/>
                <a:cs typeface="Arial"/>
              </a:rPr>
              <a:t>...</a:t>
            </a:r>
          </a:p>
          <a:p>
            <a:pPr algn="r" rtl="1">
              <a:spcAft>
                <a:spcPts val="200"/>
              </a:spcAft>
            </a:pPr>
            <a:r>
              <a:rPr lang="en-US" sz="1500" b="0" i="0">
                <a:solidFill>
                  <a:srgbClr val="A6E22E"/>
                </a:solidFill>
                <a:latin typeface="Arial"/>
                <a:cs typeface="Arial"/>
              </a:rPr>
              <a:t>Gemini</a:t>
            </a:r>
            <a:r>
              <a:rPr lang="he-IL" sz="1500" b="0" i="0">
                <a:solidFill>
                  <a:srgbClr val="A6E22E"/>
                </a:solidFill>
                <a:latin typeface="Arial"/>
                <a:cs typeface="Arial"/>
              </a:rPr>
              <a:t>: זה פיל? (7 שאלות)</a:t>
            </a:r>
          </a:p>
        </p:txBody>
      </p:sp>
      <p:sp>
        <p:nvSpPr>
          <p:cNvPr id="21" name="Rounded Rectangle 20"/>
          <p:cNvSpPr/>
          <p:nvPr/>
        </p:nvSpPr>
        <p:spPr>
          <a:xfrm>
            <a:off x="548640" y="5852160"/>
            <a:ext cx="11091672" cy="457200"/>
          </a:xfrm>
          <a:prstGeom prst="roundRect">
            <a:avLst>
              <a:gd name="adj" fmla="val 4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rtl="1"/>
            <a:r>
              <a:rPr lang="he-IL" sz="1400" b="1" i="0" dirty="0">
                <a:solidFill>
                  <a:srgbClr val="1B2B34"/>
                </a:solidFill>
                <a:latin typeface="Arial"/>
                <a:cs typeface="Arial"/>
              </a:rPr>
              <a:t>רמז: </a:t>
            </a:r>
            <a:r>
              <a:rPr lang="he-IL" sz="1400" b="0" i="0" dirty="0">
                <a:solidFill>
                  <a:srgbClr val="1B2B34"/>
                </a:solidFill>
                <a:latin typeface="Arial"/>
                <a:cs typeface="Arial"/>
              </a:rPr>
              <a:t>אפשר להשתמש ב-</a:t>
            </a:r>
            <a:r>
              <a:rPr lang="en-US" sz="1400" b="0" i="0" dirty="0" err="1">
                <a:solidFill>
                  <a:srgbClr val="1B2B34"/>
                </a:solidFill>
                <a:latin typeface="Arial"/>
                <a:cs typeface="Arial"/>
              </a:rPr>
              <a:t>ask_gemini</a:t>
            </a:r>
            <a:r>
              <a:rPr lang="he-IL" sz="1400" b="0" i="0" dirty="0">
                <a:solidFill>
                  <a:srgbClr val="1B2B34"/>
                </a:solidFill>
                <a:latin typeface="Arial"/>
                <a:cs typeface="Arial"/>
              </a:rPr>
              <a:t> וב-</a:t>
            </a:r>
            <a:r>
              <a:rPr lang="en-US" sz="1400" b="0" i="0" dirty="0" err="1">
                <a:solidFill>
                  <a:srgbClr val="1B2B34"/>
                </a:solidFill>
                <a:latin typeface="Arial"/>
                <a:cs typeface="Arial"/>
              </a:rPr>
              <a:t>history_text</a:t>
            </a:r>
            <a:r>
              <a:rPr lang="he-IL" sz="1400" b="0" i="0" dirty="0">
                <a:solidFill>
                  <a:srgbClr val="1B2B34"/>
                </a:solidFill>
                <a:latin typeface="Arial"/>
                <a:cs typeface="Arial"/>
              </a:rPr>
              <a:t> מ-</a:t>
            </a:r>
            <a:r>
              <a:rPr lang="en-US" sz="1400" b="0" i="0" dirty="0">
                <a:solidFill>
                  <a:srgbClr val="1B2B34"/>
                </a:solidFill>
                <a:latin typeface="Arial"/>
                <a:cs typeface="Arial"/>
              </a:rPr>
              <a:t>bot_tools.</a:t>
            </a:r>
            <a:r>
              <a:rPr lang="en-US" sz="1400" b="0" i="0">
                <a:solidFill>
                  <a:srgbClr val="1B2B34"/>
                </a:solidFill>
                <a:latin typeface="Arial"/>
                <a:cs typeface="Arial"/>
              </a:rPr>
              <a:t>py.</a:t>
            </a:r>
            <a:endParaRPr lang="he-IL" sz="1400" b="0" i="0" dirty="0">
              <a:solidFill>
                <a:srgbClr val="1B2B34"/>
              </a:solidFill>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2229</Words>
  <Application>Microsoft Office PowerPoint</Application>
  <PresentationFormat>Widescreen</PresentationFormat>
  <Paragraphs>259</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Dani Livne</cp:lastModifiedBy>
  <cp:revision>20</cp:revision>
  <dcterms:created xsi:type="dcterms:W3CDTF">2013-01-27T09:14:16Z</dcterms:created>
  <dcterms:modified xsi:type="dcterms:W3CDTF">2026-10-25T10:16:55Z</dcterms:modified>
  <cp:category/>
</cp:coreProperties>
</file>