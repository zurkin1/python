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שיעור 6: היום נכיר את pygame - ספרייה לבניית משחקים - ונפרק משחק אמיתי: הדינוזאור שקופץ מעל צמחים ומתכופף מתחת לציפורים. בסוף - קהוט!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סדר השיעור: קצת פקודות חדשות (רק מה שצריך), אחר כך מפרקים את המשחק שלב אחרי שלב, ובסוף קהוט עם נקודות - נחשו מה יקרה, צודו באגים ותכנתו בעצמכם.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משחק מחשב הוא כמו ספר דפדוף: הרבה תמונות שמתחלפות מהר. כל תמונה נקראת 'פריים'. בכל פריים עושים 4 דברים: בודקים מה השחקן לחץ, מזיזים כל דבר קצת, מציירים, ומציגים. במשחק שלנו זה קורה עד 300 פעמים בשנייה!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על המסך x הוא המרחק מהצד השמאלי, ו-y המרחק מלמעלה. שימו לב: y גדל כלפי מטה! הדינוזאור עומד ב-(100, 400). כשהוא קופץ, y שלו קטן. זו טעות נפוצה מאוד - נראה אותה בקהוט.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ארבע שורות שכל משחק מתחיל בהן: מפעילים את pygame, פותחים חלון, טוענים תמונה מקובץ ומשנים לה גודל. שימו לב שהתמונות נמצאות בתיקייה 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blit מצייר תמונה על החלון במקום (x, y) - אבל עדיין לא רואים! הציור קורה 'מאחורי הווילון'. רק display.update() פותח את הווילון ומראה את כל מה שציירנו. והסדר חשוב: מה שמצויר אחרון נמצא למעלה, כמו מדבקות.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pygame שומר רשימה של כל מה שקרה מאז הפריים הקודם: לחיצות מקשים, תזוזת עכבר, סגירת חלון. event.get מחזיר את הרשימה, ואנחנו עוברים עליה בלולאה. חשוב: חייבים לקרוא לה כל הזמן, אחרת Windows חושב שהמשחק תקוע.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clock.tick קובע את המהירות המקסימלית: כמה פריימים בשנייה. ולטקסט: font.render הופך טקסט לתמונה, ואת התמונה מציירים עם blit כמו כל תמונה אחרת. צבע = (אדום, ירוק, כחול), כל אחד מ-0 עד 255.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עכשיו פותחים את dino_birds.py ב-VS Code ועוברים עליו יחד. כל פריים בנוי מ-7 צעדים, וכל צעד מסומן בהערה בקוד. אחרי זה - ארבעה טריקים שכדאי להכיר.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איך הרקע רץ בלי סוף? מציירים את אותה תמונה פעמיים, אחת צמודה לשנייה, ומזיזים את שתיהן שמאלה. כשהראשונה יצאה לגמרי מהמסך (i == 1000), מאפסים את i. התמונות זהות - אז אף אחד לא שם לב לקפיצה.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איך הדינוזאור 'הולך'? יש שתי תמונות שבהן הרגליים במקום אחר. בכל פריים מחליפים ביניהן - והעין רואה תנועה. אותו דבר עם הכנפיים של הציפור.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הדינוזאור תמיד נמצא באחד מ-4 מצבים. כל מצב הוא משתנה True/False. רווח מעביר ל'עולה', וכש-jump_i מגיע ל-200 עוברים ל'יורד'. כשחוזרים ל-0 - שוב הולכים. חץ למטה מעביר ל'מתכופף' ל-120 פריימים.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איך יודעים שנפסלנו? בודקים רק דבר אחד: האם הצמח הגיע ל-x=150 (איפה שהדינוזאור עומד)? אם כן, והדינוזאור לא באוויר - Game Over. שאלה לכיתה: האם הקוד בודק את הגובה של המכשול? (תשובה בקהוט...)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קהוט! 18 שאלות ב-4 סיבובים. אחרי כל שאלה מריצים את קובץ ההדגמה מ-kahoot_demos ורואים את התשובה בחיים האמיתיים. מפתח תשובות: kahoot_answers.md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אתגרים לבית: כל אחד בוחר לפחות שניים. הניקוד כבר כמעט מוכן מהקהוט!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457200"/>
            <a:ext cx="6035040" cy="6035040"/>
          </a:xfrm>
          <a:prstGeom prst="ellipse">
            <a:avLst/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ck_04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19"/>
            <a:ext cx="5303520" cy="2651760"/>
          </a:xfrm>
          <a:prstGeom prst="rect">
            <a:avLst/>
          </a:prstGeom>
          <a:ln w="50800">
            <a:solidFill>
              <a:srgbClr val="F2CC8F"/>
            </a:solidFill>
          </a:ln>
        </p:spPr>
      </p:pic>
      <p:sp>
        <p:nvSpPr>
          <p:cNvPr id="4" name="Oval 3"/>
          <p:cNvSpPr/>
          <p:nvPr/>
        </p:nvSpPr>
        <p:spPr>
          <a:xfrm>
            <a:off x="5486400" y="640080"/>
            <a:ext cx="548640" cy="548640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669280"/>
            <a:ext cx="411480" cy="411480"/>
          </a:xfrm>
          <a:prstGeom prst="ellipse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6000" b="1" lang="he-IL" altLang="en-US">
                <a:solidFill>
                  <a:srgbClr val="FFFFFF"/>
                </a:solidFill>
                <a:latin typeface="Arial"/>
                <a:cs typeface="Arial"/>
              </a:rPr>
              <a:t>שיעור </a:t>
            </a:r>
            <a:r>
              <a:rPr sz="6000" b="1" lang="en-US" altLang="en-US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01752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000" b="0" lang="he-IL" altLang="en-US">
                <a:solidFill>
                  <a:srgbClr val="F2CC8F"/>
                </a:solidFill>
                <a:latin typeface="Arial"/>
                <a:cs typeface="Arial"/>
              </a:rPr>
              <a:t>משחק הדינוזאור ב-</a:t>
            </a:r>
            <a:r>
              <a:rPr sz="3000" b="0" lang="en-US" altLang="en-US">
                <a:solidFill>
                  <a:srgbClr val="F2CC8F"/>
                </a:solidFill>
                <a:latin typeface="Arial"/>
                <a:cs typeface="Arial"/>
              </a:rPr>
              <a:t>pygame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4048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0" lang="he-IL" altLang="en-US">
                <a:solidFill>
                  <a:srgbClr val="DDDDEE"/>
                </a:solidFill>
                <a:latin typeface="Arial"/>
                <a:cs typeface="Arial"/>
              </a:rPr>
              <a:t>איך בונים משחק שזז, קופץ ונפסל?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מה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היום?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65592" y="1828800"/>
            <a:ext cx="3474720" cy="38404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00032" y="2240280"/>
            <a:ext cx="1005840" cy="1005840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0032" y="224028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33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9912" y="35204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400" b="1" lang="he-IL" altLang="en-US">
                <a:solidFill>
                  <a:srgbClr val="2D2D3A"/>
                </a:solidFill>
                <a:latin typeface="Arial"/>
                <a:cs typeface="Arial"/>
              </a:rPr>
              <a:t>הכירו את </a:t>
            </a:r>
            <a:r>
              <a:rPr sz="2400" b="1" lang="en-US" altLang="en-US">
                <a:solidFill>
                  <a:srgbClr val="2D2D3A"/>
                </a:solidFill>
                <a:latin typeface="Arial"/>
                <a:cs typeface="Arial"/>
              </a:rPr>
              <a:t>pygame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9912" y="420624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700" b="0" lang="en-US" altLang="en-US">
                <a:solidFill>
                  <a:srgbClr val="5C5C70"/>
                </a:solidFill>
                <a:latin typeface="Arial"/>
                <a:cs typeface="Arial"/>
              </a:rPr>
              <a:t>4</a:t>
            </a:r>
            <a:r>
              <a:rPr sz="1700" b="0" lang="he-IL" altLang="en-US">
                <a:solidFill>
                  <a:srgbClr val="5C5C70"/>
                </a:solidFill>
                <a:latin typeface="Arial"/>
                <a:cs typeface="Arial"/>
              </a:rPr>
              <a:t> פקודות חדשות שבונות כל משחק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828800"/>
            <a:ext cx="3474720" cy="38404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86983" y="2240280"/>
            <a:ext cx="1005840" cy="1005840"/>
          </a:xfrm>
          <a:prstGeom prst="ellipse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86983" y="224028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33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5204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400" b="1" lang="he-IL" altLang="en-US">
                <a:solidFill>
                  <a:srgbClr val="2D2D3A"/>
                </a:solidFill>
                <a:latin typeface="Arial"/>
                <a:cs typeface="Arial"/>
              </a:rPr>
              <a:t>מפרקים משחק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420624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700" b="0" lang="he-IL" altLang="en-US">
                <a:solidFill>
                  <a:srgbClr val="5C5C70"/>
                </a:solidFill>
                <a:latin typeface="Arial"/>
                <a:cs typeface="Arial"/>
              </a:rPr>
              <a:t>איך הדינוזאור רץ, קופץ ונפסל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5" y="1828800"/>
            <a:ext cx="3474720" cy="38404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73936" y="2240280"/>
            <a:ext cx="1005840" cy="1005840"/>
          </a:xfrm>
          <a:prstGeom prst="ellipse">
            <a:avLst/>
          </a:prstGeom>
          <a:solidFill>
            <a:srgbClr val="C8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73936" y="224028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33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" y="35204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400" b="1" lang="he-IL" altLang="en-US">
                <a:solidFill>
                  <a:srgbClr val="2D2D3A"/>
                </a:solidFill>
                <a:latin typeface="Arial"/>
                <a:cs typeface="Arial"/>
              </a:rPr>
              <a:t>קהוט!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" y="420624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700" b="0" lang="he-IL" altLang="en-US">
                <a:solidFill>
                  <a:srgbClr val="5C5C70"/>
                </a:solidFill>
                <a:latin typeface="Arial"/>
                <a:cs typeface="Arial"/>
              </a:rPr>
              <a:t>נחשו מה יקרה, צודו באגים, תכנתו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משחק =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ספר דפדוף</a:t>
            </a:r>
          </a:p>
        </p:txBody>
      </p:sp>
      <p:pic>
        <p:nvPicPr>
          <p:cNvPr id="4" name="Picture 3" descr="deck_0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206240" cy="210312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pic>
        <p:nvPicPr>
          <p:cNvPr id="5" name="Picture 4" descr="deck_03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286000"/>
            <a:ext cx="4206240" cy="210312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pic>
        <p:nvPicPr>
          <p:cNvPr id="6" name="Picture 5" descr="deck_04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971800"/>
            <a:ext cx="4206240" cy="210312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897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300" b="0" lang="he-IL" altLang="en-US">
                <a:solidFill>
                  <a:srgbClr val="5C5C70"/>
                </a:solidFill>
                <a:latin typeface="Arial"/>
                <a:cs typeface="Arial"/>
              </a:rPr>
              <a:t>שלושה פריימים מתוך המשחק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5239512" cy="841248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35640" y="1627631"/>
            <a:ext cx="603504" cy="603504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35640" y="1627631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1" lang="en-US" altLang="en-US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4023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2000" b="1" lang="he-IL" altLang="en-US">
                <a:solidFill>
                  <a:srgbClr val="2D2D3A"/>
                </a:solidFill>
                <a:latin typeface="Arial"/>
                <a:cs typeface="Arial"/>
              </a:rPr>
              <a:t>אירועים  </a:t>
            </a:r>
            <a:r>
              <a:rPr sz="1700" b="0" lang="he-IL" altLang="en-US">
                <a:solidFill>
                  <a:srgbClr val="5C5C70"/>
                </a:solidFill>
                <a:latin typeface="Arial"/>
                <a:cs typeface="Arial"/>
              </a:rPr>
              <a:t>מה השחקן לחץ?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32888"/>
            <a:ext cx="5239512" cy="841248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35640" y="2651760"/>
            <a:ext cx="603504" cy="603504"/>
          </a:xfrm>
          <a:prstGeom prst="ellipse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35640" y="26517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1" lang="en-US" altLang="en-US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624328"/>
            <a:ext cx="4023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2000" b="1" lang="he-IL" altLang="en-US">
                <a:solidFill>
                  <a:srgbClr val="2D2D3A"/>
                </a:solidFill>
                <a:latin typeface="Arial"/>
                <a:cs typeface="Arial"/>
              </a:rPr>
              <a:t>עדכון  </a:t>
            </a:r>
            <a:r>
              <a:rPr sz="1700" b="0" lang="he-IL" altLang="en-US">
                <a:solidFill>
                  <a:srgbClr val="5C5C70"/>
                </a:solidFill>
                <a:latin typeface="Arial"/>
                <a:cs typeface="Arial"/>
              </a:rPr>
              <a:t>מזיזים כל דבר קצת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57016"/>
            <a:ext cx="5239512" cy="841248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35640" y="3675888"/>
            <a:ext cx="603504" cy="603504"/>
          </a:xfrm>
          <a:prstGeom prst="ellipse">
            <a:avLst/>
          </a:prstGeom>
          <a:solidFill>
            <a:srgbClr val="C8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35640" y="367588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1" lang="en-US" altLang="en-US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48456"/>
            <a:ext cx="4023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2000" b="1" lang="he-IL" altLang="en-US">
                <a:solidFill>
                  <a:srgbClr val="2D2D3A"/>
                </a:solidFill>
                <a:latin typeface="Arial"/>
                <a:cs typeface="Arial"/>
              </a:rPr>
              <a:t>ציור  </a:t>
            </a:r>
            <a:r>
              <a:rPr sz="1700" b="0" lang="he-IL" altLang="en-US">
                <a:solidFill>
                  <a:srgbClr val="5C5C70"/>
                </a:solidFill>
                <a:latin typeface="Arial"/>
                <a:cs typeface="Arial"/>
              </a:rPr>
              <a:t>מציירים על החלון: </a:t>
            </a:r>
            <a:r>
              <a:rPr sz="1700" b="0" lang="en-US" altLang="en-US">
                <a:solidFill>
                  <a:srgbClr val="5C5C70"/>
                </a:solidFill>
                <a:latin typeface="Arial"/>
                <a:cs typeface="Arial"/>
              </a:rPr>
              <a:t>blit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581144"/>
            <a:ext cx="5239512" cy="841248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35640" y="4700016"/>
            <a:ext cx="603504" cy="603504"/>
          </a:xfrm>
          <a:prstGeom prst="ellipse">
            <a:avLst/>
          </a:prstGeom>
          <a:solidFill>
            <a:srgbClr val="2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35640" y="4700016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1" lang="en-US" altLang="en-US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672583"/>
            <a:ext cx="4023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2000" b="1" lang="he-IL" altLang="en-US">
                <a:solidFill>
                  <a:srgbClr val="2D2D3A"/>
                </a:solidFill>
                <a:latin typeface="Arial"/>
                <a:cs typeface="Arial"/>
              </a:rPr>
              <a:t>הצגה  </a:t>
            </a:r>
            <a:r>
              <a:rPr sz="1700" b="0" lang="he-IL" altLang="en-US">
                <a:solidFill>
                  <a:srgbClr val="5C5C70"/>
                </a:solidFill>
                <a:latin typeface="Arial"/>
                <a:cs typeface="Arial"/>
              </a:rPr>
              <a:t>מראים את התמונה: </a:t>
            </a:r>
            <a:r>
              <a:rPr sz="1700" b="0" lang="en-US" altLang="en-US">
                <a:solidFill>
                  <a:srgbClr val="5C5C70"/>
                </a:solidFill>
                <a:latin typeface="Arial"/>
                <a:cs typeface="Arial"/>
              </a:rPr>
              <a:t>display.update()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669280"/>
            <a:ext cx="5239512" cy="594360"/>
          </a:xfrm>
          <a:prstGeom prst="roundRect">
            <a:avLst>
              <a:gd name="adj" fmla="val 12000"/>
            </a:avLst>
          </a:prstGeom>
          <a:solidFill>
            <a:srgbClr val="2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669280"/>
            <a:ext cx="487375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800" b="1" lang="he-IL" altLang="en-US">
                <a:solidFill>
                  <a:srgbClr val="F2CC8F"/>
                </a:solidFill>
                <a:latin typeface="Arial"/>
                <a:cs typeface="Arial"/>
              </a:rPr>
              <a:t>ושוב מההתחלה - עד </a:t>
            </a:r>
            <a:r>
              <a:rPr sz="1800" b="1" lang="en-US" altLang="en-US">
                <a:solidFill>
                  <a:srgbClr val="F2CC8F"/>
                </a:solidFill>
                <a:latin typeface="Arial"/>
                <a:cs typeface="Arial"/>
              </a:rPr>
              <a:t>300</a:t>
            </a:r>
            <a:r>
              <a:rPr sz="1800" b="1" lang="he-IL" altLang="en-US">
                <a:solidFill>
                  <a:srgbClr val="F2CC8F"/>
                </a:solidFill>
                <a:latin typeface="Arial"/>
                <a:cs typeface="Arial"/>
              </a:rPr>
              <a:t> פעמים בשנייה!  </a:t>
            </a:r>
            <a:r>
              <a:rPr sz="1800" b="1" lang="he-IL" altLang="en-US">
                <a:solidFill>
                  <a:srgbClr val="F2CC8F"/>
                </a:solidFill>
                <a:latin typeface="Segoe UI Emoji"/>
                <a:cs typeface="Segoe UI Emoji"/>
              </a:rPr>
              <a:t>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איפה זה על המסך?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מערכת צירים</a:t>
            </a:r>
          </a:p>
        </p:txBody>
      </p:sp>
      <p:pic>
        <p:nvPicPr>
          <p:cNvPr id="4" name="Picture 3" descr="deck_0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6766560" cy="3383280"/>
          </a:xfrm>
          <a:prstGeom prst="rect">
            <a:avLst/>
          </a:prstGeom>
          <a:ln w="50800">
            <a:solidFill>
              <a:srgbClr val="2B2A4C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1499616" y="4443983"/>
            <a:ext cx="473659" cy="473659"/>
          </a:xfrm>
          <a:prstGeom prst="rect">
            <a:avLst/>
          </a:prstGeom>
          <a:noFill/>
          <a:ln w="31750">
            <a:solidFill>
              <a:srgbClr val="C83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93976" y="4425696"/>
            <a:ext cx="12344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93976" y="4425696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1600" b="1" lang="en-US" altLang="en-US">
                <a:solidFill>
                  <a:srgbClr val="C83E4D"/>
                </a:solidFill>
                <a:latin typeface="Arial"/>
                <a:cs typeface="Arial"/>
              </a:rPr>
              <a:t>(100, 400)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500" b="1" lang="en-US" altLang="en-US">
                <a:solidFill>
                  <a:srgbClr val="2B2A4C"/>
                </a:solidFill>
                <a:latin typeface="Arial"/>
                <a:cs typeface="Arial"/>
              </a:rPr>
              <a:t>(0, 0)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2120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500" b="1" lang="en-US" altLang="en-US">
                <a:solidFill>
                  <a:srgbClr val="2B2A4C"/>
                </a:solidFill>
                <a:latin typeface="Arial"/>
                <a:cs typeface="Arial"/>
              </a:rPr>
              <a:t>(1000, 500)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1490472"/>
            <a:ext cx="2103120" cy="0"/>
          </a:xfrm>
          <a:prstGeom prst="line">
            <a:avLst/>
          </a:prstGeom>
          <a:ln w="38100">
            <a:solidFill>
              <a:srgbClr val="E07A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23360" y="13258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2000" b="1" lang="en-US" altLang="en-US">
                <a:solidFill>
                  <a:srgbClr val="E07A2F"/>
                </a:solidFill>
                <a:latin typeface="Arial"/>
                <a:cs typeface="Arial"/>
              </a:rPr>
              <a:t>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965960"/>
            <a:ext cx="0" cy="1874519"/>
          </a:xfrm>
          <a:prstGeom prst="line">
            <a:avLst/>
          </a:prstGeom>
          <a:ln w="38100">
            <a:solidFill>
              <a:srgbClr val="3E8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8912" y="3886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2000" b="1" lang="en-US" altLang="en-US">
                <a:solidFill>
                  <a:srgbClr val="3E8E6B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502152" cy="77724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35640" y="1847088"/>
            <a:ext cx="566928" cy="56692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35640" y="18470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1" lang="en-US" altLang="en-US">
                <a:solidFill>
                  <a:srgbClr val="FFFFFF"/>
                </a:solidFill>
                <a:latin typeface="Arial"/>
                <a:cs typeface="Arial"/>
              </a:rP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2377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כמה רחוק מהצד השמאלי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697480"/>
            <a:ext cx="3502152" cy="77724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35640" y="2807208"/>
            <a:ext cx="566928" cy="566928"/>
          </a:xfrm>
          <a:prstGeom prst="ellipse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35640" y="2807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1" lang="en-US" altLang="en-US">
                <a:solidFill>
                  <a:srgbClr val="FFFFFF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97480"/>
            <a:ext cx="2377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כמה רחוק מלמעלה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840480"/>
            <a:ext cx="3502152" cy="1325880"/>
          </a:xfrm>
          <a:prstGeom prst="roundRect">
            <a:avLst>
              <a:gd name="adj" fmla="val 12000"/>
            </a:avLst>
          </a:prstGeom>
          <a:solidFill>
            <a:srgbClr val="FD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931920"/>
            <a:ext cx="313639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7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⚠️ </a:t>
            </a:r>
            <a:r>
              <a:rPr sz="1700" b="1" lang="en-US" altLang="en-US">
                <a:solidFill>
                  <a:srgbClr val="C83E4D"/>
                </a:solidFill>
                <a:latin typeface="Arial"/>
                <a:cs typeface="Arial"/>
              </a:rPr>
              <a:t>y</a:t>
            </a:r>
            <a:r>
              <a:rPr sz="1700" b="1" lang="he-IL" altLang="en-US">
                <a:solidFill>
                  <a:srgbClr val="C83E4D"/>
                </a:solidFill>
                <a:latin typeface="Arial"/>
                <a:cs typeface="Arial"/>
              </a:rPr>
              <a:t> גדל כלפי מטה!</a:t>
            </a:r>
          </a:p>
          <a:p>
            <a:pPr algn="r" rtl="1">
              <a:spcBef>
                <a:spcPts val="600"/>
              </a:spcBef>
            </a:pPr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קפיצה למעלה = </a:t>
            </a:r>
            <a:r>
              <a:rPr sz="1700" b="0" lang="en-US" altLang="en-US">
                <a:solidFill>
                  <a:srgbClr val="2D2D3A"/>
                </a:solidFill>
                <a:latin typeface="Arial"/>
                <a:cs typeface="Arial"/>
              </a:rPr>
              <a:t>y</a:t>
            </a:r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 קטן יותר:</a:t>
            </a:r>
          </a:p>
          <a:p>
            <a:pPr algn="r" rtl="0">
              <a:spcBef>
                <a:spcPts val="600"/>
              </a:spcBef>
            </a:pPr>
            <a:r>
              <a:rPr sz="1700" b="1" lang="en-US" altLang="en-US">
                <a:solidFill>
                  <a:srgbClr val="2D2D3A"/>
                </a:solidFill>
                <a:latin typeface="Consolas"/>
                <a:cs typeface="Consolas"/>
              </a:rPr>
              <a:t>400 - jump_i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0" lang="en-US" altLang="en-US">
                <a:solidFill>
                  <a:srgbClr val="5C5C70"/>
                </a:solidFill>
                <a:latin typeface="Arial"/>
                <a:cs typeface="Arial"/>
              </a:rPr>
              <a:t>set_mode((1000, 500))</a:t>
            </a: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 - חלון ברוחב </a:t>
            </a:r>
            <a:r>
              <a:rPr sz="1500" b="0" lang="en-US" altLang="en-US">
                <a:solidFill>
                  <a:srgbClr val="5C5C70"/>
                </a:solidFill>
                <a:latin typeface="Arial"/>
                <a:cs typeface="Arial"/>
              </a:rPr>
              <a:t>1000</a:t>
            </a: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 וגובה </a:t>
            </a:r>
            <a:r>
              <a:rPr sz="1500" b="0" lang="en-US" altLang="en-US">
                <a:solidFill>
                  <a:srgbClr val="5C5C70"/>
                </a:solidFill>
                <a:latin typeface="Arial"/>
                <a:cs typeface="Arial"/>
              </a:rPr>
              <a:t>500</a:t>
            </a: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 פיקסלים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פקודה </a:t>
            </a:r>
            <a:r>
              <a:rPr sz="3600" b="1" lang="en-US" altLang="en-US">
                <a:solidFill>
                  <a:srgbClr val="2B2A4C"/>
                </a:solidFill>
                <a:latin typeface="Arial"/>
                <a:cs typeface="Arial"/>
              </a:rPr>
              <a:t>1</a:t>
            </a:r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: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חלון ותמונות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6035040" cy="2743200"/>
          </a:xfrm>
          <a:prstGeom prst="roundRect">
            <a:avLst>
              <a:gd name="adj" fmla="val 5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577840" cy="23774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>
                <a:solidFill>
                  <a:srgbClr val="66D9EF"/>
                </a:solidFill>
                <a:latin typeface="Consolas"/>
              </a:rPr>
              <a:t>import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pygame</a:t>
            </a:r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pygame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init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</a:p>
          <a:p>
            <a:pPr algn="l"/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win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=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pygame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display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set_mode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AE81FF"/>
                </a:solidFill>
                <a:latin typeface="Consolas"/>
              </a:rPr>
              <a:t>1000</a:t>
            </a:r>
            <a:r>
              <a:rPr sz="1600">
                <a:solidFill>
                  <a:srgbClr val="F8F8F2"/>
                </a:solidFill>
                <a:latin typeface="Consolas"/>
              </a:rPr>
              <a:t>,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AE81FF"/>
                </a:solidFill>
                <a:latin typeface="Consolas"/>
              </a:rPr>
              <a:t>500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</a:p>
          <a:p>
            <a:pPr algn="l"/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dino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=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pygame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image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load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E6DB74"/>
                </a:solidFill>
                <a:latin typeface="Consolas"/>
              </a:rPr>
              <a:t>"</a:t>
            </a:r>
            <a:r>
              <a:rPr sz="1600">
                <a:solidFill>
                  <a:srgbClr val="E6DB74"/>
                </a:solidFill>
                <a:latin typeface="Consolas"/>
              </a:rPr>
              <a:t>res/dino1.png</a:t>
            </a:r>
            <a:r>
              <a:rPr sz="1600">
                <a:solidFill>
                  <a:srgbClr val="E6DB74"/>
                </a:solidFill>
                <a:latin typeface="Consolas"/>
              </a:rPr>
              <a:t>"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dino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=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pygame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transform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scale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F8F8F2"/>
                </a:solidFill>
                <a:latin typeface="Consolas"/>
              </a:rPr>
              <a:t>dino</a:t>
            </a:r>
            <a:r>
              <a:rPr sz="1600">
                <a:solidFill>
                  <a:srgbClr val="F8F8F2"/>
                </a:solidFill>
                <a:latin typeface="Consolas"/>
              </a:rPr>
              <a:t>,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AE81FF"/>
                </a:solidFill>
                <a:latin typeface="Consolas"/>
              </a:rPr>
              <a:t>70</a:t>
            </a:r>
            <a:r>
              <a:rPr sz="1600">
                <a:solidFill>
                  <a:srgbClr val="F8F8F2"/>
                </a:solidFill>
                <a:latin typeface="Consolas"/>
              </a:rPr>
              <a:t>,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AE81FF"/>
                </a:solidFill>
                <a:latin typeface="Consolas"/>
              </a:rPr>
              <a:t>70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45920"/>
            <a:ext cx="4690872" cy="603504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3251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מפעילים את </a:t>
            </a:r>
            <a:r>
              <a:rPr sz="1700" b="0" lang="en-US" altLang="en-US">
                <a:solidFill>
                  <a:srgbClr val="2D2D3A"/>
                </a:solidFill>
                <a:latin typeface="Arial"/>
                <a:cs typeface="Arial"/>
              </a:rPr>
              <a:t>pygame</a:t>
            </a:r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  </a:t>
            </a:r>
            <a:r>
              <a:rPr sz="1500" b="0" lang="he-IL" altLang="en-US">
                <a:solidFill>
                  <a:srgbClr val="E07A2F"/>
                </a:solidFill>
                <a:latin typeface="Consolas"/>
                <a:cs typeface="Consolas"/>
              </a:rPr>
              <a:t>← </a:t>
            </a:r>
            <a:r>
              <a:rPr sz="1500" b="0" lang="en-US" altLang="en-US">
                <a:solidFill>
                  <a:srgbClr val="E07A2F"/>
                </a:solidFill>
                <a:latin typeface="Consolas"/>
                <a:cs typeface="Consolas"/>
              </a:rPr>
              <a:t>pygame.init()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377440"/>
            <a:ext cx="4690872" cy="603504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377440"/>
            <a:ext cx="43251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פותחים חלון: (רוחב, גובה)  </a:t>
            </a:r>
            <a:r>
              <a:rPr sz="1500" b="0" lang="he-IL" altLang="en-US">
                <a:solidFill>
                  <a:srgbClr val="E07A2F"/>
                </a:solidFill>
                <a:latin typeface="Consolas"/>
                <a:cs typeface="Consolas"/>
              </a:rPr>
              <a:t>← </a:t>
            </a:r>
            <a:r>
              <a:rPr sz="1500" b="0" lang="en-US" altLang="en-US">
                <a:solidFill>
                  <a:srgbClr val="E07A2F"/>
                </a:solidFill>
                <a:latin typeface="Consolas"/>
                <a:cs typeface="Consolas"/>
              </a:rPr>
              <a:t>display.set_mode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108960"/>
            <a:ext cx="4690872" cy="603504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108960"/>
            <a:ext cx="43251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טוענים תמונה מקובץ  </a:t>
            </a:r>
            <a:r>
              <a:rPr sz="1500" b="0" lang="he-IL" altLang="en-US">
                <a:solidFill>
                  <a:srgbClr val="E07A2F"/>
                </a:solidFill>
                <a:latin typeface="Consolas"/>
                <a:cs typeface="Consolas"/>
              </a:rPr>
              <a:t>← </a:t>
            </a:r>
            <a:r>
              <a:rPr sz="1500" b="0" lang="en-US" altLang="en-US">
                <a:solidFill>
                  <a:srgbClr val="E07A2F"/>
                </a:solidFill>
                <a:latin typeface="Consolas"/>
                <a:cs typeface="Consolas"/>
              </a:rPr>
              <a:t>image.load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840480"/>
            <a:ext cx="4690872" cy="603504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840480"/>
            <a:ext cx="43251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משנים את גודל התמונה  </a:t>
            </a:r>
            <a:r>
              <a:rPr sz="1500" b="0" lang="he-IL" altLang="en-US">
                <a:solidFill>
                  <a:srgbClr val="E07A2F"/>
                </a:solidFill>
                <a:latin typeface="Consolas"/>
                <a:cs typeface="Consolas"/>
              </a:rPr>
              <a:t>← </a:t>
            </a:r>
            <a:r>
              <a:rPr sz="1500" b="0" lang="en-US" altLang="en-US">
                <a:solidFill>
                  <a:srgbClr val="E07A2F"/>
                </a:solidFill>
                <a:latin typeface="Consolas"/>
                <a:cs typeface="Consolas"/>
              </a:rPr>
              <a:t>transform.scale</a:t>
            </a:r>
          </a:p>
        </p:txBody>
      </p:sp>
      <p:pic>
        <p:nvPicPr>
          <p:cNvPr id="14" name="Picture 13" descr="din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800600"/>
            <a:ext cx="1188720" cy="118872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3291840" y="5394960"/>
            <a:ext cx="914400" cy="0"/>
          </a:xfrm>
          <a:prstGeom prst="line">
            <a:avLst/>
          </a:prstGeom>
          <a:ln w="38100">
            <a:solidFill>
              <a:srgbClr val="E07A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din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512064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0350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1400" b="0" lang="en-US" altLang="en-US">
                <a:solidFill>
                  <a:srgbClr val="5C5C70"/>
                </a:solidFill>
                <a:latin typeface="Arial"/>
                <a:cs typeface="Arial"/>
              </a:rPr>
              <a:t>transform.scale: 122x122</a:t>
            </a:r>
            <a:r>
              <a:rPr sz="1400" b="0" lang="he-IL" altLang="en-US">
                <a:solidFill>
                  <a:srgbClr val="5C5C70"/>
                </a:solidFill>
                <a:latin typeface="Arial"/>
                <a:cs typeface="Arial"/>
              </a:rPr>
              <a:t> ← </a:t>
            </a:r>
            <a:r>
              <a:rPr sz="1400" b="0" lang="en-US" altLang="en-US">
                <a:solidFill>
                  <a:srgbClr val="5C5C70"/>
                </a:solidFill>
                <a:latin typeface="Arial"/>
                <a:cs typeface="Arial"/>
              </a:rPr>
              <a:t>70x70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פקודה </a:t>
            </a:r>
            <a:r>
              <a:rPr sz="3600" b="1" lang="en-US" altLang="en-US">
                <a:solidFill>
                  <a:srgbClr val="2B2A4C"/>
                </a:solidFill>
                <a:latin typeface="Arial"/>
                <a:cs typeface="Arial"/>
              </a:rPr>
              <a:t>2</a:t>
            </a:r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: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מציירים על המסך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6035040" cy="1828800"/>
          </a:xfrm>
          <a:prstGeom prst="roundRect">
            <a:avLst>
              <a:gd name="adj" fmla="val 5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577840" cy="1463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win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blit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F8F8F2"/>
                </a:solidFill>
                <a:latin typeface="Consolas"/>
              </a:rPr>
              <a:t>bm_img</a:t>
            </a:r>
            <a:r>
              <a:rPr sz="1600">
                <a:solidFill>
                  <a:srgbClr val="F8F8F2"/>
                </a:solidFill>
                <a:latin typeface="Consolas"/>
              </a:rPr>
              <a:t>,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AE81FF"/>
                </a:solidFill>
                <a:latin typeface="Consolas"/>
              </a:rPr>
              <a:t>0</a:t>
            </a:r>
            <a:r>
              <a:rPr sz="1600">
                <a:solidFill>
                  <a:srgbClr val="F8F8F2"/>
                </a:solidFill>
                <a:latin typeface="Consolas"/>
              </a:rPr>
              <a:t>,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AE81FF"/>
                </a:solidFill>
                <a:latin typeface="Consolas"/>
              </a:rPr>
              <a:t>0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  <a:r>
              <a:rPr sz="1600">
                <a:solidFill>
                  <a:srgbClr val="F8F8F2"/>
                </a:solidFill>
                <a:latin typeface="Consolas"/>
              </a:rPr>
              <a:t>      </a:t>
            </a:r>
            <a:r>
              <a:rPr sz="1600">
                <a:solidFill>
                  <a:srgbClr val="8F8A72"/>
                </a:solidFill>
                <a:latin typeface="Consolas"/>
              </a:rPr>
              <a:t># 1. background</a:t>
            </a:r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win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blit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F8F8F2"/>
                </a:solidFill>
                <a:latin typeface="Consolas"/>
              </a:rPr>
              <a:t>dino</a:t>
            </a:r>
            <a:r>
              <a:rPr sz="1600">
                <a:solidFill>
                  <a:srgbClr val="F8F8F2"/>
                </a:solidFill>
                <a:latin typeface="Consolas"/>
              </a:rPr>
              <a:t>,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AE81FF"/>
                </a:solidFill>
                <a:latin typeface="Consolas"/>
              </a:rPr>
              <a:t>100</a:t>
            </a:r>
            <a:r>
              <a:rPr sz="1600">
                <a:solidFill>
                  <a:srgbClr val="F8F8F2"/>
                </a:solidFill>
                <a:latin typeface="Consolas"/>
              </a:rPr>
              <a:t>,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AE81FF"/>
                </a:solidFill>
                <a:latin typeface="Consolas"/>
              </a:rPr>
              <a:t>400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  <a:r>
              <a:rPr sz="1600">
                <a:solidFill>
                  <a:srgbClr val="F8F8F2"/>
                </a:solidFill>
                <a:latin typeface="Consolas"/>
              </a:rPr>
              <a:t>    </a:t>
            </a:r>
            <a:r>
              <a:rPr sz="1600">
                <a:solidFill>
                  <a:srgbClr val="8F8A72"/>
                </a:solidFill>
                <a:latin typeface="Consolas"/>
              </a:rPr>
              <a:t># 2. dino on top</a:t>
            </a:r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pygame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display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update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  <a:r>
              <a:rPr sz="1600">
                <a:solidFill>
                  <a:srgbClr val="F8F8F2"/>
                </a:solidFill>
                <a:latin typeface="Consolas"/>
              </a:rPr>
              <a:t>       </a:t>
            </a:r>
            <a:r>
              <a:rPr sz="1600">
                <a:solidFill>
                  <a:srgbClr val="8F8A72"/>
                </a:solidFill>
                <a:latin typeface="Consolas"/>
              </a:rPr>
              <a:t># 3. show it!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45920"/>
            <a:ext cx="4690872" cy="91440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44200" y="1783080"/>
            <a:ext cx="640080" cy="640080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1783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1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719072"/>
            <a:ext cx="3474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0"/>
            <a:r>
              <a:rPr sz="1900" b="1" lang="en-US" altLang="en-US">
                <a:solidFill>
                  <a:srgbClr val="2D2D3A"/>
                </a:solidFill>
                <a:latin typeface="Consolas"/>
                <a:cs typeface="Consolas"/>
              </a:rPr>
              <a:t>blit</a:t>
            </a:r>
          </a:p>
          <a:p>
            <a:pPr algn="r" rtl="1">
              <a:spcBef>
                <a:spcPts val="600"/>
              </a:spcBef>
            </a:pP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מצייר תמונה בנקודה </a:t>
            </a:r>
            <a:r>
              <a:rPr sz="1500" b="0" lang="en-US" altLang="en-US">
                <a:solidFill>
                  <a:srgbClr val="5C5C70"/>
                </a:solidFill>
                <a:latin typeface="Arial"/>
                <a:cs typeface="Arial"/>
              </a:rPr>
              <a:t>(x, y)</a:t>
            </a: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 - מאחורי הווילון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743200"/>
            <a:ext cx="4690872" cy="91440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44200" y="2880360"/>
            <a:ext cx="640080" cy="640080"/>
          </a:xfrm>
          <a:prstGeom prst="ellipse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2880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1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816352"/>
            <a:ext cx="3474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0"/>
            <a:r>
              <a:rPr sz="1900" b="1" lang="en-US" altLang="en-US">
                <a:solidFill>
                  <a:srgbClr val="2D2D3A"/>
                </a:solidFill>
                <a:latin typeface="Consolas"/>
                <a:cs typeface="Consolas"/>
              </a:rPr>
              <a:t>display.update()</a:t>
            </a:r>
          </a:p>
          <a:p>
            <a:pPr algn="r" rtl="1">
              <a:spcBef>
                <a:spcPts val="600"/>
              </a:spcBef>
            </a:pP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פותח את הווילון: מראה את כל מה שצוייר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840480"/>
            <a:ext cx="4690872" cy="91440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44200" y="3977640"/>
            <a:ext cx="640080" cy="640080"/>
          </a:xfrm>
          <a:prstGeom prst="ellipse">
            <a:avLst/>
          </a:prstGeom>
          <a:solidFill>
            <a:srgbClr val="C8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0" y="39776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1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913632"/>
            <a:ext cx="3474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900" b="1" lang="he-IL" altLang="en-US">
                <a:solidFill>
                  <a:srgbClr val="2D2D3A"/>
                </a:solidFill>
                <a:latin typeface="Arial"/>
                <a:cs typeface="Arial"/>
              </a:rPr>
              <a:t>הסדר חשוב!</a:t>
            </a:r>
          </a:p>
          <a:p>
            <a:pPr algn="r" rtl="1">
              <a:spcBef>
                <a:spcPts val="600"/>
              </a:spcBef>
            </a:pP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מה שמצויר אחרון - למעלה. כמו מדבקות</a:t>
            </a:r>
          </a:p>
        </p:txBody>
      </p:sp>
      <p:pic>
        <p:nvPicPr>
          <p:cNvPr id="18" name="Picture 17" descr="dese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2194560" cy="1234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0" y="42062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3000" b="1" lang="he-IL" altLang="en-US">
                <a:solidFill>
                  <a:srgbClr val="2B2A4C"/>
                </a:solidFill>
                <a:latin typeface="Arial"/>
                <a:cs typeface="Arial"/>
              </a:rPr>
              <a:t>+</a:t>
            </a:r>
          </a:p>
        </p:txBody>
      </p:sp>
      <p:pic>
        <p:nvPicPr>
          <p:cNvPr id="20" name="Picture 19" descr="din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160520"/>
            <a:ext cx="777240" cy="777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69080" y="42062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3000" b="1" lang="he-IL" altLang="en-US">
                <a:solidFill>
                  <a:srgbClr val="2B2A4C"/>
                </a:solidFill>
                <a:latin typeface="Arial"/>
                <a:cs typeface="Arial"/>
              </a:rPr>
              <a:t>=</a:t>
            </a:r>
          </a:p>
        </p:txBody>
      </p:sp>
      <p:pic>
        <p:nvPicPr>
          <p:cNvPr id="22" name="Picture 21" descr="deck_01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931920"/>
            <a:ext cx="1965960" cy="982980"/>
          </a:xfrm>
          <a:prstGeom prst="rect">
            <a:avLst/>
          </a:prstGeom>
          <a:ln w="50800">
            <a:solidFill>
              <a:srgbClr val="2B2A4C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48640" y="53492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400" b="0" lang="he-IL" altLang="en-US">
                <a:solidFill>
                  <a:srgbClr val="5C5C70"/>
                </a:solidFill>
                <a:latin typeface="Arial"/>
                <a:cs typeface="Arial"/>
              </a:rPr>
              <a:t>רקע  +  דינוזאור  =  מה שרואים אחרי </a:t>
            </a:r>
            <a:r>
              <a:rPr sz="1400" b="0" lang="en-US" altLang="en-US">
                <a:solidFill>
                  <a:srgbClr val="5C5C70"/>
                </a:solidFill>
                <a:latin typeface="Arial"/>
                <a:cs typeface="Arial"/>
              </a:rPr>
              <a:t>update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פקודה </a:t>
            </a:r>
            <a:r>
              <a:rPr sz="3600" b="1" lang="en-US" altLang="en-US">
                <a:solidFill>
                  <a:srgbClr val="2B2A4C"/>
                </a:solidFill>
                <a:latin typeface="Arial"/>
                <a:cs typeface="Arial"/>
              </a:rPr>
              <a:t>3</a:t>
            </a:r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: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מקשיבים לשחקן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6035040" cy="3017520"/>
          </a:xfrm>
          <a:prstGeom prst="roundRect">
            <a:avLst>
              <a:gd name="adj" fmla="val 5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577840" cy="2651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>
                <a:solidFill>
                  <a:srgbClr val="66D9EF"/>
                </a:solidFill>
                <a:latin typeface="Consolas"/>
              </a:rPr>
              <a:t>for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event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in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pygame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event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get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  <a:r>
              <a:rPr sz="1600">
                <a:solidFill>
                  <a:srgbClr val="F8F8F2"/>
                </a:solidFill>
                <a:latin typeface="Consolas"/>
              </a:rPr>
              <a:t>:</a:t>
            </a:r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    </a:t>
            </a:r>
            <a:r>
              <a:rPr sz="1600">
                <a:solidFill>
                  <a:srgbClr val="66D9EF"/>
                </a:solidFill>
                <a:latin typeface="Consolas"/>
              </a:rPr>
              <a:t>if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event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type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==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pygame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QUIT</a:t>
            </a:r>
            <a:r>
              <a:rPr sz="1600">
                <a:solidFill>
                  <a:srgbClr val="F8F8F2"/>
                </a:solidFill>
                <a:latin typeface="Consolas"/>
              </a:rPr>
              <a:t>:</a:t>
            </a:r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        </a:t>
            </a:r>
            <a:r>
              <a:rPr sz="1600">
                <a:solidFill>
                  <a:srgbClr val="F8F8F2"/>
                </a:solidFill>
                <a:latin typeface="Consolas"/>
              </a:rPr>
              <a:t>pygame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quit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        </a:t>
            </a:r>
            <a:r>
              <a:rPr sz="1600">
                <a:solidFill>
                  <a:srgbClr val="F8F8F2"/>
                </a:solidFill>
                <a:latin typeface="Consolas"/>
              </a:rPr>
              <a:t>exit</a:t>
            </a:r>
            <a:r>
              <a:rPr sz="1600">
                <a:solidFill>
                  <a:srgbClr val="F8F8F2"/>
                </a:solidFill>
                <a:latin typeface="Consolas"/>
              </a:rPr>
              <a:t>(</a:t>
            </a:r>
            <a:r>
              <a:rPr sz="1600">
                <a:solidFill>
                  <a:srgbClr val="F8F8F2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    </a:t>
            </a:r>
            <a:r>
              <a:rPr sz="1600">
                <a:solidFill>
                  <a:srgbClr val="66D9EF"/>
                </a:solidFill>
                <a:latin typeface="Consolas"/>
              </a:rPr>
              <a:t>if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event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type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==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pygame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KEYDOWN</a:t>
            </a:r>
            <a:r>
              <a:rPr sz="1600">
                <a:solidFill>
                  <a:srgbClr val="F8F8F2"/>
                </a:solidFill>
                <a:latin typeface="Consolas"/>
              </a:rPr>
              <a:t>:</a:t>
            </a:r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        </a:t>
            </a:r>
            <a:r>
              <a:rPr sz="1600">
                <a:solidFill>
                  <a:srgbClr val="66D9EF"/>
                </a:solidFill>
                <a:latin typeface="Consolas"/>
              </a:rPr>
              <a:t>if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event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key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==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pygame</a:t>
            </a:r>
            <a:r>
              <a:rPr sz="1600">
                <a:solidFill>
                  <a:srgbClr val="F92672"/>
                </a:solidFill>
                <a:latin typeface="Consolas"/>
              </a:rPr>
              <a:t>.</a:t>
            </a:r>
            <a:r>
              <a:rPr sz="1600">
                <a:solidFill>
                  <a:srgbClr val="F8F8F2"/>
                </a:solidFill>
                <a:latin typeface="Consolas"/>
              </a:rPr>
              <a:t>K_SPACE</a:t>
            </a:r>
            <a:r>
              <a:rPr sz="1600">
                <a:solidFill>
                  <a:srgbClr val="F8F8F2"/>
                </a:solidFill>
                <a:latin typeface="Consolas"/>
              </a:rPr>
              <a:t>:</a:t>
            </a:r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            </a:t>
            </a:r>
            <a:r>
              <a:rPr sz="1600">
                <a:solidFill>
                  <a:srgbClr val="F8F8F2"/>
                </a:solidFill>
                <a:latin typeface="Consolas"/>
              </a:rPr>
              <a:t>jumping_up_mode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=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66D9EF"/>
                </a:solidFill>
                <a:latin typeface="Consolas"/>
              </a:rPr>
              <a:t>True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45920"/>
            <a:ext cx="4690872" cy="603504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3251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כל מה שקרה מאז הפריים הקודם  </a:t>
            </a:r>
            <a:r>
              <a:rPr sz="1500" b="0" lang="he-IL" altLang="en-US">
                <a:solidFill>
                  <a:srgbClr val="E07A2F"/>
                </a:solidFill>
                <a:latin typeface="Consolas"/>
                <a:cs typeface="Consolas"/>
              </a:rPr>
              <a:t>← </a:t>
            </a:r>
            <a:r>
              <a:rPr sz="1500" b="0" lang="en-US" altLang="en-US">
                <a:solidFill>
                  <a:srgbClr val="E07A2F"/>
                </a:solidFill>
                <a:latin typeface="Consolas"/>
                <a:cs typeface="Consolas"/>
              </a:rPr>
              <a:t>event.get()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377440"/>
            <a:ext cx="4690872" cy="603504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377440"/>
            <a:ext cx="43251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לחצו על </a:t>
            </a:r>
            <a:r>
              <a:rPr sz="1600" b="0" lang="en-US" altLang="en-US">
                <a:solidFill>
                  <a:srgbClr val="2D2D3A"/>
                </a:solidFill>
                <a:latin typeface="Arial"/>
                <a:cs typeface="Arial"/>
              </a:rPr>
              <a:t>X</a:t>
            </a:r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 של החלון  </a:t>
            </a:r>
            <a:r>
              <a:rPr sz="1500" b="0" lang="he-IL" altLang="en-US">
                <a:solidFill>
                  <a:srgbClr val="E07A2F"/>
                </a:solidFill>
                <a:latin typeface="Consolas"/>
                <a:cs typeface="Consolas"/>
              </a:rPr>
              <a:t>← </a:t>
            </a:r>
            <a:r>
              <a:rPr sz="1500" b="0" lang="en-US" altLang="en-US">
                <a:solidFill>
                  <a:srgbClr val="E07A2F"/>
                </a:solidFill>
                <a:latin typeface="Consolas"/>
                <a:cs typeface="Consolas"/>
              </a:rPr>
              <a:t>QUIT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108960"/>
            <a:ext cx="4690872" cy="603504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108960"/>
            <a:ext cx="43251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לחצו על מקש  </a:t>
            </a:r>
            <a:r>
              <a:rPr sz="1500" b="0" lang="he-IL" altLang="en-US">
                <a:solidFill>
                  <a:srgbClr val="E07A2F"/>
                </a:solidFill>
                <a:latin typeface="Consolas"/>
                <a:cs typeface="Consolas"/>
              </a:rPr>
              <a:t>← </a:t>
            </a:r>
            <a:r>
              <a:rPr sz="1500" b="0" lang="en-US" altLang="en-US">
                <a:solidFill>
                  <a:srgbClr val="E07A2F"/>
                </a:solidFill>
                <a:latin typeface="Consolas"/>
                <a:cs typeface="Consolas"/>
              </a:rPr>
              <a:t>KEYDOWN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840480"/>
            <a:ext cx="4690872" cy="603504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840480"/>
            <a:ext cx="43251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איזה מקש? </a:t>
            </a:r>
            <a:r>
              <a:rPr sz="1600" b="0" lang="en-US" altLang="en-US">
                <a:solidFill>
                  <a:srgbClr val="2D2D3A"/>
                </a:solidFill>
                <a:latin typeface="Arial"/>
                <a:cs typeface="Arial"/>
              </a:rPr>
              <a:t>K_SPACE, K_DOWN, K_UP</a:t>
            </a:r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...  </a:t>
            </a:r>
            <a:r>
              <a:rPr sz="1500" b="0" lang="he-IL" altLang="en-US">
                <a:solidFill>
                  <a:srgbClr val="E07A2F"/>
                </a:solidFill>
                <a:latin typeface="Consolas"/>
                <a:cs typeface="Consolas"/>
              </a:rPr>
              <a:t>← </a:t>
            </a:r>
            <a:r>
              <a:rPr sz="1500" b="0" lang="en-US" altLang="en-US">
                <a:solidFill>
                  <a:srgbClr val="E07A2F"/>
                </a:solidFill>
                <a:latin typeface="Consolas"/>
                <a:cs typeface="Consolas"/>
              </a:rPr>
              <a:t>event.key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54303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8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⚠️ </a:t>
            </a:r>
            <a:r>
              <a:rPr sz="1800" b="1" lang="he-IL" altLang="en-US">
                <a:solidFill>
                  <a:srgbClr val="C83E4D"/>
                </a:solidFill>
                <a:latin typeface="Arial"/>
                <a:cs typeface="Arial"/>
              </a:rPr>
              <a:t>לא קוראים ל-</a:t>
            </a:r>
            <a:r>
              <a:rPr sz="1800" b="1" lang="en-US" altLang="en-US">
                <a:solidFill>
                  <a:srgbClr val="C83E4D"/>
                </a:solidFill>
                <a:latin typeface="Arial"/>
                <a:cs typeface="Arial"/>
              </a:rPr>
              <a:t>event.get()</a:t>
            </a:r>
            <a:r>
              <a:rPr sz="1800" b="1" lang="he-IL" altLang="en-US">
                <a:solidFill>
                  <a:srgbClr val="C83E4D"/>
                </a:solidFill>
                <a:latin typeface="Arial"/>
                <a:cs typeface="Arial"/>
              </a:rPr>
              <a:t> כל הזמן? </a:t>
            </a:r>
            <a:r>
              <a:rPr sz="1800" b="0" lang="he-IL" altLang="en-US">
                <a:solidFill>
                  <a:srgbClr val="2D2D3A"/>
                </a:solidFill>
                <a:latin typeface="Arial"/>
                <a:cs typeface="Arial"/>
              </a:rPr>
              <a:t>החלון 'לא מגיב' ואי אפשר לסגור אותו. זה בדיוק הבאג שתיקנו במשחק!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פקודה </a:t>
            </a:r>
            <a:r>
              <a:rPr sz="3600" b="1" lang="en-US" altLang="en-US">
                <a:solidFill>
                  <a:srgbClr val="2B2A4C"/>
                </a:solidFill>
                <a:latin typeface="Arial"/>
                <a:cs typeface="Arial"/>
              </a:rPr>
              <a:t>4</a:t>
            </a:r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: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שעון וטקסט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6035040" cy="3108960"/>
          </a:xfrm>
          <a:prstGeom prst="roundRect">
            <a:avLst>
              <a:gd name="adj" fmla="val 5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577840" cy="2743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F8F8F2"/>
                </a:solidFill>
                <a:latin typeface="Consolas"/>
              </a:rPr>
              <a:t>clock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92672"/>
                </a:solidFill>
                <a:latin typeface="Consolas"/>
              </a:rPr>
              <a:t>=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pygame</a:t>
            </a:r>
            <a:r>
              <a:rPr sz="1500">
                <a:solidFill>
                  <a:srgbClr val="F92672"/>
                </a:solidFill>
                <a:latin typeface="Consolas"/>
              </a:rPr>
              <a:t>.</a:t>
            </a:r>
            <a:r>
              <a:rPr sz="1500">
                <a:solidFill>
                  <a:srgbClr val="F8F8F2"/>
                </a:solidFill>
                <a:latin typeface="Consolas"/>
              </a:rPr>
              <a:t>time</a:t>
            </a:r>
            <a:r>
              <a:rPr sz="1500">
                <a:solidFill>
                  <a:srgbClr val="F92672"/>
                </a:solidFill>
                <a:latin typeface="Consolas"/>
              </a:rPr>
              <a:t>.</a:t>
            </a:r>
            <a:r>
              <a:rPr sz="1500">
                <a:solidFill>
                  <a:srgbClr val="F8F8F2"/>
                </a:solidFill>
                <a:latin typeface="Consolas"/>
              </a:rPr>
              <a:t>Clock</a:t>
            </a:r>
            <a:r>
              <a:rPr sz="1500">
                <a:solidFill>
                  <a:srgbClr val="F8F8F2"/>
                </a:solidFill>
                <a:latin typeface="Consolas"/>
              </a:rPr>
              <a:t>(</a:t>
            </a:r>
            <a:r>
              <a:rPr sz="1500">
                <a:solidFill>
                  <a:srgbClr val="F8F8F2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F8F8F2"/>
                </a:solidFill>
                <a:latin typeface="Consolas"/>
              </a:rPr>
              <a:t>clock</a:t>
            </a:r>
            <a:r>
              <a:rPr sz="1500">
                <a:solidFill>
                  <a:srgbClr val="F92672"/>
                </a:solidFill>
                <a:latin typeface="Consolas"/>
              </a:rPr>
              <a:t>.</a:t>
            </a:r>
            <a:r>
              <a:rPr sz="1500">
                <a:solidFill>
                  <a:srgbClr val="F8F8F2"/>
                </a:solidFill>
                <a:latin typeface="Consolas"/>
              </a:rPr>
              <a:t>tick</a:t>
            </a:r>
            <a:r>
              <a:rPr sz="1500">
                <a:solidFill>
                  <a:srgbClr val="F8F8F2"/>
                </a:solidFill>
                <a:latin typeface="Consolas"/>
              </a:rPr>
              <a:t>(</a:t>
            </a:r>
            <a:r>
              <a:rPr sz="1500">
                <a:solidFill>
                  <a:srgbClr val="AE81FF"/>
                </a:solidFill>
                <a:latin typeface="Consolas"/>
              </a:rPr>
              <a:t>300</a:t>
            </a:r>
            <a:r>
              <a:rPr sz="1500">
                <a:solidFill>
                  <a:srgbClr val="F8F8F2"/>
                </a:solidFill>
                <a:latin typeface="Consolas"/>
              </a:rPr>
              <a:t>)</a:t>
            </a:r>
            <a:r>
              <a:rPr sz="1500">
                <a:solidFill>
                  <a:srgbClr val="F8F8F2"/>
                </a:solidFill>
                <a:latin typeface="Consolas"/>
              </a:rPr>
              <a:t>    </a:t>
            </a:r>
            <a:r>
              <a:rPr sz="1500">
                <a:solidFill>
                  <a:srgbClr val="8F8A72"/>
                </a:solidFill>
                <a:latin typeface="Consolas"/>
              </a:rPr>
              <a:t># max 300 frames per second</a:t>
            </a:r>
          </a:p>
          <a:p>
            <a:pPr algn="l"/>
          </a:p>
          <a:p>
            <a:pPr algn="l"/>
            <a:r>
              <a:rPr sz="1500">
                <a:solidFill>
                  <a:srgbClr val="F8F8F2"/>
                </a:solidFill>
                <a:latin typeface="Consolas"/>
              </a:rPr>
              <a:t>font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92672"/>
                </a:solidFill>
                <a:latin typeface="Consolas"/>
              </a:rPr>
              <a:t>=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pygame</a:t>
            </a:r>
            <a:r>
              <a:rPr sz="1500">
                <a:solidFill>
                  <a:srgbClr val="F92672"/>
                </a:solidFill>
                <a:latin typeface="Consolas"/>
              </a:rPr>
              <a:t>.</a:t>
            </a:r>
            <a:r>
              <a:rPr sz="1500">
                <a:solidFill>
                  <a:srgbClr val="F8F8F2"/>
                </a:solidFill>
                <a:latin typeface="Consolas"/>
              </a:rPr>
              <a:t>font</a:t>
            </a:r>
            <a:r>
              <a:rPr sz="1500">
                <a:solidFill>
                  <a:srgbClr val="F92672"/>
                </a:solidFill>
                <a:latin typeface="Consolas"/>
              </a:rPr>
              <a:t>.</a:t>
            </a:r>
            <a:r>
              <a:rPr sz="1500">
                <a:solidFill>
                  <a:srgbClr val="F8F8F2"/>
                </a:solidFill>
                <a:latin typeface="Consolas"/>
              </a:rPr>
              <a:t>SysFont</a:t>
            </a:r>
            <a:r>
              <a:rPr sz="1500">
                <a:solidFill>
                  <a:srgbClr val="F8F8F2"/>
                </a:solidFill>
                <a:latin typeface="Consolas"/>
              </a:rPr>
              <a:t>(</a:t>
            </a:r>
            <a:r>
              <a:rPr sz="1500">
                <a:solidFill>
                  <a:srgbClr val="66D9EF"/>
                </a:solidFill>
                <a:latin typeface="Consolas"/>
              </a:rPr>
              <a:t>None</a:t>
            </a:r>
            <a:r>
              <a:rPr sz="1500">
                <a:solidFill>
                  <a:srgbClr val="F8F8F2"/>
                </a:solidFill>
                <a:latin typeface="Consolas"/>
              </a:rPr>
              <a:t>,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AE81FF"/>
                </a:solidFill>
                <a:latin typeface="Consolas"/>
              </a:rPr>
              <a:t>60</a:t>
            </a:r>
            <a:r>
              <a:rPr sz="1500">
                <a:solidFill>
                  <a:srgbClr val="F8F8F2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F8F8F2"/>
                </a:solidFill>
                <a:latin typeface="Consolas"/>
              </a:rPr>
              <a:t>text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92672"/>
                </a:solidFill>
                <a:latin typeface="Consolas"/>
              </a:rPr>
              <a:t>=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font</a:t>
            </a:r>
            <a:r>
              <a:rPr sz="1500">
                <a:solidFill>
                  <a:srgbClr val="F92672"/>
                </a:solidFill>
                <a:latin typeface="Consolas"/>
              </a:rPr>
              <a:t>.</a:t>
            </a:r>
            <a:r>
              <a:rPr sz="1500">
                <a:solidFill>
                  <a:srgbClr val="F8F8F2"/>
                </a:solidFill>
                <a:latin typeface="Consolas"/>
              </a:rPr>
              <a:t>render</a:t>
            </a:r>
            <a:r>
              <a:rPr sz="1500">
                <a:solidFill>
                  <a:srgbClr val="F8F8F2"/>
                </a:solidFill>
                <a:latin typeface="Consolas"/>
              </a:rPr>
              <a:t>(</a:t>
            </a:r>
            <a:r>
              <a:rPr sz="1500">
                <a:solidFill>
                  <a:srgbClr val="E6DB74"/>
                </a:solidFill>
                <a:latin typeface="Consolas"/>
              </a:rPr>
              <a:t>"</a:t>
            </a:r>
            <a:r>
              <a:rPr sz="1500">
                <a:solidFill>
                  <a:srgbClr val="E6DB74"/>
                </a:solidFill>
                <a:latin typeface="Consolas"/>
              </a:rPr>
              <a:t>Game Over</a:t>
            </a:r>
            <a:r>
              <a:rPr sz="1500">
                <a:solidFill>
                  <a:srgbClr val="E6DB74"/>
                </a:solidFill>
                <a:latin typeface="Consolas"/>
              </a:rPr>
              <a:t>"</a:t>
            </a:r>
            <a:r>
              <a:rPr sz="1500">
                <a:solidFill>
                  <a:srgbClr val="F8F8F2"/>
                </a:solidFill>
                <a:latin typeface="Consolas"/>
              </a:rPr>
              <a:t>,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66D9EF"/>
                </a:solidFill>
                <a:latin typeface="Consolas"/>
              </a:rPr>
              <a:t>True</a:t>
            </a:r>
            <a:r>
              <a:rPr sz="1500">
                <a:solidFill>
                  <a:srgbClr val="F8F8F2"/>
                </a:solidFill>
                <a:latin typeface="Consolas"/>
              </a:rPr>
              <a:t>,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(</a:t>
            </a:r>
            <a:r>
              <a:rPr sz="1500">
                <a:solidFill>
                  <a:srgbClr val="AE81FF"/>
                </a:solidFill>
                <a:latin typeface="Consolas"/>
              </a:rPr>
              <a:t>200</a:t>
            </a:r>
            <a:r>
              <a:rPr sz="1500">
                <a:solidFill>
                  <a:srgbClr val="F8F8F2"/>
                </a:solidFill>
                <a:latin typeface="Consolas"/>
              </a:rPr>
              <a:t>,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AE81FF"/>
                </a:solidFill>
                <a:latin typeface="Consolas"/>
              </a:rPr>
              <a:t>0</a:t>
            </a:r>
            <a:r>
              <a:rPr sz="1500">
                <a:solidFill>
                  <a:srgbClr val="F8F8F2"/>
                </a:solidFill>
                <a:latin typeface="Consolas"/>
              </a:rPr>
              <a:t>,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AE81FF"/>
                </a:solidFill>
                <a:latin typeface="Consolas"/>
              </a:rPr>
              <a:t>0</a:t>
            </a:r>
            <a:r>
              <a:rPr sz="1500">
                <a:solidFill>
                  <a:srgbClr val="F8F8F2"/>
                </a:solidFill>
                <a:latin typeface="Consolas"/>
              </a:rPr>
              <a:t>)</a:t>
            </a:r>
            <a:r>
              <a:rPr sz="1500">
                <a:solidFill>
                  <a:srgbClr val="F8F8F2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F8F8F2"/>
                </a:solidFill>
                <a:latin typeface="Consolas"/>
              </a:rPr>
              <a:t>win</a:t>
            </a:r>
            <a:r>
              <a:rPr sz="1500">
                <a:solidFill>
                  <a:srgbClr val="F92672"/>
                </a:solidFill>
                <a:latin typeface="Consolas"/>
              </a:rPr>
              <a:t>.</a:t>
            </a:r>
            <a:r>
              <a:rPr sz="1500">
                <a:solidFill>
                  <a:srgbClr val="F8F8F2"/>
                </a:solidFill>
                <a:latin typeface="Consolas"/>
              </a:rPr>
              <a:t>blit</a:t>
            </a:r>
            <a:r>
              <a:rPr sz="1500">
                <a:solidFill>
                  <a:srgbClr val="F8F8F2"/>
                </a:solidFill>
                <a:latin typeface="Consolas"/>
              </a:rPr>
              <a:t>(</a:t>
            </a:r>
            <a:r>
              <a:rPr sz="1500">
                <a:solidFill>
                  <a:srgbClr val="F8F8F2"/>
                </a:solidFill>
                <a:latin typeface="Consolas"/>
              </a:rPr>
              <a:t>text</a:t>
            </a:r>
            <a:r>
              <a:rPr sz="1500">
                <a:solidFill>
                  <a:srgbClr val="F8F8F2"/>
                </a:solidFill>
                <a:latin typeface="Consolas"/>
              </a:rPr>
              <a:t>,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(</a:t>
            </a:r>
            <a:r>
              <a:rPr sz="1500">
                <a:solidFill>
                  <a:srgbClr val="AE81FF"/>
                </a:solidFill>
                <a:latin typeface="Consolas"/>
              </a:rPr>
              <a:t>300</a:t>
            </a:r>
            <a:r>
              <a:rPr sz="1500">
                <a:solidFill>
                  <a:srgbClr val="F8F8F2"/>
                </a:solidFill>
                <a:latin typeface="Consolas"/>
              </a:rPr>
              <a:t>,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AE81FF"/>
                </a:solidFill>
                <a:latin typeface="Consolas"/>
              </a:rPr>
              <a:t>200</a:t>
            </a:r>
            <a:r>
              <a:rPr sz="1500">
                <a:solidFill>
                  <a:srgbClr val="F8F8F2"/>
                </a:solidFill>
                <a:latin typeface="Consolas"/>
              </a:rPr>
              <a:t>)</a:t>
            </a:r>
            <a:r>
              <a:rPr sz="1500">
                <a:solidFill>
                  <a:srgbClr val="F8F8F2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45920"/>
            <a:ext cx="4690872" cy="91440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44200" y="1783080"/>
            <a:ext cx="640080" cy="640080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1783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1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719072"/>
            <a:ext cx="3474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0"/>
            <a:r>
              <a:rPr sz="1800" b="1" lang="en-US" altLang="en-US">
                <a:solidFill>
                  <a:srgbClr val="2D2D3A"/>
                </a:solidFill>
                <a:latin typeface="Consolas"/>
                <a:cs typeface="Consolas"/>
              </a:rPr>
              <a:t>clock.tick(300)</a:t>
            </a:r>
          </a:p>
          <a:p>
            <a:pPr algn="r" rtl="1">
              <a:spcBef>
                <a:spcPts val="600"/>
              </a:spcBef>
            </a:pP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לכל היותר </a:t>
            </a:r>
            <a:r>
              <a:rPr sz="1500" b="0" lang="en-US" altLang="en-US">
                <a:solidFill>
                  <a:srgbClr val="5C5C70"/>
                </a:solidFill>
                <a:latin typeface="Arial"/>
                <a:cs typeface="Arial"/>
              </a:rPr>
              <a:t>300</a:t>
            </a: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 פריימים בשנייה - שולט במהירות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743200"/>
            <a:ext cx="4690872" cy="91440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44200" y="2880360"/>
            <a:ext cx="640080" cy="640080"/>
          </a:xfrm>
          <a:prstGeom prst="ellipse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2880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1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816352"/>
            <a:ext cx="3474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0"/>
            <a:r>
              <a:rPr sz="1800" b="1" lang="en-US" altLang="en-US">
                <a:solidFill>
                  <a:srgbClr val="2D2D3A"/>
                </a:solidFill>
                <a:latin typeface="Consolas"/>
                <a:cs typeface="Consolas"/>
              </a:rPr>
              <a:t>font.render</a:t>
            </a:r>
          </a:p>
          <a:p>
            <a:pPr algn="r" rtl="1">
              <a:spcBef>
                <a:spcPts val="600"/>
              </a:spcBef>
            </a:pP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הופך טקסט לתמונה. אחר כך </a:t>
            </a:r>
            <a:r>
              <a:rPr sz="1500" b="0" lang="en-US" altLang="en-US">
                <a:solidFill>
                  <a:srgbClr val="5C5C70"/>
                </a:solidFill>
                <a:latin typeface="Arial"/>
                <a:cs typeface="Arial"/>
              </a:rPr>
              <a:t>blit</a:t>
            </a: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 כרגיל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840480"/>
            <a:ext cx="4690872" cy="91440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44200" y="3977640"/>
            <a:ext cx="640080" cy="640080"/>
          </a:xfrm>
          <a:prstGeom prst="ellipse">
            <a:avLst/>
          </a:prstGeom>
          <a:solidFill>
            <a:srgbClr val="C8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0" y="39776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1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913632"/>
            <a:ext cx="3474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0"/>
            <a:r>
              <a:rPr sz="1800" b="1" lang="en-US" altLang="en-US">
                <a:solidFill>
                  <a:srgbClr val="2D2D3A"/>
                </a:solidFill>
                <a:latin typeface="Consolas"/>
                <a:cs typeface="Consolas"/>
              </a:rPr>
              <a:t>(200, 0, 0)</a:t>
            </a:r>
          </a:p>
          <a:p>
            <a:pPr algn="r" rtl="1">
              <a:spcBef>
                <a:spcPts val="600"/>
              </a:spcBef>
            </a:pP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צבע = (אדום, ירוק, כחול), כל אחד </a:t>
            </a:r>
            <a:r>
              <a:rPr sz="1500" b="0" lang="en-US" altLang="en-US">
                <a:solidFill>
                  <a:srgbClr val="5C5C70"/>
                </a:solidFill>
                <a:latin typeface="Arial"/>
                <a:cs typeface="Arial"/>
              </a:rPr>
              <a:t>0</a:t>
            </a: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 עד </a:t>
            </a:r>
            <a:r>
              <a:rPr sz="1500" b="0" lang="en-US" altLang="en-US">
                <a:solidFill>
                  <a:srgbClr val="5C5C70"/>
                </a:solidFill>
                <a:latin typeface="Arial"/>
                <a:cs typeface="Arial"/>
              </a:rPr>
              <a:t>255</a:t>
            </a:r>
          </a:p>
        </p:txBody>
      </p:sp>
      <p:pic>
        <p:nvPicPr>
          <p:cNvPr id="18" name="Picture 17" descr="deck_game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83480"/>
            <a:ext cx="3108960" cy="1554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31920" y="521208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0" lang="he-IL" altLang="en-US">
                <a:solidFill>
                  <a:srgbClr val="5C5C70"/>
                </a:solidFill>
                <a:latin typeface="Arial"/>
                <a:cs typeface="Arial"/>
              </a:rPr>
              <a:t>ככה זה נראה</a:t>
            </a:r>
          </a:p>
          <a:p>
            <a:pPr algn="r" rtl="1">
              <a:spcBef>
                <a:spcPts val="600"/>
              </a:spcBef>
            </a:pPr>
            <a:r>
              <a:rPr sz="1600" b="0" lang="he-IL" altLang="en-US">
                <a:solidFill>
                  <a:srgbClr val="5C5C70"/>
                </a:solidFill>
                <a:latin typeface="Arial"/>
                <a:cs typeface="Arial"/>
              </a:rPr>
              <a:t>במשחק שלנו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4400" b="1" lang="he-IL" altLang="en-US">
                <a:solidFill>
                  <a:srgbClr val="FFFFFF"/>
                </a:solidFill>
                <a:latin typeface="Arial"/>
                <a:cs typeface="Arial"/>
              </a:rPr>
              <a:t>מפרקים את המשחק </a:t>
            </a:r>
            <a:r>
              <a:rPr sz="4400" b="1" lang="he-IL" altLang="en-US">
                <a:solidFill>
                  <a:srgbClr val="FFFFFF"/>
                </a:solidFill>
                <a:latin typeface="Segoe UI Emoji"/>
                <a:cs typeface="Segoe UI Emoji"/>
              </a:rPr>
              <a:t>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200" b="0" lang="en-US" altLang="en-US">
                <a:solidFill>
                  <a:srgbClr val="F2CC8F"/>
                </a:solidFill>
                <a:latin typeface="Arial"/>
                <a:cs typeface="Arial"/>
              </a:rPr>
              <a:t>dino_birds.py</a:t>
            </a:r>
            <a:r>
              <a:rPr sz="2200" b="0" lang="he-IL" altLang="en-US">
                <a:solidFill>
                  <a:srgbClr val="F2CC8F"/>
                </a:solidFill>
                <a:latin typeface="Arial"/>
                <a:cs typeface="Arial"/>
              </a:rPr>
              <a:t> - כל פריים בנוי מ-</a:t>
            </a:r>
            <a:r>
              <a:rPr sz="2200" b="0" lang="en-US" altLang="en-US">
                <a:solidFill>
                  <a:srgbClr val="F2CC8F"/>
                </a:solidFill>
                <a:latin typeface="Arial"/>
                <a:cs typeface="Arial"/>
              </a:rPr>
              <a:t>7</a:t>
            </a:r>
            <a:r>
              <a:rPr sz="2200" b="0" lang="he-IL" altLang="en-US">
                <a:solidFill>
                  <a:srgbClr val="F2CC8F"/>
                </a:solidFill>
                <a:latin typeface="Arial"/>
                <a:cs typeface="Arial"/>
              </a:rPr>
              <a:t> צעדים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0152" y="25603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0152" y="265176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3000" b="1" lang="en-US" altLang="en-US">
                <a:solidFill>
                  <a:srgbClr val="E07A2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329184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700" b="1" lang="he-IL" altLang="en-US">
                <a:solidFill>
                  <a:srgbClr val="FFFFFF"/>
                </a:solidFill>
                <a:latin typeface="Arial"/>
                <a:cs typeface="Arial"/>
              </a:rPr>
              <a:t>אירועים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0177272" y="3264408"/>
            <a:ext cx="146304" cy="0"/>
          </a:xfrm>
          <a:prstGeom prst="line">
            <a:avLst/>
          </a:prstGeom>
          <a:ln w="25400">
            <a:solidFill>
              <a:srgbClr val="F2C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732520" y="25603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265176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3000" b="1" lang="en-US" altLang="en-US">
                <a:solidFill>
                  <a:srgbClr val="E07A2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29184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700" b="1" lang="he-IL" altLang="en-US">
                <a:solidFill>
                  <a:srgbClr val="FFFFFF"/>
                </a:solidFill>
                <a:latin typeface="Arial"/>
                <a:cs typeface="Arial"/>
              </a:rPr>
              <a:t>רקע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8549640" y="3264408"/>
            <a:ext cx="146304" cy="0"/>
          </a:xfrm>
          <a:prstGeom prst="line">
            <a:avLst/>
          </a:prstGeom>
          <a:ln w="25400">
            <a:solidFill>
              <a:srgbClr val="F2C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04888" y="25603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265176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3000" b="1" lang="en-US" altLang="en-US">
                <a:solidFill>
                  <a:srgbClr val="E07A2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329184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700" b="1" lang="he-IL" altLang="en-US">
                <a:solidFill>
                  <a:srgbClr val="FFFFFF"/>
                </a:solidFill>
                <a:latin typeface="Arial"/>
                <a:cs typeface="Arial"/>
              </a:rPr>
              <a:t>דינוזאור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922007" y="3264408"/>
            <a:ext cx="146305" cy="0"/>
          </a:xfrm>
          <a:prstGeom prst="line">
            <a:avLst/>
          </a:prstGeom>
          <a:ln w="25400">
            <a:solidFill>
              <a:srgbClr val="F2C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77256" y="25603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7256" y="265176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3000" b="1" lang="en-US" altLang="en-US">
                <a:solidFill>
                  <a:srgbClr val="E07A2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6" y="329184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700" b="1" lang="he-IL" altLang="en-US">
                <a:solidFill>
                  <a:srgbClr val="FFFFFF"/>
                </a:solidFill>
                <a:latin typeface="Arial"/>
                <a:cs typeface="Arial"/>
              </a:rPr>
              <a:t>צמח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294376" y="3264408"/>
            <a:ext cx="146304" cy="0"/>
          </a:xfrm>
          <a:prstGeom prst="line">
            <a:avLst/>
          </a:prstGeom>
          <a:ln w="25400">
            <a:solidFill>
              <a:srgbClr val="F2C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49624" y="25603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9624" y="265176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3000" b="1" lang="en-US" altLang="en-US">
                <a:solidFill>
                  <a:srgbClr val="E07A2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329184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700" b="1" lang="he-IL" altLang="en-US">
                <a:solidFill>
                  <a:srgbClr val="FFFFFF"/>
                </a:solidFill>
                <a:latin typeface="Arial"/>
                <a:cs typeface="Arial"/>
              </a:rPr>
              <a:t>ציפור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666744" y="3264408"/>
            <a:ext cx="146304" cy="0"/>
          </a:xfrm>
          <a:prstGeom prst="line">
            <a:avLst/>
          </a:prstGeom>
          <a:ln w="25400">
            <a:solidFill>
              <a:srgbClr val="F2C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221991" y="25603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21991" y="265176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3000" b="1" lang="en-US" altLang="en-US">
                <a:solidFill>
                  <a:srgbClr val="E07A2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21991" y="329184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700" b="1" lang="he-IL" altLang="en-US">
                <a:solidFill>
                  <a:srgbClr val="FFFFFF"/>
                </a:solidFill>
                <a:latin typeface="Arial"/>
                <a:cs typeface="Arial"/>
              </a:rPr>
              <a:t>התנגשות?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039111" y="3264408"/>
            <a:ext cx="146304" cy="0"/>
          </a:xfrm>
          <a:prstGeom prst="line">
            <a:avLst/>
          </a:prstGeom>
          <a:ln w="25400">
            <a:solidFill>
              <a:srgbClr val="F2C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4360" y="256032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65176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3000" b="1" lang="en-US" altLang="en-US">
                <a:solidFill>
                  <a:srgbClr val="E07A2F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29184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700" b="1" lang="he-IL" altLang="en-US">
                <a:solidFill>
                  <a:srgbClr val="FFFFFF"/>
                </a:solidFill>
                <a:latin typeface="Arial"/>
                <a:cs typeface="Arial"/>
              </a:rPr>
              <a:t>הצגה</a:t>
            </a:r>
          </a:p>
        </p:txBody>
      </p:sp>
      <p:pic>
        <p:nvPicPr>
          <p:cNvPr id="31" name="Picture 30" descr="deck_08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4343400"/>
            <a:ext cx="4572000" cy="2286000"/>
          </a:xfrm>
          <a:prstGeom prst="rect">
            <a:avLst/>
          </a:prstGeom>
          <a:ln w="50800">
            <a:solidFill>
              <a:srgbClr val="F2CC8F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טריק </a:t>
            </a:r>
            <a:r>
              <a:rPr sz="3600" b="1" lang="en-US" altLang="en-US">
                <a:solidFill>
                  <a:srgbClr val="2B2A4C"/>
                </a:solidFill>
                <a:latin typeface="Arial"/>
                <a:cs typeface="Arial"/>
              </a:rPr>
              <a:t>1</a:t>
            </a:r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: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רקע אינסופי</a:t>
            </a:r>
          </a:p>
        </p:txBody>
      </p:sp>
      <p:pic>
        <p:nvPicPr>
          <p:cNvPr id="4" name="Picture 3" descr="dese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3657600" cy="1828800"/>
          </a:xfrm>
          <a:prstGeom prst="rect">
            <a:avLst/>
          </a:prstGeom>
        </p:spPr>
      </p:pic>
      <p:pic>
        <p:nvPicPr>
          <p:cNvPr id="5" name="Picture 4" descr="dese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737360"/>
            <a:ext cx="3657600" cy="1828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37360" y="1627631"/>
            <a:ext cx="3657600" cy="2048256"/>
          </a:xfrm>
          <a:prstGeom prst="rect">
            <a:avLst/>
          </a:prstGeom>
          <a:noFill/>
          <a:ln w="63500">
            <a:solidFill>
              <a:srgbClr val="C83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74903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1" lang="he-IL" altLang="en-US">
                <a:solidFill>
                  <a:srgbClr val="C83E4D"/>
                </a:solidFill>
                <a:latin typeface="Arial"/>
                <a:cs typeface="Arial"/>
              </a:rPr>
              <a:t>החלון - מה שהשחקן רואה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400" b="0" lang="he-IL" altLang="en-US">
                <a:solidFill>
                  <a:srgbClr val="5C5C70"/>
                </a:solidFill>
                <a:latin typeface="Arial"/>
                <a:cs typeface="Arial"/>
              </a:rPr>
              <a:t>תמונה </a:t>
            </a:r>
            <a:r>
              <a:rPr sz="1400" b="0" lang="en-US" altLang="en-US">
                <a:solidFill>
                  <a:srgbClr val="5C5C70"/>
                </a:solidFill>
                <a:latin typeface="Arial"/>
                <a:cs typeface="Arial"/>
              </a:rPr>
              <a:t>1</a:t>
            </a:r>
            <a:r>
              <a:rPr sz="1400" b="0" lang="he-IL" altLang="en-US">
                <a:solidFill>
                  <a:srgbClr val="5C5C70"/>
                </a:solidFill>
                <a:latin typeface="Arial"/>
                <a:cs typeface="Arial"/>
              </a:rPr>
              <a:t> במקום </a:t>
            </a:r>
            <a:r>
              <a:rPr sz="1400" b="0" lang="en-US" altLang="en-US">
                <a:solidFill>
                  <a:srgbClr val="5C5C70"/>
                </a:solidFill>
                <a:latin typeface="Arial"/>
                <a:cs typeface="Arial"/>
              </a:rPr>
              <a:t>(-i,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280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400" b="0" lang="he-IL" altLang="en-US">
                <a:solidFill>
                  <a:srgbClr val="5C5C70"/>
                </a:solidFill>
                <a:latin typeface="Arial"/>
                <a:cs typeface="Arial"/>
              </a:rPr>
              <a:t>תמונה </a:t>
            </a:r>
            <a:r>
              <a:rPr sz="1400" b="0" lang="en-US" altLang="en-US">
                <a:solidFill>
                  <a:srgbClr val="5C5C70"/>
                </a:solidFill>
                <a:latin typeface="Arial"/>
                <a:cs typeface="Arial"/>
              </a:rPr>
              <a:t>2</a:t>
            </a:r>
            <a:r>
              <a:rPr sz="1400" b="0" lang="he-IL" altLang="en-US">
                <a:solidFill>
                  <a:srgbClr val="5C5C70"/>
                </a:solidFill>
                <a:latin typeface="Arial"/>
                <a:cs typeface="Arial"/>
              </a:rPr>
              <a:t> במקום </a:t>
            </a:r>
            <a:r>
              <a:rPr sz="1400" b="0" lang="en-US" altLang="en-US">
                <a:solidFill>
                  <a:srgbClr val="5C5C70"/>
                </a:solidFill>
                <a:latin typeface="Arial"/>
                <a:cs typeface="Arial"/>
              </a:rPr>
              <a:t>(1000-i, 0)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474720" y="4434840"/>
            <a:ext cx="1828800" cy="0"/>
          </a:xfrm>
          <a:prstGeom prst="line">
            <a:avLst/>
          </a:prstGeom>
          <a:ln w="50800">
            <a:solidFill>
              <a:srgbClr val="E07A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0" y="42519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500" b="1" lang="he-IL" altLang="en-US">
                <a:solidFill>
                  <a:srgbClr val="E07A2F"/>
                </a:solidFill>
                <a:latin typeface="Arial"/>
                <a:cs typeface="Arial"/>
              </a:rPr>
              <a:t>שתיהן זזות שמאלה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4937760" cy="1691640"/>
          </a:xfrm>
          <a:prstGeom prst="roundRect">
            <a:avLst>
              <a:gd name="adj" fmla="val 5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4480560" cy="1325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F8F8F2"/>
                </a:solidFill>
                <a:latin typeface="Consolas"/>
              </a:rPr>
              <a:t>win</a:t>
            </a:r>
            <a:r>
              <a:rPr sz="1500">
                <a:solidFill>
                  <a:srgbClr val="F92672"/>
                </a:solidFill>
                <a:latin typeface="Consolas"/>
              </a:rPr>
              <a:t>.</a:t>
            </a:r>
            <a:r>
              <a:rPr sz="1500">
                <a:solidFill>
                  <a:srgbClr val="F8F8F2"/>
                </a:solidFill>
                <a:latin typeface="Consolas"/>
              </a:rPr>
              <a:t>blit</a:t>
            </a:r>
            <a:r>
              <a:rPr sz="1500">
                <a:solidFill>
                  <a:srgbClr val="F8F8F2"/>
                </a:solidFill>
                <a:latin typeface="Consolas"/>
              </a:rPr>
              <a:t>(</a:t>
            </a:r>
            <a:r>
              <a:rPr sz="1500">
                <a:solidFill>
                  <a:srgbClr val="F8F8F2"/>
                </a:solidFill>
                <a:latin typeface="Consolas"/>
              </a:rPr>
              <a:t>bm_img</a:t>
            </a:r>
            <a:r>
              <a:rPr sz="1500">
                <a:solidFill>
                  <a:srgbClr val="F8F8F2"/>
                </a:solidFill>
                <a:latin typeface="Consolas"/>
              </a:rPr>
              <a:t>,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(</a:t>
            </a:r>
            <a:r>
              <a:rPr sz="1500">
                <a:solidFill>
                  <a:srgbClr val="F92672"/>
                </a:solidFill>
                <a:latin typeface="Consolas"/>
              </a:rPr>
              <a:t>-</a:t>
            </a:r>
            <a:r>
              <a:rPr sz="1500">
                <a:solidFill>
                  <a:srgbClr val="F8F8F2"/>
                </a:solidFill>
                <a:latin typeface="Consolas"/>
              </a:rPr>
              <a:t>i</a:t>
            </a:r>
            <a:r>
              <a:rPr sz="1500">
                <a:solidFill>
                  <a:srgbClr val="F8F8F2"/>
                </a:solidFill>
                <a:latin typeface="Consolas"/>
              </a:rPr>
              <a:t>,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AE81FF"/>
                </a:solidFill>
                <a:latin typeface="Consolas"/>
              </a:rPr>
              <a:t>0</a:t>
            </a:r>
            <a:r>
              <a:rPr sz="1500">
                <a:solidFill>
                  <a:srgbClr val="F8F8F2"/>
                </a:solidFill>
                <a:latin typeface="Consolas"/>
              </a:rPr>
              <a:t>)</a:t>
            </a:r>
            <a:r>
              <a:rPr sz="1500">
                <a:solidFill>
                  <a:srgbClr val="F8F8F2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F8F8F2"/>
                </a:solidFill>
                <a:latin typeface="Consolas"/>
              </a:rPr>
              <a:t>win</a:t>
            </a:r>
            <a:r>
              <a:rPr sz="1500">
                <a:solidFill>
                  <a:srgbClr val="F92672"/>
                </a:solidFill>
                <a:latin typeface="Consolas"/>
              </a:rPr>
              <a:t>.</a:t>
            </a:r>
            <a:r>
              <a:rPr sz="1500">
                <a:solidFill>
                  <a:srgbClr val="F8F8F2"/>
                </a:solidFill>
                <a:latin typeface="Consolas"/>
              </a:rPr>
              <a:t>blit</a:t>
            </a:r>
            <a:r>
              <a:rPr sz="1500">
                <a:solidFill>
                  <a:srgbClr val="F8F8F2"/>
                </a:solidFill>
                <a:latin typeface="Consolas"/>
              </a:rPr>
              <a:t>(</a:t>
            </a:r>
            <a:r>
              <a:rPr sz="1500">
                <a:solidFill>
                  <a:srgbClr val="F8F8F2"/>
                </a:solidFill>
                <a:latin typeface="Consolas"/>
              </a:rPr>
              <a:t>bm_img</a:t>
            </a:r>
            <a:r>
              <a:rPr sz="1500">
                <a:solidFill>
                  <a:srgbClr val="F8F8F2"/>
                </a:solidFill>
                <a:latin typeface="Consolas"/>
              </a:rPr>
              <a:t>,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(</a:t>
            </a:r>
            <a:r>
              <a:rPr sz="1500">
                <a:solidFill>
                  <a:srgbClr val="AE81FF"/>
                </a:solidFill>
                <a:latin typeface="Consolas"/>
              </a:rPr>
              <a:t>1000</a:t>
            </a:r>
            <a:r>
              <a:rPr sz="1500">
                <a:solidFill>
                  <a:srgbClr val="F92672"/>
                </a:solidFill>
                <a:latin typeface="Consolas"/>
              </a:rPr>
              <a:t>-</a:t>
            </a:r>
            <a:r>
              <a:rPr sz="1500">
                <a:solidFill>
                  <a:srgbClr val="F8F8F2"/>
                </a:solidFill>
                <a:latin typeface="Consolas"/>
              </a:rPr>
              <a:t>i</a:t>
            </a:r>
            <a:r>
              <a:rPr sz="1500">
                <a:solidFill>
                  <a:srgbClr val="F8F8F2"/>
                </a:solidFill>
                <a:latin typeface="Consolas"/>
              </a:rPr>
              <a:t>,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AE81FF"/>
                </a:solidFill>
                <a:latin typeface="Consolas"/>
              </a:rPr>
              <a:t>0</a:t>
            </a:r>
            <a:r>
              <a:rPr sz="1500">
                <a:solidFill>
                  <a:srgbClr val="F8F8F2"/>
                </a:solidFill>
                <a:latin typeface="Consolas"/>
              </a:rPr>
              <a:t>)</a:t>
            </a:r>
            <a:r>
              <a:rPr sz="1500">
                <a:solidFill>
                  <a:srgbClr val="F8F8F2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66D9EF"/>
                </a:solidFill>
                <a:latin typeface="Consolas"/>
              </a:rPr>
              <a:t>if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i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92672"/>
                </a:solidFill>
                <a:latin typeface="Consolas"/>
              </a:rPr>
              <a:t>==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AE81FF"/>
                </a:solidFill>
                <a:latin typeface="Consolas"/>
              </a:rPr>
              <a:t>1000</a:t>
            </a:r>
            <a:r>
              <a:rPr sz="1500">
                <a:solidFill>
                  <a:srgbClr val="F8F8F2"/>
                </a:solidFill>
                <a:latin typeface="Consolas"/>
              </a:rPr>
              <a:t>:</a:t>
            </a:r>
          </a:p>
          <a:p>
            <a:pPr algn="l"/>
            <a:r>
              <a:rPr sz="1500">
                <a:solidFill>
                  <a:srgbClr val="F8F8F2"/>
                </a:solidFill>
                <a:latin typeface="Consolas"/>
              </a:rPr>
              <a:t>    </a:t>
            </a:r>
            <a:r>
              <a:rPr sz="1500">
                <a:solidFill>
                  <a:srgbClr val="F8F8F2"/>
                </a:solidFill>
                <a:latin typeface="Consolas"/>
              </a:rPr>
              <a:t>i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92672"/>
                </a:solidFill>
                <a:latin typeface="Consolas"/>
              </a:rPr>
              <a:t>=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AE81FF"/>
                </a:solidFill>
                <a:latin typeface="Consolas"/>
              </a:rPr>
              <a:t>0</a:t>
            </a:r>
          </a:p>
          <a:p>
            <a:pPr algn="l"/>
            <a:r>
              <a:rPr sz="1500">
                <a:solidFill>
                  <a:srgbClr val="F8F8F2"/>
                </a:solidFill>
                <a:latin typeface="Consolas"/>
              </a:rPr>
              <a:t>i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92672"/>
                </a:solidFill>
                <a:latin typeface="Consolas"/>
              </a:rPr>
              <a:t>=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i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92672"/>
                </a:solidFill>
                <a:latin typeface="Consolas"/>
              </a:rPr>
              <a:t>+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AE81FF"/>
                </a:solidFill>
                <a:latin typeface="Consola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572000"/>
            <a:ext cx="3502152" cy="169164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572000"/>
            <a:ext cx="3136392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כשתמונה </a:t>
            </a:r>
            <a:r>
              <a:rPr sz="1600" b="0" lang="en-US" altLang="en-US">
                <a:solidFill>
                  <a:srgbClr val="2D2D3A"/>
                </a:solidFill>
                <a:latin typeface="Arial"/>
                <a:cs typeface="Arial"/>
              </a:rPr>
              <a:t>1</a:t>
            </a:r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 יוצאת לגמרי - מאפסים.</a:t>
            </a:r>
          </a:p>
          <a:p>
            <a:pPr algn="r" rtl="1">
              <a:spcBef>
                <a:spcPts val="600"/>
              </a:spcBef>
            </a:pPr>
            <a:r>
              <a:rPr sz="1600" b="1" lang="he-IL" altLang="en-US">
                <a:solidFill>
                  <a:srgbClr val="2D2D3A"/>
                </a:solidFill>
                <a:latin typeface="Arial"/>
                <a:cs typeface="Arial"/>
              </a:rPr>
              <a:t>התמונות זהות - אף אחד לא שם לב! </a:t>
            </a:r>
            <a:r>
              <a:rPr sz="16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טריק </a:t>
            </a:r>
            <a:r>
              <a:rPr sz="3600" b="1" lang="en-US" altLang="en-US">
                <a:solidFill>
                  <a:srgbClr val="2B2A4C"/>
                </a:solidFill>
                <a:latin typeface="Arial"/>
                <a:cs typeface="Arial"/>
              </a:rPr>
              <a:t>2</a:t>
            </a:r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: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אנימציה = החלפת תמונות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645920"/>
            <a:ext cx="5029200" cy="237744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n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1371600" cy="1371600"/>
          </a:xfrm>
          <a:prstGeom prst="rect">
            <a:avLst/>
          </a:prstGeom>
        </p:spPr>
      </p:pic>
      <p:pic>
        <p:nvPicPr>
          <p:cNvPr id="6" name="Picture 5" descr="din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1965960"/>
            <a:ext cx="1304144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228600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4000" b="1" lang="he-IL" altLang="en-US">
                <a:solidFill>
                  <a:srgbClr val="E07A2F"/>
                </a:solidFill>
                <a:latin typeface="Segoe UI Symbol"/>
                <a:cs typeface="Segoe UI Symbol"/>
              </a:rPr>
              <a:t>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47472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800" b="1" lang="he-IL" altLang="en-US">
                <a:solidFill>
                  <a:srgbClr val="2D2D3A"/>
                </a:solidFill>
                <a:latin typeface="Arial"/>
                <a:cs typeface="Arial"/>
              </a:rPr>
              <a:t>הדינוזאור הולך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5029200" cy="237744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ir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1965960"/>
            <a:ext cx="1518557" cy="1371600"/>
          </a:xfrm>
          <a:prstGeom prst="rect">
            <a:avLst/>
          </a:prstGeom>
        </p:spPr>
      </p:pic>
      <p:pic>
        <p:nvPicPr>
          <p:cNvPr id="11" name="Picture 10" descr="bir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1965960"/>
            <a:ext cx="1896894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88920" y="228600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4000" b="1" lang="he-IL" altLang="en-US">
                <a:solidFill>
                  <a:srgbClr val="E07A2F"/>
                </a:solidFill>
                <a:latin typeface="Segoe UI Symbol"/>
                <a:cs typeface="Segoe UI Symbol"/>
              </a:rPr>
              <a:t>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800" b="1" lang="he-IL" altLang="en-US">
                <a:solidFill>
                  <a:srgbClr val="2D2D3A"/>
                </a:solidFill>
                <a:latin typeface="Arial"/>
                <a:cs typeface="Arial"/>
              </a:rPr>
              <a:t>הציפור מנפנפת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6400800" cy="1874519"/>
          </a:xfrm>
          <a:prstGeom prst="roundRect">
            <a:avLst>
              <a:gd name="adj" fmla="val 5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5943600" cy="1508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66D9EF"/>
                </a:solidFill>
                <a:latin typeface="Consolas"/>
              </a:rPr>
              <a:t>if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current_walking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92672"/>
                </a:solidFill>
                <a:latin typeface="Consolas"/>
              </a:rPr>
              <a:t>==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dino_walking1_img</a:t>
            </a:r>
            <a:r>
              <a:rPr sz="1500">
                <a:solidFill>
                  <a:srgbClr val="F8F8F2"/>
                </a:solidFill>
                <a:latin typeface="Consolas"/>
              </a:rPr>
              <a:t>:</a:t>
            </a:r>
          </a:p>
          <a:p>
            <a:pPr algn="l"/>
            <a:r>
              <a:rPr sz="1500">
                <a:solidFill>
                  <a:srgbClr val="F8F8F2"/>
                </a:solidFill>
                <a:latin typeface="Consolas"/>
              </a:rPr>
              <a:t>    </a:t>
            </a:r>
            <a:r>
              <a:rPr sz="1500">
                <a:solidFill>
                  <a:srgbClr val="F8F8F2"/>
                </a:solidFill>
                <a:latin typeface="Consolas"/>
              </a:rPr>
              <a:t>current_walking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92672"/>
                </a:solidFill>
                <a:latin typeface="Consolas"/>
              </a:rPr>
              <a:t>=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dino_walking2_img</a:t>
            </a:r>
          </a:p>
          <a:p>
            <a:pPr algn="l"/>
            <a:r>
              <a:rPr sz="1500">
                <a:solidFill>
                  <a:srgbClr val="66D9EF"/>
                </a:solidFill>
                <a:latin typeface="Consolas"/>
              </a:rPr>
              <a:t>else</a:t>
            </a:r>
            <a:r>
              <a:rPr sz="1500">
                <a:solidFill>
                  <a:srgbClr val="F8F8F2"/>
                </a:solidFill>
                <a:latin typeface="Consolas"/>
              </a:rPr>
              <a:t>:</a:t>
            </a:r>
          </a:p>
          <a:p>
            <a:pPr algn="l"/>
            <a:r>
              <a:rPr sz="1500">
                <a:solidFill>
                  <a:srgbClr val="F8F8F2"/>
                </a:solidFill>
                <a:latin typeface="Consolas"/>
              </a:rPr>
              <a:t>    </a:t>
            </a:r>
            <a:r>
              <a:rPr sz="1500">
                <a:solidFill>
                  <a:srgbClr val="F8F8F2"/>
                </a:solidFill>
                <a:latin typeface="Consolas"/>
              </a:rPr>
              <a:t>current_walking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92672"/>
                </a:solidFill>
                <a:latin typeface="Consolas"/>
              </a:rPr>
              <a:t>=</a:t>
            </a:r>
            <a:r>
              <a:rPr sz="1500">
                <a:solidFill>
                  <a:srgbClr val="F8F8F2"/>
                </a:solidFill>
                <a:latin typeface="Consolas"/>
              </a:rPr>
              <a:t> </a:t>
            </a:r>
            <a:r>
              <a:rPr sz="1500">
                <a:solidFill>
                  <a:srgbClr val="F8F8F2"/>
                </a:solidFill>
                <a:latin typeface="Consolas"/>
              </a:rPr>
              <a:t>dino_walking1_img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343400"/>
            <a:ext cx="4325112" cy="1874519"/>
          </a:xfrm>
          <a:prstGeom prst="roundRect">
            <a:avLst>
              <a:gd name="adj" fmla="val 12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343400"/>
            <a:ext cx="3959352" cy="1874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בכל פריים: אם מוצגת תמונה </a:t>
            </a:r>
            <a:r>
              <a:rPr sz="1600" b="0" lang="en-US" altLang="en-US">
                <a:solidFill>
                  <a:srgbClr val="2D2D3A"/>
                </a:solidFill>
                <a:latin typeface="Arial"/>
                <a:cs typeface="Arial"/>
              </a:rPr>
              <a:t>1</a:t>
            </a:r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 - עוברים ל-</a:t>
            </a:r>
            <a:r>
              <a:rPr sz="1600" b="0" lang="en-US" altLang="en-US">
                <a:solidFill>
                  <a:srgbClr val="2D2D3A"/>
                </a:solidFill>
                <a:latin typeface="Arial"/>
                <a:cs typeface="Arial"/>
              </a:rPr>
              <a:t>2</a:t>
            </a:r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, ואם </a:t>
            </a:r>
            <a:r>
              <a:rPr sz="1600" b="0" lang="en-US" altLang="en-US">
                <a:solidFill>
                  <a:srgbClr val="2D2D3A"/>
                </a:solidFill>
                <a:latin typeface="Arial"/>
                <a:cs typeface="Arial"/>
              </a:rPr>
              <a:t>2</a:t>
            </a:r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 - חוזרים ל-</a:t>
            </a:r>
            <a:r>
              <a:rPr sz="1600" b="0" lang="en-US" altLang="en-US">
                <a:solidFill>
                  <a:srgbClr val="2D2D3A"/>
                </a:solidFill>
                <a:latin typeface="Arial"/>
                <a:cs typeface="Arial"/>
              </a:rPr>
              <a:t>1</a:t>
            </a:r>
            <a:r>
              <a:rPr sz="1600" b="0" lang="he-IL" altLang="en-US">
                <a:solidFill>
                  <a:srgbClr val="2D2D3A"/>
                </a:solidFill>
                <a:latin typeface="Arial"/>
                <a:cs typeface="Arial"/>
              </a:rPr>
              <a:t>.</a:t>
            </a:r>
          </a:p>
          <a:p>
            <a:pPr algn="r" rtl="1">
              <a:spcBef>
                <a:spcPts val="600"/>
              </a:spcBef>
            </a:pPr>
            <a:r>
              <a:rPr sz="1600" b="1" lang="en-US" altLang="en-US">
                <a:solidFill>
                  <a:srgbClr val="2D2D3A"/>
                </a:solidFill>
                <a:latin typeface="Arial"/>
                <a:cs typeface="Arial"/>
              </a:rPr>
              <a:t>300</a:t>
            </a:r>
            <a:r>
              <a:rPr sz="1600" b="1" lang="he-IL" altLang="en-US">
                <a:solidFill>
                  <a:srgbClr val="2D2D3A"/>
                </a:solidFill>
                <a:latin typeface="Arial"/>
                <a:cs typeface="Arial"/>
              </a:rPr>
              <a:t> פעמים בשנייה = תנועה!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טריק </a:t>
            </a:r>
            <a:r>
              <a:rPr sz="3600" b="1" lang="en-US" altLang="en-US">
                <a:solidFill>
                  <a:srgbClr val="2B2A4C"/>
                </a:solidFill>
                <a:latin typeface="Arial"/>
                <a:cs typeface="Arial"/>
              </a:rPr>
              <a:t>3</a:t>
            </a:r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: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קפיצה עם מצבים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292608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99923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100" b="1" lang="he-IL" altLang="en-US">
                <a:solidFill>
                  <a:srgbClr val="FFFFFF"/>
                </a:solidFill>
                <a:latin typeface="Segoe UI Emoji"/>
                <a:cs typeface="Segoe UI Emoji"/>
              </a:rPr>
              <a:t>🚶 </a:t>
            </a:r>
            <a:r>
              <a:rPr sz="2100" b="1" lang="he-IL" altLang="en-US">
                <a:solidFill>
                  <a:srgbClr val="FFFFFF"/>
                </a:solidFill>
                <a:latin typeface="Arial"/>
                <a:cs typeface="Arial"/>
              </a:rPr>
              <a:t>הולך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49300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0" lang="he-IL" altLang="en-US">
                <a:solidFill>
                  <a:srgbClr val="FFFFFF"/>
                </a:solidFill>
                <a:latin typeface="Arial"/>
                <a:cs typeface="Arial"/>
              </a:rPr>
              <a:t>על הקרקע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46304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53619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100" b="1" lang="he-IL" altLang="en-US">
                <a:solidFill>
                  <a:srgbClr val="FFFFFF"/>
                </a:solidFill>
                <a:latin typeface="Segoe UI Emoji"/>
                <a:cs typeface="Segoe UI Emoji"/>
              </a:rPr>
              <a:t>⬆️ </a:t>
            </a:r>
            <a:r>
              <a:rPr sz="2100" b="1" lang="he-IL" altLang="en-US">
                <a:solidFill>
                  <a:srgbClr val="FFFFFF"/>
                </a:solidFill>
                <a:latin typeface="Arial"/>
                <a:cs typeface="Arial"/>
              </a:rPr>
              <a:t>עולה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02996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1500" b="0" lang="en-US" altLang="en-US">
                <a:solidFill>
                  <a:srgbClr val="FFFFFF"/>
                </a:solidFill>
                <a:latin typeface="Consolas"/>
                <a:cs typeface="Consolas"/>
              </a:rPr>
              <a:t>jump_i + 1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438912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C8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44622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100" b="1" lang="he-IL" altLang="en-US">
                <a:solidFill>
                  <a:srgbClr val="FFFFFF"/>
                </a:solidFill>
                <a:latin typeface="Segoe UI Emoji"/>
                <a:cs typeface="Segoe UI Emoji"/>
              </a:rPr>
              <a:t>⬇️ </a:t>
            </a:r>
            <a:r>
              <a:rPr sz="2100" b="1" lang="he-IL" altLang="en-US">
                <a:solidFill>
                  <a:srgbClr val="FFFFFF"/>
                </a:solidFill>
                <a:latin typeface="Arial"/>
                <a:cs typeface="Arial"/>
              </a:rPr>
              <a:t>יורד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95604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1500" b="0" lang="en-US" altLang="en-US">
                <a:solidFill>
                  <a:srgbClr val="FFFFFF"/>
                </a:solidFill>
                <a:latin typeface="Consolas"/>
                <a:cs typeface="Consolas"/>
              </a:rPr>
              <a:t>jump_i - 1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292608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2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99923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100" b="1" lang="he-IL" altLang="en-US">
                <a:solidFill>
                  <a:srgbClr val="FFFFFF"/>
                </a:solidFill>
                <a:latin typeface="Segoe UI Emoji"/>
                <a:cs typeface="Segoe UI Emoji"/>
              </a:rPr>
              <a:t>🙇 </a:t>
            </a:r>
            <a:r>
              <a:rPr sz="2100" b="1" lang="he-IL" altLang="en-US">
                <a:solidFill>
                  <a:srgbClr val="FFFFFF"/>
                </a:solidFill>
                <a:latin typeface="Arial"/>
                <a:cs typeface="Arial"/>
              </a:rPr>
              <a:t>מתכופף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9300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0" lang="en-US" altLang="en-US">
                <a:solidFill>
                  <a:srgbClr val="FFFFFF"/>
                </a:solidFill>
                <a:latin typeface="Arial"/>
                <a:cs typeface="Arial"/>
              </a:rPr>
              <a:t>120</a:t>
            </a:r>
            <a:r>
              <a:rPr sz="1500" b="0" lang="he-IL" altLang="en-US">
                <a:solidFill>
                  <a:srgbClr val="FFFFFF"/>
                </a:solidFill>
                <a:latin typeface="Arial"/>
                <a:cs typeface="Arial"/>
              </a:rPr>
              <a:t> פריימים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315200" y="2194560"/>
            <a:ext cx="1280160" cy="914400"/>
          </a:xfrm>
          <a:prstGeom prst="line">
            <a:avLst/>
          </a:prstGeom>
          <a:ln w="38100">
            <a:solidFill>
              <a:srgbClr val="E07A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0372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1500" b="1" lang="en-US" altLang="en-US">
                <a:solidFill>
                  <a:srgbClr val="E07A2F"/>
                </a:solidFill>
                <a:latin typeface="Consolas"/>
                <a:cs typeface="Consolas"/>
              </a:rPr>
              <a:t>SPACE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84080" y="2514600"/>
            <a:ext cx="0" cy="1874520"/>
          </a:xfrm>
          <a:prstGeom prst="line">
            <a:avLst/>
          </a:prstGeom>
          <a:ln w="38100">
            <a:solidFill>
              <a:srgbClr val="C83E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921240" y="32461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500" b="1" lang="en-US" altLang="en-US">
                <a:solidFill>
                  <a:srgbClr val="C83E4D"/>
                </a:solidFill>
                <a:latin typeface="Consolas"/>
                <a:cs typeface="Consolas"/>
              </a:rPr>
              <a:t>jump_i == 200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7315200" y="3977639"/>
            <a:ext cx="1280160" cy="868681"/>
          </a:xfrm>
          <a:prstGeom prst="line">
            <a:avLst/>
          </a:prstGeom>
          <a:ln w="38100">
            <a:solidFill>
              <a:srgbClr val="3E8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0" y="4572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1500" b="1" lang="en-US" altLang="en-US">
                <a:solidFill>
                  <a:srgbClr val="3E8E6B"/>
                </a:solidFill>
                <a:latin typeface="Consolas"/>
                <a:cs typeface="Consolas"/>
              </a:rPr>
              <a:t>jump_i == 0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657600" y="3291840"/>
            <a:ext cx="1280160" cy="0"/>
          </a:xfrm>
          <a:prstGeom prst="line">
            <a:avLst/>
          </a:prstGeom>
          <a:ln w="38100">
            <a:solidFill>
              <a:srgbClr val="2B2A4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40480" y="28803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/>
            <a:r>
              <a:rPr sz="1500" b="1" lang="en-US" altLang="en-US">
                <a:solidFill>
                  <a:srgbClr val="2B2A4C"/>
                </a:solidFill>
                <a:latin typeface="Consolas"/>
                <a:cs typeface="Consolas"/>
              </a:rPr>
              <a:t>DOWN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3703320"/>
            <a:ext cx="1280160" cy="0"/>
          </a:xfrm>
          <a:prstGeom prst="line">
            <a:avLst/>
          </a:prstGeom>
          <a:ln w="25400">
            <a:solidFill>
              <a:srgbClr val="5C5C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57600" y="37947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400" b="0" lang="he-IL" altLang="en-US">
                <a:solidFill>
                  <a:srgbClr val="5C5C70"/>
                </a:solidFill>
                <a:latin typeface="Arial"/>
                <a:cs typeface="Arial"/>
              </a:rPr>
              <a:t>בסוף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700" b="1" lang="he-IL" altLang="en-US">
                <a:solidFill>
                  <a:srgbClr val="2D2D3A"/>
                </a:solidFill>
                <a:latin typeface="Arial"/>
                <a:cs typeface="Arial"/>
              </a:rPr>
              <a:t>כל מצב הוא משתנה </a:t>
            </a:r>
            <a:r>
              <a:rPr sz="1700" b="1" lang="en-US" altLang="en-US">
                <a:solidFill>
                  <a:srgbClr val="2D2D3A"/>
                </a:solidFill>
                <a:latin typeface="Arial"/>
                <a:cs typeface="Arial"/>
              </a:rPr>
              <a:t>True/False</a:t>
            </a:r>
            <a:r>
              <a:rPr sz="1700" b="1" lang="he-IL" altLang="en-US">
                <a:solidFill>
                  <a:srgbClr val="2D2D3A"/>
                </a:solidFill>
                <a:latin typeface="Arial"/>
                <a:cs typeface="Arial"/>
              </a:rPr>
              <a:t>: </a:t>
            </a:r>
            <a:r>
              <a:rPr sz="1600" b="0" lang="en-US" altLang="en-US">
                <a:solidFill>
                  <a:srgbClr val="E07A2F"/>
                </a:solidFill>
                <a:latin typeface="Consolas"/>
                <a:cs typeface="Consolas"/>
              </a:rPr>
              <a:t>jumping_up_mode, jumping_down_mode, bend_down_mode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טריק </a:t>
            </a:r>
            <a:r>
              <a:rPr sz="3600" b="1" lang="en-US" altLang="en-US">
                <a:solidFill>
                  <a:srgbClr val="2B2A4C"/>
                </a:solidFill>
                <a:latin typeface="Arial"/>
                <a:cs typeface="Arial"/>
              </a:rPr>
              <a:t>4</a:t>
            </a:r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: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התנגשות</a:t>
            </a:r>
          </a:p>
        </p:txBody>
      </p:sp>
      <p:pic>
        <p:nvPicPr>
          <p:cNvPr id="4" name="Picture 3" descr="nojump_game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486400" cy="2743200"/>
          </a:xfrm>
          <a:prstGeom prst="rect">
            <a:avLst/>
          </a:prstGeom>
          <a:ln w="50800">
            <a:solidFill>
              <a:srgbClr val="2B2A4C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548640" y="4663440"/>
            <a:ext cx="11091672" cy="1188720"/>
          </a:xfrm>
          <a:prstGeom prst="roundRect">
            <a:avLst>
              <a:gd name="adj" fmla="val 5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46320"/>
            <a:ext cx="10634472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>
                <a:solidFill>
                  <a:srgbClr val="66D9EF"/>
                </a:solidFill>
                <a:latin typeface="Consolas"/>
              </a:rPr>
              <a:t>if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AE81FF"/>
                </a:solidFill>
                <a:latin typeface="Consolas"/>
              </a:rPr>
              <a:t>1000</a:t>
            </a:r>
            <a:r>
              <a:rPr sz="1600">
                <a:solidFill>
                  <a:srgbClr val="F92672"/>
                </a:solidFill>
                <a:latin typeface="Consolas"/>
              </a:rPr>
              <a:t>-</a:t>
            </a:r>
            <a:r>
              <a:rPr sz="1600">
                <a:solidFill>
                  <a:srgbClr val="F8F8F2"/>
                </a:solidFill>
                <a:latin typeface="Consolas"/>
              </a:rPr>
              <a:t>j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==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AE81FF"/>
                </a:solidFill>
                <a:latin typeface="Consolas"/>
              </a:rPr>
              <a:t>150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and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jumping_up_mode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==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66D9EF"/>
                </a:solidFill>
                <a:latin typeface="Consolas"/>
              </a:rPr>
              <a:t>False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and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jumping_down_mode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==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66D9EF"/>
                </a:solidFill>
                <a:latin typeface="Consolas"/>
              </a:rPr>
              <a:t>False</a:t>
            </a:r>
            <a:r>
              <a:rPr sz="1600">
                <a:solidFill>
                  <a:srgbClr val="F8F8F2"/>
                </a:solidFill>
                <a:latin typeface="Consolas"/>
              </a:rPr>
              <a:t>:</a:t>
            </a:r>
          </a:p>
          <a:p>
            <a:pPr algn="l"/>
            <a:r>
              <a:rPr sz="1600">
                <a:solidFill>
                  <a:srgbClr val="F8F8F2"/>
                </a:solidFill>
                <a:latin typeface="Consolas"/>
              </a:rPr>
              <a:t>    </a:t>
            </a:r>
            <a:r>
              <a:rPr sz="1600">
                <a:solidFill>
                  <a:srgbClr val="F8F8F2"/>
                </a:solidFill>
                <a:latin typeface="Consolas"/>
              </a:rPr>
              <a:t>run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92672"/>
                </a:solidFill>
                <a:latin typeface="Consolas"/>
              </a:rPr>
              <a:t>=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66D9EF"/>
                </a:solidFill>
                <a:latin typeface="Consolas"/>
              </a:rPr>
              <a:t>False</a:t>
            </a:r>
            <a:r>
              <a:rPr sz="1600">
                <a:solidFill>
                  <a:srgbClr val="F8F8F2"/>
                </a:solidFill>
                <a:latin typeface="Consolas"/>
              </a:rPr>
              <a:t>    </a:t>
            </a:r>
            <a:r>
              <a:rPr sz="1600">
                <a:solidFill>
                  <a:srgbClr val="8F8A72"/>
                </a:solidFill>
                <a:latin typeface="Consolas"/>
              </a:rPr>
              <a:t># game over!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239512" cy="6400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8737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7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📍  </a:t>
            </a:r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הצמח זז: </a:t>
            </a:r>
            <a:r>
              <a:rPr sz="1700" b="0" lang="en-US" altLang="en-US">
                <a:solidFill>
                  <a:srgbClr val="2D2D3A"/>
                </a:solidFill>
                <a:latin typeface="Arial"/>
                <a:cs typeface="Arial"/>
              </a:rPr>
              <a:t>x = 1000-j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23160"/>
            <a:ext cx="5239512" cy="6400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48737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7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💥  </a:t>
            </a:r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הצמח הגיע ל-</a:t>
            </a:r>
            <a:r>
              <a:rPr sz="1700" b="0" lang="en-US" altLang="en-US">
                <a:solidFill>
                  <a:srgbClr val="2D2D3A"/>
                </a:solidFill>
                <a:latin typeface="Arial"/>
                <a:cs typeface="Arial"/>
              </a:rPr>
              <a:t>150</a:t>
            </a:r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? והדינוזאור על הקרקע?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00400"/>
            <a:ext cx="5239512" cy="6400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8737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7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🛑  </a:t>
            </a:r>
            <a:r>
              <a:rPr sz="1700" b="0" lang="en-US" altLang="en-US">
                <a:solidFill>
                  <a:srgbClr val="2D2D3A"/>
                </a:solidFill>
                <a:latin typeface="Arial"/>
                <a:cs typeface="Arial"/>
              </a:rPr>
              <a:t>run = False</a:t>
            </a:r>
            <a:r>
              <a:rPr sz="1700" b="0" lang="he-IL" altLang="en-US">
                <a:solidFill>
                  <a:srgbClr val="2D2D3A"/>
                </a:solidFill>
                <a:latin typeface="Arial"/>
                <a:cs typeface="Arial"/>
              </a:rPr>
              <a:t> ← הלולאה נגמרת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239512" cy="457200"/>
          </a:xfrm>
          <a:prstGeom prst="roundRect">
            <a:avLst>
              <a:gd name="adj" fmla="val 12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23360"/>
            <a:ext cx="48737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6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🤔 </a:t>
            </a:r>
            <a:r>
              <a:rPr sz="1600" b="1" lang="he-IL" altLang="en-US">
                <a:solidFill>
                  <a:srgbClr val="2D2D3A"/>
                </a:solidFill>
                <a:latin typeface="Arial"/>
                <a:cs typeface="Arial"/>
              </a:rPr>
              <a:t>והגובה של המכשול? נבדוק בקהוט...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4800" b="1" lang="he-IL" altLang="en-US">
                <a:solidFill>
                  <a:srgbClr val="FFFFFF"/>
                </a:solidFill>
                <a:latin typeface="Arial"/>
                <a:cs typeface="Arial"/>
              </a:rPr>
              <a:t>זמן קהוט! </a:t>
            </a:r>
            <a:r>
              <a:rPr sz="4800" b="1" lang="he-IL" altLang="en-US">
                <a:solidFill>
                  <a:srgbClr val="FFFFFF"/>
                </a:solidFill>
                <a:latin typeface="Segoe UI Emoji"/>
                <a:cs typeface="Segoe UI Emoji"/>
              </a:rPr>
              <a:t>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200" b="0" lang="he-IL" altLang="en-US">
                <a:solidFill>
                  <a:srgbClr val="F2CC8F"/>
                </a:solidFill>
                <a:latin typeface="Arial"/>
                <a:cs typeface="Arial"/>
              </a:rPr>
              <a:t>אחרי כל שאלה - מריצים את הקוד ובודקים מי צדק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88552" y="2743200"/>
            <a:ext cx="2560320" cy="2926080"/>
          </a:xfrm>
          <a:prstGeom prst="roundRect">
            <a:avLst>
              <a:gd name="adj" fmla="val 12000"/>
            </a:avLst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65792" y="3063240"/>
            <a:ext cx="1005840" cy="1005840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65792" y="30632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33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79992" y="42976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100" b="1" lang="he-IL" altLang="en-US">
                <a:solidFill>
                  <a:srgbClr val="FFFFFF"/>
                </a:solidFill>
                <a:latin typeface="Arial"/>
                <a:cs typeface="Arial"/>
              </a:rPr>
              <a:t>נחשו מה יקרה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9992" y="48920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600" b="0" lang="en-US" altLang="en-US">
                <a:solidFill>
                  <a:srgbClr val="F2CC8F"/>
                </a:solidFill>
                <a:latin typeface="Arial"/>
                <a:cs typeface="Arial"/>
              </a:rPr>
              <a:t>7</a:t>
            </a:r>
            <a:r>
              <a:rPr sz="1600" b="0" lang="he-IL" altLang="en-US">
                <a:solidFill>
                  <a:srgbClr val="F2CC8F"/>
                </a:solidFill>
                <a:latin typeface="Arial"/>
                <a:cs typeface="Arial"/>
              </a:rPr>
              <a:t> שאלות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2560320" cy="2926080"/>
          </a:xfrm>
          <a:prstGeom prst="roundRect">
            <a:avLst>
              <a:gd name="adj" fmla="val 12000"/>
            </a:avLst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95160" y="3063240"/>
            <a:ext cx="1005840" cy="1005840"/>
          </a:xfrm>
          <a:prstGeom prst="ellipse">
            <a:avLst/>
          </a:prstGeom>
          <a:solidFill>
            <a:srgbClr val="C8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30632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33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2976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100" b="1" lang="he-IL" altLang="en-US">
                <a:solidFill>
                  <a:srgbClr val="FFFFFF"/>
                </a:solidFill>
                <a:latin typeface="Arial"/>
                <a:cs typeface="Arial"/>
              </a:rPr>
              <a:t>ציידי באגים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920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600" b="0" lang="en-US" altLang="en-US">
                <a:solidFill>
                  <a:srgbClr val="F2CC8F"/>
                </a:solidFill>
                <a:latin typeface="Arial"/>
                <a:cs typeface="Arial"/>
              </a:rPr>
              <a:t>5</a:t>
            </a:r>
            <a:r>
              <a:rPr sz="1600" b="0" lang="he-IL" altLang="en-US">
                <a:solidFill>
                  <a:srgbClr val="F2CC8F"/>
                </a:solidFill>
                <a:latin typeface="Arial"/>
                <a:cs typeface="Arial"/>
              </a:rPr>
              <a:t> שאלות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2743200"/>
            <a:ext cx="2560320" cy="2926080"/>
          </a:xfrm>
          <a:prstGeom prst="roundRect">
            <a:avLst>
              <a:gd name="adj" fmla="val 12000"/>
            </a:avLst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24528" y="3063240"/>
            <a:ext cx="1005840" cy="1005840"/>
          </a:xfrm>
          <a:prstGeom prst="ellipse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30632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33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42976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100" b="1" lang="he-IL" altLang="en-US">
                <a:solidFill>
                  <a:srgbClr val="FFFFFF"/>
                </a:solidFill>
                <a:latin typeface="Arial"/>
                <a:cs typeface="Arial"/>
              </a:rPr>
              <a:t>תכנתו בעצמכם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48920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600" b="0" lang="en-US" altLang="en-US">
                <a:solidFill>
                  <a:srgbClr val="F2CC8F"/>
                </a:solidFill>
                <a:latin typeface="Arial"/>
                <a:cs typeface="Arial"/>
              </a:rPr>
              <a:t>4</a:t>
            </a:r>
            <a:r>
              <a:rPr sz="1600" b="0" lang="he-IL" altLang="en-US">
                <a:solidFill>
                  <a:srgbClr val="F2CC8F"/>
                </a:solidFill>
                <a:latin typeface="Arial"/>
                <a:cs typeface="Arial"/>
              </a:rPr>
              <a:t> שאלות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2743200"/>
            <a:ext cx="2560320" cy="2926080"/>
          </a:xfrm>
          <a:prstGeom prst="roundRect">
            <a:avLst>
              <a:gd name="adj" fmla="val 12000"/>
            </a:avLst>
          </a:prstGeom>
          <a:solidFill>
            <a:srgbClr val="3B3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53896" y="3063240"/>
            <a:ext cx="1005840" cy="1005840"/>
          </a:xfrm>
          <a:prstGeom prst="ellipse">
            <a:avLst/>
          </a:prstGeom>
          <a:solidFill>
            <a:srgbClr val="8E6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53896" y="30632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33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2976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2100" b="1" lang="he-IL" altLang="en-US">
                <a:solidFill>
                  <a:srgbClr val="FFFFFF"/>
                </a:solidFill>
                <a:latin typeface="Arial"/>
                <a:cs typeface="Arial"/>
              </a:rPr>
              <a:t>בונוס: ניקוד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8920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600" b="0" lang="en-US" altLang="en-US">
                <a:solidFill>
                  <a:srgbClr val="F2CC8F"/>
                </a:solidFill>
                <a:latin typeface="Arial"/>
                <a:cs typeface="Arial"/>
              </a:rPr>
              <a:t>2</a:t>
            </a:r>
            <a:r>
              <a:rPr sz="1600" b="0" lang="he-IL" altLang="en-US">
                <a:solidFill>
                  <a:srgbClr val="F2CC8F"/>
                </a:solidFill>
                <a:latin typeface="Arial"/>
                <a:cs typeface="Arial"/>
              </a:rPr>
              <a:t> שאלות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/>
            <a:r>
              <a:rPr sz="1100" b="0" lang="en-US" altLang="en-US">
                <a:solidFill>
                  <a:srgbClr val="5C5C70"/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3600" b="1" lang="he-IL" altLang="en-US">
                <a:solidFill>
                  <a:srgbClr val="2B2A4C"/>
                </a:solidFill>
                <a:latin typeface="Arial"/>
                <a:cs typeface="Arial"/>
              </a:rPr>
              <a:t>אתגרים </a:t>
            </a:r>
            <a:r>
              <a:rPr sz="3600" b="1" lang="he-IL" altLang="en-US">
                <a:solidFill>
                  <a:srgbClr val="E07A2F"/>
                </a:solidFill>
                <a:latin typeface="Arial"/>
                <a:cs typeface="Arial"/>
              </a:rPr>
              <a:t>לבית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65592" y="164592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71632" y="1920240"/>
            <a:ext cx="685800" cy="685800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71632" y="19202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9912" y="19659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100" b="1" lang="he-IL" altLang="en-US">
                <a:solidFill>
                  <a:srgbClr val="2D2D3A"/>
                </a:solidFill>
                <a:latin typeface="Arial"/>
                <a:cs typeface="Arial"/>
              </a:rPr>
              <a:t>ניקוד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9912" y="26974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מה שבנינו בקהוט - עכשיו באמת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4592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58583" y="1920240"/>
            <a:ext cx="685800" cy="685800"/>
          </a:xfrm>
          <a:prstGeom prst="ellipse">
            <a:avLst/>
          </a:prstGeom>
          <a:solidFill>
            <a:srgbClr val="C8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8583" y="19202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9659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100" b="1" lang="he-IL" altLang="en-US">
                <a:solidFill>
                  <a:srgbClr val="2D2D3A"/>
                </a:solidFill>
                <a:latin typeface="Arial"/>
                <a:cs typeface="Arial"/>
              </a:rPr>
              <a:t>מהירות עולה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6974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כל </a:t>
            </a:r>
            <a:r>
              <a:rPr sz="1500" b="0" lang="en-US" altLang="en-US">
                <a:solidFill>
                  <a:srgbClr val="5C5C70"/>
                </a:solidFill>
                <a:latin typeface="Arial"/>
                <a:cs typeface="Arial"/>
              </a:rPr>
              <a:t>5</a:t>
            </a: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 נקודות המשחק מאיץ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5" y="164592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45536" y="1920240"/>
            <a:ext cx="685800" cy="685800"/>
          </a:xfrm>
          <a:prstGeom prst="ellipse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45536" y="19202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" y="19659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100" b="1" lang="he-IL" altLang="en-US">
                <a:solidFill>
                  <a:srgbClr val="2D2D3A"/>
                </a:solidFill>
                <a:latin typeface="Arial"/>
                <a:cs typeface="Arial"/>
              </a:rPr>
              <a:t>שיא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" y="26974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שומרים את הניקוד הכי גבוה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393192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71632" y="4206240"/>
            <a:ext cx="685800" cy="685800"/>
          </a:xfrm>
          <a:prstGeom prst="ellipse">
            <a:avLst/>
          </a:prstGeom>
          <a:solidFill>
            <a:srgbClr val="2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71632" y="42062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425195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100" b="1" lang="he-IL" altLang="en-US">
                <a:solidFill>
                  <a:srgbClr val="2D2D3A"/>
                </a:solidFill>
                <a:latin typeface="Arial"/>
                <a:cs typeface="Arial"/>
              </a:rPr>
              <a:t>קפיצה כפולה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4983479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רווח נוסף באוויר = עוד קפיצה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393192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58583" y="4206240"/>
            <a:ext cx="685800" cy="685800"/>
          </a:xfrm>
          <a:prstGeom prst="ellipse">
            <a:avLst/>
          </a:prstGeom>
          <a:solidFill>
            <a:srgbClr val="8E6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8583" y="42062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425195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100" b="1" lang="he-IL" altLang="en-US">
                <a:solidFill>
                  <a:srgbClr val="2D2D3A"/>
                </a:solidFill>
                <a:latin typeface="Arial"/>
                <a:cs typeface="Arial"/>
              </a:rPr>
              <a:t>מכשול חדש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4983479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תמונה חדשה מ-</a:t>
            </a:r>
            <a:r>
              <a:rPr sz="1500" b="0" lang="en-US" altLang="en-US">
                <a:solidFill>
                  <a:srgbClr val="5C5C70"/>
                </a:solidFill>
                <a:latin typeface="Arial"/>
                <a:cs typeface="Arial"/>
              </a:rPr>
              <a:t>res</a:t>
            </a: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 עם התנגשות משלה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5" y="393192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45536" y="4206240"/>
            <a:ext cx="685800" cy="6858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42062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0"/>
            <a:r>
              <a:rPr sz="2200" b="0" lang="he-IL" altLang="en-US">
                <a:solidFill>
                  <a:srgbClr val="2D2D3A"/>
                </a:solidFill>
                <a:latin typeface="Segoe UI Emoji"/>
                <a:cs typeface="Segoe UI Emoji"/>
              </a:rPr>
              <a:t>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" y="425195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100" b="1" lang="he-IL" altLang="en-US">
                <a:solidFill>
                  <a:srgbClr val="2D2D3A"/>
                </a:solidFill>
                <a:latin typeface="Arial"/>
                <a:cs typeface="Arial"/>
              </a:rPr>
              <a:t>צלילים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" y="4983479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0" lang="en-US" altLang="en-US">
                <a:solidFill>
                  <a:srgbClr val="5C5C70"/>
                </a:solidFill>
                <a:latin typeface="Arial"/>
                <a:cs typeface="Arial"/>
              </a:rPr>
              <a:t>hit.mp3</a:t>
            </a:r>
            <a:r>
              <a:rPr sz="1500" b="0" lang="he-IL" altLang="en-US">
                <a:solidFill>
                  <a:srgbClr val="5C5C70"/>
                </a:solidFill>
                <a:latin typeface="Arial"/>
                <a:cs typeface="Arial"/>
              </a:rPr>
              <a:t> כשנפסלים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