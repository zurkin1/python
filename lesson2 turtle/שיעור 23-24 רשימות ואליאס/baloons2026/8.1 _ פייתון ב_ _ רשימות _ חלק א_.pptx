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6858000" cx="12192000"/>
  <p:notesSz cx="6858000" cy="9144000"/>
  <p:embeddedFontLst>
    <p:embeddedFont>
      <p:font typeface="Assistant Medium"/>
      <p:regular r:id="rId37"/>
      <p:bold r:id="rId38"/>
    </p:embeddedFont>
    <p:embeddedFont>
      <p:font typeface="Secular One"/>
      <p:regular r:id="rId39"/>
    </p:embeddedFont>
    <p:embeddedFont>
      <p:font typeface="Assistant SemiBold"/>
      <p:regular r:id="rId40"/>
      <p:bold r:id="rId41"/>
    </p:embeddedFont>
    <p:embeddedFont>
      <p:font typeface="Assistant"/>
      <p:regular r:id="rId42"/>
      <p:bold r:id="rId43"/>
    </p:embeddedFont>
    <p:embeddedFont>
      <p:font typeface="Varela Round"/>
      <p:regular r:id="rId44"/>
    </p:embeddedFont>
    <p:embeddedFont>
      <p:font typeface="Assistant ExtraBold"/>
      <p:bold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8A11FE0-6231-4C87-9475-0E7E6FF2E92F}">
  <a:tblStyle styleId="{48A11FE0-6231-4C87-9475-0E7E6FF2E92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F1FA"/>
          </a:solidFill>
        </a:fill>
      </a:tcStyle>
    </a:wholeTbl>
    <a:band1H>
      <a:tcTxStyle b="off" i="off"/>
      <a:tcStyle>
        <a:fill>
          <a:solidFill>
            <a:srgbClr val="CBE2F5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BE2F5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F58E157C-7EFC-4CC3-B1BB-95AACA83E73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ssistantSemiBold-regular.fntdata"/><Relationship Id="rId20" Type="http://schemas.openxmlformats.org/officeDocument/2006/relationships/slide" Target="slides/slide15.xml"/><Relationship Id="rId42" Type="http://schemas.openxmlformats.org/officeDocument/2006/relationships/font" Target="fonts/Assistant-regular.fntdata"/><Relationship Id="rId41" Type="http://schemas.openxmlformats.org/officeDocument/2006/relationships/font" Target="fonts/AssistantSemiBold-bold.fntdata"/><Relationship Id="rId22" Type="http://schemas.openxmlformats.org/officeDocument/2006/relationships/slide" Target="slides/slide17.xml"/><Relationship Id="rId44" Type="http://schemas.openxmlformats.org/officeDocument/2006/relationships/font" Target="fonts/VarelaRound-regular.fntdata"/><Relationship Id="rId21" Type="http://schemas.openxmlformats.org/officeDocument/2006/relationships/slide" Target="slides/slide16.xml"/><Relationship Id="rId43" Type="http://schemas.openxmlformats.org/officeDocument/2006/relationships/font" Target="fonts/Assistant-bold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schemas.openxmlformats.org/officeDocument/2006/relationships/font" Target="fonts/AssistantExtraBold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AssistantMedium-regular.fntdata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SecularOne-regular.fntdata"/><Relationship Id="rId16" Type="http://schemas.openxmlformats.org/officeDocument/2006/relationships/slide" Target="slides/slide11.xml"/><Relationship Id="rId38" Type="http://schemas.openxmlformats.org/officeDocument/2006/relationships/font" Target="fonts/AssistantMedium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388620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1588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document/d/1tZ3kPM4U9Z0v9cDAZkSMOiy8Jh5OV3jqDaEJtuG4JS8/edit?usp=sharing" TargetMode="External"/><Relationship Id="rId3" Type="http://schemas.openxmlformats.org/officeDocument/2006/relationships/hyperlink" Target="https://docs.google.com/document/d/1_r51i_Ch3ERO2-G9uHCD-GLRgbP5rfTq3p0fEoXoA0s/edit" TargetMode="Externa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rive.google.com/file/d/1ECCvSQKXmlVZ7Y0dC3m22LJEH3s_A4qo/view?usp=sharing" TargetMode="Externa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latin typeface="Assistant"/>
                <a:ea typeface="Assistant"/>
                <a:cs typeface="Assistant"/>
                <a:sym typeface="Assistant"/>
              </a:rPr>
              <a:t>מדריך למורה | שיעור 8 - רשימות חלק א'</a:t>
            </a:r>
            <a:br>
              <a:rPr b="1" lang="en-US">
                <a:latin typeface="Assistant"/>
                <a:ea typeface="Assistant"/>
                <a:cs typeface="Assistant"/>
                <a:sym typeface="Assistant"/>
              </a:rPr>
            </a:br>
            <a:br>
              <a:rPr b="1" lang="en-US" sz="1000">
                <a:solidFill>
                  <a:srgbClr val="595959"/>
                </a:solidFill>
                <a:latin typeface="Assistant"/>
                <a:ea typeface="Assistant"/>
                <a:cs typeface="Assistant"/>
                <a:sym typeface="Assistant"/>
              </a:rPr>
            </a:br>
            <a:endParaRPr b="1" sz="1000">
              <a:solidFill>
                <a:srgbClr val="595959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ctr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Assistant SemiBold"/>
                <a:ea typeface="Assistant SemiBold"/>
                <a:cs typeface="Assistant SemiBold"/>
                <a:sym typeface="Assistant SemiBold"/>
              </a:rPr>
              <a:t> </a:t>
            </a:r>
            <a:r>
              <a:rPr lang="en-US" u="sng">
                <a:solidFill>
                  <a:srgbClr val="1155CC"/>
                </a:solidFill>
                <a:latin typeface="Assistant SemiBold"/>
                <a:ea typeface="Assistant SemiBold"/>
                <a:cs typeface="Assistant SemiBold"/>
                <a:sym typeface="Assistant SemiBold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דף עזר לבחינה בשפת פייתון</a:t>
            </a:r>
            <a:endParaRPr u="sng">
              <a:solidFill>
                <a:srgbClr val="1155CC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  <a:p>
            <a:pPr indent="0" lvl="0" marL="0" rtl="1" algn="ctr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Assistant SemiBold"/>
                <a:ea typeface="Assistant SemiBold"/>
                <a:cs typeface="Assistant SemiBold"/>
                <a:sym typeface="Assistant SemiBold"/>
              </a:rPr>
              <a:t> </a:t>
            </a:r>
            <a:r>
              <a:rPr lang="en-US" u="sng">
                <a:solidFill>
                  <a:srgbClr val="1155CC"/>
                </a:solidFill>
                <a:latin typeface="Assistant SemiBold"/>
                <a:ea typeface="Assistant SemiBold"/>
                <a:cs typeface="Assistant SemiBold"/>
                <a:sym typeface="Assistant SemiBol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דף עזר בפייתון לשימוש עם תמונות בספריית PIL</a:t>
            </a:r>
            <a:endParaRPr b="1"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latin typeface="Assistant"/>
                <a:ea typeface="Assistant"/>
                <a:cs typeface="Assistant"/>
                <a:sym typeface="Assistant"/>
              </a:rPr>
              <a:t>נושא:  רשימות - חלק א'</a:t>
            </a:r>
            <a:endParaRPr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latin typeface="Assistant"/>
                <a:ea typeface="Assistant"/>
                <a:cs typeface="Assistant"/>
                <a:sym typeface="Assistant"/>
              </a:rPr>
              <a:t>תתי-נושאים:</a:t>
            </a:r>
            <a:r>
              <a:rPr lang="en-US">
                <a:latin typeface="Assistant"/>
                <a:ea typeface="Assistant"/>
                <a:cs typeface="Assistant"/>
                <a:sym typeface="Assistant"/>
              </a:rPr>
              <a:t> </a:t>
            </a:r>
            <a:endParaRPr>
              <a:latin typeface="Assistant"/>
              <a:ea typeface="Assistant"/>
              <a:cs typeface="Assistant"/>
              <a:sym typeface="Assistant"/>
            </a:endParaRPr>
          </a:p>
          <a:p>
            <a:pPr indent="-317500" lvl="0" marL="45720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</a:pPr>
            <a:r>
              <a:rPr lang="en-US">
                <a:latin typeface="Assistant"/>
                <a:ea typeface="Assistant"/>
                <a:cs typeface="Assistant"/>
                <a:sym typeface="Assistant"/>
              </a:rPr>
              <a:t>מבנה הנתונים של רשימה</a:t>
            </a:r>
            <a:endParaRPr>
              <a:latin typeface="Assistant"/>
              <a:ea typeface="Assistant"/>
              <a:cs typeface="Assistant"/>
              <a:sym typeface="Assistant"/>
            </a:endParaRPr>
          </a:p>
          <a:p>
            <a:pPr indent="-317500" lvl="0" marL="45720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</a:pPr>
            <a:r>
              <a:rPr lang="en-US">
                <a:latin typeface="Assistant"/>
                <a:ea typeface="Assistant"/>
                <a:cs typeface="Assistant"/>
                <a:sym typeface="Assistant"/>
              </a:rPr>
              <a:t>שמירה של פרטי מידע מטיפוסים שונים ברשימה</a:t>
            </a:r>
            <a:endParaRPr>
              <a:latin typeface="Assistant"/>
              <a:ea typeface="Assistant"/>
              <a:cs typeface="Assistant"/>
              <a:sym typeface="Assistant"/>
            </a:endParaRPr>
          </a:p>
          <a:p>
            <a:pPr indent="-317500" lvl="0" marL="45720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</a:pPr>
            <a:r>
              <a:rPr lang="en-US">
                <a:latin typeface="Assistant"/>
                <a:ea typeface="Assistant"/>
                <a:cs typeface="Assistant"/>
                <a:sym typeface="Assistant"/>
              </a:rPr>
              <a:t>איתור איבר ברשימה</a:t>
            </a:r>
            <a:endParaRPr>
              <a:latin typeface="Assistant"/>
              <a:ea typeface="Assistant"/>
              <a:cs typeface="Assistant"/>
              <a:sym typeface="Assistant"/>
            </a:endParaRPr>
          </a:p>
          <a:p>
            <a:pPr indent="-304800" lvl="0" marL="45720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</a:pPr>
            <a:r>
              <a:rPr lang="en-US">
                <a:latin typeface="Assistant"/>
                <a:ea typeface="Assistant"/>
                <a:cs typeface="Assistant"/>
                <a:sym typeface="Assistant"/>
              </a:rPr>
              <a:t>איתור איברי רשימה בתחום </a:t>
            </a:r>
            <a:endParaRPr>
              <a:latin typeface="Assistant"/>
              <a:ea typeface="Assistant"/>
              <a:cs typeface="Assistant"/>
              <a:sym typeface="Assistant"/>
            </a:endParaRPr>
          </a:p>
          <a:p>
            <a:pPr indent="-317500" lvl="0" marL="45720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</a:pPr>
            <a:r>
              <a:rPr lang="en-US">
                <a:latin typeface="Assistant"/>
                <a:ea typeface="Assistant"/>
                <a:cs typeface="Assistant"/>
                <a:sym typeface="Assistant"/>
              </a:rPr>
              <a:t>הדגמה, תרגול והמחשה של הצורך ברשימות</a:t>
            </a:r>
            <a:endParaRPr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-US">
                <a:latin typeface="Assistant"/>
                <a:ea typeface="Assistant"/>
                <a:cs typeface="Assistant"/>
                <a:sym typeface="Assistant"/>
              </a:rPr>
            </a:br>
            <a:r>
              <a:rPr b="1" lang="en-US">
                <a:latin typeface="Assistant"/>
                <a:ea typeface="Assistant"/>
                <a:cs typeface="Assistant"/>
                <a:sym typeface="Assistant"/>
              </a:rPr>
              <a:t>משך השיעור: </a:t>
            </a:r>
            <a:r>
              <a:rPr lang="en-US">
                <a:latin typeface="Assistant"/>
                <a:ea typeface="Assistant"/>
                <a:cs typeface="Assistant"/>
                <a:sym typeface="Assistant"/>
              </a:rPr>
              <a:t>90 דקות, הכוללות הקניה ותרגול רב ברמה בסיסית</a:t>
            </a:r>
            <a:endParaRPr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latin typeface="Assistant"/>
                <a:ea typeface="Assistant"/>
                <a:cs typeface="Assistant"/>
                <a:sym typeface="Assistant"/>
              </a:rPr>
              <a:t>מטרות: </a:t>
            </a:r>
            <a:endParaRPr b="1">
              <a:latin typeface="Assistant"/>
              <a:ea typeface="Assistant"/>
              <a:cs typeface="Assistant"/>
              <a:sym typeface="Assistant"/>
            </a:endParaRPr>
          </a:p>
          <a:p>
            <a:pPr indent="-304800" lvl="0" marL="45720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</a:pPr>
            <a:r>
              <a:rPr lang="en-US">
                <a:latin typeface="Assistant"/>
                <a:ea typeface="Assistant"/>
                <a:cs typeface="Assistant"/>
                <a:sym typeface="Assistant"/>
              </a:rPr>
              <a:t>הצגת הסיבה לשימוש ברשימות</a:t>
            </a:r>
            <a:endParaRPr>
              <a:latin typeface="Assistant"/>
              <a:ea typeface="Assistant"/>
              <a:cs typeface="Assistant"/>
              <a:sym typeface="Assistant"/>
            </a:endParaRPr>
          </a:p>
          <a:p>
            <a:pPr indent="-317500" lvl="0" marL="45720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</a:pPr>
            <a:r>
              <a:rPr lang="en-US">
                <a:latin typeface="Assistant"/>
                <a:ea typeface="Assistant"/>
                <a:cs typeface="Assistant"/>
                <a:sym typeface="Assistant"/>
              </a:rPr>
              <a:t>סקירה של המתודות הקשורות לרשימות</a:t>
            </a:r>
            <a:endParaRPr>
              <a:latin typeface="Assistant"/>
              <a:ea typeface="Assistant"/>
              <a:cs typeface="Assistant"/>
              <a:sym typeface="Assistant"/>
            </a:endParaRPr>
          </a:p>
          <a:p>
            <a:pPr indent="-317500" lvl="0" marL="45720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</a:pPr>
            <a:r>
              <a:rPr lang="en-US">
                <a:latin typeface="Assistant"/>
                <a:ea typeface="Assistant"/>
                <a:cs typeface="Assistant"/>
                <a:sym typeface="Assistant"/>
              </a:rPr>
              <a:t>תרגול שימושים ברשימות</a:t>
            </a:r>
            <a:endParaRPr>
              <a:latin typeface="Assistant"/>
              <a:ea typeface="Assistant"/>
              <a:cs typeface="Assistant"/>
              <a:sym typeface="Assistant"/>
            </a:endParaRPr>
          </a:p>
          <a:p>
            <a:pPr indent="-317500" lvl="0" marL="45720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</a:pPr>
            <a:r>
              <a:rPr lang="en-US">
                <a:latin typeface="Assistant"/>
                <a:ea typeface="Assistant"/>
                <a:cs typeface="Assistant"/>
                <a:sym typeface="Assistant"/>
              </a:rPr>
              <a:t>חקר. על התלמיד לחקור ולגלות מה כל מתודה של </a:t>
            </a:r>
            <a:r>
              <a:rPr lang="en-US">
                <a:latin typeface="Assistant"/>
                <a:ea typeface="Assistant"/>
                <a:cs typeface="Assistant"/>
                <a:sym typeface="Assistant"/>
              </a:rPr>
              <a:t>פעולה </a:t>
            </a:r>
            <a:r>
              <a:rPr lang="en-US">
                <a:latin typeface="Assistant"/>
                <a:ea typeface="Assistant"/>
                <a:cs typeface="Assistant"/>
                <a:sym typeface="Assistant"/>
              </a:rPr>
              <a:t>מבצעת</a:t>
            </a:r>
            <a:endParaRPr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45720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latin typeface="Assistant"/>
                <a:ea typeface="Assistant"/>
                <a:cs typeface="Assistant"/>
                <a:sym typeface="Assistant"/>
              </a:rPr>
              <a:t>מיומנויות: </a:t>
            </a:r>
            <a:r>
              <a:rPr lang="en-US">
                <a:latin typeface="Assistant"/>
                <a:ea typeface="Assistant"/>
                <a:cs typeface="Assistant"/>
                <a:sym typeface="Assistant"/>
              </a:rPr>
              <a:t> </a:t>
            </a:r>
            <a:endParaRPr b="1">
              <a:latin typeface="Assistant"/>
              <a:ea typeface="Assistant"/>
              <a:cs typeface="Assistant"/>
              <a:sym typeface="Assistant"/>
            </a:endParaRPr>
          </a:p>
          <a:p>
            <a:pPr indent="-304800" lvl="0" marL="45720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</a:pPr>
            <a:r>
              <a:rPr lang="en-US">
                <a:latin typeface="Assistant"/>
                <a:ea typeface="Assistant"/>
                <a:cs typeface="Assistant"/>
                <a:sym typeface="Assistant"/>
              </a:rPr>
              <a:t>תרגול והעמקה בנושאים, תוך שימוש במיומנויות השוואה, בחירה וכתיבת קוד</a:t>
            </a:r>
            <a:endParaRPr b="1"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latin typeface="Assistant"/>
                <a:ea typeface="Assistant"/>
                <a:cs typeface="Assistant"/>
                <a:sym typeface="Assistant"/>
              </a:rPr>
              <a:t>הכנות מקדימות: </a:t>
            </a:r>
            <a:endParaRPr b="1">
              <a:latin typeface="Assistant"/>
              <a:ea typeface="Assistant"/>
              <a:cs typeface="Assistant"/>
              <a:sym typeface="Assistant"/>
            </a:endParaRPr>
          </a:p>
          <a:p>
            <a:pPr indent="-304800" lvl="0" marL="45720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</a:pPr>
            <a:r>
              <a:rPr lang="en-US">
                <a:latin typeface="Assistant"/>
                <a:ea typeface="Assistant"/>
                <a:cs typeface="Assistant"/>
                <a:sym typeface="Assistant"/>
              </a:rPr>
              <a:t>בקיאות בסביבת העבודה, ידע בנושא שימוש במשתנים: הצבה, מונה, צובר, פעולות, טיפוסי נתונים, ידע בסיסי בהוראות פייתון טרטל, פעולות ולולאות.</a:t>
            </a:r>
            <a:endParaRPr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" name="Google Shape;6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latin typeface="Assistant"/>
                <a:ea typeface="Assistant"/>
                <a:cs typeface="Assistant"/>
                <a:sym typeface="Assistant"/>
              </a:rPr>
              <a:t>8.</a:t>
            </a:r>
            <a:r>
              <a:rPr lang="en-US" sz="1400">
                <a:latin typeface="Assistant"/>
                <a:ea typeface="Assistant"/>
                <a:cs typeface="Assistant"/>
                <a:sym typeface="Assistant"/>
              </a:rPr>
              <a:t>1 | למידה תכל'ס | מצגת השיעור (שקפים 3-17) הקנייה -25 דק'. </a:t>
            </a:r>
            <a:endParaRPr sz="1400"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latin typeface="Assistant"/>
                <a:ea typeface="Assistant"/>
                <a:cs typeface="Assistant"/>
                <a:sym typeface="Assistant"/>
              </a:rPr>
              <a:t>8.2 | תרגול לפיצוח | משחק התאמה אינטראקטיבי  - 5 דק'. </a:t>
            </a:r>
            <a:endParaRPr sz="1400"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latin typeface="Assistant"/>
                <a:ea typeface="Assistant"/>
                <a:cs typeface="Assistant"/>
                <a:sym typeface="Assistant"/>
              </a:rPr>
              <a:t>המשך הקנייה (שקפים 18-27)  - 20 דק'.</a:t>
            </a:r>
            <a:endParaRPr sz="1400"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latin typeface="Assistant"/>
                <a:ea typeface="Assistant"/>
                <a:cs typeface="Assistant"/>
                <a:sym typeface="Assistant"/>
              </a:rPr>
              <a:t>8.3 | מאסטר פייתון - דף עבודה להגשה - 35 דק' (בדף העבודה 11 שאלות: 1-7 עבודה עצמית, 8-9 לפתור יחד במליאה, 10-11 שאלות אתגר לתלמידים מתקדים). </a:t>
            </a:r>
            <a:endParaRPr sz="1400"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latin typeface="Assistant"/>
                <a:ea typeface="Assistant"/>
                <a:cs typeface="Assistant"/>
                <a:sym typeface="Assistant"/>
              </a:rPr>
              <a:t>הצגת פתרונות וסיכום השיעור -5 דק'.</a:t>
            </a:r>
            <a:endParaRPr sz="1400"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" name="Google Shape;7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bc5efb3b41_1_1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latin typeface="Assistant"/>
                <a:ea typeface="Assistant"/>
                <a:cs typeface="Assistant"/>
                <a:sym typeface="Assistant"/>
              </a:rPr>
              <a:t>המוטיבציה ללמידת נושא הרשימות נובעת מכך, שעלינו לאחסן איברי מידע רבים במבנה נתונים שקל לגשת אל איבריו.</a:t>
            </a:r>
            <a:br>
              <a:rPr lang="en-US" sz="1400">
                <a:latin typeface="Assistant"/>
                <a:ea typeface="Assistant"/>
                <a:cs typeface="Assistant"/>
                <a:sym typeface="Assistant"/>
              </a:rPr>
            </a:br>
            <a:r>
              <a:rPr lang="en-US" sz="1400">
                <a:latin typeface="Assistant"/>
                <a:ea typeface="Assistant"/>
                <a:cs typeface="Assistant"/>
                <a:sym typeface="Assistant"/>
              </a:rPr>
              <a:t>תוכלו להיעזר בקישור הבא: </a:t>
            </a:r>
            <a:r>
              <a:rPr lang="en-US" sz="1400" u="sng">
                <a:solidFill>
                  <a:schemeClr val="hlink"/>
                </a:solidFill>
                <a:latin typeface="Assistant"/>
                <a:ea typeface="Assistant"/>
                <a:cs typeface="Assistant"/>
                <a:sym typeface="Assistant"/>
                <a:hlinkClick r:id="rId2"/>
              </a:rPr>
              <a:t>https://drive.google.com/file/d/1ECCvSQKXmlVZ7Y0dC3m22LJEH3s_A4qo/view?usp=sharing</a:t>
            </a:r>
            <a:r>
              <a:rPr lang="en-US" sz="1400">
                <a:latin typeface="Assistant"/>
                <a:ea typeface="Assistant"/>
                <a:cs typeface="Assistant"/>
                <a:sym typeface="Assistant"/>
              </a:rPr>
              <a:t> להרצת התוכניות המופיעות במצגת.</a:t>
            </a:r>
            <a:br>
              <a:rPr lang="en-US" sz="1400">
                <a:latin typeface="Assistant"/>
                <a:ea typeface="Assistant"/>
                <a:cs typeface="Assistant"/>
                <a:sym typeface="Assistant"/>
              </a:rPr>
            </a:br>
            <a:r>
              <a:rPr lang="en-US" sz="1400">
                <a:latin typeface="Assistant"/>
                <a:ea typeface="Assistant"/>
                <a:cs typeface="Assistant"/>
                <a:sym typeface="Assistant"/>
              </a:rPr>
              <a:t>המלצה: אחרי כל 5 שקפים, אפשרו לתלמידים להריץ ולתרגל. הם יוכלו לתרגל בדפי העבודה או להריץ את הקוד במצגת.</a:t>
            </a:r>
            <a:br>
              <a:rPr lang="en-US" sz="1400">
                <a:latin typeface="Assistant"/>
                <a:ea typeface="Assistant"/>
                <a:cs typeface="Assistant"/>
                <a:sym typeface="Assistant"/>
              </a:rPr>
            </a:br>
            <a:r>
              <a:rPr lang="en-US" sz="1400">
                <a:latin typeface="Assistant"/>
                <a:ea typeface="Assistant"/>
                <a:cs typeface="Assistant"/>
                <a:sym typeface="Assistant"/>
              </a:rPr>
              <a:t>אפשרו להם לחקור לבד מספר פעולות/מתודות של מבנה הנתונים של רשימה.</a:t>
            </a:r>
            <a:endParaRPr sz="1400"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84" name="Google Shape;84;g2bc5efb3b41_1_1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f0c9b0e40f_1_1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latin typeface="Assistant"/>
                <a:ea typeface="Assistant"/>
                <a:cs typeface="Assistant"/>
                <a:sym typeface="Assistant"/>
              </a:rPr>
              <a:t>נסביר על האילוצים ועל המוסכמת הנובעות משימוש ברשימות.</a:t>
            </a:r>
            <a:br>
              <a:rPr lang="en-US" sz="1400">
                <a:latin typeface="Assistant"/>
                <a:ea typeface="Assistant"/>
                <a:cs typeface="Assistant"/>
                <a:sym typeface="Assistant"/>
              </a:rPr>
            </a:br>
            <a:r>
              <a:rPr lang="en-US" sz="1400">
                <a:latin typeface="Assistant"/>
                <a:ea typeface="Assistant"/>
                <a:cs typeface="Assistant"/>
                <a:sym typeface="Assistant"/>
              </a:rPr>
              <a:t>נדגיש כי זו דרך אחת להגדיר רשימה בפייתון.</a:t>
            </a:r>
            <a:endParaRPr sz="1400"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96" name="Google Shape;96;g1f0c9b0e40f_1_1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ecb067b35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ecb067b35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2ecb067b356_0_0:notes"/>
          <p:cNvSpPr txBox="1"/>
          <p:nvPr>
            <p:ph idx="12" type="sldNum"/>
          </p:nvPr>
        </p:nvSpPr>
        <p:spPr>
          <a:xfrm>
            <a:off x="1588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f0c9b0e40f_1_1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הפעולה append מאפשרת לנו להוסיף </a:t>
            </a:r>
            <a:r>
              <a:rPr lang="en-US" sz="1400"/>
              <a:t>איבר</a:t>
            </a:r>
            <a:r>
              <a:rPr lang="en-US" sz="1400"/>
              <a:t> לסוף הרשימה.</a:t>
            </a:r>
            <a:endParaRPr sz="1400"/>
          </a:p>
        </p:txBody>
      </p:sp>
      <p:sp>
        <p:nvSpPr>
          <p:cNvPr id="123" name="Google Shape;123;g1f0c9b0e40f_1_1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f0c9b0e40f_1_2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דגמה להוספת </a:t>
            </a:r>
            <a:r>
              <a:rPr lang="en-US" sz="1400"/>
              <a:t>איבר</a:t>
            </a:r>
            <a:r>
              <a:rPr lang="en-US" sz="1400"/>
              <a:t>י מידע לרשימה באמצעות לולאה.</a:t>
            </a:r>
            <a:endParaRPr sz="1400"/>
          </a:p>
        </p:txBody>
      </p:sp>
      <p:sp>
        <p:nvSpPr>
          <p:cNvPr id="136" name="Google Shape;136;g1f0c9b0e40f_1_2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>
                <a:latin typeface="Assistant Medium"/>
                <a:ea typeface="Assistant Medium"/>
                <a:cs typeface="Assistant Medium"/>
                <a:sym typeface="Assistant Medium"/>
              </a:rPr>
              <a:t>גישה לאיברי הרשימה לפי אינדקס.</a:t>
            </a:r>
            <a:endParaRPr sz="1400"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154" name="Google Shape;15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f0c9b0e40f_1_2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>
                <a:latin typeface="Assistant Medium"/>
                <a:ea typeface="Assistant Medium"/>
                <a:cs typeface="Assistant Medium"/>
                <a:sym typeface="Assistant Medium"/>
              </a:rPr>
              <a:t>גישה לאיברי הרשימה לפי אינדקס.</a:t>
            </a:r>
            <a:endParaRPr sz="1400"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" name="Google Shape;177;g1f0c9b0e40f_1_2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bc5efb3b41_1_1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latin typeface="Assistant"/>
                <a:ea typeface="Assistant"/>
                <a:cs typeface="Assistant"/>
                <a:sym typeface="Assistant"/>
              </a:rPr>
              <a:t>ניתן לפצל מחרוזת לרשימה, כשידוע מראש מהו התו המפר</a:t>
            </a:r>
            <a:r>
              <a:rPr lang="en-US" sz="1400">
                <a:latin typeface="Assistant"/>
                <a:ea typeface="Assistant"/>
                <a:cs typeface="Assistant"/>
                <a:sym typeface="Assistant"/>
              </a:rPr>
              <a:t>יד.</a:t>
            </a:r>
            <a:br>
              <a:rPr lang="en-US" sz="1400">
                <a:latin typeface="Assistant"/>
                <a:ea typeface="Assistant"/>
                <a:cs typeface="Assistant"/>
                <a:sym typeface="Assistant"/>
              </a:rPr>
            </a:br>
            <a:br>
              <a:rPr lang="en-US" sz="1400">
                <a:latin typeface="Assistant"/>
                <a:ea typeface="Assistant"/>
                <a:cs typeface="Assistant"/>
                <a:sym typeface="Assistant"/>
              </a:rPr>
            </a:br>
            <a:endParaRPr sz="1400"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03" name="Google Shape;203;g2bc5efb3b41_1_1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latin typeface="Assistant"/>
                <a:ea typeface="Assistant"/>
                <a:cs typeface="Assistant"/>
                <a:sym typeface="Assistant"/>
              </a:rPr>
              <a:t>אורך של רשימה.</a:t>
            </a:r>
            <a:endParaRPr sz="1400"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15" name="Google Shape;21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ba41efe1bc_0_1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latin typeface="Assistant"/>
                <a:ea typeface="Assistant"/>
                <a:cs typeface="Assistant"/>
                <a:sym typeface="Assistant"/>
              </a:rPr>
              <a:t>הפעולה count.</a:t>
            </a:r>
            <a:br>
              <a:rPr lang="en-US" sz="1400">
                <a:latin typeface="Assistant"/>
                <a:ea typeface="Assistant"/>
                <a:cs typeface="Assistant"/>
                <a:sym typeface="Assistant"/>
              </a:rPr>
            </a:br>
            <a:r>
              <a:rPr lang="en-US" sz="1400">
                <a:latin typeface="Assistant"/>
                <a:ea typeface="Assistant"/>
                <a:cs typeface="Assistant"/>
                <a:sym typeface="Assistant"/>
              </a:rPr>
              <a:t>בדקו מה יקרה אם נחפש את "Hip". </a:t>
            </a:r>
            <a:endParaRPr sz="1400"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latin typeface="Assistant"/>
                <a:ea typeface="Assistant"/>
                <a:cs typeface="Assistant"/>
                <a:sym typeface="Assistant"/>
              </a:rPr>
              <a:t>האם יש איבר כזה?</a:t>
            </a:r>
            <a:endParaRPr sz="1400"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31" name="Google Shape;231;g2ba41efe1bc_0_1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latin typeface="Assistant"/>
                <a:ea typeface="Assistant"/>
                <a:cs typeface="Assistant"/>
                <a:sym typeface="Assistant"/>
              </a:rPr>
              <a:t>הפעולה count - דוגמה נוספת.</a:t>
            </a:r>
            <a:endParaRPr sz="1400"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41" name="Google Shape;24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latin typeface="Assistant"/>
                <a:ea typeface="Assistant"/>
                <a:cs typeface="Assistant"/>
                <a:sym typeface="Assistant"/>
              </a:rPr>
              <a:t>אפשרו לתלמידים לעצור להריץ את הקוד לפני שממשיכים.</a:t>
            </a:r>
            <a:endParaRPr sz="1400"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latin typeface="Assistant"/>
                <a:ea typeface="Assistant"/>
                <a:cs typeface="Assistant"/>
                <a:sym typeface="Assistant"/>
              </a:rPr>
              <a:t>שימו לב לדוגמה האחרונה בה ניתן לראות הבחנה בין אותיות קטנות לגדולות.</a:t>
            </a:r>
            <a:endParaRPr sz="1400"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51" name="Google Shape;25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latin typeface="Assistant"/>
                <a:ea typeface="Assistant"/>
                <a:cs typeface="Assistant"/>
                <a:sym typeface="Assistant"/>
              </a:rPr>
              <a:t>נסו למחוק את "Duck</a:t>
            </a:r>
            <a:r>
              <a:rPr lang="en-US" sz="1400">
                <a:latin typeface="Assistant"/>
                <a:ea typeface="Assistant"/>
                <a:cs typeface="Assistant"/>
                <a:sym typeface="Assistant"/>
              </a:rPr>
              <a:t>"</a:t>
            </a:r>
            <a:r>
              <a:rPr lang="en-US" sz="1400">
                <a:latin typeface="Assistant"/>
                <a:ea typeface="Assistant"/>
                <a:cs typeface="Assistant"/>
                <a:sym typeface="Assistant"/>
              </a:rPr>
              <a:t> שוב.</a:t>
            </a:r>
            <a:endParaRPr sz="1400"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latin typeface="Assistant"/>
                <a:ea typeface="Assistant"/>
                <a:cs typeface="Assistant"/>
                <a:sym typeface="Assistant"/>
              </a:rPr>
              <a:t>מה יקרה?</a:t>
            </a:r>
            <a:endParaRPr sz="1400"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65" name="Google Shape;26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latin typeface="Assistant"/>
                <a:ea typeface="Assistant"/>
                <a:cs typeface="Assistant"/>
                <a:sym typeface="Assistant"/>
              </a:rPr>
              <a:t>מתי מתקבלת הודעת שגיאה?</a:t>
            </a:r>
            <a:endParaRPr sz="1400"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78" name="Google Shape;27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3" name="Google Shape;29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307" name="Google Shape;30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2ecb067b356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2ecb067b356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g2ecb067b356_1_0:notes"/>
          <p:cNvSpPr txBox="1"/>
          <p:nvPr>
            <p:ph idx="12" type="sldNum"/>
          </p:nvPr>
        </p:nvSpPr>
        <p:spPr>
          <a:xfrm>
            <a:off x="1588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2bc5efb3b41_1_1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latin typeface="Assistant"/>
                <a:ea typeface="Assistant"/>
                <a:cs typeface="Assistant"/>
                <a:sym typeface="Assistant"/>
              </a:rPr>
              <a:t>יש להיכנס לרכיב 8.2 | תרגול לפיצוח ב-Classroom.</a:t>
            </a:r>
            <a:endParaRPr sz="1400"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>
                <a:latin typeface="Assistant"/>
                <a:ea typeface="Assistant"/>
                <a:cs typeface="Assistant"/>
                <a:sym typeface="Assistant"/>
              </a:rPr>
              <a:t>רכיב זו הינו משחק התאמה אינטראקטיבי ללא ציון.</a:t>
            </a:r>
            <a:endParaRPr sz="1400"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>
                <a:latin typeface="Assistant"/>
                <a:ea typeface="Assistant"/>
                <a:cs typeface="Assistant"/>
                <a:sym typeface="Assistant"/>
              </a:rPr>
              <a:t>בסיום המשחק, המשיכו בהקנייה. </a:t>
            </a:r>
            <a:endParaRPr sz="1400"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333" name="Google Shape;333;g2bc5efb3b41_1_1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latin typeface="Assistant"/>
                <a:ea typeface="Assistant"/>
                <a:cs typeface="Assistant"/>
                <a:sym typeface="Assistant"/>
              </a:rPr>
              <a:t>הפעולה אינדקס.</a:t>
            </a:r>
            <a:endParaRPr sz="1400"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344" name="Google Shape;34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400"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400"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355" name="Google Shape;35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המרה של מחרוזת לרשימה.</a:t>
            </a:r>
            <a:endParaRPr sz="1400"/>
          </a:p>
        </p:txBody>
      </p:sp>
      <p:sp>
        <p:nvSpPr>
          <p:cNvPr id="367" name="Google Shape;36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המרה של רשימה למחרוזת. </a:t>
            </a:r>
            <a:endParaRPr sz="1400"/>
          </a:p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הפנו את התלמידים לדף העבודה הראשון.</a:t>
            </a:r>
            <a:br>
              <a:rPr lang="en-US" sz="1400"/>
            </a:br>
            <a:r>
              <a:rPr lang="en-US" sz="1400"/>
              <a:t>אפשרו להם לעבוד </a:t>
            </a:r>
            <a:r>
              <a:rPr lang="en-US" sz="1400"/>
              <a:t>בשלבים</a:t>
            </a:r>
            <a:r>
              <a:rPr lang="en-US" sz="1400"/>
              <a:t>. למדו מספר מתודות, ואפשרו להם להטמיע ולתרגל אותן.</a:t>
            </a:r>
            <a:endParaRPr sz="1400"/>
          </a:p>
        </p:txBody>
      </p:sp>
      <p:sp>
        <p:nvSpPr>
          <p:cNvPr id="383" name="Google Shape;38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6" name="Google Shape;40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latin typeface="Assistant"/>
                <a:ea typeface="Assistant"/>
                <a:cs typeface="Assistant"/>
                <a:sym typeface="Assistant"/>
              </a:rPr>
              <a:t>פיצול רשימה באמצעות תו.</a:t>
            </a:r>
            <a:endParaRPr sz="1400"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431" name="Google Shape;43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latin typeface="Assistant"/>
                <a:ea typeface="Assistant"/>
                <a:cs typeface="Assistant"/>
                <a:sym typeface="Assistant"/>
              </a:rPr>
              <a:t>אפשרו לתלמידים להריץ ולחקור.</a:t>
            </a:r>
            <a:endParaRPr sz="1400"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447" name="Google Shape;447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2b024295ab2_0_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latin typeface="Assistant"/>
                <a:ea typeface="Assistant"/>
                <a:cs typeface="Assistant"/>
                <a:sym typeface="Assistant"/>
              </a:rPr>
              <a:t>ניתן לפצל מחרוזת לרשימה, כשידוע מראש מהו התו המפריד.</a:t>
            </a:r>
            <a:endParaRPr sz="1400"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459" name="Google Shape;459;g2b024295ab2_0_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2bc5efb3b41_1_1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>
                <a:latin typeface="Assistant"/>
                <a:ea typeface="Assistant"/>
                <a:cs typeface="Assistant"/>
                <a:sym typeface="Assistant"/>
              </a:rPr>
              <a:t>יש להיכנס לרכיב 8.3 | מאסטר פייתון ב-Classroom.</a:t>
            </a:r>
            <a:endParaRPr sz="1400"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>
                <a:latin typeface="Assistant"/>
                <a:ea typeface="Assistant"/>
                <a:cs typeface="Assistant"/>
                <a:sym typeface="Assistant"/>
              </a:rPr>
              <a:t>בדף תרגול זה 11 שאלות:</a:t>
            </a:r>
            <a:endParaRPr sz="1400"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>
                <a:latin typeface="Assistant"/>
                <a:ea typeface="Assistant"/>
                <a:cs typeface="Assistant"/>
                <a:sym typeface="Assistant"/>
              </a:rPr>
              <a:t>שאלות 1-7: עבודה עצמית.</a:t>
            </a:r>
            <a:endParaRPr sz="1400"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>
                <a:latin typeface="Assistant"/>
                <a:ea typeface="Assistant"/>
                <a:cs typeface="Assistant"/>
                <a:sym typeface="Assistant"/>
              </a:rPr>
              <a:t>שאלות 8-9: יש לפתור במליאה.</a:t>
            </a:r>
            <a:endParaRPr sz="1400"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>
                <a:latin typeface="Assistant"/>
                <a:ea typeface="Assistant"/>
                <a:cs typeface="Assistant"/>
                <a:sym typeface="Assistant"/>
              </a:rPr>
              <a:t>שאלות 10-11: שאלות אתגר לתלמידים מתקדמים. </a:t>
            </a:r>
            <a:endParaRPr sz="1400"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>
                <a:latin typeface="Assistant"/>
                <a:ea typeface="Assistant"/>
                <a:cs typeface="Assistant"/>
                <a:sym typeface="Assistant"/>
              </a:rPr>
              <a:t>על התלמידים להגיש את המשימה (ניתן להגדיר ציון עבור משימה זו). </a:t>
            </a:r>
            <a:endParaRPr sz="1400"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475" name="Google Shape;475;g2bc5efb3b41_1_1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latin typeface="Assistant"/>
                <a:ea typeface="Assistant"/>
                <a:cs typeface="Assistant"/>
                <a:sym typeface="Assistant"/>
              </a:rPr>
              <a:t>סיכום הפעולות שנלמדו.</a:t>
            </a:r>
            <a:endParaRPr sz="1400"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486" name="Google Shape;486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6" name="Google Shape;506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9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ותוכן" type="obj">
  <p:cSld name="OBJEC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1097280" y="1845734"/>
            <a:ext cx="100584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" name="Google Shape;13;p1"/>
          <p:cNvSpPr txBox="1"/>
          <p:nvPr/>
        </p:nvSpPr>
        <p:spPr>
          <a:xfrm>
            <a:off x="0" y="6531000"/>
            <a:ext cx="121920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משרד החינוך - עמ"ט וירטואלי</a:t>
            </a:r>
            <a:endParaRPr sz="10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image14.png"/><Relationship Id="rId8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hyperlink" Target="http://www.youtube.com/watch?v=erE4N9hJKMU" TargetMode="External"/><Relationship Id="rId5" Type="http://schemas.openxmlformats.org/officeDocument/2006/relationships/image" Target="../media/image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Relationship Id="rId4" Type="http://schemas.openxmlformats.org/officeDocument/2006/relationships/hyperlink" Target="http://www.youtube.com/watch?v=YqWOCpiq_fU" TargetMode="External"/><Relationship Id="rId5" Type="http://schemas.openxmlformats.org/officeDocument/2006/relationships/image" Target="../media/image12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5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5" Type="http://schemas.openxmlformats.org/officeDocument/2006/relationships/image" Target="../media/image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9.png"/><Relationship Id="rId4" Type="http://schemas.openxmlformats.org/officeDocument/2006/relationships/image" Target="../media/image18.png"/><Relationship Id="rId5" Type="http://schemas.openxmlformats.org/officeDocument/2006/relationships/image" Target="../media/image1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14"/>
          <p:cNvGrpSpPr/>
          <p:nvPr/>
        </p:nvGrpSpPr>
        <p:grpSpPr>
          <a:xfrm>
            <a:off x="-4725" y="-54435"/>
            <a:ext cx="12192000" cy="6862835"/>
            <a:chOff x="-4725" y="-54435"/>
            <a:chExt cx="12192000" cy="6862835"/>
          </a:xfrm>
        </p:grpSpPr>
        <p:grpSp>
          <p:nvGrpSpPr>
            <p:cNvPr id="64" name="Google Shape;64;p14"/>
            <p:cNvGrpSpPr/>
            <p:nvPr/>
          </p:nvGrpSpPr>
          <p:grpSpPr>
            <a:xfrm>
              <a:off x="-4725" y="-54435"/>
              <a:ext cx="12192000" cy="6862835"/>
              <a:chOff x="-4725" y="-54435"/>
              <a:chExt cx="12192000" cy="6862835"/>
            </a:xfrm>
          </p:grpSpPr>
          <p:pic>
            <p:nvPicPr>
              <p:cNvPr id="65" name="Google Shape;65;p1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-4725" y="-49600"/>
                <a:ext cx="12192000" cy="68580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6" name="Google Shape;66;p1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96219" y="-54435"/>
                <a:ext cx="2019300" cy="1968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67" name="Google Shape;67;p14"/>
            <p:cNvPicPr preferRelativeResize="0"/>
            <p:nvPr/>
          </p:nvPicPr>
          <p:blipFill rotWithShape="1">
            <a:blip r:embed="rId5">
              <a:alphaModFix/>
            </a:blip>
            <a:srcRect b="0" l="32088" r="31435" t="0"/>
            <a:stretch/>
          </p:blipFill>
          <p:spPr>
            <a:xfrm>
              <a:off x="1850875" y="0"/>
              <a:ext cx="1123525" cy="1191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8" name="Google Shape;68;p14"/>
            <p:cNvPicPr preferRelativeResize="0"/>
            <p:nvPr/>
          </p:nvPicPr>
          <p:blipFill rotWithShape="1">
            <a:blip r:embed="rId6">
              <a:alphaModFix/>
            </a:blip>
            <a:srcRect b="0" l="23079" r="23984" t="0"/>
            <a:stretch/>
          </p:blipFill>
          <p:spPr>
            <a:xfrm>
              <a:off x="1792425" y="1191500"/>
              <a:ext cx="1240425" cy="4997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9" name="Google Shape;69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365" y="-59843"/>
            <a:ext cx="12159809" cy="6839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370" y="2974248"/>
            <a:ext cx="5457961" cy="3834158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4"/>
          <p:cNvSpPr txBox="1"/>
          <p:nvPr/>
        </p:nvSpPr>
        <p:spPr>
          <a:xfrm>
            <a:off x="1186967" y="1283917"/>
            <a:ext cx="10719600" cy="34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00">
                <a:solidFill>
                  <a:srgbClr val="FFFFFF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רשימות</a:t>
            </a:r>
            <a:endParaRPr sz="9300">
              <a:solidFill>
                <a:srgbClr val="FFFFFF"/>
              </a:solidFill>
              <a:latin typeface="Assistant ExtraBold"/>
              <a:ea typeface="Assistant ExtraBold"/>
              <a:cs typeface="Assistant ExtraBold"/>
              <a:sym typeface="Assistant ExtraBold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00">
                <a:solidFill>
                  <a:srgbClr val="FFFFFF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חלק א'</a:t>
            </a:r>
            <a:endParaRPr sz="6700">
              <a:solidFill>
                <a:srgbClr val="FFFFFF"/>
              </a:solidFill>
              <a:latin typeface="Assistant ExtraBold"/>
              <a:ea typeface="Assistant ExtraBold"/>
              <a:cs typeface="Assistant ExtraBold"/>
              <a:sym typeface="Assistant ExtraBold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rgbClr val="FFFFFF"/>
              </a:solidFill>
              <a:latin typeface="Assistant ExtraBold"/>
              <a:ea typeface="Assistant ExtraBold"/>
              <a:cs typeface="Assistant ExtraBold"/>
              <a:sym typeface="Assistant Extra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" y="8"/>
            <a:ext cx="12191989" cy="1562099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 txBox="1"/>
          <p:nvPr/>
        </p:nvSpPr>
        <p:spPr>
          <a:xfrm>
            <a:off x="18200" y="25833"/>
            <a:ext cx="120033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700">
                <a:solidFill>
                  <a:srgbClr val="FFFFFF"/>
                </a:solidFill>
                <a:latin typeface="Secular One"/>
                <a:ea typeface="Secular One"/>
                <a:cs typeface="Secular One"/>
                <a:sym typeface="Secular One"/>
              </a:rPr>
              <a:t>רכיבי השיעור | Classroom</a:t>
            </a:r>
            <a:endParaRPr b="1" sz="5700">
              <a:solidFill>
                <a:srgbClr val="FFFFFF"/>
              </a:solidFill>
              <a:latin typeface="Secular One"/>
              <a:ea typeface="Secular One"/>
              <a:cs typeface="Secular One"/>
              <a:sym typeface="Secular One"/>
            </a:endParaRPr>
          </a:p>
        </p:txBody>
      </p:sp>
      <p:pic>
        <p:nvPicPr>
          <p:cNvPr id="78" name="Google Shape;7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-18096" y="5297383"/>
            <a:ext cx="12191989" cy="1562099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5"/>
          <p:cNvSpPr txBox="1"/>
          <p:nvPr/>
        </p:nvSpPr>
        <p:spPr>
          <a:xfrm>
            <a:off x="5274350" y="1226525"/>
            <a:ext cx="68022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52400" lvl="0" marL="91440" rtl="1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ssistant SemiBold"/>
              <a:buChar char=" "/>
            </a:pPr>
            <a:r>
              <a:rPr lang="en-US" sz="2400">
                <a:solidFill>
                  <a:schemeClr val="dk1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8.1 | למידה תכל'ס | מצגת השיעור</a:t>
            </a:r>
            <a:endParaRPr sz="2400">
              <a:solidFill>
                <a:schemeClr val="dk1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  <a:p>
            <a:pPr indent="-152400" lvl="0" marL="91440" rtl="1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ssistant SemiBold"/>
              <a:buChar char=" "/>
            </a:pPr>
            <a:r>
              <a:rPr lang="en-US" sz="2400">
                <a:solidFill>
                  <a:schemeClr val="dk1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8.2 | תרגול לפיצוח | משחק התאמה אינטראקטיבי</a:t>
            </a:r>
            <a:endParaRPr sz="2400">
              <a:solidFill>
                <a:schemeClr val="dk1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  <a:p>
            <a:pPr indent="-152400" lvl="0" marL="91440" rtl="1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ssistant SemiBold"/>
              <a:buChar char=" "/>
            </a:pPr>
            <a:r>
              <a:rPr lang="en-US" sz="2400">
                <a:solidFill>
                  <a:schemeClr val="dk1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8.3 | מאסטר פייתון (להגשה)</a:t>
            </a:r>
            <a:endParaRPr sz="2400">
              <a:solidFill>
                <a:schemeClr val="dk1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  <a:p>
            <a:pPr indent="-152400" lvl="0" marL="91440" rtl="1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ssistant SemiBold"/>
              <a:buChar char=" "/>
            </a:pPr>
            <a:r>
              <a:rPr lang="en-US" sz="2400">
                <a:solidFill>
                  <a:schemeClr val="dk1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8.4 | סיכום בקטנה</a:t>
            </a:r>
            <a:endParaRPr sz="2400">
              <a:solidFill>
                <a:schemeClr val="dk1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9300" y="4602825"/>
            <a:ext cx="1898851" cy="189885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81" name="Google Shape;81;p15"/>
          <p:cNvSpPr txBox="1"/>
          <p:nvPr/>
        </p:nvSpPr>
        <p:spPr>
          <a:xfrm>
            <a:off x="0" y="6531000"/>
            <a:ext cx="121920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משרד החינוך - עמ"ט וירטואלי</a:t>
            </a:r>
            <a:endParaRPr sz="1000">
              <a:solidFill>
                <a:srgbClr val="FFFFFF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" y="8"/>
            <a:ext cx="12191989" cy="1562099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1916975" y="3765645"/>
            <a:ext cx="100584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127000" lvl="0" marL="91440" rtl="1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 sz="2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אם נרצה לשמור מידע על כל 28 תלמידי הכיתה, האם ניצור 28 משתנים?</a:t>
            </a:r>
            <a:br>
              <a:rPr lang="en-US" sz="2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</a:br>
            <a:r>
              <a:rPr lang="en-US" sz="2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אם חברת סלולר תרצה לשמור מידע על מיליון לקוחות, האם היא תיצור מיליון משתנים?</a:t>
            </a:r>
            <a:br>
              <a:rPr lang="en-US" sz="2000">
                <a:latin typeface="Assistant"/>
                <a:ea typeface="Assistant"/>
                <a:cs typeface="Assistant"/>
                <a:sym typeface="Assistant"/>
              </a:rPr>
            </a:br>
            <a:r>
              <a:rPr b="1" lang="en-US" sz="2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כיצד נוכל לשמור מידע רב בדרך יעילה? </a:t>
            </a:r>
            <a:endParaRPr b="1" sz="20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127000" lvl="0" marL="91440" rtl="1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Char char=" "/>
            </a:pPr>
            <a:r>
              <a:rPr b="1" lang="en-US" sz="2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באמצעות</a:t>
            </a:r>
            <a:r>
              <a:rPr b="1" lang="en-US" sz="2000">
                <a:solidFill>
                  <a:srgbClr val="0000FF"/>
                </a:solidFill>
                <a:latin typeface="Assistant"/>
                <a:ea typeface="Assistant"/>
                <a:cs typeface="Assistant"/>
                <a:sym typeface="Assistant"/>
              </a:rPr>
              <a:t> רשימה (List)!</a:t>
            </a:r>
            <a:endParaRPr b="1" sz="2000">
              <a:solidFill>
                <a:srgbClr val="0000FF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8652950" y="1642925"/>
            <a:ext cx="3696900" cy="20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45720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FF"/>
                </a:solidFill>
                <a:latin typeface="Secular One"/>
                <a:ea typeface="Secular One"/>
                <a:cs typeface="Secular One"/>
                <a:sym typeface="Secular One"/>
              </a:rPr>
              <a:t>int</a:t>
            </a:r>
            <a:r>
              <a:rPr i="0" lang="en-US" sz="2000" u="none" cap="none" strike="noStrike">
                <a:solidFill>
                  <a:srgbClr val="3F3F3F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i="0" lang="en-US" sz="20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– מספר שלם</a:t>
            </a:r>
            <a:br>
              <a:rPr i="0" lang="en-US" sz="20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</a:br>
            <a:r>
              <a:rPr b="1" i="0" lang="en-US" sz="2000" u="none" cap="none" strike="noStrike">
                <a:solidFill>
                  <a:srgbClr val="0000FF"/>
                </a:solidFill>
                <a:latin typeface="Secular One"/>
                <a:ea typeface="Secular One"/>
                <a:cs typeface="Secular One"/>
                <a:sym typeface="Secular One"/>
              </a:rPr>
              <a:t>float</a:t>
            </a:r>
            <a:r>
              <a:rPr i="0" lang="en-US" sz="2000" u="none" cap="none" strike="noStrike">
                <a:solidFill>
                  <a:srgbClr val="3F3F3F"/>
                </a:solidFill>
                <a:latin typeface="Secular One"/>
                <a:ea typeface="Secular One"/>
                <a:cs typeface="Secular One"/>
                <a:sym typeface="Secular One"/>
              </a:rPr>
              <a:t> </a:t>
            </a:r>
            <a:r>
              <a:rPr i="0" lang="en-US" sz="20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– מספר עשרוני</a:t>
            </a:r>
            <a:br>
              <a:rPr i="0" lang="en-US" sz="2000" u="none" cap="none" strike="noStrike">
                <a:solidFill>
                  <a:srgbClr val="3F3F3F"/>
                </a:solidFill>
                <a:latin typeface="Assistant"/>
                <a:ea typeface="Assistant"/>
                <a:cs typeface="Assistant"/>
                <a:sym typeface="Assistant"/>
              </a:rPr>
            </a:br>
            <a:r>
              <a:rPr b="1" i="0" lang="en-US" sz="2000" u="none" cap="none" strike="noStrike">
                <a:solidFill>
                  <a:srgbClr val="0000FF"/>
                </a:solidFill>
                <a:latin typeface="Secular One"/>
                <a:ea typeface="Secular One"/>
                <a:cs typeface="Secular One"/>
                <a:sym typeface="Secular One"/>
              </a:rPr>
              <a:t>str</a:t>
            </a:r>
            <a:r>
              <a:rPr i="0" lang="en-US" sz="2000" u="none" cap="none" strike="noStrike">
                <a:solidFill>
                  <a:srgbClr val="0000FF"/>
                </a:solidFill>
                <a:latin typeface="Secular One"/>
                <a:ea typeface="Secular One"/>
                <a:cs typeface="Secular One"/>
                <a:sym typeface="Secular One"/>
              </a:rPr>
              <a:t> </a:t>
            </a:r>
            <a:r>
              <a:rPr i="0" lang="en-US" sz="20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– מחרוזת(טקסט)</a:t>
            </a:r>
            <a:br>
              <a:rPr i="0" lang="en-US" sz="2000" u="none" cap="none" strike="noStrike">
                <a:solidFill>
                  <a:srgbClr val="3F3F3F"/>
                </a:solidFill>
                <a:latin typeface="Assistant"/>
                <a:ea typeface="Assistant"/>
                <a:cs typeface="Assistant"/>
                <a:sym typeface="Assistant"/>
              </a:rPr>
            </a:br>
            <a:r>
              <a:rPr b="1" i="0" lang="en-US" sz="2000" u="none" cap="none" strike="noStrike">
                <a:solidFill>
                  <a:srgbClr val="0000FF"/>
                </a:solidFill>
                <a:latin typeface="Secular One"/>
                <a:ea typeface="Secular One"/>
                <a:cs typeface="Secular One"/>
                <a:sym typeface="Secular One"/>
              </a:rPr>
              <a:t>bool</a:t>
            </a:r>
            <a:r>
              <a:rPr i="0" lang="en-US" sz="2000" u="none" cap="none" strike="noStrike">
                <a:solidFill>
                  <a:srgbClr val="0000FF"/>
                </a:solidFill>
                <a:latin typeface="Secular One"/>
                <a:ea typeface="Secular One"/>
                <a:cs typeface="Secular One"/>
                <a:sym typeface="Secular One"/>
              </a:rPr>
              <a:t> </a:t>
            </a:r>
            <a:r>
              <a:rPr i="0" lang="en-US" sz="2000" u="none" cap="none" strike="noStrike">
                <a:latin typeface="Assistant"/>
                <a:ea typeface="Assistant"/>
                <a:cs typeface="Assistant"/>
                <a:sym typeface="Assistant"/>
              </a:rPr>
              <a:t>– ערך אמת או שקר</a:t>
            </a:r>
            <a:endParaRPr i="0" sz="1400" u="none" cap="none" strike="noStrike"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89" name="Google Shape;89;p16"/>
          <p:cNvSpPr txBox="1"/>
          <p:nvPr/>
        </p:nvSpPr>
        <p:spPr>
          <a:xfrm>
            <a:off x="18200" y="25833"/>
            <a:ext cx="120033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700">
                <a:solidFill>
                  <a:srgbClr val="FFFFFF"/>
                </a:solidFill>
                <a:latin typeface="Secular One"/>
                <a:ea typeface="Secular One"/>
                <a:cs typeface="Secular One"/>
                <a:sym typeface="Secular One"/>
              </a:rPr>
              <a:t>טיפוסי נתונים בשפת פייתון </a:t>
            </a:r>
            <a:endParaRPr b="1" sz="5700">
              <a:solidFill>
                <a:srgbClr val="FFFFFF"/>
              </a:solidFill>
              <a:latin typeface="Secular One"/>
              <a:ea typeface="Secular One"/>
              <a:cs typeface="Secular One"/>
              <a:sym typeface="Secular One"/>
            </a:endParaRPr>
          </a:p>
        </p:txBody>
      </p:sp>
      <p:pic>
        <p:nvPicPr>
          <p:cNvPr id="90" name="Google Shape;9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-18096" y="5297383"/>
            <a:ext cx="12191989" cy="1562099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6"/>
          <p:cNvSpPr txBox="1"/>
          <p:nvPr/>
        </p:nvSpPr>
        <p:spPr>
          <a:xfrm>
            <a:off x="7882750" y="1150325"/>
            <a:ext cx="4194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27000" lvl="0" marL="91440" rtl="1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ssistant SemiBold"/>
              <a:buChar char=" "/>
            </a:pPr>
            <a:r>
              <a:rPr lang="en-US" sz="2000">
                <a:solidFill>
                  <a:schemeClr val="dk1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טיפוסי הנתונים שלמדנו עד כה: </a:t>
            </a:r>
            <a:endParaRPr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pic>
        <p:nvPicPr>
          <p:cNvPr id="92" name="Google Shape;9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7450" y="4485500"/>
            <a:ext cx="1751174" cy="1751174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6"/>
          <p:cNvSpPr txBox="1"/>
          <p:nvPr/>
        </p:nvSpPr>
        <p:spPr>
          <a:xfrm>
            <a:off x="0" y="6531000"/>
            <a:ext cx="121920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משרד החינוך - עמ"ט וירטואלי</a:t>
            </a:r>
            <a:endParaRPr sz="1000">
              <a:solidFill>
                <a:srgbClr val="FFFFFF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" y="8"/>
            <a:ext cx="12191989" cy="1562099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 txBox="1"/>
          <p:nvPr>
            <p:ph idx="1" type="body"/>
          </p:nvPr>
        </p:nvSpPr>
        <p:spPr>
          <a:xfrm>
            <a:off x="5202475" y="1257150"/>
            <a:ext cx="6579300" cy="24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שם הרשימה נקבע על ידי המתכנת (מומלץ לבחור שם משמעותי).</a:t>
            </a:r>
            <a:endParaRPr sz="20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אברי הרשימה יהיו בין סוגריים מרובעים.</a:t>
            </a:r>
            <a:endParaRPr sz="20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בין כל איבר ברשימה יש פסיק.</a:t>
            </a:r>
            <a:endParaRPr sz="20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ניתן לשמור באותה הרשימה סוגי משתנים שונים.</a:t>
            </a:r>
            <a:endParaRPr sz="20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391000" y="3811225"/>
            <a:ext cx="66849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ssistant"/>
                <a:ea typeface="Assistant"/>
                <a:cs typeface="Assistant"/>
                <a:sym typeface="Assistant"/>
              </a:rPr>
              <a:t>animals = </a:t>
            </a:r>
            <a:r>
              <a:rPr b="1" lang="en-US" sz="2000">
                <a:solidFill>
                  <a:srgbClr val="0000FF"/>
                </a:solidFill>
                <a:latin typeface="Assistant"/>
                <a:ea typeface="Assistant"/>
                <a:cs typeface="Assistant"/>
                <a:sym typeface="Assistant"/>
              </a:rPr>
              <a:t>[</a:t>
            </a:r>
            <a:r>
              <a:rPr lang="en-US" sz="2000">
                <a:latin typeface="Assistant"/>
                <a:ea typeface="Assistant"/>
                <a:cs typeface="Assistant"/>
                <a:sym typeface="Assistant"/>
              </a:rPr>
              <a:t>"Lion"</a:t>
            </a:r>
            <a:r>
              <a:rPr b="1" lang="en-US" sz="2000">
                <a:solidFill>
                  <a:srgbClr val="0000FF"/>
                </a:solidFill>
                <a:latin typeface="Assistant"/>
                <a:ea typeface="Assistant"/>
                <a:cs typeface="Assistant"/>
                <a:sym typeface="Assistant"/>
              </a:rPr>
              <a:t>,</a:t>
            </a:r>
            <a:r>
              <a:rPr lang="en-US" sz="2000">
                <a:latin typeface="Assistant"/>
                <a:ea typeface="Assistant"/>
                <a:cs typeface="Assistant"/>
                <a:sym typeface="Assistant"/>
              </a:rPr>
              <a:t> "Hippo"</a:t>
            </a:r>
            <a:r>
              <a:rPr b="1" lang="en-US" sz="2000">
                <a:solidFill>
                  <a:srgbClr val="0000FF"/>
                </a:solidFill>
                <a:latin typeface="Assistant"/>
                <a:ea typeface="Assistant"/>
                <a:cs typeface="Assistant"/>
                <a:sym typeface="Assistant"/>
              </a:rPr>
              <a:t>,</a:t>
            </a:r>
            <a:r>
              <a:rPr lang="en-US" sz="2000">
                <a:latin typeface="Assistant"/>
                <a:ea typeface="Assistant"/>
                <a:cs typeface="Assistant"/>
                <a:sym typeface="Assistant"/>
              </a:rPr>
              <a:t> "Duck"</a:t>
            </a:r>
            <a:r>
              <a:rPr b="1" lang="en-US" sz="2000">
                <a:solidFill>
                  <a:srgbClr val="0000FF"/>
                </a:solidFill>
                <a:latin typeface="Assistant"/>
                <a:ea typeface="Assistant"/>
                <a:cs typeface="Assistant"/>
                <a:sym typeface="Assistant"/>
              </a:rPr>
              <a:t>,</a:t>
            </a:r>
            <a:r>
              <a:rPr lang="en-US" sz="2000">
                <a:latin typeface="Assistant"/>
                <a:ea typeface="Assistant"/>
                <a:cs typeface="Assistant"/>
                <a:sym typeface="Assistant"/>
              </a:rPr>
              <a:t> "Giraffe"</a:t>
            </a:r>
            <a:r>
              <a:rPr b="1" lang="en-US" sz="2000">
                <a:solidFill>
                  <a:srgbClr val="0000FF"/>
                </a:solidFill>
                <a:latin typeface="Assistant"/>
                <a:ea typeface="Assistant"/>
                <a:cs typeface="Assistant"/>
                <a:sym typeface="Assistant"/>
              </a:rPr>
              <a:t>,</a:t>
            </a:r>
            <a:r>
              <a:rPr lang="en-US" sz="2000">
                <a:latin typeface="Assistant"/>
                <a:ea typeface="Assistant"/>
                <a:cs typeface="Assistant"/>
                <a:sym typeface="Assistant"/>
              </a:rPr>
              <a:t> "Cat"</a:t>
            </a:r>
            <a:r>
              <a:rPr b="1" lang="en-US" sz="2000">
                <a:solidFill>
                  <a:srgbClr val="0000FF"/>
                </a:solidFill>
                <a:latin typeface="Assistant"/>
                <a:ea typeface="Assistant"/>
                <a:cs typeface="Assistant"/>
                <a:sym typeface="Assistant"/>
              </a:rPr>
              <a:t>, </a:t>
            </a:r>
            <a:r>
              <a:rPr lang="en-US" sz="2000">
                <a:latin typeface="Assistant"/>
                <a:ea typeface="Assistant"/>
                <a:cs typeface="Assistant"/>
                <a:sym typeface="Assistant"/>
              </a:rPr>
              <a:t>"Dog"</a:t>
            </a:r>
            <a:r>
              <a:rPr b="1" lang="en-US" sz="2000">
                <a:solidFill>
                  <a:srgbClr val="0000FF"/>
                </a:solidFill>
                <a:latin typeface="Assistant"/>
                <a:ea typeface="Assistant"/>
                <a:cs typeface="Assistant"/>
                <a:sym typeface="Assistant"/>
              </a:rPr>
              <a:t>]</a:t>
            </a:r>
            <a:endParaRPr b="1" sz="2000">
              <a:solidFill>
                <a:srgbClr val="0000FF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ssistant"/>
                <a:ea typeface="Assistant"/>
                <a:cs typeface="Assistant"/>
                <a:sym typeface="Assistant"/>
              </a:rPr>
              <a:t>cars = </a:t>
            </a:r>
            <a:r>
              <a:rPr b="1" lang="en-US" sz="2000">
                <a:solidFill>
                  <a:srgbClr val="0000FF"/>
                </a:solidFill>
                <a:latin typeface="Assistant"/>
                <a:ea typeface="Assistant"/>
                <a:cs typeface="Assistant"/>
                <a:sym typeface="Assistant"/>
              </a:rPr>
              <a:t>[</a:t>
            </a:r>
            <a:r>
              <a:rPr lang="en-US" sz="2000">
                <a:latin typeface="Assistant"/>
                <a:ea typeface="Assistant"/>
                <a:cs typeface="Assistant"/>
                <a:sym typeface="Assistant"/>
              </a:rPr>
              <a:t>"Honda"</a:t>
            </a:r>
            <a:r>
              <a:rPr b="1" lang="en-US" sz="2000">
                <a:solidFill>
                  <a:srgbClr val="0000FF"/>
                </a:solidFill>
                <a:latin typeface="Assistant"/>
                <a:ea typeface="Assistant"/>
                <a:cs typeface="Assistant"/>
                <a:sym typeface="Assistant"/>
              </a:rPr>
              <a:t>,</a:t>
            </a:r>
            <a:r>
              <a:rPr lang="en-US" sz="2000">
                <a:latin typeface="Assistant"/>
                <a:ea typeface="Assistant"/>
                <a:cs typeface="Assistant"/>
                <a:sym typeface="Assistant"/>
              </a:rPr>
              <a:t> "Toyota"</a:t>
            </a:r>
            <a:r>
              <a:rPr b="1" lang="en-US" sz="2000">
                <a:solidFill>
                  <a:srgbClr val="0000FF"/>
                </a:solidFill>
                <a:latin typeface="Assistant"/>
                <a:ea typeface="Assistant"/>
                <a:cs typeface="Assistant"/>
                <a:sym typeface="Assistant"/>
              </a:rPr>
              <a:t>,</a:t>
            </a:r>
            <a:r>
              <a:rPr lang="en-US" sz="2000">
                <a:latin typeface="Assistant"/>
                <a:ea typeface="Assistant"/>
                <a:cs typeface="Assistant"/>
                <a:sym typeface="Assistant"/>
              </a:rPr>
              <a:t> "Skoda"</a:t>
            </a:r>
            <a:r>
              <a:rPr b="1" lang="en-US" sz="2000">
                <a:solidFill>
                  <a:srgbClr val="0000FF"/>
                </a:solidFill>
                <a:latin typeface="Assistant"/>
                <a:ea typeface="Assistant"/>
                <a:cs typeface="Assistant"/>
                <a:sym typeface="Assistant"/>
              </a:rPr>
              <a:t>,</a:t>
            </a:r>
            <a:r>
              <a:rPr lang="en-US" sz="2000">
                <a:latin typeface="Assistant"/>
                <a:ea typeface="Assistant"/>
                <a:cs typeface="Assistant"/>
                <a:sym typeface="Assistant"/>
              </a:rPr>
              <a:t> "Subaru"</a:t>
            </a:r>
            <a:r>
              <a:rPr b="1" lang="en-US" sz="2000">
                <a:solidFill>
                  <a:srgbClr val="0000FF"/>
                </a:solidFill>
                <a:latin typeface="Assistant"/>
                <a:ea typeface="Assistant"/>
                <a:cs typeface="Assistant"/>
                <a:sym typeface="Assistant"/>
              </a:rPr>
              <a:t>,</a:t>
            </a:r>
            <a:r>
              <a:rPr lang="en-US" sz="2000">
                <a:latin typeface="Assistant"/>
                <a:ea typeface="Assistant"/>
                <a:cs typeface="Assistant"/>
                <a:sym typeface="Assistant"/>
              </a:rPr>
              <a:t> "Kia"</a:t>
            </a:r>
            <a:r>
              <a:rPr b="1" lang="en-US" sz="2000">
                <a:solidFill>
                  <a:srgbClr val="0000FF"/>
                </a:solidFill>
                <a:latin typeface="Assistant"/>
                <a:ea typeface="Assistant"/>
                <a:cs typeface="Assistant"/>
                <a:sym typeface="Assistant"/>
              </a:rPr>
              <a:t>,</a:t>
            </a:r>
            <a:r>
              <a:rPr lang="en-US" sz="2000">
                <a:latin typeface="Assistant"/>
                <a:ea typeface="Assistant"/>
                <a:cs typeface="Assistant"/>
                <a:sym typeface="Assistant"/>
              </a:rPr>
              <a:t> "Ford"</a:t>
            </a:r>
            <a:r>
              <a:rPr b="1" lang="en-US" sz="2000">
                <a:solidFill>
                  <a:srgbClr val="0000FF"/>
                </a:solidFill>
                <a:latin typeface="Assistant"/>
                <a:ea typeface="Assistant"/>
                <a:cs typeface="Assistant"/>
                <a:sym typeface="Assistant"/>
              </a:rPr>
              <a:t>]</a:t>
            </a:r>
            <a:r>
              <a:rPr lang="en-US" sz="2000">
                <a:latin typeface="Assistant"/>
                <a:ea typeface="Assistant"/>
                <a:cs typeface="Assistant"/>
                <a:sym typeface="Assistant"/>
              </a:rPr>
              <a:t> </a:t>
            </a:r>
            <a:endParaRPr sz="2000"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ssistant"/>
                <a:ea typeface="Assistant"/>
                <a:cs typeface="Assistant"/>
                <a:sym typeface="Assistant"/>
              </a:rPr>
              <a:t>prices = </a:t>
            </a:r>
            <a:r>
              <a:rPr b="1" lang="en-US" sz="2000">
                <a:solidFill>
                  <a:srgbClr val="0000FF"/>
                </a:solidFill>
                <a:latin typeface="Assistant"/>
                <a:ea typeface="Assistant"/>
                <a:cs typeface="Assistant"/>
                <a:sym typeface="Assistant"/>
              </a:rPr>
              <a:t>[</a:t>
            </a:r>
            <a:r>
              <a:rPr lang="en-US" sz="2000">
                <a:latin typeface="Assistant"/>
                <a:ea typeface="Assistant"/>
                <a:cs typeface="Assistant"/>
                <a:sym typeface="Assistant"/>
              </a:rPr>
              <a:t>3.4</a:t>
            </a:r>
            <a:r>
              <a:rPr b="1" lang="en-US" sz="2000">
                <a:solidFill>
                  <a:srgbClr val="0000FF"/>
                </a:solidFill>
                <a:latin typeface="Assistant"/>
                <a:ea typeface="Assistant"/>
                <a:cs typeface="Assistant"/>
                <a:sym typeface="Assistant"/>
              </a:rPr>
              <a:t>,</a:t>
            </a:r>
            <a:r>
              <a:rPr lang="en-US" sz="2000">
                <a:latin typeface="Assistant"/>
                <a:ea typeface="Assistant"/>
                <a:cs typeface="Assistant"/>
                <a:sym typeface="Assistant"/>
              </a:rPr>
              <a:t> 24.5</a:t>
            </a:r>
            <a:r>
              <a:rPr b="1" lang="en-US" sz="2000">
                <a:solidFill>
                  <a:srgbClr val="0000FF"/>
                </a:solidFill>
                <a:latin typeface="Assistant"/>
                <a:ea typeface="Assistant"/>
                <a:cs typeface="Assistant"/>
                <a:sym typeface="Assistant"/>
              </a:rPr>
              <a:t>, </a:t>
            </a:r>
            <a:r>
              <a:rPr lang="en-US" sz="2000">
                <a:latin typeface="Assistant"/>
                <a:ea typeface="Assistant"/>
                <a:cs typeface="Assistant"/>
                <a:sym typeface="Assistant"/>
              </a:rPr>
              <a:t>7.84</a:t>
            </a:r>
            <a:r>
              <a:rPr b="1" lang="en-US" sz="2000">
                <a:solidFill>
                  <a:srgbClr val="0000FF"/>
                </a:solidFill>
                <a:latin typeface="Assistant"/>
                <a:ea typeface="Assistant"/>
                <a:cs typeface="Assistant"/>
                <a:sym typeface="Assistant"/>
              </a:rPr>
              <a:t>, </a:t>
            </a:r>
            <a:r>
              <a:rPr lang="en-US" sz="2000">
                <a:latin typeface="Assistant"/>
                <a:ea typeface="Assistant"/>
                <a:cs typeface="Assistant"/>
                <a:sym typeface="Assistant"/>
              </a:rPr>
              <a:t>93.21</a:t>
            </a:r>
            <a:r>
              <a:rPr b="1" lang="en-US" sz="2000">
                <a:solidFill>
                  <a:srgbClr val="0000FF"/>
                </a:solidFill>
                <a:latin typeface="Assistant"/>
                <a:ea typeface="Assistant"/>
                <a:cs typeface="Assistant"/>
                <a:sym typeface="Assistant"/>
              </a:rPr>
              <a:t>, </a:t>
            </a:r>
            <a:r>
              <a:rPr lang="en-US" sz="2000">
                <a:latin typeface="Assistant"/>
                <a:ea typeface="Assistant"/>
                <a:cs typeface="Assistant"/>
                <a:sym typeface="Assistant"/>
              </a:rPr>
              <a:t>72.99</a:t>
            </a:r>
            <a:r>
              <a:rPr b="1" lang="en-US" sz="2000">
                <a:solidFill>
                  <a:srgbClr val="0000FF"/>
                </a:solidFill>
                <a:latin typeface="Assistant"/>
                <a:ea typeface="Assistant"/>
                <a:cs typeface="Assistant"/>
                <a:sym typeface="Assistant"/>
              </a:rPr>
              <a:t>]</a:t>
            </a:r>
            <a:endParaRPr b="1" sz="2000">
              <a:solidFill>
                <a:srgbClr val="0000FF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ssistant"/>
                <a:ea typeface="Assistant"/>
                <a:cs typeface="Assistant"/>
                <a:sym typeface="Assistant"/>
              </a:rPr>
              <a:t>grades = </a:t>
            </a:r>
            <a:r>
              <a:rPr b="1" lang="en-US" sz="2000">
                <a:solidFill>
                  <a:srgbClr val="0000FF"/>
                </a:solidFill>
                <a:latin typeface="Assistant"/>
                <a:ea typeface="Assistant"/>
                <a:cs typeface="Assistant"/>
                <a:sym typeface="Assistant"/>
              </a:rPr>
              <a:t>[</a:t>
            </a:r>
            <a:r>
              <a:rPr lang="en-US" sz="2000">
                <a:latin typeface="Assistant"/>
                <a:ea typeface="Assistant"/>
                <a:cs typeface="Assistant"/>
                <a:sym typeface="Assistant"/>
              </a:rPr>
              <a:t>78</a:t>
            </a:r>
            <a:r>
              <a:rPr b="1" lang="en-US" sz="2000">
                <a:solidFill>
                  <a:srgbClr val="0000FF"/>
                </a:solidFill>
                <a:latin typeface="Assistant"/>
                <a:ea typeface="Assistant"/>
                <a:cs typeface="Assistant"/>
                <a:sym typeface="Assistant"/>
              </a:rPr>
              <a:t>,</a:t>
            </a:r>
            <a:r>
              <a:rPr lang="en-US" sz="2000">
                <a:latin typeface="Assistant"/>
                <a:ea typeface="Assistant"/>
                <a:cs typeface="Assistant"/>
                <a:sym typeface="Assistant"/>
              </a:rPr>
              <a:t>84</a:t>
            </a:r>
            <a:r>
              <a:rPr b="1" lang="en-US" sz="2000">
                <a:solidFill>
                  <a:srgbClr val="0000FF"/>
                </a:solidFill>
                <a:latin typeface="Assistant"/>
                <a:ea typeface="Assistant"/>
                <a:cs typeface="Assistant"/>
                <a:sym typeface="Assistant"/>
              </a:rPr>
              <a:t>, </a:t>
            </a:r>
            <a:r>
              <a:rPr lang="en-US" sz="2000">
                <a:latin typeface="Assistant"/>
                <a:ea typeface="Assistant"/>
                <a:cs typeface="Assistant"/>
                <a:sym typeface="Assistant"/>
              </a:rPr>
              <a:t>87</a:t>
            </a:r>
            <a:r>
              <a:rPr b="1" lang="en-US" sz="2000">
                <a:solidFill>
                  <a:srgbClr val="0000FF"/>
                </a:solidFill>
                <a:latin typeface="Assistant"/>
                <a:ea typeface="Assistant"/>
                <a:cs typeface="Assistant"/>
                <a:sym typeface="Assistant"/>
              </a:rPr>
              <a:t>,</a:t>
            </a:r>
            <a:r>
              <a:rPr lang="en-US" sz="2000">
                <a:latin typeface="Assistant"/>
                <a:ea typeface="Assistant"/>
                <a:cs typeface="Assistant"/>
                <a:sym typeface="Assistant"/>
              </a:rPr>
              <a:t> 92</a:t>
            </a:r>
            <a:r>
              <a:rPr b="1" lang="en-US" sz="2000">
                <a:solidFill>
                  <a:srgbClr val="0000FF"/>
                </a:solidFill>
                <a:latin typeface="Assistant"/>
                <a:ea typeface="Assistant"/>
                <a:cs typeface="Assistant"/>
                <a:sym typeface="Assistant"/>
              </a:rPr>
              <a:t>,</a:t>
            </a:r>
            <a:r>
              <a:rPr lang="en-US" sz="2000">
                <a:latin typeface="Assistant"/>
                <a:ea typeface="Assistant"/>
                <a:cs typeface="Assistant"/>
                <a:sym typeface="Assistant"/>
              </a:rPr>
              <a:t> 97,85</a:t>
            </a:r>
            <a:r>
              <a:rPr b="1" lang="en-US" sz="2000">
                <a:solidFill>
                  <a:srgbClr val="0000FF"/>
                </a:solidFill>
                <a:latin typeface="Assistant"/>
                <a:ea typeface="Assistant"/>
                <a:cs typeface="Assistant"/>
                <a:sym typeface="Assistant"/>
              </a:rPr>
              <a:t>, </a:t>
            </a:r>
            <a:r>
              <a:rPr lang="en-US" sz="2000">
                <a:latin typeface="Assistant"/>
                <a:ea typeface="Assistant"/>
                <a:cs typeface="Assistant"/>
                <a:sym typeface="Assistant"/>
              </a:rPr>
              <a:t>98</a:t>
            </a:r>
            <a:r>
              <a:rPr b="1" lang="en-US" sz="2000">
                <a:solidFill>
                  <a:srgbClr val="0000FF"/>
                </a:solidFill>
                <a:latin typeface="Assistant"/>
                <a:ea typeface="Assistant"/>
                <a:cs typeface="Assistant"/>
                <a:sym typeface="Assistant"/>
              </a:rPr>
              <a:t>]</a:t>
            </a:r>
            <a:endParaRPr b="1" sz="2000">
              <a:solidFill>
                <a:srgbClr val="0000FF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ssistant"/>
                <a:ea typeface="Assistant"/>
                <a:cs typeface="Assistant"/>
                <a:sym typeface="Assistant"/>
              </a:rPr>
              <a:t>everything = </a:t>
            </a:r>
            <a:r>
              <a:rPr b="1" lang="en-US" sz="2000">
                <a:solidFill>
                  <a:srgbClr val="0000FF"/>
                </a:solidFill>
                <a:latin typeface="Assistant"/>
                <a:ea typeface="Assistant"/>
                <a:cs typeface="Assistant"/>
                <a:sym typeface="Assistant"/>
              </a:rPr>
              <a:t>[</a:t>
            </a:r>
            <a:r>
              <a:rPr lang="en-US" sz="2000">
                <a:latin typeface="Assistant"/>
                <a:ea typeface="Assistant"/>
                <a:cs typeface="Assistant"/>
                <a:sym typeface="Assistant"/>
              </a:rPr>
              <a:t>24.56</a:t>
            </a:r>
            <a:r>
              <a:rPr b="1" lang="en-US" sz="2000">
                <a:solidFill>
                  <a:srgbClr val="0000FF"/>
                </a:solidFill>
                <a:latin typeface="Assistant"/>
                <a:ea typeface="Assistant"/>
                <a:cs typeface="Assistant"/>
                <a:sym typeface="Assistant"/>
              </a:rPr>
              <a:t>,</a:t>
            </a:r>
            <a:r>
              <a:rPr lang="en-US" sz="2000">
                <a:latin typeface="Assistant"/>
                <a:ea typeface="Assistant"/>
                <a:cs typeface="Assistant"/>
                <a:sym typeface="Assistant"/>
              </a:rPr>
              <a:t> "Itamar"</a:t>
            </a:r>
            <a:r>
              <a:rPr b="1" lang="en-US" sz="2000">
                <a:solidFill>
                  <a:srgbClr val="0000FF"/>
                </a:solidFill>
                <a:latin typeface="Assistant"/>
                <a:ea typeface="Assistant"/>
                <a:cs typeface="Assistant"/>
                <a:sym typeface="Assistant"/>
              </a:rPr>
              <a:t>, </a:t>
            </a:r>
            <a:r>
              <a:rPr lang="en-US" sz="2000">
                <a:latin typeface="Assistant"/>
                <a:ea typeface="Assistant"/>
                <a:cs typeface="Assistant"/>
                <a:sym typeface="Assistant"/>
              </a:rPr>
              <a:t>340</a:t>
            </a:r>
            <a:r>
              <a:rPr b="1" lang="en-US" sz="2000">
                <a:solidFill>
                  <a:srgbClr val="0000FF"/>
                </a:solidFill>
                <a:latin typeface="Assistant"/>
                <a:ea typeface="Assistant"/>
                <a:cs typeface="Assistant"/>
                <a:sym typeface="Assistant"/>
              </a:rPr>
              <a:t>, </a:t>
            </a:r>
            <a:r>
              <a:rPr lang="en-US" sz="2000">
                <a:latin typeface="Assistant"/>
                <a:ea typeface="Assistant"/>
                <a:cs typeface="Assistant"/>
                <a:sym typeface="Assistant"/>
              </a:rPr>
              <a:t>-7</a:t>
            </a:r>
            <a:r>
              <a:rPr b="1" lang="en-US" sz="2000">
                <a:solidFill>
                  <a:srgbClr val="0000FF"/>
                </a:solidFill>
                <a:latin typeface="Assistant"/>
                <a:ea typeface="Assistant"/>
                <a:cs typeface="Assistant"/>
                <a:sym typeface="Assistant"/>
              </a:rPr>
              <a:t>]</a:t>
            </a:r>
            <a:endParaRPr b="1" sz="2000">
              <a:solidFill>
                <a:srgbClr val="0000FF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01" name="Google Shape;101;p17"/>
          <p:cNvSpPr txBox="1"/>
          <p:nvPr/>
        </p:nvSpPr>
        <p:spPr>
          <a:xfrm>
            <a:off x="475825" y="1766425"/>
            <a:ext cx="466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i="0" sz="2000" u="none" cap="none" strike="noStrike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02" name="Google Shape;102;p17"/>
          <p:cNvSpPr txBox="1"/>
          <p:nvPr/>
        </p:nvSpPr>
        <p:spPr>
          <a:xfrm>
            <a:off x="391004" y="2365425"/>
            <a:ext cx="435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i="0" sz="2000" u="none" cap="none" strike="noStrike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03" name="Google Shape;103;p17"/>
          <p:cNvSpPr txBox="1"/>
          <p:nvPr/>
        </p:nvSpPr>
        <p:spPr>
          <a:xfrm>
            <a:off x="18200" y="25833"/>
            <a:ext cx="120033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700">
                <a:solidFill>
                  <a:srgbClr val="FFFFFF"/>
                </a:solidFill>
                <a:latin typeface="Secular One"/>
                <a:ea typeface="Secular One"/>
                <a:cs typeface="Secular One"/>
                <a:sym typeface="Secular One"/>
              </a:rPr>
              <a:t>הגדרת רשימה</a:t>
            </a:r>
            <a:endParaRPr b="1" sz="5700">
              <a:solidFill>
                <a:srgbClr val="FFFFFF"/>
              </a:solidFill>
              <a:latin typeface="Secular One"/>
              <a:ea typeface="Secular One"/>
              <a:cs typeface="Secular One"/>
              <a:sym typeface="Secular One"/>
            </a:endParaRPr>
          </a:p>
        </p:txBody>
      </p:sp>
      <p:pic>
        <p:nvPicPr>
          <p:cNvPr id="104" name="Google Shape;104;p17"/>
          <p:cNvPicPr preferRelativeResize="0"/>
          <p:nvPr/>
        </p:nvPicPr>
        <p:blipFill rotWithShape="1">
          <a:blip r:embed="rId4">
            <a:alphaModFix/>
          </a:blip>
          <a:srcRect b="46057" l="27146" r="58512" t="32019"/>
          <a:stretch/>
        </p:blipFill>
        <p:spPr>
          <a:xfrm>
            <a:off x="11765314" y="1298625"/>
            <a:ext cx="198225" cy="30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7"/>
          <p:cNvPicPr preferRelativeResize="0"/>
          <p:nvPr/>
        </p:nvPicPr>
        <p:blipFill rotWithShape="1">
          <a:blip r:embed="rId4">
            <a:alphaModFix/>
          </a:blip>
          <a:srcRect b="46057" l="27146" r="58512" t="32019"/>
          <a:stretch/>
        </p:blipFill>
        <p:spPr>
          <a:xfrm>
            <a:off x="11765314" y="1832025"/>
            <a:ext cx="198225" cy="30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7"/>
          <p:cNvPicPr preferRelativeResize="0"/>
          <p:nvPr/>
        </p:nvPicPr>
        <p:blipFill rotWithShape="1">
          <a:blip r:embed="rId4">
            <a:alphaModFix/>
          </a:blip>
          <a:srcRect b="46057" l="27146" r="58512" t="32019"/>
          <a:stretch/>
        </p:blipFill>
        <p:spPr>
          <a:xfrm>
            <a:off x="11765314" y="2365425"/>
            <a:ext cx="198225" cy="30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7"/>
          <p:cNvPicPr preferRelativeResize="0"/>
          <p:nvPr/>
        </p:nvPicPr>
        <p:blipFill rotWithShape="1">
          <a:blip r:embed="rId4">
            <a:alphaModFix/>
          </a:blip>
          <a:srcRect b="46057" l="27146" r="58512" t="32019"/>
          <a:stretch/>
        </p:blipFill>
        <p:spPr>
          <a:xfrm>
            <a:off x="11765314" y="2898825"/>
            <a:ext cx="198225" cy="3033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7"/>
          <p:cNvSpPr txBox="1"/>
          <p:nvPr/>
        </p:nvSpPr>
        <p:spPr>
          <a:xfrm>
            <a:off x="391000" y="1167425"/>
            <a:ext cx="386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09" name="Google Shape;109;p17"/>
          <p:cNvSpPr txBox="1"/>
          <p:nvPr/>
        </p:nvSpPr>
        <p:spPr>
          <a:xfrm>
            <a:off x="391000" y="1251838"/>
            <a:ext cx="4553100" cy="14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ניתן ליצור רשימה ריקה בשתי דרכים:</a:t>
            </a:r>
            <a:endParaRPr sz="20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rPr>
              <a:t>my_list = list()</a:t>
            </a:r>
            <a:r>
              <a:rPr b="1" lang="en-US" sz="2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endParaRPr b="1" sz="20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rPr>
              <a:t>my_list = [</a:t>
            </a:r>
            <a:r>
              <a:rPr lang="en-US" sz="1600">
                <a:solidFill>
                  <a:srgbClr val="999999"/>
                </a:solidFill>
                <a:latin typeface="Secular One"/>
                <a:ea typeface="Secular One"/>
                <a:cs typeface="Secular One"/>
                <a:sym typeface="Secular One"/>
              </a:rPr>
              <a:t>#list objects</a:t>
            </a:r>
            <a:r>
              <a:rPr lang="en-US" sz="20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rPr>
              <a:t>]</a:t>
            </a:r>
            <a:endParaRPr b="1" sz="20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110" name="Google Shape;11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4381088" y="2320112"/>
            <a:ext cx="2033848" cy="6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" y="8"/>
            <a:ext cx="12191989" cy="1562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-18096" y="5297383"/>
            <a:ext cx="12191989" cy="156209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8"/>
          <p:cNvSpPr txBox="1"/>
          <p:nvPr/>
        </p:nvSpPr>
        <p:spPr>
          <a:xfrm>
            <a:off x="0" y="6531000"/>
            <a:ext cx="121920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משרד החינוך - עמ"ט וירטואלי</a:t>
            </a:r>
            <a:endParaRPr sz="1000">
              <a:solidFill>
                <a:srgbClr val="FFFFFF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18200" y="25833"/>
            <a:ext cx="120033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700">
                <a:solidFill>
                  <a:srgbClr val="FFFFFF"/>
                </a:solidFill>
                <a:latin typeface="Secular One"/>
                <a:ea typeface="Secular One"/>
                <a:cs typeface="Secular One"/>
                <a:sym typeface="Secular One"/>
              </a:rPr>
              <a:t>צפו בסרטון</a:t>
            </a:r>
            <a:endParaRPr b="1" sz="5700">
              <a:solidFill>
                <a:srgbClr val="FFFFFF"/>
              </a:solidFill>
              <a:latin typeface="Secular One"/>
              <a:ea typeface="Secular One"/>
              <a:cs typeface="Secular One"/>
              <a:sym typeface="Secular One"/>
            </a:endParaRPr>
          </a:p>
        </p:txBody>
      </p:sp>
      <p:pic>
        <p:nvPicPr>
          <p:cNvPr id="120" name="Google Shape;120;p18" title="עמט וירטואלי - פייתון - רשימות א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56763" y="1163812"/>
            <a:ext cx="9242282" cy="5198813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/>
        </p:nvSpPr>
        <p:spPr>
          <a:xfrm>
            <a:off x="401725" y="1312950"/>
            <a:ext cx="60441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my_list = [] #יצירת רשימה ריקה ללא איברים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my_list.append(‘Tomer’) 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my_list.append(100)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my_list.append(-43.21)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number = 57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my_list.append(number)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print</a:t>
            </a: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(my_list)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126" name="Google Shape;126;p19"/>
          <p:cNvSpPr txBox="1"/>
          <p:nvPr/>
        </p:nvSpPr>
        <p:spPr>
          <a:xfrm>
            <a:off x="401725" y="4571075"/>
            <a:ext cx="4268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[</a:t>
            </a: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'Tomer'</a:t>
            </a: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, 100, -43.21, 57]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127" name="Google Shape;127;p19"/>
          <p:cNvSpPr txBox="1"/>
          <p:nvPr/>
        </p:nvSpPr>
        <p:spPr>
          <a:xfrm>
            <a:off x="5797750" y="1312950"/>
            <a:ext cx="61542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הפעולה </a:t>
            </a:r>
            <a:r>
              <a:rPr b="1" lang="en-US" sz="2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()</a:t>
            </a:r>
            <a:r>
              <a:rPr lang="en-US" sz="20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rPr>
              <a:t>append </a:t>
            </a: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מאפשרת להוסיף </a:t>
            </a: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איבר לסוף הרשימה באמצעות קריאה לפעולה עם ערך ידוע מראש.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pic>
        <p:nvPicPr>
          <p:cNvPr id="128" name="Google Shape;12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" y="8"/>
            <a:ext cx="12191989" cy="1562099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9"/>
          <p:cNvSpPr txBox="1"/>
          <p:nvPr/>
        </p:nvSpPr>
        <p:spPr>
          <a:xfrm>
            <a:off x="18200" y="25833"/>
            <a:ext cx="120033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700">
                <a:solidFill>
                  <a:srgbClr val="FFFFFF"/>
                </a:solidFill>
                <a:latin typeface="Secular One"/>
                <a:ea typeface="Secular One"/>
                <a:cs typeface="Secular One"/>
                <a:sym typeface="Secular One"/>
              </a:rPr>
              <a:t>הפעולה ()append</a:t>
            </a:r>
            <a:endParaRPr b="1" sz="5700">
              <a:solidFill>
                <a:srgbClr val="FFFFFF"/>
              </a:solidFill>
              <a:latin typeface="Secular One"/>
              <a:ea typeface="Secular One"/>
              <a:cs typeface="Secular One"/>
              <a:sym typeface="Secular One"/>
            </a:endParaRPr>
          </a:p>
        </p:txBody>
      </p:sp>
      <p:pic>
        <p:nvPicPr>
          <p:cNvPr id="130" name="Google Shape;13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-18096" y="5297383"/>
            <a:ext cx="12191989" cy="1562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468653" y="4531925"/>
            <a:ext cx="2893249" cy="6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468653" y="5065325"/>
            <a:ext cx="2893249" cy="6312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9"/>
          <p:cNvSpPr txBox="1"/>
          <p:nvPr/>
        </p:nvSpPr>
        <p:spPr>
          <a:xfrm>
            <a:off x="0" y="6531000"/>
            <a:ext cx="121920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משרד החינוך - עמ"ט וירטואלי</a:t>
            </a:r>
            <a:endParaRPr sz="1000">
              <a:solidFill>
                <a:srgbClr val="FFFFFF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/>
          <p:nvPr>
            <p:ph idx="1" type="body"/>
          </p:nvPr>
        </p:nvSpPr>
        <p:spPr>
          <a:xfrm>
            <a:off x="6448675" y="3068200"/>
            <a:ext cx="5250900" cy="13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יצרנו רשימה ריקה.</a:t>
            </a:r>
            <a:endParaRPr sz="20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1" algn="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עברנו בלולאה וקלטנו ערכים הישר לתוך הרשימה שלנו.</a:t>
            </a:r>
            <a:endParaRPr sz="20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1" algn="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לבסוף הדפסנו את הרשימה.</a:t>
            </a:r>
            <a:endParaRPr sz="20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139" name="Google Shape;139;p20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lt1"/>
                </a:solidFill>
              </a:rPr>
              <a:t>חגית כהן &amp;&amp; רחל פרלמן</a:t>
            </a:r>
            <a:br>
              <a:rPr lang="en-US" sz="1200">
                <a:solidFill>
                  <a:schemeClr val="lt1"/>
                </a:solidFill>
              </a:rPr>
            </a:br>
            <a:r>
              <a:rPr lang="en-US" sz="1200">
                <a:solidFill>
                  <a:schemeClr val="lt1"/>
                </a:solidFill>
              </a:rPr>
              <a:t>הפיקוח להוראת מדעי המחשב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40" name="Google Shape;140;p20"/>
          <p:cNvSpPr txBox="1"/>
          <p:nvPr/>
        </p:nvSpPr>
        <p:spPr>
          <a:xfrm>
            <a:off x="401725" y="1389150"/>
            <a:ext cx="51906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my_list = [] #יצירת רשימה ריקה ללא איברים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for </a:t>
            </a: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item </a:t>
            </a:r>
            <a:r>
              <a:rPr lang="en-US" sz="2000">
                <a:solidFill>
                  <a:srgbClr val="0000FF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in </a:t>
            </a: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range(4):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    data = input("Please enter number to list : ")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    my_list.append(data)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print </a:t>
            </a: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(my_list)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141" name="Google Shape;141;p20"/>
          <p:cNvSpPr txBox="1"/>
          <p:nvPr/>
        </p:nvSpPr>
        <p:spPr>
          <a:xfrm>
            <a:off x="401725" y="3476975"/>
            <a:ext cx="53139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Please enter number to list : 44</a:t>
            </a:r>
            <a:endParaRPr sz="20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Please enter number to list : Rachel</a:t>
            </a:r>
            <a:endParaRPr sz="20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Please enter number to list : -5</a:t>
            </a:r>
            <a:endParaRPr sz="20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Please enter number to list : 4.7</a:t>
            </a:r>
            <a:endParaRPr sz="20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['44', 'Rachel', '-5', '4.7']</a:t>
            </a:r>
            <a:endParaRPr sz="20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pic>
        <p:nvPicPr>
          <p:cNvPr id="142" name="Google Shape;14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" y="8"/>
            <a:ext cx="12191989" cy="156209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0"/>
          <p:cNvSpPr txBox="1"/>
          <p:nvPr/>
        </p:nvSpPr>
        <p:spPr>
          <a:xfrm>
            <a:off x="18200" y="25833"/>
            <a:ext cx="120033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700">
                <a:solidFill>
                  <a:srgbClr val="FFFFFF"/>
                </a:solidFill>
                <a:latin typeface="Secular One"/>
                <a:ea typeface="Secular One"/>
                <a:cs typeface="Secular One"/>
                <a:sym typeface="Secular One"/>
              </a:rPr>
              <a:t>הפעולה ()append</a:t>
            </a:r>
            <a:endParaRPr b="1" sz="5700">
              <a:solidFill>
                <a:srgbClr val="FFFFFF"/>
              </a:solidFill>
              <a:latin typeface="Secular One"/>
              <a:ea typeface="Secular One"/>
              <a:cs typeface="Secular One"/>
              <a:sym typeface="Secular One"/>
            </a:endParaRPr>
          </a:p>
        </p:txBody>
      </p:sp>
      <p:sp>
        <p:nvSpPr>
          <p:cNvPr id="144" name="Google Shape;144;p20"/>
          <p:cNvSpPr txBox="1"/>
          <p:nvPr/>
        </p:nvSpPr>
        <p:spPr>
          <a:xfrm>
            <a:off x="5777625" y="1312950"/>
            <a:ext cx="61743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לפניכם יישום של הפעול</a:t>
            </a: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ה </a:t>
            </a:r>
            <a:r>
              <a:rPr b="1" lang="en-US" sz="2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()</a:t>
            </a:r>
            <a:r>
              <a:rPr lang="en-US" sz="20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rPr>
              <a:t>appen</a:t>
            </a:r>
            <a:r>
              <a:rPr lang="en-US" sz="20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rPr>
              <a:t>d</a:t>
            </a: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.</a:t>
            </a:r>
            <a:endParaRPr sz="20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בקוד שלפניכם קולטים </a:t>
            </a: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איבר </a:t>
            </a: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באמצעות הפעולה </a:t>
            </a:r>
            <a:r>
              <a:rPr lang="en-US" sz="20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rPr>
              <a:t>input</a:t>
            </a: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. </a:t>
            </a:r>
            <a:endParaRPr sz="20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את האיבר שנקלט, מוסיפים לסוף הרשימה.</a:t>
            </a:r>
            <a:endParaRPr sz="20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pic>
        <p:nvPicPr>
          <p:cNvPr id="145" name="Google Shape;145;p20"/>
          <p:cNvPicPr preferRelativeResize="0"/>
          <p:nvPr/>
        </p:nvPicPr>
        <p:blipFill rotWithShape="1">
          <a:blip r:embed="rId4">
            <a:alphaModFix/>
          </a:blip>
          <a:srcRect b="46057" l="27146" r="58512" t="32019"/>
          <a:stretch/>
        </p:blipFill>
        <p:spPr>
          <a:xfrm>
            <a:off x="11765314" y="3068200"/>
            <a:ext cx="198225" cy="30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0"/>
          <p:cNvPicPr preferRelativeResize="0"/>
          <p:nvPr/>
        </p:nvPicPr>
        <p:blipFill rotWithShape="1">
          <a:blip r:embed="rId4">
            <a:alphaModFix/>
          </a:blip>
          <a:srcRect b="46057" l="27146" r="58512" t="32019"/>
          <a:stretch/>
        </p:blipFill>
        <p:spPr>
          <a:xfrm>
            <a:off x="11765314" y="3540775"/>
            <a:ext cx="198225" cy="30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0"/>
          <p:cNvPicPr preferRelativeResize="0"/>
          <p:nvPr/>
        </p:nvPicPr>
        <p:blipFill rotWithShape="1">
          <a:blip r:embed="rId4">
            <a:alphaModFix/>
          </a:blip>
          <a:srcRect b="46057" l="27146" r="58512" t="32019"/>
          <a:stretch/>
        </p:blipFill>
        <p:spPr>
          <a:xfrm>
            <a:off x="11765314" y="3979800"/>
            <a:ext cx="198225" cy="30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468660" y="3465125"/>
            <a:ext cx="3839403" cy="6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468660" y="5217725"/>
            <a:ext cx="3839403" cy="6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-18096" y="5297383"/>
            <a:ext cx="12191989" cy="1562099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0"/>
          <p:cNvSpPr txBox="1"/>
          <p:nvPr/>
        </p:nvSpPr>
        <p:spPr>
          <a:xfrm>
            <a:off x="0" y="6531000"/>
            <a:ext cx="121920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משרד החינוך - עמ"ט וירטואלי</a:t>
            </a:r>
            <a:endParaRPr sz="1000">
              <a:solidFill>
                <a:srgbClr val="FFFFFF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" y="8"/>
            <a:ext cx="12191989" cy="15620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7" name="Google Shape;157;p21"/>
          <p:cNvGraphicFramePr/>
          <p:nvPr/>
        </p:nvGraphicFramePr>
        <p:xfrm>
          <a:off x="4112044" y="26288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{48A11FE0-6231-4C87-9475-0E7E6FF2E92F}</a:tableStyleId>
              </a:tblPr>
              <a:tblGrid>
                <a:gridCol w="1567975"/>
                <a:gridCol w="1567975"/>
                <a:gridCol w="1567975"/>
                <a:gridCol w="1567975"/>
                <a:gridCol w="15679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92A72"/>
                          </a:solidFill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0</a:t>
                      </a:r>
                      <a:endParaRPr b="0" sz="1800" u="none" cap="none" strike="noStrike">
                        <a:solidFill>
                          <a:srgbClr val="192A72"/>
                        </a:solidFill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92A72"/>
                          </a:solidFill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1</a:t>
                      </a:r>
                      <a:endParaRPr b="0" sz="1800" u="none" cap="none" strike="noStrike">
                        <a:solidFill>
                          <a:srgbClr val="192A72"/>
                        </a:solidFill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92A72"/>
                          </a:solidFill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2</a:t>
                      </a:r>
                      <a:endParaRPr b="0" sz="1800" u="none" cap="none" strike="noStrike">
                        <a:solidFill>
                          <a:srgbClr val="192A72"/>
                        </a:solidFill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92A72"/>
                          </a:solidFill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3</a:t>
                      </a:r>
                      <a:endParaRPr b="0" sz="1800" u="none" cap="none" strike="noStrike">
                        <a:solidFill>
                          <a:srgbClr val="192A72"/>
                        </a:solidFill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92A72"/>
                          </a:solidFill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4</a:t>
                      </a:r>
                      <a:endParaRPr b="0" sz="1800" u="none" cap="none" strike="noStrike">
                        <a:solidFill>
                          <a:srgbClr val="192A72"/>
                        </a:solidFill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</a:txBody>
                  <a:tcPr marT="45725" marB="45725" marR="91450" marL="91450"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Secular One"/>
                          <a:ea typeface="Secular One"/>
                          <a:cs typeface="Secular One"/>
                          <a:sym typeface="Secular One"/>
                        </a:rPr>
                        <a:t>24.56</a:t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Secular One"/>
                        <a:ea typeface="Secular One"/>
                        <a:cs typeface="Secular One"/>
                        <a:sym typeface="Secular One"/>
                      </a:endParaRPr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Secular One"/>
                          <a:ea typeface="Secular One"/>
                          <a:cs typeface="Secular One"/>
                          <a:sym typeface="Secular One"/>
                        </a:rPr>
                        <a:t>Itamar</a:t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Secular One"/>
                        <a:ea typeface="Secular One"/>
                        <a:cs typeface="Secular One"/>
                        <a:sym typeface="Secular One"/>
                      </a:endParaRPr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Secular One"/>
                          <a:ea typeface="Secular One"/>
                          <a:cs typeface="Secular One"/>
                          <a:sym typeface="Secular One"/>
                        </a:rPr>
                        <a:t>340</a:t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Secular One"/>
                        <a:ea typeface="Secular One"/>
                        <a:cs typeface="Secular One"/>
                        <a:sym typeface="Secular One"/>
                      </a:endParaRPr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Secular One"/>
                          <a:ea typeface="Secular One"/>
                          <a:cs typeface="Secular One"/>
                          <a:sym typeface="Secular One"/>
                        </a:rPr>
                        <a:t>7-</a:t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Secular One"/>
                        <a:ea typeface="Secular One"/>
                        <a:cs typeface="Secular One"/>
                        <a:sym typeface="Secular One"/>
                      </a:endParaRPr>
                    </a:p>
                  </a:txBody>
                  <a:tcPr marT="45725" marB="45725" marR="91450" marL="91450">
                    <a:lnR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Secular One"/>
                          <a:ea typeface="Secular One"/>
                          <a:cs typeface="Secular One"/>
                          <a:sym typeface="Secular One"/>
                        </a:rPr>
                        <a:t>Yael</a:t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Secular One"/>
                        <a:ea typeface="Secular One"/>
                        <a:cs typeface="Secular One"/>
                        <a:sym typeface="Secular One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192A72"/>
                          </a:solidFill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5-</a:t>
                      </a:r>
                      <a:endParaRPr sz="1800" u="none" cap="none" strike="noStrike">
                        <a:solidFill>
                          <a:srgbClr val="192A72"/>
                        </a:solidFill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192A72"/>
                          </a:solidFill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4-</a:t>
                      </a:r>
                      <a:endParaRPr sz="1800" u="none" cap="none" strike="noStrike">
                        <a:solidFill>
                          <a:srgbClr val="192A72"/>
                        </a:solidFill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192A72"/>
                          </a:solidFill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3-</a:t>
                      </a:r>
                      <a:endParaRPr sz="1800" u="none" cap="none" strike="noStrike">
                        <a:solidFill>
                          <a:srgbClr val="192A72"/>
                        </a:solidFill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192A72"/>
                          </a:solidFill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2-</a:t>
                      </a:r>
                      <a:endParaRPr sz="1800" u="none" cap="none" strike="noStrike">
                        <a:solidFill>
                          <a:srgbClr val="192A72"/>
                        </a:solidFill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192A72"/>
                          </a:solidFill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1-</a:t>
                      </a:r>
                      <a:endParaRPr sz="1800" u="none" cap="none" strike="noStrike">
                        <a:solidFill>
                          <a:srgbClr val="192A72"/>
                        </a:solidFill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</a:txBody>
                  <a:tcPr marT="45725" marB="45725" marR="91450" marL="91450">
                    <a:lnT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58" name="Google Shape;158;p21"/>
          <p:cNvSpPr txBox="1"/>
          <p:nvPr/>
        </p:nvSpPr>
        <p:spPr>
          <a:xfrm>
            <a:off x="18200" y="25833"/>
            <a:ext cx="120033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700">
                <a:solidFill>
                  <a:srgbClr val="FFFFFF"/>
                </a:solidFill>
                <a:latin typeface="Secular One"/>
                <a:ea typeface="Secular One"/>
                <a:cs typeface="Secular One"/>
                <a:sym typeface="Secular One"/>
              </a:rPr>
              <a:t>גישה לאיברי הרשימה [ ]</a:t>
            </a:r>
            <a:endParaRPr b="1" sz="5700">
              <a:solidFill>
                <a:srgbClr val="FFFFFF"/>
              </a:solidFill>
              <a:latin typeface="Secular One"/>
              <a:ea typeface="Secular One"/>
              <a:cs typeface="Secular One"/>
              <a:sym typeface="Secular One"/>
            </a:endParaRPr>
          </a:p>
        </p:txBody>
      </p:sp>
      <p:pic>
        <p:nvPicPr>
          <p:cNvPr id="159" name="Google Shape;15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4480418" y="2970350"/>
            <a:ext cx="7346097" cy="6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4480418" y="3351350"/>
            <a:ext cx="7346097" cy="6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987837" y="3152510"/>
            <a:ext cx="1068151" cy="6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6816637" y="3152510"/>
            <a:ext cx="1068151" cy="6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8188237" y="3152510"/>
            <a:ext cx="1068151" cy="6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9788437" y="3152510"/>
            <a:ext cx="1068151" cy="6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1"/>
          <p:cNvPicPr preferRelativeResize="0"/>
          <p:nvPr/>
        </p:nvPicPr>
        <p:blipFill rotWithShape="1">
          <a:blip r:embed="rId4">
            <a:alphaModFix/>
          </a:blip>
          <a:srcRect b="43467" l="0" r="0" t="0"/>
          <a:stretch/>
        </p:blipFill>
        <p:spPr>
          <a:xfrm rot="10800000">
            <a:off x="3262549" y="2986725"/>
            <a:ext cx="1068151" cy="4275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66" name="Google Shape;166;p21"/>
          <p:cNvSpPr txBox="1"/>
          <p:nvPr/>
        </p:nvSpPr>
        <p:spPr>
          <a:xfrm>
            <a:off x="3239675" y="2937775"/>
            <a:ext cx="1113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my_list</a:t>
            </a:r>
            <a:endParaRPr b="1">
              <a:solidFill>
                <a:schemeClr val="lt1"/>
              </a:solidFill>
            </a:endParaRPr>
          </a:p>
        </p:txBody>
      </p:sp>
      <p:graphicFrame>
        <p:nvGraphicFramePr>
          <p:cNvPr id="167" name="Google Shape;167;p21"/>
          <p:cNvGraphicFramePr/>
          <p:nvPr/>
        </p:nvGraphicFramePr>
        <p:xfrm>
          <a:off x="9662500" y="4494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{F58E157C-7EFC-4CC3-B1BB-95AACA83E738}</a:tableStyleId>
              </a:tblPr>
              <a:tblGrid>
                <a:gridCol w="21942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my_list[0]=  24.56</a:t>
                      </a:r>
                      <a:endParaRPr sz="2000"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my_list[1]=  Itamar</a:t>
                      </a:r>
                      <a:endParaRPr sz="2000"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my_list[-1]=  Yael</a:t>
                      </a:r>
                      <a:endParaRPr sz="2000"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my_list[-2]=  -7</a:t>
                      </a:r>
                      <a:endParaRPr sz="2000"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8" name="Google Shape;168;p21"/>
          <p:cNvGraphicFramePr/>
          <p:nvPr/>
        </p:nvGraphicFramePr>
        <p:xfrm>
          <a:off x="4615625" y="4494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{F58E157C-7EFC-4CC3-B1BB-95AACA83E738}</a:tableStyleId>
              </a:tblPr>
              <a:tblGrid>
                <a:gridCol w="4075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print("my_list[0]= ", my_list[0]) </a:t>
                      </a:r>
                      <a:endParaRPr sz="2000"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print("my_list[1]= ", my_list[1])</a:t>
                      </a:r>
                      <a:endParaRPr sz="2000"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print("my_list[-1]= ", my_list[-1])</a:t>
                      </a:r>
                      <a:endParaRPr sz="2000"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print("my_list[-2]= ", my_list[-2])</a:t>
                      </a:r>
                      <a:endParaRPr sz="2000"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9" name="Google Shape;169;p21"/>
          <p:cNvSpPr txBox="1"/>
          <p:nvPr/>
        </p:nvSpPr>
        <p:spPr>
          <a:xfrm>
            <a:off x="5797750" y="1160550"/>
            <a:ext cx="6154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ניתן לגשת לכל אחד מאיברי הרשימה בנפרד. 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170" name="Google Shape;170;p21"/>
          <p:cNvSpPr txBox="1"/>
          <p:nvPr/>
        </p:nvSpPr>
        <p:spPr>
          <a:xfrm>
            <a:off x="384000" y="2147950"/>
            <a:ext cx="4897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ssistant SemiBold"/>
                <a:ea typeface="Assistant SemiBold"/>
                <a:cs typeface="Assistant SemiBold"/>
                <a:sym typeface="Assistant SemiBold"/>
              </a:rPr>
              <a:t>my_list = [24.56, "Itamar", 340, -7, "Yael"]</a:t>
            </a:r>
            <a:endParaRPr sz="2000"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pic>
        <p:nvPicPr>
          <p:cNvPr id="171" name="Google Shape;171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71113" y="4007625"/>
            <a:ext cx="2319850" cy="42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80113" y="4007625"/>
            <a:ext cx="2319850" cy="42755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1"/>
          <p:cNvSpPr txBox="1"/>
          <p:nvPr/>
        </p:nvSpPr>
        <p:spPr>
          <a:xfrm>
            <a:off x="5386038" y="3928525"/>
            <a:ext cx="1908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הקוד בפייתון</a:t>
            </a:r>
            <a:endParaRPr sz="2000">
              <a:solidFill>
                <a:schemeClr val="dk1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sp>
        <p:nvSpPr>
          <p:cNvPr id="174" name="Google Shape;174;p21"/>
          <p:cNvSpPr txBox="1"/>
          <p:nvPr/>
        </p:nvSpPr>
        <p:spPr>
          <a:xfrm>
            <a:off x="9577038" y="3928525"/>
            <a:ext cx="1908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הפלט המתקבל</a:t>
            </a:r>
            <a:endParaRPr sz="2000">
              <a:solidFill>
                <a:schemeClr val="dk1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71113" y="4007625"/>
            <a:ext cx="2319850" cy="42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0113" y="4007625"/>
            <a:ext cx="2319850" cy="42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3913" y="4007625"/>
            <a:ext cx="2319850" cy="42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" y="8"/>
            <a:ext cx="12191989" cy="1562099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2"/>
          <p:cNvSpPr txBox="1"/>
          <p:nvPr/>
        </p:nvSpPr>
        <p:spPr>
          <a:xfrm>
            <a:off x="18200" y="25833"/>
            <a:ext cx="120033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700">
                <a:solidFill>
                  <a:srgbClr val="FFFFFF"/>
                </a:solidFill>
                <a:latin typeface="Secular One"/>
                <a:ea typeface="Secular One"/>
                <a:cs typeface="Secular One"/>
                <a:sym typeface="Secular One"/>
              </a:rPr>
              <a:t>גישה לאיברי הרשימה [ ]</a:t>
            </a:r>
            <a:endParaRPr b="1" sz="5700">
              <a:solidFill>
                <a:srgbClr val="FFFFFF"/>
              </a:solidFill>
              <a:latin typeface="Secular One"/>
              <a:ea typeface="Secular One"/>
              <a:cs typeface="Secular One"/>
              <a:sym typeface="Secular One"/>
            </a:endParaRPr>
          </a:p>
        </p:txBody>
      </p:sp>
      <p:sp>
        <p:nvSpPr>
          <p:cNvPr id="184" name="Google Shape;184;p22"/>
          <p:cNvSpPr txBox="1"/>
          <p:nvPr/>
        </p:nvSpPr>
        <p:spPr>
          <a:xfrm>
            <a:off x="3239675" y="1160550"/>
            <a:ext cx="87123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ניתן לקבל תת רשימה מתוך רשימה ע"י פעולת חיתוך: </a:t>
            </a:r>
            <a:r>
              <a:rPr lang="en-US" sz="2000">
                <a:latin typeface="Secular One"/>
                <a:ea typeface="Secular One"/>
                <a:cs typeface="Secular One"/>
                <a:sym typeface="Secular One"/>
              </a:rPr>
              <a:t>[ my_list[begin : end : jump</a:t>
            </a: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 החיתוך הוא עד מקום </a:t>
            </a:r>
            <a:r>
              <a:rPr lang="en-US" sz="2000">
                <a:latin typeface="Secular One"/>
                <a:ea typeface="Secular One"/>
                <a:cs typeface="Secular One"/>
                <a:sym typeface="Secular One"/>
              </a:rPr>
              <a:t>end</a:t>
            </a: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 לא כולל המקום </a:t>
            </a:r>
            <a:r>
              <a:rPr lang="en-US" sz="2000">
                <a:latin typeface="Secular One"/>
                <a:ea typeface="Secular One"/>
                <a:cs typeface="Secular One"/>
                <a:sym typeface="Secular One"/>
              </a:rPr>
              <a:t>end</a:t>
            </a: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 עצמו.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185" name="Google Shape;185;p22"/>
          <p:cNvSpPr txBox="1"/>
          <p:nvPr/>
        </p:nvSpPr>
        <p:spPr>
          <a:xfrm>
            <a:off x="384000" y="2147950"/>
            <a:ext cx="4897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ssistant SemiBold"/>
                <a:ea typeface="Assistant SemiBold"/>
                <a:cs typeface="Assistant SemiBold"/>
                <a:sym typeface="Assistant SemiBold"/>
              </a:rPr>
              <a:t>my_list = [24.56, "Itamar", 340, -7, "Yael"]</a:t>
            </a:r>
            <a:endParaRPr sz="2000"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graphicFrame>
        <p:nvGraphicFramePr>
          <p:cNvPr id="186" name="Google Shape;186;p22"/>
          <p:cNvGraphicFramePr/>
          <p:nvPr/>
        </p:nvGraphicFramePr>
        <p:xfrm>
          <a:off x="4112044" y="26288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{48A11FE0-6231-4C87-9475-0E7E6FF2E92F}</a:tableStyleId>
              </a:tblPr>
              <a:tblGrid>
                <a:gridCol w="1567975"/>
                <a:gridCol w="1567975"/>
                <a:gridCol w="1567975"/>
                <a:gridCol w="1567975"/>
                <a:gridCol w="15679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92A72"/>
                          </a:solidFill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0</a:t>
                      </a:r>
                      <a:endParaRPr b="0" sz="1800" u="none" cap="none" strike="noStrike">
                        <a:solidFill>
                          <a:srgbClr val="192A72"/>
                        </a:solidFill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92A72"/>
                          </a:solidFill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1</a:t>
                      </a:r>
                      <a:endParaRPr b="0" sz="1800" u="none" cap="none" strike="noStrike">
                        <a:solidFill>
                          <a:srgbClr val="192A72"/>
                        </a:solidFill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92A72"/>
                          </a:solidFill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2</a:t>
                      </a:r>
                      <a:endParaRPr b="0" sz="1800" u="none" cap="none" strike="noStrike">
                        <a:solidFill>
                          <a:srgbClr val="192A72"/>
                        </a:solidFill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92A72"/>
                          </a:solidFill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3</a:t>
                      </a:r>
                      <a:endParaRPr b="0" sz="1800" u="none" cap="none" strike="noStrike">
                        <a:solidFill>
                          <a:srgbClr val="192A72"/>
                        </a:solidFill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192A72"/>
                          </a:solidFill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4</a:t>
                      </a:r>
                      <a:endParaRPr b="0" sz="1800" u="none" cap="none" strike="noStrike">
                        <a:solidFill>
                          <a:srgbClr val="192A72"/>
                        </a:solidFill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</a:txBody>
                  <a:tcPr marT="45725" marB="45725" marR="91450" marL="91450"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Secular One"/>
                          <a:ea typeface="Secular One"/>
                          <a:cs typeface="Secular One"/>
                          <a:sym typeface="Secular One"/>
                        </a:rPr>
                        <a:t>24.56</a:t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Secular One"/>
                        <a:ea typeface="Secular One"/>
                        <a:cs typeface="Secular One"/>
                        <a:sym typeface="Secular One"/>
                      </a:endParaRPr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Secular One"/>
                          <a:ea typeface="Secular One"/>
                          <a:cs typeface="Secular One"/>
                          <a:sym typeface="Secular One"/>
                        </a:rPr>
                        <a:t>Itamar</a:t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Secular One"/>
                        <a:ea typeface="Secular One"/>
                        <a:cs typeface="Secular One"/>
                        <a:sym typeface="Secular One"/>
                      </a:endParaRPr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Secular One"/>
                          <a:ea typeface="Secular One"/>
                          <a:cs typeface="Secular One"/>
                          <a:sym typeface="Secular One"/>
                        </a:rPr>
                        <a:t>340</a:t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Secular One"/>
                        <a:ea typeface="Secular One"/>
                        <a:cs typeface="Secular One"/>
                        <a:sym typeface="Secular One"/>
                      </a:endParaRPr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Secular One"/>
                          <a:ea typeface="Secular One"/>
                          <a:cs typeface="Secular One"/>
                          <a:sym typeface="Secular One"/>
                        </a:rPr>
                        <a:t>7-</a:t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Secular One"/>
                        <a:ea typeface="Secular One"/>
                        <a:cs typeface="Secular One"/>
                        <a:sym typeface="Secular One"/>
                      </a:endParaRPr>
                    </a:p>
                  </a:txBody>
                  <a:tcPr marT="45725" marB="45725" marR="91450" marL="91450">
                    <a:lnR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Secular One"/>
                          <a:ea typeface="Secular One"/>
                          <a:cs typeface="Secular One"/>
                          <a:sym typeface="Secular One"/>
                        </a:rPr>
                        <a:t>Yael</a:t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Secular One"/>
                        <a:ea typeface="Secular One"/>
                        <a:cs typeface="Secular One"/>
                        <a:sym typeface="Secular One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192A72"/>
                          </a:solidFill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5-</a:t>
                      </a:r>
                      <a:endParaRPr sz="1800" u="none" cap="none" strike="noStrike">
                        <a:solidFill>
                          <a:srgbClr val="192A72"/>
                        </a:solidFill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192A72"/>
                          </a:solidFill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4-</a:t>
                      </a:r>
                      <a:endParaRPr sz="1800" u="none" cap="none" strike="noStrike">
                        <a:solidFill>
                          <a:srgbClr val="192A72"/>
                        </a:solidFill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192A72"/>
                          </a:solidFill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3-</a:t>
                      </a:r>
                      <a:endParaRPr sz="1800" u="none" cap="none" strike="noStrike">
                        <a:solidFill>
                          <a:srgbClr val="192A72"/>
                        </a:solidFill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192A72"/>
                          </a:solidFill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2-</a:t>
                      </a:r>
                      <a:endParaRPr sz="1800" u="none" cap="none" strike="noStrike">
                        <a:solidFill>
                          <a:srgbClr val="192A72"/>
                        </a:solidFill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192A72"/>
                          </a:solidFill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1-</a:t>
                      </a:r>
                      <a:endParaRPr sz="1800" u="none" cap="none" strike="noStrike">
                        <a:solidFill>
                          <a:srgbClr val="192A72"/>
                        </a:solidFill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</a:txBody>
                  <a:tcPr marT="45725" marB="45725" marR="91450" marL="91450">
                    <a:lnT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187" name="Google Shape;18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4480418" y="2970350"/>
            <a:ext cx="7346097" cy="6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4480418" y="3351350"/>
            <a:ext cx="7346097" cy="6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4987837" y="3152510"/>
            <a:ext cx="1068151" cy="6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6816637" y="3152510"/>
            <a:ext cx="1068151" cy="6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8188237" y="3152510"/>
            <a:ext cx="1068151" cy="6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9788437" y="3152510"/>
            <a:ext cx="1068151" cy="6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2"/>
          <p:cNvPicPr preferRelativeResize="0"/>
          <p:nvPr/>
        </p:nvPicPr>
        <p:blipFill rotWithShape="1">
          <a:blip r:embed="rId5">
            <a:alphaModFix/>
          </a:blip>
          <a:srcRect b="43467" l="0" r="0" t="0"/>
          <a:stretch/>
        </p:blipFill>
        <p:spPr>
          <a:xfrm rot="10800000">
            <a:off x="3262549" y="2986725"/>
            <a:ext cx="1068151" cy="4275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94" name="Google Shape;194;p22"/>
          <p:cNvSpPr txBox="1"/>
          <p:nvPr/>
        </p:nvSpPr>
        <p:spPr>
          <a:xfrm>
            <a:off x="3239675" y="2937775"/>
            <a:ext cx="1113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my_list</a:t>
            </a:r>
            <a:endParaRPr b="1">
              <a:solidFill>
                <a:schemeClr val="lt1"/>
              </a:solidFill>
            </a:endParaRPr>
          </a:p>
        </p:txBody>
      </p:sp>
      <p:graphicFrame>
        <p:nvGraphicFramePr>
          <p:cNvPr id="195" name="Google Shape;195;p22"/>
          <p:cNvGraphicFramePr/>
          <p:nvPr/>
        </p:nvGraphicFramePr>
        <p:xfrm>
          <a:off x="809925" y="43517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{F58E157C-7EFC-4CC3-B1BB-95AACA83E738}</a:tableStyleId>
              </a:tblPr>
              <a:tblGrid>
                <a:gridCol w="3805775"/>
              </a:tblGrid>
              <a:tr h="403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print("my_list[1:3]= ", my_list[1:3]) </a:t>
                      </a:r>
                      <a:endParaRPr sz="1800"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print("my_list[-4:-1]= ", my_list[-4:-1]) </a:t>
                      </a:r>
                      <a:endParaRPr sz="1800"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1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print("my_list[1:]= ", my_list[1:]) </a:t>
                      </a:r>
                      <a:endParaRPr sz="1800"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print("my_list[2:]= ", my_list[2:]) </a:t>
                      </a:r>
                      <a:endParaRPr sz="1800"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print("my_list[-1]= ", my_list[-1])</a:t>
                      </a:r>
                      <a:endParaRPr sz="1800"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96" name="Google Shape;196;p22"/>
          <p:cNvGraphicFramePr/>
          <p:nvPr/>
        </p:nvGraphicFramePr>
        <p:xfrm>
          <a:off x="4972750" y="43517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{F58E157C-7EFC-4CC3-B1BB-95AACA83E738}</a:tableStyleId>
              </a:tblPr>
              <a:tblGrid>
                <a:gridCol w="3691425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my_list[1:3]=  ['Itamar', 340]</a:t>
                      </a:r>
                      <a:endParaRPr sz="1800"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my_list[-4:-1]=  ['Itamar', 340, -7]</a:t>
                      </a:r>
                      <a:endParaRPr sz="1800"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1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my_list[1:]=  ['Itamar', 340, -7, 'Yael']</a:t>
                      </a:r>
                      <a:endParaRPr sz="1800"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my_list[2:]=  [340, -7, 'Yael']</a:t>
                      </a:r>
                      <a:endParaRPr sz="1800"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my_list[-1]=  Yael</a:t>
                      </a:r>
                      <a:endParaRPr sz="1800"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97" name="Google Shape;197;p22"/>
          <p:cNvGraphicFramePr/>
          <p:nvPr/>
        </p:nvGraphicFramePr>
        <p:xfrm>
          <a:off x="8601475" y="43517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{F58E157C-7EFC-4CC3-B1BB-95AACA83E738}</a:tableStyleId>
              </a:tblPr>
              <a:tblGrid>
                <a:gridCol w="3382550"/>
              </a:tblGrid>
              <a:tr h="381000">
                <a:tc>
                  <a:txBody>
                    <a:bodyPr/>
                    <a:lstStyle/>
                    <a:p>
                      <a:pPr indent="0" lvl="0" marL="0" rtl="1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accent2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ממקום 1 ועד מקום 3 לא כולל מקום 3</a:t>
                      </a:r>
                      <a:endParaRPr sz="1800"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1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chemeClr val="accent2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ממקום 4- ועד מקום 1-</a:t>
                      </a:r>
                      <a:endParaRPr sz="1800"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1300">
                <a:tc>
                  <a:txBody>
                    <a:bodyPr/>
                    <a:lstStyle/>
                    <a:p>
                      <a:pPr indent="0" lvl="0" marL="0" rtl="1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accent2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ממקום 1 ועד סוף הרשימה</a:t>
                      </a:r>
                      <a:endParaRPr sz="1800"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1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chemeClr val="accent2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ממקום 2 ברשימה ועד הסוף</a:t>
                      </a:r>
                      <a:endParaRPr sz="1800"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1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chemeClr val="accent2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גישה לאיבר האחרון</a:t>
                      </a:r>
                      <a:endParaRPr sz="1800"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8" name="Google Shape;198;p22"/>
          <p:cNvSpPr txBox="1"/>
          <p:nvPr/>
        </p:nvSpPr>
        <p:spPr>
          <a:xfrm>
            <a:off x="1499838" y="3928525"/>
            <a:ext cx="1908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הקוד בפייתון</a:t>
            </a:r>
            <a:endParaRPr sz="2000">
              <a:solidFill>
                <a:schemeClr val="dk1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sp>
        <p:nvSpPr>
          <p:cNvPr id="199" name="Google Shape;199;p22"/>
          <p:cNvSpPr txBox="1"/>
          <p:nvPr/>
        </p:nvSpPr>
        <p:spPr>
          <a:xfrm>
            <a:off x="5386038" y="3928525"/>
            <a:ext cx="1908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הפלט המתקבל</a:t>
            </a:r>
            <a:endParaRPr sz="2000">
              <a:solidFill>
                <a:schemeClr val="dk1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sp>
        <p:nvSpPr>
          <p:cNvPr id="200" name="Google Shape;200;p22"/>
          <p:cNvSpPr txBox="1"/>
          <p:nvPr/>
        </p:nvSpPr>
        <p:spPr>
          <a:xfrm>
            <a:off x="9577038" y="3928525"/>
            <a:ext cx="1908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תיאור מילולי</a:t>
            </a:r>
            <a:endParaRPr sz="2000">
              <a:solidFill>
                <a:schemeClr val="dk1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3"/>
          <p:cNvSpPr txBox="1"/>
          <p:nvPr/>
        </p:nvSpPr>
        <p:spPr>
          <a:xfrm>
            <a:off x="513500" y="3542725"/>
            <a:ext cx="10778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['A', 'B', 'C', 'D', 'E', 'F', 'G', 'H', 'I', 'J', 'K', 'L']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pic>
        <p:nvPicPr>
          <p:cNvPr id="206" name="Google Shape;20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" y="8"/>
            <a:ext cx="12191989" cy="1562099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3"/>
          <p:cNvSpPr txBox="1"/>
          <p:nvPr/>
        </p:nvSpPr>
        <p:spPr>
          <a:xfrm>
            <a:off x="18200" y="25833"/>
            <a:ext cx="120033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700">
                <a:solidFill>
                  <a:srgbClr val="FFFFFF"/>
                </a:solidFill>
                <a:latin typeface="Secular One"/>
                <a:ea typeface="Secular One"/>
                <a:cs typeface="Secular One"/>
                <a:sym typeface="Secular One"/>
              </a:rPr>
              <a:t>חיבור רשימות</a:t>
            </a:r>
            <a:endParaRPr b="1" sz="5700">
              <a:solidFill>
                <a:srgbClr val="FFFFFF"/>
              </a:solidFill>
              <a:latin typeface="Secular One"/>
              <a:ea typeface="Secular One"/>
              <a:cs typeface="Secular One"/>
              <a:sym typeface="Secular One"/>
            </a:endParaRPr>
          </a:p>
        </p:txBody>
      </p:sp>
      <p:sp>
        <p:nvSpPr>
          <p:cNvPr id="208" name="Google Shape;208;p23"/>
          <p:cNvSpPr txBox="1"/>
          <p:nvPr/>
        </p:nvSpPr>
        <p:spPr>
          <a:xfrm>
            <a:off x="3563200" y="1312950"/>
            <a:ext cx="8388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בפייתון, ניתן לחבר שתי רשימות באמצעות האופרטור </a:t>
            </a:r>
            <a:r>
              <a:rPr lang="en-US" sz="20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rPr>
              <a:t>+</a:t>
            </a: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.</a:t>
            </a:r>
            <a:endParaRPr sz="20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209" name="Google Shape;209;p23"/>
          <p:cNvSpPr txBox="1"/>
          <p:nvPr/>
        </p:nvSpPr>
        <p:spPr>
          <a:xfrm>
            <a:off x="513500" y="1812525"/>
            <a:ext cx="90027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list1 = ['A', 'B', 'C', 'D', 'E']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list2 = ['F', 'G', 'H', 'I', 'J']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print(list1 + list2 + ['K','L'])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pic>
        <p:nvPicPr>
          <p:cNvPr id="210" name="Google Shape;21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468650" y="3541325"/>
            <a:ext cx="7952876" cy="6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468649" y="3998525"/>
            <a:ext cx="7966276" cy="6312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3"/>
          <p:cNvSpPr txBox="1"/>
          <p:nvPr/>
        </p:nvSpPr>
        <p:spPr>
          <a:xfrm>
            <a:off x="6562750" y="6042850"/>
            <a:ext cx="5389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*הערה: המחרוזות list1 ו-list2 אינן משתנות.</a:t>
            </a:r>
            <a:endParaRPr sz="20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7" name="Google Shape;217;p24"/>
          <p:cNvGraphicFramePr/>
          <p:nvPr/>
        </p:nvGraphicFramePr>
        <p:xfrm>
          <a:off x="1671825" y="2543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{F58E157C-7EFC-4CC3-B1BB-95AACA83E738}</a:tableStyleId>
              </a:tblPr>
              <a:tblGrid>
                <a:gridCol w="8029575"/>
                <a:gridCol w="22242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animals = ["Lion","Hippo", "Duck","Giraffe", "Cat", "Dog"]</a:t>
                      </a:r>
                      <a:endParaRPr sz="2000">
                        <a:solidFill>
                          <a:schemeClr val="dk1"/>
                        </a:solidFill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print("len(animals)= ", len(animals))</a:t>
                      </a:r>
                      <a:endParaRPr sz="2000"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len(animals)= 6</a:t>
                      </a:r>
                      <a:endParaRPr sz="2000"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cars=["Honda", "Toyota", "Skoda", "Subaru", "Kia", "Ford"] </a:t>
                      </a:r>
                      <a:endParaRPr sz="2000">
                        <a:solidFill>
                          <a:schemeClr val="dk1"/>
                        </a:solidFill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print("len(cars)= ", len(cars))</a:t>
                      </a:r>
                      <a:endParaRPr sz="2000"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len(cars)= 6</a:t>
                      </a:r>
                      <a:endParaRPr sz="2000"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prices = [3.4, 24.5, 7.84,93.21, 72.99]</a:t>
                      </a:r>
                      <a:endParaRPr sz="2000">
                        <a:solidFill>
                          <a:schemeClr val="dk1"/>
                        </a:solidFill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print("len(prices)= ", len(prices))</a:t>
                      </a:r>
                      <a:endParaRPr sz="2000"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len(prices)= 5</a:t>
                      </a:r>
                      <a:endParaRPr sz="2000"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grades = [78,84,87,92,97,85,98]</a:t>
                      </a:r>
                      <a:endParaRPr sz="2000">
                        <a:solidFill>
                          <a:schemeClr val="dk1"/>
                        </a:solidFill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print("len(grades)= ", len(grades))</a:t>
                      </a:r>
                      <a:endParaRPr sz="2000"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len(grades)= 7</a:t>
                      </a:r>
                      <a:endParaRPr sz="2000">
                        <a:solidFill>
                          <a:schemeClr val="dk1"/>
                        </a:solidFill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everything = [24.56, "Itamar", 340,-7, "Yael"]</a:t>
                      </a:r>
                      <a:endParaRPr sz="2000">
                        <a:solidFill>
                          <a:schemeClr val="dk1"/>
                        </a:solidFill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print("len(everything)= ", len(everything))</a:t>
                      </a:r>
                      <a:endParaRPr sz="2000"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len(everything)= 5</a:t>
                      </a:r>
                      <a:endParaRPr sz="2000"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18" name="Google Shape;21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" y="8"/>
            <a:ext cx="12191989" cy="1562099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4"/>
          <p:cNvSpPr txBox="1"/>
          <p:nvPr/>
        </p:nvSpPr>
        <p:spPr>
          <a:xfrm>
            <a:off x="6925100" y="25825"/>
            <a:ext cx="50964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700">
                <a:solidFill>
                  <a:srgbClr val="FFFFFF"/>
                </a:solidFill>
                <a:latin typeface="Secular One"/>
                <a:ea typeface="Secular One"/>
                <a:cs typeface="Secular One"/>
                <a:sym typeface="Secular One"/>
              </a:rPr>
              <a:t>הפעולה ()len</a:t>
            </a:r>
            <a:endParaRPr b="1" sz="5700">
              <a:solidFill>
                <a:srgbClr val="FFFFFF"/>
              </a:solidFill>
              <a:latin typeface="Secular One"/>
              <a:ea typeface="Secular One"/>
              <a:cs typeface="Secular One"/>
              <a:sym typeface="Secular One"/>
            </a:endParaRPr>
          </a:p>
        </p:txBody>
      </p:sp>
      <p:sp>
        <p:nvSpPr>
          <p:cNvPr id="220" name="Google Shape;220;p24"/>
          <p:cNvSpPr txBox="1"/>
          <p:nvPr/>
        </p:nvSpPr>
        <p:spPr>
          <a:xfrm>
            <a:off x="5797750" y="1312950"/>
            <a:ext cx="6154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הפעולה </a:t>
            </a:r>
            <a:r>
              <a:rPr b="1" lang="en-US" sz="2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()</a:t>
            </a:r>
            <a:r>
              <a:rPr lang="en-US" sz="20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rPr>
              <a:t>len</a:t>
            </a: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מונה את מספר האיברים ברשימה.</a:t>
            </a:r>
            <a:endParaRPr sz="20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pic>
        <p:nvPicPr>
          <p:cNvPr id="221" name="Google Shape;22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47313" y="2026425"/>
            <a:ext cx="2319850" cy="42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27513" y="2026425"/>
            <a:ext cx="2319850" cy="42755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4"/>
          <p:cNvSpPr txBox="1"/>
          <p:nvPr/>
        </p:nvSpPr>
        <p:spPr>
          <a:xfrm>
            <a:off x="3633438" y="1947325"/>
            <a:ext cx="1908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הקוד בפייתון</a:t>
            </a:r>
            <a:endParaRPr sz="2000">
              <a:solidFill>
                <a:schemeClr val="dk1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sp>
        <p:nvSpPr>
          <p:cNvPr id="224" name="Google Shape;224;p24"/>
          <p:cNvSpPr txBox="1"/>
          <p:nvPr/>
        </p:nvSpPr>
        <p:spPr>
          <a:xfrm>
            <a:off x="9653238" y="1947325"/>
            <a:ext cx="1908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הפלט המתקבל</a:t>
            </a:r>
            <a:endParaRPr sz="2000">
              <a:solidFill>
                <a:schemeClr val="dk1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pic>
        <p:nvPicPr>
          <p:cNvPr id="225" name="Google Shape;22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1584828" y="3275150"/>
            <a:ext cx="10252275" cy="6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1584828" y="4113350"/>
            <a:ext cx="10252275" cy="6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1584828" y="4875350"/>
            <a:ext cx="10252275" cy="6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1584828" y="5713625"/>
            <a:ext cx="10252275" cy="6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5"/>
          <p:cNvSpPr txBox="1"/>
          <p:nvPr/>
        </p:nvSpPr>
        <p:spPr>
          <a:xfrm>
            <a:off x="379200" y="1861975"/>
            <a:ext cx="87873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﻿</a:t>
            </a: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animals = ["Giraffe", "Lion", "Hippo", "Giraffe", "Duck", "Giraffe", "Cat", "Giraffe"] 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print</a:t>
            </a: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(animals.count("Giraffe"))                            </a:t>
            </a:r>
            <a:r>
              <a:rPr b="1" lang="en-US" sz="2000">
                <a:latin typeface="Assistant"/>
                <a:ea typeface="Assistant"/>
                <a:cs typeface="Assistant"/>
                <a:sym typeface="Assistant"/>
              </a:rPr>
              <a:t>4</a:t>
            </a: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    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print</a:t>
            </a: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(animals.count("Hippo"))                             </a:t>
            </a:r>
            <a:r>
              <a:rPr b="1" lang="en-US" sz="2000">
                <a:latin typeface="Assistant"/>
                <a:ea typeface="Assistant"/>
                <a:cs typeface="Assistant"/>
                <a:sym typeface="Assistant"/>
              </a:rPr>
              <a:t>1</a:t>
            </a: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                       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print</a:t>
            </a: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(animals.count("Dog"))                                 </a:t>
            </a:r>
            <a:r>
              <a:rPr b="1" lang="en-US" sz="2000">
                <a:latin typeface="Assistant"/>
                <a:ea typeface="Assistant"/>
                <a:cs typeface="Assistant"/>
                <a:sym typeface="Assistant"/>
              </a:rPr>
              <a:t>0</a:t>
            </a: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                      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print</a:t>
            </a: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(animals.count("cat"))                              </a:t>
            </a:r>
            <a:r>
              <a:rPr b="1" lang="en-US" sz="2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    0 </a:t>
            </a: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                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pic>
        <p:nvPicPr>
          <p:cNvPr id="234" name="Google Shape;23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" y="8"/>
            <a:ext cx="12191989" cy="1562099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5"/>
          <p:cNvSpPr txBox="1"/>
          <p:nvPr>
            <p:ph idx="1" type="body"/>
          </p:nvPr>
        </p:nvSpPr>
        <p:spPr>
          <a:xfrm>
            <a:off x="828850" y="4496875"/>
            <a:ext cx="11123100" cy="18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הפעולה </a:t>
            </a:r>
            <a:r>
              <a:rPr b="1" lang="en-US" sz="200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()</a:t>
            </a:r>
            <a:r>
              <a:rPr b="1" lang="en-US" sz="2000">
                <a:solidFill>
                  <a:srgbClr val="000000"/>
                </a:solidFill>
                <a:latin typeface="Secular One"/>
                <a:ea typeface="Secular One"/>
                <a:cs typeface="Secular One"/>
                <a:sym typeface="Secular One"/>
              </a:rPr>
              <a:t>count</a:t>
            </a:r>
            <a:r>
              <a:rPr lang="en-US" sz="2000">
                <a:solidFill>
                  <a:srgbClr val="000000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סופרת כמה פעמים ערך מסוים נמצא ברשימה:</a:t>
            </a:r>
            <a:br>
              <a:rPr lang="en-US" sz="2000">
                <a:solidFill>
                  <a:srgbClr val="000000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</a:br>
            <a:r>
              <a:rPr lang="en-US" sz="2000">
                <a:solidFill>
                  <a:srgbClr val="000000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"Giraffe" נמצא ארבע פעמים (4), "Hippo" נמצא פעם אחת (1) ו-"Dog" נמצא אפס (0) פעמים ברשימה. </a:t>
            </a:r>
            <a:br>
              <a:rPr lang="en-US" sz="2000">
                <a:solidFill>
                  <a:srgbClr val="000000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</a:br>
            <a:r>
              <a:rPr lang="en-US" sz="2000">
                <a:solidFill>
                  <a:srgbClr val="000000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שימו לב - בפייתון יש הבחנה בין אותיות קטנות לגדולות, והמחרוזת '</a:t>
            </a:r>
            <a:r>
              <a:rPr lang="en-US" sz="2000">
                <a:solidFill>
                  <a:srgbClr val="0000FF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c</a:t>
            </a:r>
            <a:r>
              <a:rPr lang="en-US" sz="2000">
                <a:solidFill>
                  <a:srgbClr val="000000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at' אינה זהה למחרוזת '</a:t>
            </a:r>
            <a:r>
              <a:rPr lang="en-US" sz="2000">
                <a:solidFill>
                  <a:srgbClr val="0000FF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C</a:t>
            </a:r>
            <a:r>
              <a:rPr lang="en-US" sz="2000">
                <a:solidFill>
                  <a:srgbClr val="000000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at'.</a:t>
            </a:r>
            <a:endParaRPr sz="2000">
              <a:solidFill>
                <a:srgbClr val="000000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236" name="Google Shape;236;p25"/>
          <p:cNvSpPr txBox="1"/>
          <p:nvPr/>
        </p:nvSpPr>
        <p:spPr>
          <a:xfrm>
            <a:off x="5143650" y="25825"/>
            <a:ext cx="71376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700">
                <a:solidFill>
                  <a:srgbClr val="FFFFFF"/>
                </a:solidFill>
                <a:latin typeface="Secular One"/>
                <a:ea typeface="Secular One"/>
                <a:cs typeface="Secular One"/>
                <a:sym typeface="Secular One"/>
              </a:rPr>
              <a:t>count(value) הפעולה</a:t>
            </a:r>
            <a:endParaRPr b="1" sz="5700">
              <a:solidFill>
                <a:srgbClr val="6E7D68"/>
              </a:solidFill>
              <a:latin typeface="Secular One"/>
              <a:ea typeface="Secular One"/>
              <a:cs typeface="Secular One"/>
              <a:sym typeface="Secular One"/>
            </a:endParaRPr>
          </a:p>
        </p:txBody>
      </p:sp>
      <p:sp>
        <p:nvSpPr>
          <p:cNvPr id="237" name="Google Shape;237;p25"/>
          <p:cNvSpPr txBox="1"/>
          <p:nvPr/>
        </p:nvSpPr>
        <p:spPr>
          <a:xfrm>
            <a:off x="3692050" y="1312950"/>
            <a:ext cx="8259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הפעולה </a:t>
            </a:r>
            <a:r>
              <a:rPr b="1" lang="en-US" sz="2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()</a:t>
            </a:r>
            <a:r>
              <a:rPr lang="en-US" sz="20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rPr>
              <a:t>count</a:t>
            </a: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בודקת שכיחות של ערך מסוים ברשימה.</a:t>
            </a:r>
            <a:endParaRPr sz="20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pic>
        <p:nvPicPr>
          <p:cNvPr id="238" name="Google Shape;23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-15377" y="4341950"/>
            <a:ext cx="8705303" cy="6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" y="8"/>
            <a:ext cx="12191989" cy="1562099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6"/>
          <p:cNvSpPr txBox="1"/>
          <p:nvPr/>
        </p:nvSpPr>
        <p:spPr>
          <a:xfrm>
            <a:off x="5797750" y="1312950"/>
            <a:ext cx="6154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הפעולה </a:t>
            </a:r>
            <a:r>
              <a:rPr b="1" lang="en-US" sz="2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()</a:t>
            </a:r>
            <a:r>
              <a:rPr lang="en-US" sz="20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rPr>
              <a:t>count</a:t>
            </a: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בודקת שכיחות של ערך מסוים ברשימה.</a:t>
            </a:r>
            <a:endParaRPr sz="20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245" name="Google Shape;245;p26"/>
          <p:cNvSpPr txBox="1"/>
          <p:nvPr/>
        </p:nvSpPr>
        <p:spPr>
          <a:xfrm>
            <a:off x="379200" y="1861975"/>
            <a:ext cx="87873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everything =  [24.56,340,24.56, -7, "Itamar",24.56,340,24.56, "Yael", -7,24.56] 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print(everything.count (24.56))                        </a:t>
            </a:r>
            <a:r>
              <a:rPr b="1" lang="en-US" sz="2000">
                <a:latin typeface="Assistant"/>
                <a:ea typeface="Assistant"/>
                <a:cs typeface="Assistant"/>
                <a:sym typeface="Assistant"/>
              </a:rPr>
              <a:t>5</a:t>
            </a:r>
            <a:endParaRPr b="1" sz="2000"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print(everything.count(-7))                                </a:t>
            </a:r>
            <a:r>
              <a:rPr b="1" lang="en-US" sz="2000">
                <a:latin typeface="Assistant"/>
                <a:ea typeface="Assistant"/>
                <a:cs typeface="Assistant"/>
                <a:sym typeface="Assistant"/>
              </a:rPr>
              <a:t>2</a:t>
            </a:r>
            <a:endParaRPr b="1" sz="2000"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print(everything.count (222))                           </a:t>
            </a:r>
            <a:r>
              <a:rPr b="1" lang="en-US" sz="2000">
                <a:latin typeface="Assistant"/>
                <a:ea typeface="Assistant"/>
                <a:cs typeface="Assistant"/>
                <a:sym typeface="Assistant"/>
              </a:rPr>
              <a:t>0</a:t>
            </a:r>
            <a:endParaRPr b="1" sz="2000"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246" name="Google Shape;246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-15377" y="4341950"/>
            <a:ext cx="8705303" cy="63125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6"/>
          <p:cNvSpPr txBox="1"/>
          <p:nvPr>
            <p:ph idx="1" type="body"/>
          </p:nvPr>
        </p:nvSpPr>
        <p:spPr>
          <a:xfrm>
            <a:off x="3127025" y="4496875"/>
            <a:ext cx="8824800" cy="1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נבדוק את השכיחויות של ה</a:t>
            </a:r>
            <a:r>
              <a:rPr lang="en-US" sz="2000">
                <a:solidFill>
                  <a:srgbClr val="000000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איבר</a:t>
            </a:r>
            <a:r>
              <a:rPr lang="en-US" sz="2000">
                <a:solidFill>
                  <a:srgbClr val="000000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ים ברשימה </a:t>
            </a:r>
            <a:r>
              <a:rPr lang="en-US" sz="2000">
                <a:solidFill>
                  <a:srgbClr val="000000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everything</a:t>
            </a:r>
            <a:r>
              <a:rPr lang="en-US" sz="2000">
                <a:solidFill>
                  <a:srgbClr val="000000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:</a:t>
            </a:r>
            <a:endParaRPr sz="2000">
              <a:solidFill>
                <a:srgbClr val="000000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24.56 נמצא 5 פעמים, 7- נמצא פעמיים(2)  ו-222 נמצא אפס (0) פעמים ברשימה.</a:t>
            </a:r>
            <a:endParaRPr sz="2000">
              <a:solidFill>
                <a:srgbClr val="000000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248" name="Google Shape;248;p26"/>
          <p:cNvSpPr txBox="1"/>
          <p:nvPr/>
        </p:nvSpPr>
        <p:spPr>
          <a:xfrm>
            <a:off x="5143650" y="25825"/>
            <a:ext cx="71376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700">
                <a:solidFill>
                  <a:srgbClr val="FFFFFF"/>
                </a:solidFill>
                <a:latin typeface="Secular One"/>
                <a:ea typeface="Secular One"/>
                <a:cs typeface="Secular One"/>
                <a:sym typeface="Secular One"/>
              </a:rPr>
              <a:t>count(</a:t>
            </a:r>
            <a:r>
              <a:rPr b="1" lang="en-US" sz="5700">
                <a:solidFill>
                  <a:schemeClr val="lt1"/>
                </a:solidFill>
                <a:latin typeface="Secular One"/>
                <a:ea typeface="Secular One"/>
                <a:cs typeface="Secular One"/>
                <a:sym typeface="Secular One"/>
              </a:rPr>
              <a:t>value</a:t>
            </a:r>
            <a:r>
              <a:rPr b="1" lang="en-US" sz="5700">
                <a:solidFill>
                  <a:srgbClr val="FFFFFF"/>
                </a:solidFill>
                <a:latin typeface="Secular One"/>
                <a:ea typeface="Secular One"/>
                <a:cs typeface="Secular One"/>
                <a:sym typeface="Secular One"/>
              </a:rPr>
              <a:t>) הפעולה</a:t>
            </a:r>
            <a:endParaRPr b="1" sz="5700">
              <a:solidFill>
                <a:srgbClr val="6E7D68"/>
              </a:solidFill>
              <a:latin typeface="Secular One"/>
              <a:ea typeface="Secular One"/>
              <a:cs typeface="Secular One"/>
              <a:sym typeface="Secular On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3" name="Google Shape;253;p27"/>
          <p:cNvGraphicFramePr/>
          <p:nvPr/>
        </p:nvGraphicFramePr>
        <p:xfrm>
          <a:off x="1750475" y="2552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{F58E157C-7EFC-4CC3-B1BB-95AACA83E738}</a:tableStyleId>
              </a:tblPr>
              <a:tblGrid>
                <a:gridCol w="8551325"/>
                <a:gridCol w="16920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print("Lion" in["Giraffe","Lion", "Hippo", "Duck", "Cat"])</a:t>
                      </a:r>
                      <a:endParaRPr sz="2000"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True</a:t>
                      </a:r>
                      <a:endParaRPr sz="2000"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print ("Dog" in ["Giraffe", "Lion", "Hippo", "Duck", "Cat"]) </a:t>
                      </a:r>
                      <a:endParaRPr sz="2000"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False</a:t>
                      </a:r>
                      <a:endParaRPr sz="2000"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print("Lion" not in ["Giraffe", "Lion", "Hippo", "Duck", "Cat"])  </a:t>
                      </a:r>
                      <a:endParaRPr sz="2000"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False</a:t>
                      </a:r>
                      <a:endParaRPr sz="2000"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print("Dog" not in["Giraffe","Lion","Hippo", "Duck","Cat"]) </a:t>
                      </a:r>
                      <a:endParaRPr sz="2000"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True</a:t>
                      </a:r>
                      <a:endParaRPr sz="2000"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print("giraffe" in["Giraffe","Lion","Hippo", "Duck","Cat"])   </a:t>
                      </a:r>
                      <a:endParaRPr sz="2000">
                        <a:solidFill>
                          <a:schemeClr val="dk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False</a:t>
                      </a:r>
                      <a:endParaRPr sz="2000"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4" name="Google Shape;254;p27"/>
          <p:cNvSpPr txBox="1"/>
          <p:nvPr/>
        </p:nvSpPr>
        <p:spPr>
          <a:xfrm>
            <a:off x="3066650" y="5632925"/>
            <a:ext cx="79281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בדוגמה האחרונה יש הבחנה</a:t>
            </a: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בשפת פייתון</a:t>
            </a: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בין אותיות קטנות לגדולות.</a:t>
            </a:r>
            <a:endParaRPr sz="20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כלומר, המחרוזת </a:t>
            </a: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"</a:t>
            </a:r>
            <a:r>
              <a:rPr lang="en-US" sz="2000">
                <a:solidFill>
                  <a:srgbClr val="0000FF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G</a:t>
            </a: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iraffe" </a:t>
            </a:r>
            <a:r>
              <a:rPr lang="en-US" sz="2000" u="sng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אינה זהה</a:t>
            </a: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למחרוזת "</a:t>
            </a:r>
            <a:r>
              <a:rPr lang="en-US" sz="2000">
                <a:solidFill>
                  <a:srgbClr val="0000FF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g</a:t>
            </a: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iraffe".</a:t>
            </a:r>
            <a:endParaRPr sz="20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pic>
        <p:nvPicPr>
          <p:cNvPr id="255" name="Google Shape;25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" y="8"/>
            <a:ext cx="12191989" cy="1562099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7"/>
          <p:cNvSpPr txBox="1"/>
          <p:nvPr/>
        </p:nvSpPr>
        <p:spPr>
          <a:xfrm>
            <a:off x="18200" y="25833"/>
            <a:ext cx="120033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700">
                <a:solidFill>
                  <a:srgbClr val="FFFFFF"/>
                </a:solidFill>
                <a:latin typeface="Secular One"/>
                <a:ea typeface="Secular One"/>
                <a:cs typeface="Secular One"/>
                <a:sym typeface="Secular One"/>
              </a:rPr>
              <a:t>הפעולה in</a:t>
            </a:r>
            <a:endParaRPr b="1" sz="5700">
              <a:solidFill>
                <a:srgbClr val="FFFFFF"/>
              </a:solidFill>
              <a:latin typeface="Secular One"/>
              <a:ea typeface="Secular One"/>
              <a:cs typeface="Secular One"/>
              <a:sym typeface="Secular One"/>
            </a:endParaRPr>
          </a:p>
        </p:txBody>
      </p:sp>
      <p:sp>
        <p:nvSpPr>
          <p:cNvPr id="257" name="Google Shape;257;p27"/>
          <p:cNvSpPr txBox="1"/>
          <p:nvPr/>
        </p:nvSpPr>
        <p:spPr>
          <a:xfrm>
            <a:off x="811050" y="1312950"/>
            <a:ext cx="11140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הפעולה </a:t>
            </a:r>
            <a:r>
              <a:rPr lang="en-US" sz="20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rPr>
              <a:t>in </a:t>
            </a:r>
            <a:r>
              <a:rPr lang="en-US" sz="2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היא פעולה בוליאנית ה</a:t>
            </a:r>
            <a:r>
              <a:rPr lang="en-US" sz="2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ב</a:t>
            </a: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ודקת אם ערך מסוים מופיע ברשימה, ומחזירה </a:t>
            </a:r>
            <a:r>
              <a:rPr lang="en-US" sz="20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rPr>
              <a:t>True / False</a:t>
            </a: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בהתאם.</a:t>
            </a:r>
            <a:endParaRPr sz="20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pic>
        <p:nvPicPr>
          <p:cNvPr id="258" name="Google Shape;25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47313" y="2026425"/>
            <a:ext cx="2319850" cy="42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27513" y="2026425"/>
            <a:ext cx="2319850" cy="42755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7"/>
          <p:cNvSpPr txBox="1"/>
          <p:nvPr/>
        </p:nvSpPr>
        <p:spPr>
          <a:xfrm>
            <a:off x="3633438" y="1947325"/>
            <a:ext cx="1908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הקוד בפייתון</a:t>
            </a:r>
            <a:endParaRPr sz="2000">
              <a:solidFill>
                <a:schemeClr val="dk1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sp>
        <p:nvSpPr>
          <p:cNvPr id="261" name="Google Shape;261;p27"/>
          <p:cNvSpPr txBox="1"/>
          <p:nvPr/>
        </p:nvSpPr>
        <p:spPr>
          <a:xfrm>
            <a:off x="9653238" y="1947325"/>
            <a:ext cx="1908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הפלט המתקבל</a:t>
            </a:r>
            <a:endParaRPr sz="2000">
              <a:solidFill>
                <a:schemeClr val="dk1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pic>
        <p:nvPicPr>
          <p:cNvPr id="262" name="Google Shape;262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98650" y="5606463"/>
            <a:ext cx="853325" cy="85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8"/>
          <p:cNvSpPr txBox="1"/>
          <p:nvPr/>
        </p:nvSpPr>
        <p:spPr>
          <a:xfrm>
            <a:off x="3610175" y="1312950"/>
            <a:ext cx="83418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הפעולה </a:t>
            </a:r>
            <a:r>
              <a:rPr b="1" lang="en-US" sz="2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()</a:t>
            </a:r>
            <a:r>
              <a:rPr lang="en-US" sz="20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rPr>
              <a:t>remove</a:t>
            </a: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מוחקת ערך מהרשימה. </a:t>
            </a:r>
            <a:endParaRPr sz="20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המחיקה נעשית לפי שם הערך שהפעולה מקבלת.</a:t>
            </a:r>
            <a:endParaRPr sz="20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268" name="Google Shape;268;p28"/>
          <p:cNvSpPr txBox="1"/>
          <p:nvPr/>
        </p:nvSpPr>
        <p:spPr>
          <a:xfrm>
            <a:off x="401725" y="1379975"/>
            <a:ext cx="60441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animals =["Giraffe", "Lion", "Hippo", "Duck", "Cat"]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animals.remove("Duck")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print</a:t>
            </a: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(animals)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269" name="Google Shape;269;p28"/>
          <p:cNvSpPr txBox="1"/>
          <p:nvPr/>
        </p:nvSpPr>
        <p:spPr>
          <a:xfrm>
            <a:off x="401850" y="2953325"/>
            <a:ext cx="4315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['Giraffe', 'Lion', 'Hippo', 'Cat']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pic>
        <p:nvPicPr>
          <p:cNvPr id="270" name="Google Shape;27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" y="8"/>
            <a:ext cx="12191989" cy="1562099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8"/>
          <p:cNvSpPr txBox="1"/>
          <p:nvPr/>
        </p:nvSpPr>
        <p:spPr>
          <a:xfrm>
            <a:off x="4412250" y="25825"/>
            <a:ext cx="80259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700">
                <a:solidFill>
                  <a:srgbClr val="FFFFFF"/>
                </a:solidFill>
                <a:latin typeface="Secular One"/>
                <a:ea typeface="Secular One"/>
                <a:cs typeface="Secular One"/>
                <a:sym typeface="Secular One"/>
              </a:rPr>
              <a:t>remove</a:t>
            </a:r>
            <a:r>
              <a:rPr b="1" lang="en-US" sz="5700">
                <a:solidFill>
                  <a:srgbClr val="FFFFFF"/>
                </a:solidFill>
                <a:latin typeface="Secular One"/>
                <a:ea typeface="Secular One"/>
                <a:cs typeface="Secular One"/>
                <a:sym typeface="Secular One"/>
              </a:rPr>
              <a:t>(</a:t>
            </a:r>
            <a:r>
              <a:rPr b="1" lang="en-US" sz="5700">
                <a:solidFill>
                  <a:schemeClr val="lt1"/>
                </a:solidFill>
                <a:latin typeface="Secular One"/>
                <a:ea typeface="Secular One"/>
                <a:cs typeface="Secular One"/>
                <a:sym typeface="Secular One"/>
              </a:rPr>
              <a:t>value</a:t>
            </a:r>
            <a:r>
              <a:rPr b="1" lang="en-US" sz="5700">
                <a:solidFill>
                  <a:srgbClr val="FFFFFF"/>
                </a:solidFill>
                <a:latin typeface="Secular One"/>
                <a:ea typeface="Secular One"/>
                <a:cs typeface="Secular One"/>
                <a:sym typeface="Secular One"/>
              </a:rPr>
              <a:t>) הפעולה</a:t>
            </a:r>
            <a:endParaRPr b="1" sz="5700">
              <a:solidFill>
                <a:srgbClr val="6E7D68"/>
              </a:solidFill>
              <a:latin typeface="Secular One"/>
              <a:ea typeface="Secular One"/>
              <a:cs typeface="Secular One"/>
              <a:sym typeface="Secular One"/>
            </a:endParaRPr>
          </a:p>
        </p:txBody>
      </p:sp>
      <p:pic>
        <p:nvPicPr>
          <p:cNvPr id="272" name="Google Shape;27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468652" y="2931725"/>
            <a:ext cx="3255598" cy="6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468652" y="3465125"/>
            <a:ext cx="3255598" cy="6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-18096" y="5297383"/>
            <a:ext cx="12191989" cy="156209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8"/>
          <p:cNvSpPr txBox="1"/>
          <p:nvPr/>
        </p:nvSpPr>
        <p:spPr>
          <a:xfrm>
            <a:off x="0" y="6531000"/>
            <a:ext cx="121920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משרד החינוך - עמ"ט וירטואלי</a:t>
            </a:r>
            <a:endParaRPr sz="1000">
              <a:solidFill>
                <a:srgbClr val="FFFFFF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9"/>
          <p:cNvSpPr txBox="1"/>
          <p:nvPr/>
        </p:nvSpPr>
        <p:spPr>
          <a:xfrm>
            <a:off x="447700" y="4259663"/>
            <a:ext cx="6627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animals.remove("Dog")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281" name="Google Shape;281;p29"/>
          <p:cNvSpPr txBox="1"/>
          <p:nvPr/>
        </p:nvSpPr>
        <p:spPr>
          <a:xfrm>
            <a:off x="431850" y="4825250"/>
            <a:ext cx="103923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Traceback (most recent call last):</a:t>
            </a:r>
            <a:endParaRPr sz="20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File "/home/runner/prq-15-rshymvt/main.py", line 7, in &lt;module&gt;</a:t>
            </a:r>
            <a:endParaRPr sz="20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   animals.remove("Dog")</a:t>
            </a:r>
            <a:endParaRPr sz="20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CC0000"/>
                </a:solidFill>
                <a:latin typeface="Assistant"/>
                <a:ea typeface="Assistant"/>
                <a:cs typeface="Assistant"/>
                <a:sym typeface="Assistant"/>
              </a:rPr>
              <a:t>ValueError</a:t>
            </a: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: list.remove(x): x not in list</a:t>
            </a:r>
            <a:endParaRPr sz="20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pic>
        <p:nvPicPr>
          <p:cNvPr id="282" name="Google Shape;28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" y="8"/>
            <a:ext cx="12191989" cy="1562099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9"/>
          <p:cNvSpPr txBox="1"/>
          <p:nvPr/>
        </p:nvSpPr>
        <p:spPr>
          <a:xfrm>
            <a:off x="6980125" y="1312950"/>
            <a:ext cx="49719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הפעולה </a:t>
            </a:r>
            <a:r>
              <a:rPr b="1" lang="en-US" sz="2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()remove</a:t>
            </a: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מוחקת ערך מהרשימה. </a:t>
            </a:r>
            <a:endParaRPr sz="20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אם הערך לא קיים, תופיע הודעת שגיאה.</a:t>
            </a:r>
            <a:endParaRPr sz="20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לכן מומלץ לפני </a:t>
            </a: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שמשתמשים בפעולת </a:t>
            </a:r>
            <a:r>
              <a:rPr b="1" lang="en-US" sz="2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()remove</a:t>
            </a:r>
            <a:r>
              <a:rPr b="1" lang="en-US" sz="2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לבצע בדיקה באמצעות הפעולה </a:t>
            </a:r>
            <a:r>
              <a:rPr b="1" lang="en-US" sz="2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in</a:t>
            </a: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, ולבדוק אם איבר זה נמצא ברשימה.</a:t>
            </a:r>
            <a:endParaRPr sz="20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284" name="Google Shape;284;p29"/>
          <p:cNvSpPr txBox="1"/>
          <p:nvPr/>
        </p:nvSpPr>
        <p:spPr>
          <a:xfrm>
            <a:off x="401725" y="1379975"/>
            <a:ext cx="60441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animals =["Giraffe","Lion","Hippo", "Duck","Cat"]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animals.remove("Duck")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print</a:t>
            </a: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(animals)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285" name="Google Shape;285;p29"/>
          <p:cNvSpPr txBox="1"/>
          <p:nvPr/>
        </p:nvSpPr>
        <p:spPr>
          <a:xfrm>
            <a:off x="401850" y="2953325"/>
            <a:ext cx="4315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['Giraffe', 'Lion', 'Hippo', 'Cat']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pic>
        <p:nvPicPr>
          <p:cNvPr id="286" name="Google Shape;286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468652" y="2931725"/>
            <a:ext cx="3255598" cy="6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468652" y="3465125"/>
            <a:ext cx="3255598" cy="6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468646" y="4836725"/>
            <a:ext cx="7402627" cy="6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468646" y="6208325"/>
            <a:ext cx="7402627" cy="63125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9"/>
          <p:cNvSpPr txBox="1"/>
          <p:nvPr/>
        </p:nvSpPr>
        <p:spPr>
          <a:xfrm>
            <a:off x="4412250" y="25825"/>
            <a:ext cx="77166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700">
                <a:solidFill>
                  <a:srgbClr val="FFFFFF"/>
                </a:solidFill>
                <a:latin typeface="Secular One"/>
                <a:ea typeface="Secular One"/>
                <a:cs typeface="Secular One"/>
                <a:sym typeface="Secular One"/>
              </a:rPr>
              <a:t>remove(</a:t>
            </a:r>
            <a:r>
              <a:rPr b="1" lang="en-US" sz="5700">
                <a:solidFill>
                  <a:schemeClr val="lt1"/>
                </a:solidFill>
                <a:latin typeface="Secular One"/>
                <a:ea typeface="Secular One"/>
                <a:cs typeface="Secular One"/>
                <a:sym typeface="Secular One"/>
              </a:rPr>
              <a:t>value</a:t>
            </a:r>
            <a:r>
              <a:rPr b="1" lang="en-US" sz="5700">
                <a:solidFill>
                  <a:srgbClr val="FFFFFF"/>
                </a:solidFill>
                <a:latin typeface="Secular One"/>
                <a:ea typeface="Secular One"/>
                <a:cs typeface="Secular One"/>
                <a:sym typeface="Secular One"/>
              </a:rPr>
              <a:t>) הפעולה</a:t>
            </a:r>
            <a:endParaRPr b="1" sz="5700">
              <a:solidFill>
                <a:srgbClr val="6E7D68"/>
              </a:solidFill>
              <a:latin typeface="Secular One"/>
              <a:ea typeface="Secular One"/>
              <a:cs typeface="Secular One"/>
              <a:sym typeface="Secular On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-18096" y="5297383"/>
            <a:ext cx="12191989" cy="1562099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0"/>
          <p:cNvSpPr txBox="1"/>
          <p:nvPr/>
        </p:nvSpPr>
        <p:spPr>
          <a:xfrm>
            <a:off x="2085425" y="2966225"/>
            <a:ext cx="41538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latin typeface="Secular One"/>
                <a:ea typeface="Secular One"/>
                <a:cs typeface="Secular One"/>
                <a:sym typeface="Secular One"/>
              </a:rPr>
              <a:t> </a:t>
            </a:r>
            <a:r>
              <a:rPr i="0" lang="en-US" sz="2000" u="none" cap="none" strike="noStrike">
                <a:solidFill>
                  <a:srgbClr val="192A72"/>
                </a:solidFill>
                <a:latin typeface="Secular One"/>
                <a:ea typeface="Secular One"/>
                <a:cs typeface="Secular One"/>
                <a:sym typeface="Secular One"/>
              </a:rPr>
              <a:t>0              1               2                3            4</a:t>
            </a:r>
            <a:endParaRPr i="0" sz="1400" u="none" cap="none" strike="noStrike">
              <a:solidFill>
                <a:srgbClr val="192A72"/>
              </a:solidFill>
              <a:latin typeface="Secular One"/>
              <a:ea typeface="Secular One"/>
              <a:cs typeface="Secular One"/>
              <a:sym typeface="Secular One"/>
            </a:endParaRPr>
          </a:p>
        </p:txBody>
      </p:sp>
      <p:sp>
        <p:nvSpPr>
          <p:cNvPr id="297" name="Google Shape;297;p30"/>
          <p:cNvSpPr txBox="1"/>
          <p:nvPr/>
        </p:nvSpPr>
        <p:spPr>
          <a:xfrm>
            <a:off x="523450" y="3378125"/>
            <a:ext cx="62526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animals = ["Giraffe", "Lion", "Hippo", "Duck","Cat"]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animals.pop(2) </a:t>
            </a:r>
            <a:r>
              <a:rPr lang="en-US" sz="2000">
                <a:solidFill>
                  <a:srgbClr val="4A86E8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</a:t>
            </a:r>
            <a:r>
              <a:rPr lang="en-US" sz="2000">
                <a:solidFill>
                  <a:srgbClr val="0000FF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#'Hippo'</a:t>
            </a:r>
            <a:endParaRPr sz="2000">
              <a:solidFill>
                <a:srgbClr val="0000FF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print</a:t>
            </a: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(animals)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298" name="Google Shape;298;p30"/>
          <p:cNvSpPr txBox="1"/>
          <p:nvPr/>
        </p:nvSpPr>
        <p:spPr>
          <a:xfrm>
            <a:off x="523450" y="4751975"/>
            <a:ext cx="3581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['Giraffe', 'Lion', 'Duck', 'Cat']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pic>
        <p:nvPicPr>
          <p:cNvPr id="299" name="Google Shape;29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" y="8"/>
            <a:ext cx="12191989" cy="1562099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0"/>
          <p:cNvSpPr txBox="1"/>
          <p:nvPr/>
        </p:nvSpPr>
        <p:spPr>
          <a:xfrm>
            <a:off x="5553800" y="25825"/>
            <a:ext cx="68037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700">
                <a:solidFill>
                  <a:srgbClr val="FFFFFF"/>
                </a:solidFill>
                <a:latin typeface="Secular One"/>
                <a:ea typeface="Secular One"/>
                <a:cs typeface="Secular One"/>
                <a:sym typeface="Secular One"/>
              </a:rPr>
              <a:t>pop(index)</a:t>
            </a:r>
            <a:r>
              <a:rPr b="1" lang="en-US" sz="5700">
                <a:solidFill>
                  <a:srgbClr val="FFFFFF"/>
                </a:solidFill>
                <a:latin typeface="Secular One"/>
                <a:ea typeface="Secular One"/>
                <a:cs typeface="Secular One"/>
                <a:sym typeface="Secular One"/>
              </a:rPr>
              <a:t> הפעולה</a:t>
            </a:r>
            <a:endParaRPr b="1" sz="5700">
              <a:solidFill>
                <a:srgbClr val="6E7D68"/>
              </a:solidFill>
              <a:latin typeface="Secular One"/>
              <a:ea typeface="Secular One"/>
              <a:cs typeface="Secular One"/>
              <a:sym typeface="Secular One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78450" y="1312950"/>
            <a:ext cx="70737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הפעולה </a:t>
            </a:r>
            <a:r>
              <a:rPr b="1" lang="en-US" sz="2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()</a:t>
            </a:r>
            <a:r>
              <a:rPr lang="en-US" sz="20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rPr>
              <a:t>pop </a:t>
            </a: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מוחקת ערך מהרשימה. </a:t>
            </a:r>
            <a:endParaRPr sz="20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המחיקה נעשית לפי מיקום. שימו לב, הרשימה מתחילה במקום 0!</a:t>
            </a:r>
            <a:endParaRPr sz="20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הפעולה </a:t>
            </a:r>
            <a:r>
              <a:rPr b="1" lang="en-US" sz="2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()</a:t>
            </a:r>
            <a:r>
              <a:rPr b="1" lang="en-US" sz="2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pop</a:t>
            </a: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מחזירה את ערך האיבר שאותו היא מוציאה מהרשימה.</a:t>
            </a:r>
            <a:endParaRPr sz="20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ערך ברירת המחדל הוא: 1-.</a:t>
            </a:r>
            <a:endParaRPr sz="20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468652" y="4684325"/>
            <a:ext cx="3255598" cy="6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468652" y="5217725"/>
            <a:ext cx="3255598" cy="63125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0"/>
          <p:cNvSpPr txBox="1"/>
          <p:nvPr/>
        </p:nvSpPr>
        <p:spPr>
          <a:xfrm>
            <a:off x="0" y="6531000"/>
            <a:ext cx="121920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משרד החינוך - עמ"ט וירטואלי</a:t>
            </a:r>
            <a:endParaRPr sz="1000">
              <a:solidFill>
                <a:srgbClr val="FFFFFF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1"/>
          <p:cNvSpPr txBox="1"/>
          <p:nvPr/>
        </p:nvSpPr>
        <p:spPr>
          <a:xfrm>
            <a:off x="467625" y="5252575"/>
            <a:ext cx="10966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Traceback (most recent call last):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File "&lt;pyshell#24&gt;", line 1, in &lt;module&gt; animals.pop (12)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CC0000"/>
                </a:solidFill>
                <a:latin typeface="Assistant"/>
                <a:ea typeface="Assistant"/>
                <a:cs typeface="Assistant"/>
                <a:sym typeface="Assistant"/>
              </a:rPr>
              <a:t>IndexError</a:t>
            </a: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: pop index out of range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310" name="Google Shape;310;p31"/>
          <p:cNvSpPr txBox="1"/>
          <p:nvPr/>
        </p:nvSpPr>
        <p:spPr>
          <a:xfrm>
            <a:off x="493650" y="4685663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animals.pop(12)</a:t>
            </a:r>
            <a:endParaRPr sz="20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pic>
        <p:nvPicPr>
          <p:cNvPr id="311" name="Google Shape;31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" y="8"/>
            <a:ext cx="12191989" cy="1562099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31"/>
          <p:cNvSpPr txBox="1"/>
          <p:nvPr/>
        </p:nvSpPr>
        <p:spPr>
          <a:xfrm>
            <a:off x="5553800" y="25825"/>
            <a:ext cx="68037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700">
                <a:solidFill>
                  <a:srgbClr val="FFFFFF"/>
                </a:solidFill>
                <a:latin typeface="Secular One"/>
                <a:ea typeface="Secular One"/>
                <a:cs typeface="Secular One"/>
                <a:sym typeface="Secular One"/>
              </a:rPr>
              <a:t>pop(index) הפעולה</a:t>
            </a:r>
            <a:endParaRPr b="1" sz="5700">
              <a:solidFill>
                <a:srgbClr val="6E7D68"/>
              </a:solidFill>
              <a:latin typeface="Secular One"/>
              <a:ea typeface="Secular One"/>
              <a:cs typeface="Secular One"/>
              <a:sym typeface="Secular One"/>
            </a:endParaRPr>
          </a:p>
        </p:txBody>
      </p:sp>
      <p:sp>
        <p:nvSpPr>
          <p:cNvPr id="313" name="Google Shape;313;p31"/>
          <p:cNvSpPr txBox="1"/>
          <p:nvPr/>
        </p:nvSpPr>
        <p:spPr>
          <a:xfrm>
            <a:off x="4878450" y="1312950"/>
            <a:ext cx="7073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כאשר נרצה למחוק ערך שנמצא במיקום שלא קיים ברשימה, תוחזר שגיאה.</a:t>
            </a:r>
            <a:endParaRPr sz="20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314" name="Google Shape;314;p31"/>
          <p:cNvSpPr txBox="1"/>
          <p:nvPr/>
        </p:nvSpPr>
        <p:spPr>
          <a:xfrm>
            <a:off x="2085425" y="1975625"/>
            <a:ext cx="41538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latin typeface="Secular One"/>
                <a:ea typeface="Secular One"/>
                <a:cs typeface="Secular One"/>
                <a:sym typeface="Secular One"/>
              </a:rPr>
              <a:t> </a:t>
            </a:r>
            <a:r>
              <a:rPr i="0" lang="en-US" sz="2000" u="none" cap="none" strike="noStrike">
                <a:solidFill>
                  <a:srgbClr val="192A72"/>
                </a:solidFill>
                <a:latin typeface="Secular One"/>
                <a:ea typeface="Secular One"/>
                <a:cs typeface="Secular One"/>
                <a:sym typeface="Secular One"/>
              </a:rPr>
              <a:t>0              1               2                3            4</a:t>
            </a:r>
            <a:endParaRPr i="0" sz="1400" u="none" cap="none" strike="noStrike">
              <a:solidFill>
                <a:srgbClr val="192A72"/>
              </a:solidFill>
              <a:latin typeface="Secular One"/>
              <a:ea typeface="Secular One"/>
              <a:cs typeface="Secular One"/>
              <a:sym typeface="Secular One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23450" y="2387525"/>
            <a:ext cx="62526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animals = ["Giraffe", "Lion", "Hippo", "Duck","Cat"]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animals.pop(2) </a:t>
            </a:r>
            <a:r>
              <a:rPr lang="en-US" sz="2000">
                <a:solidFill>
                  <a:srgbClr val="4A86E8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</a:t>
            </a:r>
            <a:r>
              <a:rPr lang="en-US" sz="2000">
                <a:solidFill>
                  <a:srgbClr val="0000FF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#'Hippo'</a:t>
            </a:r>
            <a:endParaRPr sz="2000">
              <a:solidFill>
                <a:srgbClr val="0000FF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print</a:t>
            </a: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(animals)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523450" y="3761375"/>
            <a:ext cx="3581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['Giraffe', 'Lion', 'Duck', 'Cat']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pic>
        <p:nvPicPr>
          <p:cNvPr id="317" name="Google Shape;317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468652" y="3693725"/>
            <a:ext cx="3255598" cy="6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468652" y="4227125"/>
            <a:ext cx="3255598" cy="6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468652" y="5217725"/>
            <a:ext cx="6167897" cy="6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468652" y="6360725"/>
            <a:ext cx="6167897" cy="6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" y="8"/>
            <a:ext cx="12191989" cy="1562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-18096" y="5297383"/>
            <a:ext cx="12191989" cy="1562099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32"/>
          <p:cNvSpPr txBox="1"/>
          <p:nvPr/>
        </p:nvSpPr>
        <p:spPr>
          <a:xfrm>
            <a:off x="0" y="6531000"/>
            <a:ext cx="121920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משרד החינוך - עמ"ט וירטואלי</a:t>
            </a:r>
            <a:endParaRPr sz="1000">
              <a:solidFill>
                <a:srgbClr val="FFFFFF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329" name="Google Shape;329;p32"/>
          <p:cNvSpPr txBox="1"/>
          <p:nvPr/>
        </p:nvSpPr>
        <p:spPr>
          <a:xfrm>
            <a:off x="18200" y="25833"/>
            <a:ext cx="120033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700">
                <a:solidFill>
                  <a:srgbClr val="FFFFFF"/>
                </a:solidFill>
                <a:latin typeface="Secular One"/>
                <a:ea typeface="Secular One"/>
                <a:cs typeface="Secular One"/>
                <a:sym typeface="Secular One"/>
              </a:rPr>
              <a:t>צפו בסרטון</a:t>
            </a:r>
            <a:endParaRPr b="1" sz="5700">
              <a:solidFill>
                <a:srgbClr val="FFFFFF"/>
              </a:solidFill>
              <a:latin typeface="Secular One"/>
              <a:ea typeface="Secular One"/>
              <a:cs typeface="Secular One"/>
              <a:sym typeface="Secular One"/>
            </a:endParaRPr>
          </a:p>
        </p:txBody>
      </p:sp>
      <p:pic>
        <p:nvPicPr>
          <p:cNvPr id="330" name="Google Shape;330;p32" title="עמט וירטואלי - פייתון - רשימות חלק ב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04025" y="1292600"/>
            <a:ext cx="9147750" cy="5145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" y="8"/>
            <a:ext cx="12191989" cy="156209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3"/>
          <p:cNvSpPr txBox="1"/>
          <p:nvPr/>
        </p:nvSpPr>
        <p:spPr>
          <a:xfrm>
            <a:off x="196800" y="31275"/>
            <a:ext cx="118767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700">
                <a:solidFill>
                  <a:srgbClr val="FFFFFF"/>
                </a:solidFill>
                <a:latin typeface="Secular One"/>
                <a:ea typeface="Secular One"/>
                <a:cs typeface="Secular One"/>
                <a:sym typeface="Secular One"/>
              </a:rPr>
              <a:t>8.2 | תרגול לפיצוח | אינטראקטיבי</a:t>
            </a:r>
            <a:endParaRPr b="1" sz="5700">
              <a:solidFill>
                <a:srgbClr val="6E7D68"/>
              </a:solidFill>
              <a:latin typeface="Secular One"/>
              <a:ea typeface="Secular One"/>
              <a:cs typeface="Secular One"/>
              <a:sym typeface="Secular One"/>
            </a:endParaRPr>
          </a:p>
        </p:txBody>
      </p:sp>
      <p:sp>
        <p:nvSpPr>
          <p:cNvPr id="337" name="Google Shape;337;p33"/>
          <p:cNvSpPr txBox="1"/>
          <p:nvPr/>
        </p:nvSpPr>
        <p:spPr>
          <a:xfrm>
            <a:off x="3127025" y="1325075"/>
            <a:ext cx="8108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היכנסו לרכיב 8.2 | תרגול לפיצוח ב-Classroom, והשלימו את הפלט המתאים עבור הפקודות השונות.</a:t>
            </a:r>
            <a:endParaRPr sz="24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pic>
        <p:nvPicPr>
          <p:cNvPr id="338" name="Google Shape;338;p33"/>
          <p:cNvPicPr preferRelativeResize="0"/>
          <p:nvPr/>
        </p:nvPicPr>
        <p:blipFill rotWithShape="1">
          <a:blip r:embed="rId4">
            <a:alphaModFix/>
          </a:blip>
          <a:srcRect b="20830" l="8735" r="11271" t="8076"/>
          <a:stretch/>
        </p:blipFill>
        <p:spPr>
          <a:xfrm>
            <a:off x="11199625" y="1185575"/>
            <a:ext cx="805075" cy="71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-18096" y="5297383"/>
            <a:ext cx="12191989" cy="1562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7450" y="4485500"/>
            <a:ext cx="1751174" cy="1751174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33"/>
          <p:cNvSpPr txBox="1"/>
          <p:nvPr/>
        </p:nvSpPr>
        <p:spPr>
          <a:xfrm>
            <a:off x="0" y="6531000"/>
            <a:ext cx="121920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משרד החינוך - עמ"ט וירטואלי</a:t>
            </a:r>
            <a:endParaRPr sz="1000">
              <a:solidFill>
                <a:srgbClr val="FFFFFF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Google Shape;34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" y="8"/>
            <a:ext cx="12191989" cy="1562099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34"/>
          <p:cNvSpPr txBox="1"/>
          <p:nvPr/>
        </p:nvSpPr>
        <p:spPr>
          <a:xfrm>
            <a:off x="4650675" y="25825"/>
            <a:ext cx="75084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700">
                <a:solidFill>
                  <a:srgbClr val="FFFFFF"/>
                </a:solidFill>
                <a:latin typeface="Secular One"/>
                <a:ea typeface="Secular One"/>
                <a:cs typeface="Secular One"/>
                <a:sym typeface="Secular One"/>
              </a:rPr>
              <a:t>index</a:t>
            </a:r>
            <a:r>
              <a:rPr b="1" lang="en-US" sz="5700">
                <a:solidFill>
                  <a:srgbClr val="FFFFFF"/>
                </a:solidFill>
                <a:latin typeface="Secular One"/>
                <a:ea typeface="Secular One"/>
                <a:cs typeface="Secular One"/>
                <a:sym typeface="Secular One"/>
              </a:rPr>
              <a:t>(value) הפעולה</a:t>
            </a:r>
            <a:endParaRPr b="1" sz="5700">
              <a:solidFill>
                <a:srgbClr val="6E7D68"/>
              </a:solidFill>
              <a:latin typeface="Secular One"/>
              <a:ea typeface="Secular One"/>
              <a:cs typeface="Secular One"/>
              <a:sym typeface="Secular One"/>
            </a:endParaRPr>
          </a:p>
        </p:txBody>
      </p:sp>
      <p:sp>
        <p:nvSpPr>
          <p:cNvPr id="348" name="Google Shape;348;p34"/>
          <p:cNvSpPr txBox="1"/>
          <p:nvPr/>
        </p:nvSpPr>
        <p:spPr>
          <a:xfrm>
            <a:off x="2113775" y="1312950"/>
            <a:ext cx="98385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הפעולה </a:t>
            </a:r>
            <a:r>
              <a:rPr b="1" lang="en-US" sz="2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()</a:t>
            </a:r>
            <a:r>
              <a:rPr lang="en-US" sz="20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rPr>
              <a:t>index</a:t>
            </a:r>
            <a:r>
              <a:rPr lang="en-US" sz="20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rPr>
              <a:t> </a:t>
            </a: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מחזירה את המיקום של ערך מבוקש ברשימה.</a:t>
            </a:r>
            <a:endParaRPr sz="20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אם הערך מופיע ברשימה מספר פעמים, יוחזר מיקומו הראשון בלבד.</a:t>
            </a:r>
            <a:endParaRPr sz="20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בדוגמה הבאה, עבור הערך </a:t>
            </a:r>
            <a:r>
              <a:rPr lang="en-US" sz="20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rPr>
              <a:t>"Giraffe"</a:t>
            </a: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, הוחזר 2, למרות שערך זה נמצא גם במקומות 4 ו-6.</a:t>
            </a:r>
            <a:endParaRPr sz="20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349" name="Google Shape;349;p34"/>
          <p:cNvSpPr txBox="1"/>
          <p:nvPr/>
        </p:nvSpPr>
        <p:spPr>
          <a:xfrm>
            <a:off x="523450" y="3530525"/>
            <a:ext cx="91059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animals = ["Lion", "Hippo", "Giraffe", "Duck", "Giraffe", "Cat", "Giraffe"]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print</a:t>
            </a: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(animals.index("Duck"))                           3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print</a:t>
            </a: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(animals.index("Giraffe"))                         2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350" name="Google Shape;350;p34"/>
          <p:cNvSpPr txBox="1"/>
          <p:nvPr/>
        </p:nvSpPr>
        <p:spPr>
          <a:xfrm>
            <a:off x="1933025" y="3042425"/>
            <a:ext cx="75957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latin typeface="Secular One"/>
                <a:ea typeface="Secular One"/>
                <a:cs typeface="Secular One"/>
                <a:sym typeface="Secular One"/>
              </a:rPr>
              <a:t>  </a:t>
            </a:r>
            <a:r>
              <a:rPr i="0" lang="en-US" sz="2000" u="none" cap="none" strike="noStrike">
                <a:solidFill>
                  <a:srgbClr val="192A72"/>
                </a:solidFill>
                <a:latin typeface="Secular One"/>
                <a:ea typeface="Secular One"/>
                <a:cs typeface="Secular One"/>
                <a:sym typeface="Secular One"/>
              </a:rPr>
              <a:t>0              1                 2                3                4             5              6</a:t>
            </a:r>
            <a:endParaRPr i="0" sz="1400" u="none" cap="none" strike="noStrike">
              <a:solidFill>
                <a:srgbClr val="192A72"/>
              </a:solidFill>
              <a:latin typeface="Secular One"/>
              <a:ea typeface="Secular One"/>
              <a:cs typeface="Secular One"/>
              <a:sym typeface="Secular One"/>
            </a:endParaRPr>
          </a:p>
        </p:txBody>
      </p:sp>
      <p:pic>
        <p:nvPicPr>
          <p:cNvPr id="351" name="Google Shape;35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-18096" y="5297383"/>
            <a:ext cx="12191989" cy="1562099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4"/>
          <p:cNvSpPr txBox="1"/>
          <p:nvPr/>
        </p:nvSpPr>
        <p:spPr>
          <a:xfrm>
            <a:off x="0" y="6531000"/>
            <a:ext cx="121920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משרד החינוך - עמ"ט וירטואלי</a:t>
            </a:r>
            <a:endParaRPr sz="1000">
              <a:solidFill>
                <a:srgbClr val="FFFFFF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oogle Shape;35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" y="8"/>
            <a:ext cx="12191989" cy="1562099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35"/>
          <p:cNvSpPr txBox="1"/>
          <p:nvPr/>
        </p:nvSpPr>
        <p:spPr>
          <a:xfrm>
            <a:off x="2113775" y="1312950"/>
            <a:ext cx="98385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הפעולה </a:t>
            </a:r>
            <a:r>
              <a:rPr b="1" lang="en-US" sz="2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()</a:t>
            </a:r>
            <a:r>
              <a:rPr lang="en-US" sz="20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rPr>
              <a:t>index </a:t>
            </a: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מחזירה את המיקום ברשימה של ערך מבוקש.</a:t>
            </a:r>
            <a:endParaRPr sz="20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אם הערך לא קיים, תתקבל הודעת שגיאת הרצה.</a:t>
            </a:r>
            <a:endParaRPr sz="20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359" name="Google Shape;359;p35"/>
          <p:cNvSpPr txBox="1"/>
          <p:nvPr/>
        </p:nvSpPr>
        <p:spPr>
          <a:xfrm>
            <a:off x="523450" y="2463725"/>
            <a:ext cx="91059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animals = ["Lion", "Hippo", "Giraffe", "Duck", "Giraffe", "Cat", "Giraffe"]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print(animals.index ("Duck"))                           3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print(animals.index("Giraffe"))                         2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360" name="Google Shape;360;p35"/>
          <p:cNvSpPr txBox="1"/>
          <p:nvPr/>
        </p:nvSpPr>
        <p:spPr>
          <a:xfrm>
            <a:off x="431850" y="4672850"/>
            <a:ext cx="103923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9E9E9E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Traceback (most recent call last):</a:t>
            </a:r>
            <a:endParaRPr sz="2000">
              <a:solidFill>
                <a:srgbClr val="9E9E9E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9E9E9E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File "&lt;pyshell#37&gt;", line 1, in &lt;module&gt;</a:t>
            </a:r>
            <a:endParaRPr sz="2000">
              <a:solidFill>
                <a:srgbClr val="9E9E9E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9E9E9E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print (animals.index ("Dog")) </a:t>
            </a:r>
            <a:r>
              <a:rPr lang="en-US" sz="2000">
                <a:solidFill>
                  <a:srgbClr val="FF0000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ValueError</a:t>
            </a:r>
            <a:r>
              <a:rPr lang="en-US" sz="2000">
                <a:solidFill>
                  <a:srgbClr val="9E9E9E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: 'Dog' is not in list</a:t>
            </a:r>
            <a:endParaRPr sz="2000">
              <a:solidFill>
                <a:srgbClr val="9E9E9E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pic>
        <p:nvPicPr>
          <p:cNvPr id="361" name="Google Shape;361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468646" y="4684325"/>
            <a:ext cx="7402627" cy="6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468646" y="5751125"/>
            <a:ext cx="7402627" cy="63125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5"/>
          <p:cNvSpPr txBox="1"/>
          <p:nvPr/>
        </p:nvSpPr>
        <p:spPr>
          <a:xfrm>
            <a:off x="533400" y="4038600"/>
            <a:ext cx="3873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print (animals.index ("Dog"))</a:t>
            </a:r>
            <a:endParaRPr sz="20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364" name="Google Shape;364;p35"/>
          <p:cNvSpPr txBox="1"/>
          <p:nvPr/>
        </p:nvSpPr>
        <p:spPr>
          <a:xfrm>
            <a:off x="4650675" y="25825"/>
            <a:ext cx="75084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700">
                <a:solidFill>
                  <a:srgbClr val="FFFFFF"/>
                </a:solidFill>
                <a:latin typeface="Secular One"/>
                <a:ea typeface="Secular One"/>
                <a:cs typeface="Secular One"/>
                <a:sym typeface="Secular One"/>
              </a:rPr>
              <a:t>index(value) הפעולה</a:t>
            </a:r>
            <a:endParaRPr b="1" sz="5700">
              <a:solidFill>
                <a:srgbClr val="6E7D68"/>
              </a:solidFill>
              <a:latin typeface="Secular One"/>
              <a:ea typeface="Secular One"/>
              <a:cs typeface="Secular One"/>
              <a:sym typeface="Secular One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6"/>
          <p:cNvSpPr txBox="1"/>
          <p:nvPr/>
        </p:nvSpPr>
        <p:spPr>
          <a:xfrm>
            <a:off x="7694975" y="6042850"/>
            <a:ext cx="4257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*</a:t>
            </a: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הערה: המחרוזת המקורית אינה משתנה.</a:t>
            </a:r>
            <a:endParaRPr sz="20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pic>
        <p:nvPicPr>
          <p:cNvPr id="370" name="Google Shape;370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" y="8"/>
            <a:ext cx="12191989" cy="1562099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36"/>
          <p:cNvSpPr txBox="1"/>
          <p:nvPr/>
        </p:nvSpPr>
        <p:spPr>
          <a:xfrm>
            <a:off x="3820000" y="25825"/>
            <a:ext cx="84216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700">
                <a:solidFill>
                  <a:srgbClr val="FFFFFF"/>
                </a:solidFill>
                <a:latin typeface="Secular One"/>
                <a:ea typeface="Secular One"/>
                <a:cs typeface="Secular One"/>
                <a:sym typeface="Secular One"/>
              </a:rPr>
              <a:t>list</a:t>
            </a:r>
            <a:r>
              <a:rPr b="1" lang="en-US" sz="5700">
                <a:solidFill>
                  <a:srgbClr val="FFFFFF"/>
                </a:solidFill>
                <a:latin typeface="Secular One"/>
                <a:ea typeface="Secular One"/>
                <a:cs typeface="Secular One"/>
                <a:sym typeface="Secular One"/>
              </a:rPr>
              <a:t>(‘text’</a:t>
            </a:r>
            <a:r>
              <a:rPr b="1" lang="en-US" sz="5700">
                <a:solidFill>
                  <a:srgbClr val="FFFFFF"/>
                </a:solidFill>
                <a:latin typeface="Secular One"/>
                <a:ea typeface="Secular One"/>
                <a:cs typeface="Secular One"/>
                <a:sym typeface="Secular One"/>
              </a:rPr>
              <a:t>) הפעול</a:t>
            </a:r>
            <a:r>
              <a:rPr b="1" lang="en-US" sz="5700">
                <a:solidFill>
                  <a:srgbClr val="FFFFFF"/>
                </a:solidFill>
                <a:latin typeface="Secular One"/>
                <a:ea typeface="Secular One"/>
                <a:cs typeface="Secular One"/>
                <a:sym typeface="Secular One"/>
              </a:rPr>
              <a:t>ה</a:t>
            </a:r>
            <a:endParaRPr b="1" sz="5700">
              <a:solidFill>
                <a:srgbClr val="6E7D68"/>
              </a:solidFill>
              <a:latin typeface="Secular One"/>
              <a:ea typeface="Secular One"/>
              <a:cs typeface="Secular One"/>
              <a:sym typeface="Secular One"/>
            </a:endParaRPr>
          </a:p>
        </p:txBody>
      </p:sp>
      <p:sp>
        <p:nvSpPr>
          <p:cNvPr id="372" name="Google Shape;372;p36"/>
          <p:cNvSpPr txBox="1"/>
          <p:nvPr/>
        </p:nvSpPr>
        <p:spPr>
          <a:xfrm>
            <a:off x="655050" y="1312950"/>
            <a:ext cx="112971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הפעולה </a:t>
            </a:r>
            <a:r>
              <a:rPr b="1" lang="en-US" sz="2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()</a:t>
            </a:r>
            <a:r>
              <a:rPr lang="en-US" sz="20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rPr>
              <a:t>list</a:t>
            </a:r>
            <a:r>
              <a:rPr lang="en-US" sz="20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rPr>
              <a:t> </a:t>
            </a: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מקבלת כפרמטר מחרוזת וממירה אותה לרשימה כאשר כל אות במחרוזת תהיה איבר ברשימה.</a:t>
            </a:r>
            <a:endParaRPr sz="20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שימו לב שגם </a:t>
            </a:r>
            <a:r>
              <a:rPr lang="en-US" sz="2000">
                <a:solidFill>
                  <a:schemeClr val="dk1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רווח</a:t>
            </a: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הוא אחד מאיברי הרשימה.</a:t>
            </a:r>
            <a:endParaRPr sz="20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373" name="Google Shape;373;p36"/>
          <p:cNvSpPr txBox="1"/>
          <p:nvPr/>
        </p:nvSpPr>
        <p:spPr>
          <a:xfrm>
            <a:off x="523450" y="2235125"/>
            <a:ext cx="91059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text1 = "I love python"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print</a:t>
            </a: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(text1)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pic>
        <p:nvPicPr>
          <p:cNvPr id="374" name="Google Shape;374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468646" y="3312725"/>
            <a:ext cx="7402627" cy="6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468646" y="3846125"/>
            <a:ext cx="7402627" cy="63125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36"/>
          <p:cNvSpPr txBox="1"/>
          <p:nvPr/>
        </p:nvSpPr>
        <p:spPr>
          <a:xfrm>
            <a:off x="533400" y="33528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I love python</a:t>
            </a:r>
            <a:endParaRPr/>
          </a:p>
        </p:txBody>
      </p:sp>
      <p:sp>
        <p:nvSpPr>
          <p:cNvPr id="377" name="Google Shape;377;p36"/>
          <p:cNvSpPr txBox="1"/>
          <p:nvPr/>
        </p:nvSpPr>
        <p:spPr>
          <a:xfrm>
            <a:off x="523450" y="4368725"/>
            <a:ext cx="91059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text2 = list(text1)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print</a:t>
            </a: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(text2)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378" name="Google Shape;378;p36"/>
          <p:cNvSpPr txBox="1"/>
          <p:nvPr/>
        </p:nvSpPr>
        <p:spPr>
          <a:xfrm>
            <a:off x="533400" y="5486400"/>
            <a:ext cx="81834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['I', ' ', 'l', 'o', 'v', 'e', ' ', 'p', 'y', 't', 'h', 'o', 'n']</a:t>
            </a:r>
            <a:endParaRPr sz="20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pic>
        <p:nvPicPr>
          <p:cNvPr id="379" name="Google Shape;379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468646" y="5446325"/>
            <a:ext cx="7402627" cy="6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468646" y="5979725"/>
            <a:ext cx="7402627" cy="6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" y="8"/>
            <a:ext cx="12191989" cy="1562099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37"/>
          <p:cNvSpPr txBox="1"/>
          <p:nvPr/>
        </p:nvSpPr>
        <p:spPr>
          <a:xfrm>
            <a:off x="188325" y="2205400"/>
            <a:ext cx="11287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387" name="Google Shape;387;p37"/>
          <p:cNvSpPr txBox="1"/>
          <p:nvPr/>
        </p:nvSpPr>
        <p:spPr>
          <a:xfrm>
            <a:off x="528675" y="3807650"/>
            <a:ext cx="30000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text3 = " ".join(lst1)</a:t>
            </a:r>
            <a:endParaRPr sz="20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print</a:t>
            </a: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("tex3 = ", text3)</a:t>
            </a:r>
            <a:endParaRPr sz="20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388" name="Google Shape;388;p37"/>
          <p:cNvSpPr txBox="1"/>
          <p:nvPr/>
        </p:nvSpPr>
        <p:spPr>
          <a:xfrm>
            <a:off x="528675" y="3093063"/>
            <a:ext cx="11368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text2 =  guitar</a:t>
            </a:r>
            <a:r>
              <a:rPr b="1" lang="en-US" sz="2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@</a:t>
            </a: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piano</a:t>
            </a:r>
            <a:r>
              <a:rPr b="1" lang="en-US" sz="2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@</a:t>
            </a: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drums</a:t>
            </a:r>
            <a:r>
              <a:rPr b="1" lang="en-US" sz="2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@</a:t>
            </a: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trumpet</a:t>
            </a:r>
            <a:r>
              <a:rPr b="1" lang="en-US" sz="2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@</a:t>
            </a: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saxophone</a:t>
            </a:r>
            <a:endParaRPr sz="20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389" name="Google Shape;389;p37"/>
          <p:cNvSpPr txBox="1"/>
          <p:nvPr/>
        </p:nvSpPr>
        <p:spPr>
          <a:xfrm>
            <a:off x="528675" y="4698950"/>
            <a:ext cx="11368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text3 =  guitar piano drums trumpet saxophone</a:t>
            </a:r>
            <a:endParaRPr sz="20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390" name="Google Shape;390;p37"/>
          <p:cNvSpPr txBox="1"/>
          <p:nvPr/>
        </p:nvSpPr>
        <p:spPr>
          <a:xfrm>
            <a:off x="528675" y="5443975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print</a:t>
            </a: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("lst1 = ", lst1)</a:t>
            </a:r>
            <a:endParaRPr sz="20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391" name="Google Shape;391;p37"/>
          <p:cNvSpPr txBox="1"/>
          <p:nvPr/>
        </p:nvSpPr>
        <p:spPr>
          <a:xfrm>
            <a:off x="528675" y="5905675"/>
            <a:ext cx="11368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lst1 =  ['guitar', 'piano', 'drums', 'trumpet', 'saxophone']</a:t>
            </a:r>
            <a:endParaRPr sz="20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392" name="Google Shape;392;p37"/>
          <p:cNvSpPr txBox="1"/>
          <p:nvPr/>
        </p:nvSpPr>
        <p:spPr>
          <a:xfrm>
            <a:off x="2848875" y="25825"/>
            <a:ext cx="97947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700">
                <a:solidFill>
                  <a:srgbClr val="FFFFFF"/>
                </a:solidFill>
                <a:latin typeface="Secular One"/>
                <a:ea typeface="Secular One"/>
                <a:cs typeface="Secular One"/>
                <a:sym typeface="Secular One"/>
              </a:rPr>
              <a:t>delimiter.join</a:t>
            </a:r>
            <a:r>
              <a:rPr b="1" lang="en-US" sz="5700">
                <a:solidFill>
                  <a:srgbClr val="FFFFFF"/>
                </a:solidFill>
                <a:latin typeface="Secular One"/>
                <a:ea typeface="Secular One"/>
                <a:cs typeface="Secular One"/>
                <a:sym typeface="Secular One"/>
              </a:rPr>
              <a:t>(list_name) הפעולה</a:t>
            </a:r>
            <a:endParaRPr b="1" sz="5700">
              <a:solidFill>
                <a:srgbClr val="6E7D68"/>
              </a:solidFill>
              <a:latin typeface="Secular One"/>
              <a:ea typeface="Secular One"/>
              <a:cs typeface="Secular One"/>
              <a:sym typeface="Secular One"/>
            </a:endParaRPr>
          </a:p>
        </p:txBody>
      </p:sp>
      <p:sp>
        <p:nvSpPr>
          <p:cNvPr id="393" name="Google Shape;393;p37"/>
          <p:cNvSpPr txBox="1"/>
          <p:nvPr/>
        </p:nvSpPr>
        <p:spPr>
          <a:xfrm>
            <a:off x="468650" y="1312950"/>
            <a:ext cx="11483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הפעולה </a:t>
            </a:r>
            <a:r>
              <a:rPr b="1" lang="en-US" sz="2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()</a:t>
            </a:r>
            <a:r>
              <a:rPr lang="en-US" sz="20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rPr>
              <a:t>join</a:t>
            </a:r>
            <a:r>
              <a:rPr lang="en-US" sz="20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rPr>
              <a:t> </a:t>
            </a: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מקבלת כפרטמטר רשימה והופכת אותה למחרוזת, כאשר בין איבר לאיבר יופיע תו המקדים.</a:t>
            </a:r>
            <a:endParaRPr sz="20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394" name="Google Shape;394;p37"/>
          <p:cNvSpPr txBox="1"/>
          <p:nvPr/>
        </p:nvSpPr>
        <p:spPr>
          <a:xfrm>
            <a:off x="523450" y="1854125"/>
            <a:ext cx="91059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lst1</a:t>
            </a: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= ['guitar', 'piano', 'drums', 'trumpet', 'saxophone']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text2 = "</a:t>
            </a:r>
            <a:r>
              <a:rPr b="1" lang="en-US" sz="2000">
                <a:latin typeface="Assistant"/>
                <a:ea typeface="Assistant"/>
                <a:cs typeface="Assistant"/>
                <a:sym typeface="Assistant"/>
              </a:rPr>
              <a:t>@</a:t>
            </a: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".join(lst1)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print</a:t>
            </a: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("text2 = ", text2)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pic>
        <p:nvPicPr>
          <p:cNvPr id="395" name="Google Shape;395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468646" y="3084125"/>
            <a:ext cx="7402627" cy="6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468646" y="3541325"/>
            <a:ext cx="7402627" cy="6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468646" y="4684325"/>
            <a:ext cx="7402627" cy="6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468646" y="5141525"/>
            <a:ext cx="7402627" cy="6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468646" y="5903525"/>
            <a:ext cx="7402627" cy="6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468646" y="6360725"/>
            <a:ext cx="7402627" cy="63125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7"/>
          <p:cNvSpPr txBox="1"/>
          <p:nvPr/>
        </p:nvSpPr>
        <p:spPr>
          <a:xfrm>
            <a:off x="7694975" y="6042850"/>
            <a:ext cx="4257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*הערה: הרשימה המקורית אינה משתנה.</a:t>
            </a:r>
            <a:endParaRPr sz="20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402" name="Google Shape;402;p37"/>
          <p:cNvSpPr txBox="1"/>
          <p:nvPr/>
        </p:nvSpPr>
        <p:spPr>
          <a:xfrm>
            <a:off x="8091825" y="2307950"/>
            <a:ext cx="3705300" cy="492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בדוגמה זו ה- </a:t>
            </a:r>
            <a:r>
              <a:rPr lang="en-US" sz="2000">
                <a:solidFill>
                  <a:schemeClr val="dk2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delimiter</a:t>
            </a:r>
            <a:r>
              <a:rPr lang="en-US" sz="1800">
                <a:solidFill>
                  <a:schemeClr val="dk2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הוא @</a:t>
            </a:r>
            <a:endParaRPr sz="2000">
              <a:solidFill>
                <a:schemeClr val="dk2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403" name="Google Shape;403;p37"/>
          <p:cNvSpPr txBox="1"/>
          <p:nvPr/>
        </p:nvSpPr>
        <p:spPr>
          <a:xfrm>
            <a:off x="8115975" y="3807650"/>
            <a:ext cx="3705300" cy="492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בדוגמה זו ה- delimiter</a:t>
            </a:r>
            <a:r>
              <a:rPr lang="en-US" sz="1800">
                <a:solidFill>
                  <a:schemeClr val="dk2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הוא רווח</a:t>
            </a:r>
            <a:endParaRPr sz="2000">
              <a:solidFill>
                <a:schemeClr val="dk2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Google Shape;408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" y="8"/>
            <a:ext cx="12191989" cy="1562099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38"/>
          <p:cNvSpPr txBox="1"/>
          <p:nvPr/>
        </p:nvSpPr>
        <p:spPr>
          <a:xfrm>
            <a:off x="523450" y="1791975"/>
            <a:ext cx="6115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animals = ["Giraffe", "Lion", "Hippo", "Duck", "Cat"]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print</a:t>
            </a: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(type(animals))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410" name="Google Shape;410;p38"/>
          <p:cNvSpPr txBox="1"/>
          <p:nvPr/>
        </p:nvSpPr>
        <p:spPr>
          <a:xfrm>
            <a:off x="512200" y="3331550"/>
            <a:ext cx="416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text1 </a:t>
            </a: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=  " ".join(animals)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print</a:t>
            </a: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(text1)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411" name="Google Shape;411;p38"/>
          <p:cNvSpPr txBox="1"/>
          <p:nvPr/>
        </p:nvSpPr>
        <p:spPr>
          <a:xfrm>
            <a:off x="523450" y="2573200"/>
            <a:ext cx="1977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&lt;class 'list'&gt;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412" name="Google Shape;412;p38"/>
          <p:cNvSpPr txBox="1"/>
          <p:nvPr/>
        </p:nvSpPr>
        <p:spPr>
          <a:xfrm>
            <a:off x="512200" y="4129725"/>
            <a:ext cx="4476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Giraffe Lion Hippo Duck Cat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413" name="Google Shape;413;p38"/>
          <p:cNvSpPr txBox="1"/>
          <p:nvPr/>
        </p:nvSpPr>
        <p:spPr>
          <a:xfrm>
            <a:off x="7280750" y="3277300"/>
            <a:ext cx="46716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בדוגמה זו, הוספנו את תו ה</a:t>
            </a:r>
            <a:r>
              <a:rPr lang="en-US" sz="2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רווח לפני </a:t>
            </a:r>
            <a:r>
              <a:rPr lang="en-US" sz="20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rPr>
              <a:t>join</a:t>
            </a:r>
            <a:r>
              <a:rPr lang="en-US" sz="2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, </a:t>
            </a:r>
            <a:r>
              <a:rPr lang="en-US" sz="2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המשמש</a:t>
            </a:r>
            <a:r>
              <a:rPr lang="en-US" sz="2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כמפריד בין איברי הרשימה.</a:t>
            </a:r>
            <a:endParaRPr sz="2000"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414" name="Google Shape;414;p38"/>
          <p:cNvSpPr txBox="1"/>
          <p:nvPr/>
        </p:nvSpPr>
        <p:spPr>
          <a:xfrm>
            <a:off x="503575" y="48938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print</a:t>
            </a: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(</a:t>
            </a: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type(text1))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415" name="Google Shape;415;p38"/>
          <p:cNvSpPr txBox="1"/>
          <p:nvPr/>
        </p:nvSpPr>
        <p:spPr>
          <a:xfrm>
            <a:off x="512200" y="5431700"/>
            <a:ext cx="4476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&lt;class 'str'&gt;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416" name="Google Shape;416;p38"/>
          <p:cNvSpPr txBox="1"/>
          <p:nvPr/>
        </p:nvSpPr>
        <p:spPr>
          <a:xfrm>
            <a:off x="2315475" y="25825"/>
            <a:ext cx="97947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700">
                <a:solidFill>
                  <a:srgbClr val="FFFFFF"/>
                </a:solidFill>
                <a:latin typeface="Secular One"/>
                <a:ea typeface="Secular One"/>
                <a:cs typeface="Secular One"/>
                <a:sym typeface="Secular One"/>
              </a:rPr>
              <a:t>delimiter</a:t>
            </a:r>
            <a:r>
              <a:rPr b="1" lang="en-US" sz="5700">
                <a:solidFill>
                  <a:srgbClr val="FFFFFF"/>
                </a:solidFill>
                <a:latin typeface="Secular One"/>
                <a:ea typeface="Secular One"/>
                <a:cs typeface="Secular One"/>
                <a:sym typeface="Secular One"/>
              </a:rPr>
              <a:t>.join(list_name) הפעולה</a:t>
            </a:r>
            <a:endParaRPr b="1" sz="5700">
              <a:solidFill>
                <a:srgbClr val="6E7D68"/>
              </a:solidFill>
              <a:latin typeface="Secular One"/>
              <a:ea typeface="Secular One"/>
              <a:cs typeface="Secular One"/>
              <a:sym typeface="Secular One"/>
            </a:endParaRPr>
          </a:p>
        </p:txBody>
      </p:sp>
      <p:sp>
        <p:nvSpPr>
          <p:cNvPr id="417" name="Google Shape;417;p38"/>
          <p:cNvSpPr txBox="1"/>
          <p:nvPr/>
        </p:nvSpPr>
        <p:spPr>
          <a:xfrm>
            <a:off x="6998550" y="1312950"/>
            <a:ext cx="495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הפעולה </a:t>
            </a:r>
            <a:r>
              <a:rPr b="1" lang="en-US" sz="2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()</a:t>
            </a:r>
            <a:r>
              <a:rPr lang="en-US" sz="20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rPr>
              <a:t>join </a:t>
            </a: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הופכת רשימה למחרוזת. </a:t>
            </a:r>
            <a:endParaRPr sz="20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pic>
        <p:nvPicPr>
          <p:cNvPr id="418" name="Google Shape;418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468652" y="2605725"/>
            <a:ext cx="4839246" cy="6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468652" y="2968637"/>
            <a:ext cx="4839246" cy="6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38"/>
          <p:cNvPicPr preferRelativeResize="0"/>
          <p:nvPr/>
        </p:nvPicPr>
        <p:blipFill rotWithShape="1">
          <a:blip r:embed="rId4">
            <a:alphaModFix/>
          </a:blip>
          <a:srcRect b="43467" l="0" r="0" t="0"/>
          <a:stretch/>
        </p:blipFill>
        <p:spPr>
          <a:xfrm rot="10800000">
            <a:off x="5700950" y="2605725"/>
            <a:ext cx="1640200" cy="4275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421" name="Google Shape;421;p38"/>
          <p:cNvSpPr txBox="1"/>
          <p:nvPr/>
        </p:nvSpPr>
        <p:spPr>
          <a:xfrm>
            <a:off x="5754275" y="2556775"/>
            <a:ext cx="1495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טיפוס הרשימה</a:t>
            </a:r>
            <a:endParaRPr b="1" sz="1800">
              <a:solidFill>
                <a:schemeClr val="lt1"/>
              </a:solidFill>
            </a:endParaRPr>
          </a:p>
        </p:txBody>
      </p:sp>
      <p:pic>
        <p:nvPicPr>
          <p:cNvPr id="422" name="Google Shape;422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468652" y="4129725"/>
            <a:ext cx="4839246" cy="6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468652" y="4492637"/>
            <a:ext cx="4839246" cy="6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468652" y="5425125"/>
            <a:ext cx="4839246" cy="6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468652" y="5788037"/>
            <a:ext cx="4839246" cy="6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38"/>
          <p:cNvPicPr preferRelativeResize="0"/>
          <p:nvPr/>
        </p:nvPicPr>
        <p:blipFill rotWithShape="1">
          <a:blip r:embed="rId4">
            <a:alphaModFix/>
          </a:blip>
          <a:srcRect b="43467" l="0" r="0" t="0"/>
          <a:stretch/>
        </p:blipFill>
        <p:spPr>
          <a:xfrm rot="10800000">
            <a:off x="5700950" y="5425125"/>
            <a:ext cx="1640200" cy="4275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427" name="Google Shape;427;p38"/>
          <p:cNvSpPr txBox="1"/>
          <p:nvPr/>
        </p:nvSpPr>
        <p:spPr>
          <a:xfrm>
            <a:off x="5701000" y="5386400"/>
            <a:ext cx="164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טיפוס המחרוזת</a:t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428" name="Google Shape;428;p38"/>
          <p:cNvSpPr txBox="1"/>
          <p:nvPr/>
        </p:nvSpPr>
        <p:spPr>
          <a:xfrm>
            <a:off x="7694975" y="6042850"/>
            <a:ext cx="4257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*הערה: הרשימה המקורית אינה משתנה.</a:t>
            </a:r>
            <a:endParaRPr sz="20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9"/>
          <p:cNvSpPr txBox="1"/>
          <p:nvPr/>
        </p:nvSpPr>
        <p:spPr>
          <a:xfrm>
            <a:off x="513500" y="4120400"/>
            <a:ext cx="11267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print</a:t>
            </a: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("text1 = ", text1)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434" name="Google Shape;434;p39"/>
          <p:cNvSpPr txBox="1"/>
          <p:nvPr/>
        </p:nvSpPr>
        <p:spPr>
          <a:xfrm>
            <a:off x="528650" y="3101338"/>
            <a:ext cx="11389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text2 =  ['guitar', 'piano', 'drums ', 'trumpet', 'saxophone']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435" name="Google Shape;435;p39"/>
          <p:cNvSpPr txBox="1"/>
          <p:nvPr/>
        </p:nvSpPr>
        <p:spPr>
          <a:xfrm>
            <a:off x="528650" y="4691050"/>
            <a:ext cx="11389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text1 =  guitar#piano#drums#trumpet#saxophone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pic>
        <p:nvPicPr>
          <p:cNvPr id="436" name="Google Shape;43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" y="8"/>
            <a:ext cx="12191989" cy="1562099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39"/>
          <p:cNvSpPr txBox="1"/>
          <p:nvPr/>
        </p:nvSpPr>
        <p:spPr>
          <a:xfrm>
            <a:off x="252600" y="25825"/>
            <a:ext cx="121056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700">
                <a:solidFill>
                  <a:srgbClr val="FFFFFF"/>
                </a:solidFill>
                <a:latin typeface="Secular One"/>
                <a:ea typeface="Secular One"/>
                <a:cs typeface="Secular One"/>
                <a:sym typeface="Secular One"/>
              </a:rPr>
              <a:t>text.split(“separator/סימן מפריד”)</a:t>
            </a:r>
            <a:endParaRPr b="1" sz="5700">
              <a:solidFill>
                <a:srgbClr val="6E7D68"/>
              </a:solidFill>
              <a:latin typeface="Secular One"/>
              <a:ea typeface="Secular One"/>
              <a:cs typeface="Secular One"/>
              <a:sym typeface="Secular One"/>
            </a:endParaRPr>
          </a:p>
        </p:txBody>
      </p:sp>
      <p:sp>
        <p:nvSpPr>
          <p:cNvPr id="438" name="Google Shape;438;p39"/>
          <p:cNvSpPr txBox="1"/>
          <p:nvPr/>
        </p:nvSpPr>
        <p:spPr>
          <a:xfrm>
            <a:off x="3563200" y="1312950"/>
            <a:ext cx="8388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הפעולה </a:t>
            </a:r>
            <a:r>
              <a:rPr b="1" lang="en-US" sz="2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()</a:t>
            </a:r>
            <a:r>
              <a:rPr lang="en-US" sz="20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rPr>
              <a:t>split</a:t>
            </a:r>
            <a:r>
              <a:rPr lang="en-US" sz="20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rPr>
              <a:t> </a:t>
            </a: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מפצלת מחרוזת לרשימה, לפי ערך התו המתקבל בסוגריים.</a:t>
            </a:r>
            <a:endParaRPr sz="20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439" name="Google Shape;439;p39"/>
          <p:cNvSpPr txBox="1"/>
          <p:nvPr/>
        </p:nvSpPr>
        <p:spPr>
          <a:xfrm>
            <a:off x="7694975" y="6042850"/>
            <a:ext cx="4257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*הערה: המחרוזת המקורית אינה משתנה.</a:t>
            </a:r>
            <a:endParaRPr sz="20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440" name="Google Shape;440;p39"/>
          <p:cNvSpPr txBox="1"/>
          <p:nvPr/>
        </p:nvSpPr>
        <p:spPr>
          <a:xfrm>
            <a:off x="523450" y="1791975"/>
            <a:ext cx="61152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text1 = "guitar#piano#drums #trumpet#saxophone"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text2 = text1.split('#')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print</a:t>
            </a: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("text2 = ", text2)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pic>
        <p:nvPicPr>
          <p:cNvPr id="441" name="Google Shape;441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468646" y="3084125"/>
            <a:ext cx="7402627" cy="6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468646" y="3541325"/>
            <a:ext cx="7402627" cy="6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468646" y="4684325"/>
            <a:ext cx="7402627" cy="6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468646" y="5141525"/>
            <a:ext cx="7402627" cy="6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0"/>
          <p:cNvSpPr txBox="1"/>
          <p:nvPr/>
        </p:nvSpPr>
        <p:spPr>
          <a:xfrm>
            <a:off x="513500" y="1812525"/>
            <a:ext cx="63831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animals = "Giraffe:Lion: Hippo:Duck:Cat"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data = animals.split(":")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print</a:t>
            </a: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("data = ",data)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450" name="Google Shape;450;p40"/>
          <p:cNvSpPr txBox="1"/>
          <p:nvPr/>
        </p:nvSpPr>
        <p:spPr>
          <a:xfrm>
            <a:off x="513500" y="3085525"/>
            <a:ext cx="10778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data =  ['Giraffe', 'Lion', ' Hippo', 'Duck', 'Cat']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451" name="Google Shape;451;p40"/>
          <p:cNvSpPr txBox="1"/>
          <p:nvPr/>
        </p:nvSpPr>
        <p:spPr>
          <a:xfrm>
            <a:off x="7694975" y="6042850"/>
            <a:ext cx="4257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*הערה: המחרוזת המקורית אינה משתנה.</a:t>
            </a:r>
            <a:endParaRPr sz="20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pic>
        <p:nvPicPr>
          <p:cNvPr id="452" name="Google Shape;452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" y="8"/>
            <a:ext cx="12191989" cy="1562099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40"/>
          <p:cNvSpPr txBox="1"/>
          <p:nvPr/>
        </p:nvSpPr>
        <p:spPr>
          <a:xfrm>
            <a:off x="252600" y="25825"/>
            <a:ext cx="121056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700">
                <a:solidFill>
                  <a:srgbClr val="FFFFFF"/>
                </a:solidFill>
                <a:latin typeface="Secular One"/>
                <a:ea typeface="Secular One"/>
                <a:cs typeface="Secular One"/>
                <a:sym typeface="Secular One"/>
              </a:rPr>
              <a:t>text.split(“separator/סימן מפריד”)</a:t>
            </a:r>
            <a:endParaRPr b="1" sz="5700">
              <a:solidFill>
                <a:srgbClr val="6E7D68"/>
              </a:solidFill>
              <a:latin typeface="Secular One"/>
              <a:ea typeface="Secular One"/>
              <a:cs typeface="Secular One"/>
              <a:sym typeface="Secular One"/>
            </a:endParaRPr>
          </a:p>
        </p:txBody>
      </p:sp>
      <p:sp>
        <p:nvSpPr>
          <p:cNvPr id="454" name="Google Shape;454;p40"/>
          <p:cNvSpPr txBox="1"/>
          <p:nvPr/>
        </p:nvSpPr>
        <p:spPr>
          <a:xfrm>
            <a:off x="3563200" y="1312950"/>
            <a:ext cx="8388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הפעולה </a:t>
            </a:r>
            <a:r>
              <a:rPr b="1" lang="en-US" sz="2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()</a:t>
            </a:r>
            <a:r>
              <a:rPr lang="en-US" sz="20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rPr>
              <a:t>split </a:t>
            </a: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מפצלת מחרוזת לרשימה, לפי ערך התו המתקבל בסוגריים.</a:t>
            </a:r>
            <a:endParaRPr sz="20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pic>
        <p:nvPicPr>
          <p:cNvPr id="455" name="Google Shape;455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468646" y="3084125"/>
            <a:ext cx="7402627" cy="6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468646" y="3541325"/>
            <a:ext cx="7402627" cy="6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1"/>
          <p:cNvSpPr txBox="1"/>
          <p:nvPr/>
        </p:nvSpPr>
        <p:spPr>
          <a:xfrm>
            <a:off x="513500" y="1812525"/>
            <a:ext cx="90027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everything = "340#@24.56#Itamar#24.56#340#24.56#Yael#−7#24.56"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temp = everything.split("#")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print</a:t>
            </a: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("temp = ", temp)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462" name="Google Shape;462;p41"/>
          <p:cNvSpPr txBox="1"/>
          <p:nvPr/>
        </p:nvSpPr>
        <p:spPr>
          <a:xfrm>
            <a:off x="483350" y="3105525"/>
            <a:ext cx="806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temp =  ['340', '@24.56', 'Itamar', '24.56', '340', '24.56', 'Yael', '−7', '24.56']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463" name="Google Shape;463;p41"/>
          <p:cNvSpPr txBox="1"/>
          <p:nvPr/>
        </p:nvSpPr>
        <p:spPr>
          <a:xfrm>
            <a:off x="483350" y="4254038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print</a:t>
            </a: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(everything)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464" name="Google Shape;464;p41"/>
          <p:cNvSpPr txBox="1"/>
          <p:nvPr/>
        </p:nvSpPr>
        <p:spPr>
          <a:xfrm>
            <a:off x="483350" y="4775950"/>
            <a:ext cx="10778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ssistant Medium"/>
                <a:ea typeface="Assistant Medium"/>
                <a:cs typeface="Assistant Medium"/>
                <a:sym typeface="Assistant Medium"/>
              </a:rPr>
              <a:t>everything =  340#@24.56#Itamar#24.56#340#24.56#Yael#−7#24.56</a:t>
            </a:r>
            <a:endParaRPr sz="2000"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465" name="Google Shape;465;p41"/>
          <p:cNvSpPr txBox="1"/>
          <p:nvPr/>
        </p:nvSpPr>
        <p:spPr>
          <a:xfrm>
            <a:off x="7694975" y="6042850"/>
            <a:ext cx="4257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*הערה: המחרוזת המקורית אינה משתנה.</a:t>
            </a:r>
            <a:endParaRPr sz="20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pic>
        <p:nvPicPr>
          <p:cNvPr id="466" name="Google Shape;466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" y="8"/>
            <a:ext cx="12191989" cy="1562099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41"/>
          <p:cNvSpPr txBox="1"/>
          <p:nvPr/>
        </p:nvSpPr>
        <p:spPr>
          <a:xfrm>
            <a:off x="252600" y="25825"/>
            <a:ext cx="121056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700">
                <a:solidFill>
                  <a:srgbClr val="FFFFFF"/>
                </a:solidFill>
                <a:latin typeface="Secular One"/>
                <a:ea typeface="Secular One"/>
                <a:cs typeface="Secular One"/>
                <a:sym typeface="Secular One"/>
              </a:rPr>
              <a:t>text.split(“separator/סימן מפריד”)</a:t>
            </a:r>
            <a:endParaRPr b="1" sz="5700">
              <a:solidFill>
                <a:srgbClr val="6E7D68"/>
              </a:solidFill>
              <a:latin typeface="Secular One"/>
              <a:ea typeface="Secular One"/>
              <a:cs typeface="Secular One"/>
              <a:sym typeface="Secular One"/>
            </a:endParaRPr>
          </a:p>
        </p:txBody>
      </p:sp>
      <p:sp>
        <p:nvSpPr>
          <p:cNvPr id="468" name="Google Shape;468;p41"/>
          <p:cNvSpPr txBox="1"/>
          <p:nvPr/>
        </p:nvSpPr>
        <p:spPr>
          <a:xfrm>
            <a:off x="3563200" y="1312950"/>
            <a:ext cx="8388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הפעולה </a:t>
            </a:r>
            <a:r>
              <a:rPr b="1" lang="en-US" sz="2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()</a:t>
            </a:r>
            <a:r>
              <a:rPr lang="en-US" sz="20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rPr>
              <a:t>split </a:t>
            </a:r>
            <a:r>
              <a:rPr lang="en-US" sz="20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מפצלת מחרוזת לרשימה, לפי ערך התו המתקבל בסוגריים.</a:t>
            </a:r>
            <a:endParaRPr sz="20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pic>
        <p:nvPicPr>
          <p:cNvPr id="469" name="Google Shape;469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468650" y="3084125"/>
            <a:ext cx="7952876" cy="6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468649" y="3541325"/>
            <a:ext cx="7966276" cy="6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468650" y="4760525"/>
            <a:ext cx="7952876" cy="6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468649" y="5217725"/>
            <a:ext cx="7966276" cy="6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" y="8"/>
            <a:ext cx="12191989" cy="156209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42"/>
          <p:cNvSpPr txBox="1"/>
          <p:nvPr/>
        </p:nvSpPr>
        <p:spPr>
          <a:xfrm>
            <a:off x="196800" y="31275"/>
            <a:ext cx="118767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700">
                <a:solidFill>
                  <a:srgbClr val="FFFFFF"/>
                </a:solidFill>
                <a:latin typeface="Secular One"/>
                <a:ea typeface="Secular One"/>
                <a:cs typeface="Secular One"/>
                <a:sym typeface="Secular One"/>
              </a:rPr>
              <a:t>8</a:t>
            </a:r>
            <a:r>
              <a:rPr b="1" lang="en-US" sz="5700">
                <a:solidFill>
                  <a:srgbClr val="FFFFFF"/>
                </a:solidFill>
                <a:latin typeface="Secular One"/>
                <a:ea typeface="Secular One"/>
                <a:cs typeface="Secular One"/>
                <a:sym typeface="Secular One"/>
              </a:rPr>
              <a:t>.3 | מאסטר פייתון </a:t>
            </a:r>
            <a:endParaRPr b="1" sz="5700">
              <a:solidFill>
                <a:srgbClr val="6E7D68"/>
              </a:solidFill>
              <a:latin typeface="Secular One"/>
              <a:ea typeface="Secular One"/>
              <a:cs typeface="Secular One"/>
              <a:sym typeface="Secular One"/>
            </a:endParaRPr>
          </a:p>
        </p:txBody>
      </p:sp>
      <p:sp>
        <p:nvSpPr>
          <p:cNvPr id="479" name="Google Shape;479;p42"/>
          <p:cNvSpPr txBox="1"/>
          <p:nvPr/>
        </p:nvSpPr>
        <p:spPr>
          <a:xfrm>
            <a:off x="1820225" y="1312950"/>
            <a:ext cx="952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480" name="Google Shape;480;p42"/>
          <p:cNvSpPr txBox="1"/>
          <p:nvPr/>
        </p:nvSpPr>
        <p:spPr>
          <a:xfrm>
            <a:off x="3127025" y="1325075"/>
            <a:ext cx="8108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היכנסו לרכיב 8.3 | מאסטר פייתון ב-Classroom, פתרו את התרגילים והגישו את המשימה.</a:t>
            </a:r>
            <a:endParaRPr sz="24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pic>
        <p:nvPicPr>
          <p:cNvPr id="481" name="Google Shape;481;p42"/>
          <p:cNvPicPr preferRelativeResize="0"/>
          <p:nvPr/>
        </p:nvPicPr>
        <p:blipFill rotWithShape="1">
          <a:blip r:embed="rId4">
            <a:alphaModFix/>
          </a:blip>
          <a:srcRect b="20830" l="8735" r="11271" t="8076"/>
          <a:stretch/>
        </p:blipFill>
        <p:spPr>
          <a:xfrm>
            <a:off x="11199625" y="1185575"/>
            <a:ext cx="805075" cy="71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-18096" y="5297383"/>
            <a:ext cx="12191989" cy="1562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7450" y="4485500"/>
            <a:ext cx="1751174" cy="1751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8" name="Google Shape;488;p43"/>
          <p:cNvGraphicFramePr/>
          <p:nvPr/>
        </p:nvGraphicFramePr>
        <p:xfrm>
          <a:off x="1524012" y="123958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{48A11FE0-6231-4C87-9475-0E7E6FF2E92F}</a:tableStyleId>
              </a:tblPr>
              <a:tblGrid>
                <a:gridCol w="7709250"/>
                <a:gridCol w="3160800"/>
              </a:tblGrid>
              <a:tr h="370850">
                <a:tc>
                  <a:txBody>
                    <a:bodyPr/>
                    <a:lstStyle/>
                    <a:p>
                      <a:pPr indent="0" lvl="0" marL="0" rtl="1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Secular One"/>
                          <a:ea typeface="Secular One"/>
                          <a:cs typeface="Secular One"/>
                          <a:sym typeface="Secular One"/>
                        </a:rPr>
                        <a:t>הסבר</a:t>
                      </a:r>
                      <a:endParaRPr sz="2000">
                        <a:solidFill>
                          <a:schemeClr val="dk1"/>
                        </a:solidFill>
                        <a:latin typeface="Secular One"/>
                        <a:ea typeface="Secular One"/>
                        <a:cs typeface="Secular One"/>
                        <a:sym typeface="Secular One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1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Secular One"/>
                          <a:ea typeface="Secular One"/>
                          <a:cs typeface="Secular One"/>
                          <a:sym typeface="Secular One"/>
                        </a:rPr>
                        <a:t>הפעולה</a:t>
                      </a:r>
                      <a:endParaRPr sz="2000">
                        <a:solidFill>
                          <a:schemeClr val="dk1"/>
                        </a:solidFill>
                        <a:latin typeface="Secular One"/>
                        <a:ea typeface="Secular One"/>
                        <a:cs typeface="Secular One"/>
                        <a:sym typeface="Secular One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000"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        חיתוך רשימה (יצירת </a:t>
                      </a:r>
                      <a:r>
                        <a:rPr lang="en-US" sz="2000"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תת</a:t>
                      </a:r>
                      <a:r>
                        <a:rPr lang="en-US" sz="2000"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-</a:t>
                      </a:r>
                      <a:r>
                        <a:rPr lang="en-US" sz="2000"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רשימה)</a:t>
                      </a:r>
                      <a:endParaRPr sz="2000"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>
                          <a:latin typeface="Secular One"/>
                          <a:ea typeface="Secular One"/>
                          <a:cs typeface="Secular One"/>
                          <a:sym typeface="Secular One"/>
                        </a:rPr>
                        <a:t>[ : : ]</a:t>
                      </a:r>
                      <a:endParaRPr sz="2000">
                        <a:latin typeface="Secular One"/>
                        <a:ea typeface="Secular One"/>
                        <a:cs typeface="Secular One"/>
                        <a:sym typeface="Secular One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000"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        </a:t>
                      </a:r>
                      <a:r>
                        <a:rPr lang="en-US" sz="2000"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הוספת איבר לסוף הרשימה</a:t>
                      </a:r>
                      <a:endParaRPr sz="2000"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>
                          <a:latin typeface="Secular One"/>
                          <a:ea typeface="Secular One"/>
                          <a:cs typeface="Secular One"/>
                          <a:sym typeface="Secular One"/>
                        </a:rPr>
                        <a:t>append</a:t>
                      </a:r>
                      <a:r>
                        <a:rPr lang="en-US" sz="2000">
                          <a:latin typeface="Secular One"/>
                          <a:ea typeface="Secular One"/>
                          <a:cs typeface="Secular One"/>
                          <a:sym typeface="Secular One"/>
                        </a:rPr>
                        <a:t>(‘XX’)</a:t>
                      </a:r>
                      <a:endParaRPr sz="2000">
                        <a:latin typeface="Secular One"/>
                        <a:ea typeface="Secular One"/>
                        <a:cs typeface="Secular One"/>
                        <a:sym typeface="Secular One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000"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        החזרת </a:t>
                      </a:r>
                      <a:r>
                        <a:rPr lang="en-US" sz="2000"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אורך </a:t>
                      </a:r>
                      <a:r>
                        <a:rPr lang="en-US" sz="2000"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הרשימה</a:t>
                      </a:r>
                      <a:endParaRPr sz="2000"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>
                          <a:latin typeface="Secular One"/>
                          <a:ea typeface="Secular One"/>
                          <a:cs typeface="Secular One"/>
                          <a:sym typeface="Secular One"/>
                        </a:rPr>
                        <a:t>len()</a:t>
                      </a:r>
                      <a:endParaRPr sz="2000">
                        <a:latin typeface="Secular One"/>
                        <a:ea typeface="Secular One"/>
                        <a:cs typeface="Secular One"/>
                        <a:sym typeface="Secular One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000"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       שכיחות הופעת ערך הרשימה</a:t>
                      </a:r>
                      <a:endParaRPr sz="2000"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>
                          <a:latin typeface="Secular One"/>
                          <a:ea typeface="Secular One"/>
                          <a:cs typeface="Secular One"/>
                          <a:sym typeface="Secular One"/>
                        </a:rPr>
                        <a:t>count(</a:t>
                      </a:r>
                      <a:r>
                        <a:rPr lang="en-US" sz="2000">
                          <a:latin typeface="Secular One"/>
                          <a:ea typeface="Secular One"/>
                          <a:cs typeface="Secular One"/>
                          <a:sym typeface="Secular One"/>
                        </a:rPr>
                        <a:t>‘XX’</a:t>
                      </a:r>
                      <a:r>
                        <a:rPr lang="en-US" sz="2000">
                          <a:latin typeface="Secular One"/>
                          <a:ea typeface="Secular One"/>
                          <a:cs typeface="Secular One"/>
                          <a:sym typeface="Secular One"/>
                        </a:rPr>
                        <a:t>)</a:t>
                      </a:r>
                      <a:endParaRPr sz="2000">
                        <a:latin typeface="Secular One"/>
                        <a:ea typeface="Secular One"/>
                        <a:cs typeface="Secular One"/>
                        <a:sym typeface="Secular One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000"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        </a:t>
                      </a:r>
                      <a:r>
                        <a:rPr lang="en-US" sz="2000"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בדיקה אם ערך מופיע ברשימה</a:t>
                      </a:r>
                      <a:endParaRPr sz="2000"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>
                          <a:latin typeface="Secular One"/>
                          <a:ea typeface="Secular One"/>
                          <a:cs typeface="Secular One"/>
                          <a:sym typeface="Secular One"/>
                        </a:rPr>
                        <a:t>in</a:t>
                      </a:r>
                      <a:endParaRPr sz="2000">
                        <a:latin typeface="Secular One"/>
                        <a:ea typeface="Secular One"/>
                        <a:cs typeface="Secular One"/>
                        <a:sym typeface="Secular One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000"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        </a:t>
                      </a:r>
                      <a:r>
                        <a:rPr lang="en-US" sz="2000"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מחיקת ערך המופיע ברשימה</a:t>
                      </a:r>
                      <a:endParaRPr sz="2000"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>
                          <a:latin typeface="Secular One"/>
                          <a:ea typeface="Secular One"/>
                          <a:cs typeface="Secular One"/>
                          <a:sym typeface="Secular One"/>
                        </a:rPr>
                        <a:t>remove(</a:t>
                      </a:r>
                      <a:r>
                        <a:rPr lang="en-US" sz="2000">
                          <a:latin typeface="Secular One"/>
                          <a:ea typeface="Secular One"/>
                          <a:cs typeface="Secular One"/>
                          <a:sym typeface="Secular One"/>
                        </a:rPr>
                        <a:t>‘XX’</a:t>
                      </a:r>
                      <a:r>
                        <a:rPr lang="en-US" sz="2000">
                          <a:latin typeface="Secular One"/>
                          <a:ea typeface="Secular One"/>
                          <a:cs typeface="Secular One"/>
                          <a:sym typeface="Secular One"/>
                        </a:rPr>
                        <a:t>)</a:t>
                      </a:r>
                      <a:endParaRPr sz="2000">
                        <a:latin typeface="Secular One"/>
                        <a:ea typeface="Secular One"/>
                        <a:cs typeface="Secular One"/>
                        <a:sym typeface="Secular One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000"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        </a:t>
                      </a:r>
                      <a:r>
                        <a:rPr lang="en-US" sz="2000"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מחיקת </a:t>
                      </a:r>
                      <a:r>
                        <a:rPr lang="en-US" sz="2000"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ערך</a:t>
                      </a:r>
                      <a:r>
                        <a:rPr lang="en-US" sz="2000"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 ברשימה</a:t>
                      </a:r>
                      <a:r>
                        <a:rPr lang="en-US" sz="2000"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,</a:t>
                      </a:r>
                      <a:r>
                        <a:rPr lang="en-US" sz="2000"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 לפי מיקום</a:t>
                      </a:r>
                      <a:endParaRPr sz="2000"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>
                          <a:latin typeface="Secular One"/>
                          <a:ea typeface="Secular One"/>
                          <a:cs typeface="Secular One"/>
                          <a:sym typeface="Secular One"/>
                        </a:rPr>
                        <a:t>pop(</a:t>
                      </a:r>
                      <a:r>
                        <a:rPr lang="en-US" sz="2000">
                          <a:latin typeface="Secular One"/>
                          <a:ea typeface="Secular One"/>
                          <a:cs typeface="Secular One"/>
                          <a:sym typeface="Secular One"/>
                        </a:rPr>
                        <a:t>index</a:t>
                      </a:r>
                      <a:r>
                        <a:rPr lang="en-US" sz="2000">
                          <a:latin typeface="Secular One"/>
                          <a:ea typeface="Secular One"/>
                          <a:cs typeface="Secular One"/>
                          <a:sym typeface="Secular One"/>
                        </a:rPr>
                        <a:t>)</a:t>
                      </a:r>
                      <a:endParaRPr sz="2000">
                        <a:latin typeface="Secular One"/>
                        <a:ea typeface="Secular One"/>
                        <a:cs typeface="Secular One"/>
                        <a:sym typeface="Secular One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000"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        </a:t>
                      </a:r>
                      <a:r>
                        <a:rPr lang="en-US" sz="2000"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מציאת מיקום ערך המופיע ברשימה</a:t>
                      </a:r>
                      <a:endParaRPr sz="2000"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>
                          <a:latin typeface="Secular One"/>
                          <a:ea typeface="Secular One"/>
                          <a:cs typeface="Secular One"/>
                          <a:sym typeface="Secular One"/>
                        </a:rPr>
                        <a:t>index</a:t>
                      </a:r>
                      <a:r>
                        <a:rPr lang="en-US" sz="2000">
                          <a:latin typeface="Secular One"/>
                          <a:ea typeface="Secular One"/>
                          <a:cs typeface="Secular One"/>
                          <a:sym typeface="Secular One"/>
                        </a:rPr>
                        <a:t>(‘XX’)</a:t>
                      </a:r>
                      <a:endParaRPr sz="2000">
                        <a:latin typeface="Secular One"/>
                        <a:ea typeface="Secular One"/>
                        <a:cs typeface="Secular One"/>
                        <a:sym typeface="Secular One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000"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        </a:t>
                      </a:r>
                      <a:r>
                        <a:rPr lang="en-US" sz="2000"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המרת </a:t>
                      </a:r>
                      <a:r>
                        <a:rPr lang="en-US" sz="2000"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מחרוזת </a:t>
                      </a:r>
                      <a:r>
                        <a:rPr lang="en-US" sz="2000"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לרשימה</a:t>
                      </a:r>
                      <a:r>
                        <a:rPr lang="en-US" sz="2000"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 (כל תו במחרוזת יהפוך לאיבר ברשימה)</a:t>
                      </a:r>
                      <a:endParaRPr sz="2000"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>
                          <a:latin typeface="Secular One"/>
                          <a:ea typeface="Secular One"/>
                          <a:cs typeface="Secular One"/>
                          <a:sym typeface="Secular One"/>
                        </a:rPr>
                        <a:t>list(</a:t>
                      </a:r>
                      <a:r>
                        <a:rPr lang="en-US" sz="2000">
                          <a:latin typeface="Secular One"/>
                          <a:ea typeface="Secular One"/>
                          <a:cs typeface="Secular One"/>
                          <a:sym typeface="Secular One"/>
                        </a:rPr>
                        <a:t>‘XX’</a:t>
                      </a:r>
                      <a:r>
                        <a:rPr lang="en-US" sz="2000">
                          <a:latin typeface="Secular One"/>
                          <a:ea typeface="Secular One"/>
                          <a:cs typeface="Secular One"/>
                          <a:sym typeface="Secular One"/>
                        </a:rPr>
                        <a:t>)</a:t>
                      </a:r>
                      <a:endParaRPr sz="2000">
                        <a:latin typeface="Secular One"/>
                        <a:ea typeface="Secular One"/>
                        <a:cs typeface="Secular One"/>
                        <a:sym typeface="Secular One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000"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        </a:t>
                      </a:r>
                      <a:r>
                        <a:rPr lang="en-US" sz="2000"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המרת רשימה </a:t>
                      </a:r>
                      <a:r>
                        <a:rPr lang="en-US" sz="2000"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למחרוזת</a:t>
                      </a:r>
                      <a:r>
                        <a:rPr lang="en-US" sz="2000"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,</a:t>
                      </a:r>
                      <a:r>
                        <a:rPr lang="en-US" sz="2000"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 לפי תו</a:t>
                      </a:r>
                      <a:endParaRPr sz="2000"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>
                          <a:latin typeface="Secular One"/>
                          <a:ea typeface="Secular One"/>
                          <a:cs typeface="Secular One"/>
                          <a:sym typeface="Secular One"/>
                        </a:rPr>
                        <a:t>text.</a:t>
                      </a:r>
                      <a:r>
                        <a:rPr lang="en-US" sz="2000">
                          <a:latin typeface="Secular One"/>
                          <a:ea typeface="Secular One"/>
                          <a:cs typeface="Secular One"/>
                          <a:sym typeface="Secular One"/>
                        </a:rPr>
                        <a:t>join(</a:t>
                      </a:r>
                      <a:r>
                        <a:rPr lang="en-US" sz="2000">
                          <a:latin typeface="Secular One"/>
                          <a:ea typeface="Secular One"/>
                          <a:cs typeface="Secular One"/>
                          <a:sym typeface="Secular One"/>
                        </a:rPr>
                        <a:t>list_name</a:t>
                      </a:r>
                      <a:r>
                        <a:rPr lang="en-US" sz="2000">
                          <a:latin typeface="Secular One"/>
                          <a:ea typeface="Secular One"/>
                          <a:cs typeface="Secular One"/>
                          <a:sym typeface="Secular One"/>
                        </a:rPr>
                        <a:t>)</a:t>
                      </a:r>
                      <a:endParaRPr sz="2000">
                        <a:latin typeface="Secular One"/>
                        <a:ea typeface="Secular One"/>
                        <a:cs typeface="Secular One"/>
                        <a:sym typeface="Secular One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000"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        מפצלת מחרוזת </a:t>
                      </a:r>
                      <a:r>
                        <a:rPr lang="en-US" sz="2000"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לרשימה, לפי תו </a:t>
                      </a:r>
                      <a:r>
                        <a:rPr lang="en-US" sz="2000"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מפריד</a:t>
                      </a:r>
                      <a:endParaRPr sz="2000"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>
                          <a:latin typeface="Secular One"/>
                          <a:ea typeface="Secular One"/>
                          <a:cs typeface="Secular One"/>
                          <a:sym typeface="Secular One"/>
                        </a:rPr>
                        <a:t>split(</a:t>
                      </a:r>
                      <a:r>
                        <a:rPr lang="en-US" sz="2000">
                          <a:latin typeface="Secular One"/>
                          <a:ea typeface="Secular One"/>
                          <a:cs typeface="Secular One"/>
                          <a:sym typeface="Secular One"/>
                        </a:rPr>
                        <a:t>‘XX’</a:t>
                      </a:r>
                      <a:r>
                        <a:rPr lang="en-US" sz="2000">
                          <a:latin typeface="Secular One"/>
                          <a:ea typeface="Secular One"/>
                          <a:cs typeface="Secular One"/>
                          <a:sym typeface="Secular One"/>
                        </a:rPr>
                        <a:t>)</a:t>
                      </a:r>
                      <a:endParaRPr sz="2000">
                        <a:latin typeface="Secular One"/>
                        <a:ea typeface="Secular One"/>
                        <a:cs typeface="Secular One"/>
                        <a:sym typeface="Secular One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489" name="Google Shape;489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" y="8"/>
            <a:ext cx="12191989" cy="1562099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43"/>
          <p:cNvSpPr txBox="1"/>
          <p:nvPr/>
        </p:nvSpPr>
        <p:spPr>
          <a:xfrm>
            <a:off x="18200" y="25833"/>
            <a:ext cx="120033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700">
                <a:solidFill>
                  <a:srgbClr val="FFFFFF"/>
                </a:solidFill>
                <a:latin typeface="Secular One"/>
                <a:ea typeface="Secular One"/>
                <a:cs typeface="Secular One"/>
                <a:sym typeface="Secular One"/>
              </a:rPr>
              <a:t>סיכום הפעולות שנלמדו | List</a:t>
            </a:r>
            <a:endParaRPr b="1" sz="5700">
              <a:solidFill>
                <a:srgbClr val="FFFFFF"/>
              </a:solidFill>
              <a:latin typeface="Secular One"/>
              <a:ea typeface="Secular One"/>
              <a:cs typeface="Secular One"/>
              <a:sym typeface="Secular One"/>
            </a:endParaRPr>
          </a:p>
        </p:txBody>
      </p:sp>
      <p:pic>
        <p:nvPicPr>
          <p:cNvPr id="491" name="Google Shape;491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6765312" y="3766763"/>
            <a:ext cx="4696902" cy="10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37175" y="1660500"/>
            <a:ext cx="9162648" cy="4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37175" y="2041500"/>
            <a:ext cx="9162648" cy="4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37175" y="2422500"/>
            <a:ext cx="9162648" cy="4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37175" y="2803500"/>
            <a:ext cx="9162648" cy="4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37175" y="3184500"/>
            <a:ext cx="9162648" cy="4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37175" y="3641700"/>
            <a:ext cx="9162648" cy="4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37175" y="4022700"/>
            <a:ext cx="9162648" cy="4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37175" y="4403700"/>
            <a:ext cx="9162648" cy="4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37175" y="4784700"/>
            <a:ext cx="9162648" cy="4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37175" y="5165700"/>
            <a:ext cx="9162648" cy="4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37175" y="5622900"/>
            <a:ext cx="9162648" cy="4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37175" y="6003900"/>
            <a:ext cx="9162648" cy="4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44"/>
          <p:cNvSpPr txBox="1"/>
          <p:nvPr>
            <p:ph type="title"/>
          </p:nvPr>
        </p:nvSpPr>
        <p:spPr>
          <a:xfrm>
            <a:off x="1021375" y="1271700"/>
            <a:ext cx="10930800" cy="2238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800"/>
              <a:buFont typeface="Calibri"/>
              <a:buNone/>
            </a:pPr>
            <a:r>
              <a:rPr lang="en-US" sz="3000">
                <a:latin typeface="Assistant Medium"/>
                <a:ea typeface="Assistant Medium"/>
                <a:cs typeface="Assistant Medium"/>
                <a:sym typeface="Assistant Medium"/>
              </a:rPr>
              <a:t>בשיעור זה, </a:t>
            </a:r>
            <a:r>
              <a:rPr lang="en-US" sz="3000">
                <a:latin typeface="Assistant Medium"/>
                <a:ea typeface="Assistant Medium"/>
                <a:cs typeface="Assistant Medium"/>
                <a:sym typeface="Assistant Medium"/>
              </a:rPr>
              <a:t>נחשפנו </a:t>
            </a:r>
            <a:r>
              <a:rPr lang="en-US" sz="3000">
                <a:latin typeface="Assistant Medium"/>
                <a:ea typeface="Assistant Medium"/>
                <a:cs typeface="Assistant Medium"/>
                <a:sym typeface="Assistant Medium"/>
              </a:rPr>
              <a:t>למבנה הנתונים של רשימה.</a:t>
            </a:r>
            <a:endParaRPr sz="3000"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800"/>
              <a:buFont typeface="Calibri"/>
              <a:buNone/>
            </a:pPr>
            <a:r>
              <a:rPr lang="en-US" sz="3000">
                <a:latin typeface="Assistant Medium"/>
                <a:ea typeface="Assistant Medium"/>
                <a:cs typeface="Assistant Medium"/>
                <a:sym typeface="Assistant Medium"/>
              </a:rPr>
              <a:t>רשימה מאפשרת לנו לשמור </a:t>
            </a:r>
            <a:r>
              <a:rPr lang="en-US" sz="3000">
                <a:latin typeface="Assistant Medium"/>
                <a:ea typeface="Assistant Medium"/>
                <a:cs typeface="Assistant Medium"/>
                <a:sym typeface="Assistant Medium"/>
              </a:rPr>
              <a:t>איבר</a:t>
            </a:r>
            <a:r>
              <a:rPr lang="en-US" sz="3000">
                <a:latin typeface="Assistant Medium"/>
                <a:ea typeface="Assistant Medium"/>
                <a:cs typeface="Assistant Medium"/>
                <a:sym typeface="Assistant Medium"/>
              </a:rPr>
              <a:t>י מידע רבים במבנה אחד.</a:t>
            </a:r>
            <a:endParaRPr sz="3000"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800"/>
              <a:buFont typeface="Calibri"/>
              <a:buNone/>
            </a:pPr>
            <a:r>
              <a:rPr lang="en-US" sz="3000">
                <a:latin typeface="Assistant Medium"/>
                <a:ea typeface="Assistant Medium"/>
                <a:cs typeface="Assistant Medium"/>
                <a:sym typeface="Assistant Medium"/>
              </a:rPr>
              <a:t>הכרנו פעולות </a:t>
            </a:r>
            <a:r>
              <a:rPr lang="en-US" sz="3000">
                <a:latin typeface="Assistant Medium"/>
                <a:ea typeface="Assistant Medium"/>
                <a:cs typeface="Assistant Medium"/>
                <a:sym typeface="Assistant Medium"/>
              </a:rPr>
              <a:t>שניתן לבצע על </a:t>
            </a:r>
            <a:r>
              <a:rPr lang="en-US" sz="3000">
                <a:latin typeface="Assistant Medium"/>
                <a:ea typeface="Assistant Medium"/>
                <a:cs typeface="Assistant Medium"/>
                <a:sym typeface="Assistant Medium"/>
              </a:rPr>
              <a:t>מבנה נתונים, </a:t>
            </a:r>
            <a:r>
              <a:rPr lang="en-US" sz="3000">
                <a:latin typeface="Assistant Medium"/>
                <a:ea typeface="Assistant Medium"/>
                <a:cs typeface="Assistant Medium"/>
                <a:sym typeface="Assistant Medium"/>
              </a:rPr>
              <a:t>כדי לחפש, לשלוף ולהציג מידע.</a:t>
            </a:r>
            <a:endParaRPr sz="3000"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pic>
        <p:nvPicPr>
          <p:cNvPr id="509" name="Google Shape;509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" y="8"/>
            <a:ext cx="12191989" cy="1562099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44"/>
          <p:cNvSpPr txBox="1"/>
          <p:nvPr/>
        </p:nvSpPr>
        <p:spPr>
          <a:xfrm>
            <a:off x="18200" y="25833"/>
            <a:ext cx="120033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700">
                <a:solidFill>
                  <a:srgbClr val="FFFFFF"/>
                </a:solidFill>
                <a:latin typeface="Secular One"/>
                <a:ea typeface="Secular One"/>
                <a:cs typeface="Secular One"/>
                <a:sym typeface="Secular One"/>
              </a:rPr>
              <a:t>בואו נסכם</a:t>
            </a:r>
            <a:endParaRPr b="1" sz="5700">
              <a:solidFill>
                <a:srgbClr val="FFFFFF"/>
              </a:solidFill>
              <a:latin typeface="Secular One"/>
              <a:ea typeface="Secular One"/>
              <a:cs typeface="Secular One"/>
              <a:sym typeface="Secular One"/>
            </a:endParaRPr>
          </a:p>
        </p:txBody>
      </p:sp>
      <p:pic>
        <p:nvPicPr>
          <p:cNvPr id="511" name="Google Shape;511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-18096" y="5297383"/>
            <a:ext cx="12191989" cy="1562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7450" y="4485500"/>
            <a:ext cx="1751174" cy="1751174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44"/>
          <p:cNvSpPr txBox="1"/>
          <p:nvPr/>
        </p:nvSpPr>
        <p:spPr>
          <a:xfrm>
            <a:off x="0" y="6531000"/>
            <a:ext cx="121920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משרד החינוך - עמ"ט וירטואלי</a:t>
            </a:r>
            <a:endParaRPr sz="1000">
              <a:solidFill>
                <a:srgbClr val="FFFFFF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ערכת נושא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