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22"/>
    <p:sldId id="270" r:id="rId1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פתיחה" id="{25735534-611B-5565-B470-9A49223618D5}">
          <p14:sldIdLst>
            <p14:sldId id="256"/>
            <p14:sldId id="257"/>
            <p14:sldId id="258"/>
          </p14:sldIdLst>
        </p14:section>
        <p14:section name="צעדים ראשונים" id="{4F9E82EC-A13F-5CD2-AE2E-2E1042503D1E}">
          <p14:sldIdLst>
            <p14:sldId id="259"/>
            <p14:sldId id="260"/>
            <p14:sldId id="261"/>
          </p14:sldIdLst>
        </p14:section>
        <p14:section name="צבעים וצורות" id="{F1A7A32A-8E9A-9FF6-9D16-3AACC09BAE73}">
          <p14:sldIdLst>
            <p14:sldId id="262"/>
            <p14:sldId id="263"/>
          </p14:sldIdLst>
        </p14:section>
        <p14:section name="לולאות" id="{277FD145-71B0-5045-9BF1-CBFF10211974}">
          <p14:sldIdLst>
            <p14:sldId id="264"/>
            <p14:sldId id="265"/>
          </p14:sldIdLst>
        </p14:section>
        <p14:section name="צביעה והחלטות" id="{91D24F6C-FD40-7225-E15F-8EEAC7F6374D}">
          <p14:sldIdLst>
            <p14:sldId id="266"/>
            <p14:sldId id="267"/>
          </p14:sldIdLst>
        </p14:section>
        <p14:section name="סיכום" id="{E4207923-479A-D920-63A9-9F45E04704F9}">
          <p14:sldIdLst>
            <p14:sldId id="268"/>
            <p14:sldId id="269"/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2593" autoAdjust="0"/>
  </p:normalViewPr>
  <p:slideViewPr>
    <p:cSldViewPr snapToGrid="0" snapToObjects="1">
      <p:cViewPr varScale="1">
        <p:scale>
          <a:sx n="63" d="100"/>
          <a:sy n="63" d="100"/>
        </p:scale>
        <p:origin x="7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Relationship Id="rId22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20380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 (1 דק'). ספריית turtle היא דרך כיפית לראות את הקוד 'מתעורר לחיים' - כל שורה מזיזה צב על המסך.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לא כולם זוכרים - שאלו את הכיתה: מה זה משתנה? מה עושה if? רק חזרה קצרה. לולאות עוד לא בטוח שנלמדו - נכיר אותן היום דרך הצב.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דק'. כל שלב = קובץ תרגול. בכל קובץ יש קוד מוכן להרצה ובסופו 'אתגרים'. אם קובץ נקרא turtle.py - פייתון ייבא אותו במקום הספרייה ויתקבל AttributeError.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הסבירו שהמסך הוא כמו מפה. הצב מתחיל ב-(0,0) ופניו ימינה. שאלו: איפה תהיה הנקודה (0, 200)?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הריצו את turtle1.py יחד, ואז תנו 4-5 דקות לאתגרים 1-4 בקובץ (מלבן, משולש).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דק'. בקשו מתלמיד לקום ולהיות 'הצב' - הכיתה נותנת לו פקודות. תשובת החידה: משולש שווה צלעות. left = שמאלה, right = ימינה. שימו לב: הזווית בתוך משולש שווה צלעות היא 60, אבל הצב מסתובב 120 (180 פחות 60). בריבוע שתיהן 90 ולכן זה לא מבלבל.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דק'. הצבעים נכתבים באנגלית בתוך מירכאות. אפשר גם קוד צבע כמו "#FF00FF". תנו לתלמידים לבחור צבעים משלהם.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penup זה כמו להרים את העיפרון מהדף. הראו את turtle3.py ואז אתגר: פרצוף עצוב / אף.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הדגישו: אותה תוצאה, הרבה פחות עבודה. ההזחה בפייתון קובעת מה בתוך הלולאה - בדיוק כמו ב-if.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דק'. כאן משתנים ולולאה עובדים יחד: משנים רק את sides ומקבלים צורה חדשה. אתגר בקובץ: פרח (לולאה בתוך לולאה) וספירלה.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דק'. turtle5.py מצייר בית - זה גם בסיס טוב לשיעורי הבית. אתגר: חלון, דשא, עץ.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דק'. חיבור לשיעור הקודם: if עובד בדיוק אותו דבר, רק שעכשיו התוצאה היא ציור. כל הרצה של turtle6.py נראית אחרת בגלל random.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כדאי להדפיס את השקף הזה או לשתף אותו בקלאסרום - יעזור בשיעורי הבית.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דק'. אלה הטעויות הנפוצות ביותר בשיעורי הבית - חסכו לעצמכם שאלות בווטסאפ :)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דק'. הקובץ homework_turtle.py כבר מכיל את רשימת הדרישות ושלד קוד. פתרון לדוגמה למורה: teacher/homework_solution.py. בדיקה: מריצים את הקובץ ובודקים כל סעיף.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 דק'. הדגמה בלבד - לא צריך להבין כל שורה. turtle7.py: תנו לתלמיד לשלוט בצב מול הכיתה. turtle_game.py: תחרות קצרה - מי מגיע לניקוד הגבוה ביותר. פקודות חדשות: onkey, onclick, ontimer ו-def (פונקציה) - נלמד בהמשך.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r" rtl="1">
              <a:buNone/>
              <a:defRPr lang="en-US" sz="3600" b="1" dirty="0">
                <a:solidFill>
                  <a:schemeClr val="tx2"/>
                </a:solidFill>
              </a:defRPr>
            </a:lvl1pPr>
          </a:lstStyle>
          <a:p>
            <a:pPr marL="0" indent="0" algn="r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9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7.png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8.png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9.png"/><Relationship Id="rId4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lob"/>
          <p:cNvSpPr/>
          <p:nvPr/>
        </p:nvSpPr>
        <p:spPr>
          <a:xfrm>
            <a:off x="640080" y="1097280"/>
            <a:ext cx="4572000" cy="4572000"/>
          </a:xfrm>
          <a:prstGeom prst="ellipse">
            <a:avLst/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1783080"/>
            <a:ext cx="3200400" cy="3200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206240" y="914400"/>
            <a:ext cx="457200" cy="4572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846320" y="4937760"/>
            <a:ext cx="320040" cy="3200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822960" y="5120640"/>
            <a:ext cx="411480" cy="4114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669280" y="1737360"/>
            <a:ext cx="5943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6000" b="1" dirty="0">
                <a:solidFill>
                  <a:schemeClr val="bg1"/>
                </a:solidFill>
              </a:rPr>
              <a:t>הצב המצייר</a:t>
            </a:r>
            <a:endParaRPr lang="he-IL" sz="6000" dirty="0"/>
          </a:p>
        </p:txBody>
      </p:sp>
      <p:sp>
        <p:nvSpPr>
          <p:cNvPr id="8" name="Text 5"/>
          <p:cNvSpPr txBox="1"/>
          <p:nvPr/>
        </p:nvSpPr>
        <p:spPr>
          <a:xfrm>
            <a:off x="5669280" y="292608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600" dirty="0">
                <a:solidFill>
                  <a:schemeClr val="accent5"/>
                </a:solidFill>
              </a:rPr>
              <a:t>ציור וגרפיקה עם ספריית turtle בפייתון</a:t>
            </a:r>
            <a:endParaRPr lang="he-IL" sz="2600" dirty="0"/>
          </a:p>
        </p:txBody>
      </p:sp>
      <p:sp>
        <p:nvSpPr>
          <p:cNvPr id="9" name="Text 6"/>
          <p:cNvSpPr txBox="1"/>
          <p:nvPr/>
        </p:nvSpPr>
        <p:spPr>
          <a:xfrm>
            <a:off x="5669280" y="384048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800" dirty="0">
                <a:solidFill>
                  <a:srgbClr val="CDE8D8"/>
                </a:solidFill>
              </a:rPr>
              <a:t>היום נלמד את הצב לצייר: קווים, צורות, צבעים, עיגולים ואפילו בית שלם!</a:t>
            </a:r>
            <a:endParaRPr lang="he-IL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תזכורת: מה למדנו בשיעור הקודם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בשיעור הקודם סקרנו את יסודות פייתון: קבועים, משתנים, print ותנאי if. היום - הכול יעבוד יחד עם הצב!</a:t>
            </a:r>
            <a:endParaRPr lang="he-IL" sz="1800" dirty="0"/>
          </a:p>
        </p:txBody>
      </p:sp>
      <p:sp>
        <p:nvSpPr>
          <p:cNvPr id="4" name="recap-card"/>
          <p:cNvSpPr/>
          <p:nvPr/>
        </p:nvSpPr>
        <p:spPr>
          <a:xfrm>
            <a:off x="8997696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"/>
          <p:cNvSpPr/>
          <p:nvPr/>
        </p:nvSpPr>
        <p:spPr>
          <a:xfrm>
            <a:off x="9857232" y="23317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0" y="2532888"/>
            <a:ext cx="512064" cy="512064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9180576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1"/>
                </a:solidFill>
              </a:rPr>
              <a:t>קבועים</a:t>
            </a:r>
            <a:endParaRPr lang="he-IL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9180576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ערך שלא משתנה</a:t>
            </a:r>
            <a:endParaRPr lang="he-IL" sz="1600" dirty="0"/>
          </a:p>
        </p:txBody>
      </p:sp>
      <p:sp>
        <p:nvSpPr>
          <p:cNvPr id="9" name="code-bg"/>
          <p:cNvSpPr/>
          <p:nvPr/>
        </p:nvSpPr>
        <p:spPr>
          <a:xfrm>
            <a:off x="9180576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0" name="code"/>
          <p:cNvSpPr txBox="1"/>
          <p:nvPr/>
        </p:nvSpPr>
        <p:spPr>
          <a:xfrm>
            <a:off x="9409176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11" name="recap-card"/>
          <p:cNvSpPr/>
          <p:nvPr/>
        </p:nvSpPr>
        <p:spPr>
          <a:xfrm>
            <a:off x="6181344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7040880" y="233172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42048" y="2532888"/>
            <a:ext cx="512064" cy="5120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6364224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2"/>
                </a:solidFill>
              </a:rPr>
              <a:t>משתנים</a:t>
            </a:r>
            <a:endParaRPr lang="he-IL" sz="2400" dirty="0"/>
          </a:p>
        </p:txBody>
      </p:sp>
      <p:sp>
        <p:nvSpPr>
          <p:cNvPr id="15" name="Text 11"/>
          <p:cNvSpPr txBox="1"/>
          <p:nvPr/>
        </p:nvSpPr>
        <p:spPr>
          <a:xfrm>
            <a:off x="6364224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קופסה ששומרת ערך</a:t>
            </a:r>
            <a:endParaRPr lang="he-IL" sz="1600" dirty="0"/>
          </a:p>
        </p:txBody>
      </p:sp>
      <p:sp>
        <p:nvSpPr>
          <p:cNvPr id="16" name="code-bg"/>
          <p:cNvSpPr/>
          <p:nvPr/>
        </p:nvSpPr>
        <p:spPr>
          <a:xfrm>
            <a:off x="6364224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7" name="code"/>
          <p:cNvSpPr txBox="1"/>
          <p:nvPr/>
        </p:nvSpPr>
        <p:spPr>
          <a:xfrm>
            <a:off x="6592824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</a:t>
            </a:r>
            <a:endParaRPr lang="en-US" sz="1600" dirty="0"/>
          </a:p>
        </p:txBody>
      </p:sp>
      <p:sp>
        <p:nvSpPr>
          <p:cNvPr id="18" name="recap-card"/>
          <p:cNvSpPr/>
          <p:nvPr/>
        </p:nvSpPr>
        <p:spPr>
          <a:xfrm>
            <a:off x="3364992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badge"/>
          <p:cNvSpPr/>
          <p:nvPr/>
        </p:nvSpPr>
        <p:spPr>
          <a:xfrm>
            <a:off x="4224528" y="23317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5696" y="2532888"/>
            <a:ext cx="512064" cy="51206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3547872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3"/>
                </a:solidFill>
              </a:rPr>
              <a:t>print</a:t>
            </a:r>
            <a:endParaRPr lang="he-IL" sz="2400" dirty="0"/>
          </a:p>
        </p:txBody>
      </p:sp>
      <p:sp>
        <p:nvSpPr>
          <p:cNvPr id="22" name="Text 17"/>
          <p:cNvSpPr txBox="1"/>
          <p:nvPr/>
        </p:nvSpPr>
        <p:spPr>
          <a:xfrm>
            <a:off x="3547872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הדפסה למסך</a:t>
            </a:r>
            <a:endParaRPr lang="he-IL" sz="1600" dirty="0"/>
          </a:p>
        </p:txBody>
      </p:sp>
      <p:sp>
        <p:nvSpPr>
          <p:cNvPr id="23" name="code-bg"/>
          <p:cNvSpPr/>
          <p:nvPr/>
        </p:nvSpPr>
        <p:spPr>
          <a:xfrm>
            <a:off x="3547872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24" name="code"/>
          <p:cNvSpPr txBox="1"/>
          <p:nvPr/>
        </p:nvSpPr>
        <p:spPr>
          <a:xfrm>
            <a:off x="3776472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print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6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"Hi!"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600" dirty="0"/>
          </a:p>
        </p:txBody>
      </p:sp>
      <p:sp>
        <p:nvSpPr>
          <p:cNvPr id="25" name="recap-card"/>
          <p:cNvSpPr/>
          <p:nvPr/>
        </p:nvSpPr>
        <p:spPr>
          <a:xfrm>
            <a:off x="548640" y="2057400"/>
            <a:ext cx="2633472" cy="3840480"/>
          </a:xfrm>
          <a:prstGeom prst="roundRect">
            <a:avLst>
              <a:gd name="adj" fmla="val 520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badge"/>
          <p:cNvSpPr/>
          <p:nvPr/>
        </p:nvSpPr>
        <p:spPr>
          <a:xfrm>
            <a:off x="1408176" y="23317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609344" y="2532888"/>
            <a:ext cx="512064" cy="512064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731520" y="3429000"/>
            <a:ext cx="22677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2400" b="1" dirty="0">
                <a:solidFill>
                  <a:schemeClr val="accent4"/>
                </a:solidFill>
              </a:rPr>
              <a:t>תנאי if</a:t>
            </a:r>
            <a:endParaRPr lang="he-IL" sz="2400" dirty="0"/>
          </a:p>
        </p:txBody>
      </p:sp>
      <p:sp>
        <p:nvSpPr>
          <p:cNvPr id="29" name="Text 23"/>
          <p:cNvSpPr txBox="1"/>
          <p:nvPr/>
        </p:nvSpPr>
        <p:spPr>
          <a:xfrm>
            <a:off x="731520" y="3931920"/>
            <a:ext cx="22677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המחשב מחליט</a:t>
            </a:r>
            <a:endParaRPr lang="he-IL" sz="1600" dirty="0"/>
          </a:p>
        </p:txBody>
      </p:sp>
      <p:sp>
        <p:nvSpPr>
          <p:cNvPr id="30" name="code-bg"/>
          <p:cNvSpPr/>
          <p:nvPr/>
        </p:nvSpPr>
        <p:spPr>
          <a:xfrm>
            <a:off x="731520" y="4572000"/>
            <a:ext cx="2267712" cy="868680"/>
          </a:xfrm>
          <a:prstGeom prst="roundRect">
            <a:avLst>
              <a:gd name="adj" fmla="val 12632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31" name="code"/>
          <p:cNvSpPr txBox="1"/>
          <p:nvPr/>
        </p:nvSpPr>
        <p:spPr>
          <a:xfrm>
            <a:off x="960120" y="4736592"/>
            <a:ext cx="1810512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age &gt; </a:t>
            </a:r>
            <a:r>
              <a:rPr lang="en-US" sz="16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r>
              <a:rPr lang="en-US" sz="16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600" dirty="0"/>
          </a:p>
        </p:txBody>
      </p:sp>
      <p:sp>
        <p:nvSpPr>
          <p:cNvPr id="3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dirty="0"/>
              <a:t>השיעור של היום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10317175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17175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1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905695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הצעדים הראשונים</a:t>
            </a:r>
            <a:endParaRPr lang="he-IL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905695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forward, left, right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905695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turtle1.py</a:t>
            </a:r>
            <a:endParaRPr lang="he-IL" sz="1400" dirty="0"/>
          </a:p>
        </p:txBody>
      </p:sp>
      <p:sp>
        <p:nvSpPr>
          <p:cNvPr id="8" name="Shape 6"/>
          <p:cNvSpPr/>
          <p:nvPr/>
        </p:nvSpPr>
        <p:spPr>
          <a:xfrm>
            <a:off x="8449970" y="17373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49970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2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8038490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צבעים וסטייל</a:t>
            </a:r>
            <a:endParaRPr lang="he-IL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038490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color, pensize, speed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8038490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turtle2.py</a:t>
            </a:r>
            <a:endParaRPr lang="he-IL" sz="1400" dirty="0"/>
          </a:p>
        </p:txBody>
      </p:sp>
      <p:sp>
        <p:nvSpPr>
          <p:cNvPr id="13" name="Shape 11"/>
          <p:cNvSpPr/>
          <p:nvPr/>
        </p:nvSpPr>
        <p:spPr>
          <a:xfrm>
            <a:off x="6582766" y="173736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276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6171286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קפיצות ועיגולים</a:t>
            </a:r>
            <a:endParaRPr lang="he-IL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171286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penup, goto, circle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1286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turtle3.py</a:t>
            </a:r>
            <a:endParaRPr lang="he-IL" sz="1400" dirty="0"/>
          </a:p>
        </p:txBody>
      </p:sp>
      <p:sp>
        <p:nvSpPr>
          <p:cNvPr id="18" name="Shape 16"/>
          <p:cNvSpPr/>
          <p:nvPr/>
        </p:nvSpPr>
        <p:spPr>
          <a:xfrm>
            <a:off x="4715561" y="173736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715561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4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304081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לולאות</a:t>
            </a:r>
            <a:endParaRPr lang="he-IL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4304081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+ range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304081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turtle4.py</a:t>
            </a:r>
            <a:endParaRPr lang="he-IL" sz="1400" dirty="0"/>
          </a:p>
        </p:txBody>
      </p:sp>
      <p:sp>
        <p:nvSpPr>
          <p:cNvPr id="23" name="Shape 21"/>
          <p:cNvSpPr/>
          <p:nvPr/>
        </p:nvSpPr>
        <p:spPr>
          <a:xfrm>
            <a:off x="2848356" y="1737360"/>
            <a:ext cx="914400" cy="91440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848356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5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2436876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צביעה וטקסט</a:t>
            </a:r>
            <a:endParaRPr lang="he-IL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2436876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begin_fill, write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2436876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turtle5.py</a:t>
            </a:r>
            <a:endParaRPr lang="he-IL" sz="1400" dirty="0"/>
          </a:p>
        </p:txBody>
      </p:sp>
      <p:sp>
        <p:nvSpPr>
          <p:cNvPr id="28" name="Shape 26"/>
          <p:cNvSpPr/>
          <p:nvPr/>
        </p:nvSpPr>
        <p:spPr>
          <a:xfrm>
            <a:off x="981151" y="173736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81151" y="17373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</a:rPr>
              <a:t>6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569671" y="283464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b="1" dirty="0">
                <a:solidFill>
                  <a:schemeClr val="tx1"/>
                </a:solidFill>
              </a:rPr>
              <a:t>הצב מחליט</a:t>
            </a:r>
            <a:endParaRPr lang="he-IL" sz="1800" dirty="0"/>
          </a:p>
        </p:txBody>
      </p:sp>
      <p:sp>
        <p:nvSpPr>
          <p:cNvPr id="31" name="Text 29"/>
          <p:cNvSpPr txBox="1"/>
          <p:nvPr/>
        </p:nvSpPr>
        <p:spPr>
          <a:xfrm>
            <a:off x="569671" y="3566160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C6B7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+ random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569671" y="4114800"/>
            <a:ext cx="1737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he-IL" altLang="en-US" sz="1400" b="1" dirty="0">
                <a:solidFill>
                  <a:schemeClr val="accent2"/>
                </a:solidFill>
              </a:rPr>
              <a:t>turtle6.py</a:t>
            </a:r>
            <a:endParaRPr lang="he-IL" sz="1400" dirty="0"/>
          </a:p>
        </p:txBody>
      </p:sp>
      <p:sp>
        <p:nvSpPr>
          <p:cNvPr id="33" name="tip"/>
          <p:cNvSpPr/>
          <p:nvPr/>
        </p:nvSpPr>
        <p:spPr>
          <a:xfrm>
            <a:off x="548640" y="4937760"/>
            <a:ext cx="11091672" cy="1097280"/>
          </a:xfrm>
          <a:prstGeom prst="roundRect">
            <a:avLst>
              <a:gd name="adj" fmla="val 12500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</p:sp>
      <p:sp>
        <p:nvSpPr>
          <p:cNvPr id="34" name="badge"/>
          <p:cNvSpPr/>
          <p:nvPr/>
        </p:nvSpPr>
        <p:spPr>
          <a:xfrm>
            <a:off x="10744200" y="5074920"/>
            <a:ext cx="822960" cy="82296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3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5251" y="5255971"/>
            <a:ext cx="460858" cy="460858"/>
          </a:xfrm>
          <a:prstGeom prst="rect">
            <a:avLst/>
          </a:prstGeom>
        </p:spPr>
      </p:pic>
      <p:sp>
        <p:nvSpPr>
          <p:cNvPr id="36" name="Text 33"/>
          <p:cNvSpPr txBox="1"/>
          <p:nvPr/>
        </p:nvSpPr>
        <p:spPr>
          <a:xfrm>
            <a:off x="822960" y="502920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b="1" dirty="0">
                <a:solidFill>
                  <a:schemeClr val="tx1"/>
                </a:solidFill>
              </a:rPr>
              <a:t>שימו לב: </a:t>
            </a:r>
            <a:r>
              <a:rPr lang="he-IL" altLang="en-US" sz="1700" dirty="0">
                <a:solidFill>
                  <a:schemeClr val="tx1"/>
                </a:solidFill>
              </a:rPr>
              <a:t>עובדים במחשב עם </a:t>
            </a:r>
            <a:r>
              <a:rPr lang="en-US" altLang="en-US" sz="1700" dirty="0">
                <a:solidFill>
                  <a:schemeClr val="tx1"/>
                </a:solidFill>
              </a:rPr>
              <a:t>Thorny</a:t>
            </a:r>
            <a:r>
              <a:rPr lang="he-IL" altLang="en-US" sz="1700" dirty="0">
                <a:solidFill>
                  <a:schemeClr val="tx1"/>
                </a:solidFill>
              </a:rPr>
              <a:t> </a:t>
            </a:r>
            <a:r>
              <a:rPr lang="he-IL" altLang="en-US" sz="1700" dirty="0"/>
              <a:t>/ </a:t>
            </a:r>
            <a:r>
              <a:rPr lang="he-IL" altLang="en-US" sz="1700" dirty="0">
                <a:solidFill>
                  <a:schemeClr val="tx1"/>
                </a:solidFill>
              </a:rPr>
              <a:t>PyCharm</a:t>
            </a:r>
          </a:p>
          <a:p>
            <a:pPr marL="0" indent="0" algn="r" rtl="1">
              <a:buNone/>
            </a:pPr>
            <a:r>
              <a:rPr lang="he-IL" altLang="en-US" sz="1700" dirty="0"/>
              <a:t>אל </a:t>
            </a:r>
            <a:r>
              <a:rPr lang="he-IL" altLang="en-US" sz="1700" dirty="0">
                <a:solidFill>
                  <a:schemeClr val="tx1"/>
                </a:solidFill>
              </a:rPr>
              <a:t>קראו לקובץ שלכם turtle.py</a:t>
            </a:r>
            <a:endParaRPr lang="he-IL" sz="1700" dirty="0"/>
          </a:p>
        </p:txBody>
      </p:sp>
      <p:sp>
        <p:nvSpPr>
          <p:cNvPr id="3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מי זה הצב?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14630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רובוט קטן עם עט</a:t>
            </a:r>
            <a:r>
              <a:rPr lang="he-IL" altLang="en-US" sz="2000" dirty="0">
                <a:solidFill>
                  <a:schemeClr val="tx1"/>
                </a:solidFill>
              </a:rPr>
              <a:t> - כל פקודה מזיזה אותו, והוא מצייר את הדרך שעבר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מתחיל באמצע המסך</a:t>
            </a:r>
            <a:r>
              <a:rPr lang="he-IL" altLang="en-US" sz="2000" dirty="0">
                <a:solidFill>
                  <a:schemeClr val="tx1"/>
                </a:solidFill>
              </a:rPr>
              <a:t> - בנקודה (0, 0)‎, ומסתכל ימינה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3"/>
                </a:solidFill>
              </a:rPr>
              <a:t>ציר x</a:t>
            </a:r>
            <a:r>
              <a:rPr lang="he-IL" altLang="en-US" sz="2000" dirty="0">
                <a:solidFill>
                  <a:schemeClr val="tx1"/>
                </a:solidFill>
              </a:rPr>
              <a:t> - ימינה (+)‎ ושמאלה (-)‎</a:t>
            </a:r>
            <a:endParaRPr lang="he-IL" sz="2000" dirty="0"/>
          </a:p>
          <a:p>
            <a:pPr marL="0" indent="0" algn="r" rtl="1">
              <a:spcAft>
                <a:spcPts val="1400"/>
              </a:spcAft>
              <a:buNone/>
            </a:pPr>
            <a:r>
              <a:rPr lang="he-IL" altLang="en-US" sz="2000" b="1" dirty="0">
                <a:solidFill>
                  <a:schemeClr val="accent4"/>
                </a:solidFill>
              </a:rPr>
              <a:t>ציר y</a:t>
            </a:r>
            <a:r>
              <a:rPr lang="he-IL" altLang="en-US" sz="2000" dirty="0">
                <a:solidFill>
                  <a:schemeClr val="tx1"/>
                </a:solidFill>
              </a:rPr>
              <a:t> - למעלה (+)‎ ולמטה (-)‎</a:t>
            </a:r>
            <a:endParaRPr lang="he-IL" sz="2000" dirty="0"/>
          </a:p>
        </p:txBody>
      </p:sp>
      <p:sp>
        <p:nvSpPr>
          <p:cNvPr id="4" name="code-bg"/>
          <p:cNvSpPr/>
          <p:nvPr/>
        </p:nvSpPr>
        <p:spPr>
          <a:xfrm>
            <a:off x="6583680" y="4480560"/>
            <a:ext cx="5029200" cy="1371600"/>
          </a:xfrm>
          <a:prstGeom prst="roundRect">
            <a:avLst>
              <a:gd name="adj" fmla="val 800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code"/>
          <p:cNvSpPr txBox="1"/>
          <p:nvPr/>
        </p:nvSpPr>
        <p:spPr>
          <a:xfrm>
            <a:off x="6812280" y="4645152"/>
            <a:ext cx="4572000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turtle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</p:txBody>
      </p:sp>
      <p:sp>
        <p:nvSpPr>
          <p:cNvPr id="6" name="plane"/>
          <p:cNvSpPr/>
          <p:nvPr/>
        </p:nvSpPr>
        <p:spPr>
          <a:xfrm>
            <a:off x="548640" y="1371600"/>
            <a:ext cx="5486400" cy="4572000"/>
          </a:xfrm>
          <a:prstGeom prst="roundRect">
            <a:avLst>
              <a:gd name="adj" fmla="val 3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3657600"/>
            <a:ext cx="4937760" cy="0"/>
          </a:xfrm>
          <a:prstGeom prst="line">
            <a:avLst/>
          </a:prstGeom>
          <a:noFill/>
          <a:ln w="317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291840" y="1645920"/>
            <a:ext cx="0" cy="4023360"/>
          </a:xfrm>
          <a:prstGeom prst="line">
            <a:avLst/>
          </a:prstGeom>
          <a:noFill/>
          <a:ln w="31750">
            <a:solidFill>
              <a:schemeClr val="accent4"/>
            </a:solidFill>
            <a:prstDash val="solid"/>
            <a:headEnd type="triangle"/>
          </a:ln>
        </p:spPr>
      </p:sp>
      <p:sp>
        <p:nvSpPr>
          <p:cNvPr id="9" name="Text 7"/>
          <p:cNvSpPr txBox="1"/>
          <p:nvPr/>
        </p:nvSpPr>
        <p:spPr>
          <a:xfrm>
            <a:off x="5486400" y="3154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3"/>
                </a:solidFill>
              </a:rPr>
              <a:t>x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3401568" y="1600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chemeClr val="accent4"/>
                </a:solidFill>
              </a:rPr>
              <a:t>y</a:t>
            </a:r>
            <a:endParaRPr lang="en-US" sz="2000" dirty="0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2880360" y="3246120"/>
            <a:ext cx="822960" cy="82296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3383280" y="397764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tx2"/>
                </a:solidFill>
              </a:rPr>
              <a:t>(0, 0)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0" y="2194560"/>
            <a:ext cx="201168" cy="20116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572000" y="1783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2"/>
                </a:solidFill>
              </a:rPr>
              <a:t>(200, 150)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1371600" y="4937760"/>
            <a:ext cx="201168" cy="20116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960120" y="521208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6"/>
                </a:solidFill>
              </a:rPr>
              <a:t>(-200, -150)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התוכנית הראשונה: ריבוע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120640" y="1325880"/>
            <a:ext cx="6519672" cy="4206240"/>
          </a:xfrm>
          <a:prstGeom prst="roundRect">
            <a:avLst>
              <a:gd name="adj" fmla="val 260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5349240" y="1490472"/>
            <a:ext cx="6062472" cy="3877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20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turtle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= 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"turtle"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20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8A9A8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x4</a:t>
            </a:r>
            <a:endParaRPr lang="en-US" sz="2000" dirty="0"/>
          </a:p>
          <a:p>
            <a:pPr marL="0" indent="0" algn="l">
              <a:buNone/>
            </a:pPr>
            <a:endParaRPr lang="en-US" sz="2000" dirty="0"/>
          </a:p>
          <a:p>
            <a:pPr marL="0" indent="0" algn="l">
              <a:buNone/>
            </a:pP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turtle.</a:t>
            </a:r>
            <a:r>
              <a:rPr lang="en-US" sz="20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r>
              <a:rPr lang="en-US" sz="20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2000" dirty="0"/>
          </a:p>
        </p:txBody>
      </p:sp>
      <p:sp>
        <p:nvSpPr>
          <p:cNvPr id="5" name="pic-card"/>
          <p:cNvSpPr/>
          <p:nvPr/>
        </p:nvSpPr>
        <p:spPr>
          <a:xfrm>
            <a:off x="548640" y="1325880"/>
            <a:ext cx="4206240" cy="3017520"/>
          </a:xfrm>
          <a:prstGeom prst="roundRect">
            <a:avLst>
              <a:gd name="adj" fmla="val 4545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2970" y="1508760"/>
            <a:ext cx="2637579" cy="2651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48640" y="4526280"/>
            <a:ext cx="4206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forward100)‎</a:t>
            </a:r>
            <a:r>
              <a:rPr lang="he-IL" altLang="en-US" sz="1600" dirty="0">
                <a:solidFill>
                  <a:schemeClr val="tx1"/>
                </a:solidFill>
              </a:rPr>
              <a:t> - 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קדימה 100 צעדים</a:t>
            </a:r>
            <a:endParaRPr lang="he-IL" sz="16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left(90)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‎</a:t>
            </a:r>
            <a:r>
              <a:rPr lang="he-IL" altLang="en-US" sz="1600" dirty="0">
                <a:solidFill>
                  <a:schemeClr val="tx1"/>
                </a:solidFill>
              </a:rPr>
              <a:t> - פנייה שמאלה 90 מעלות</a:t>
            </a:r>
            <a:endParaRPr lang="he-IL" sz="16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turtle.done()</a:t>
            </a:r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‎</a:t>
            </a:r>
            <a:r>
              <a:rPr lang="he-IL" altLang="en-US" sz="1600" dirty="0">
                <a:solidFill>
                  <a:schemeClr val="tx1"/>
                </a:solidFill>
              </a:rPr>
              <a:t> - תמיד בסוף, אחרת החלון ייסגר!</a:t>
            </a:r>
            <a:endParaRPr lang="he-IL" sz="1600" dirty="0"/>
          </a:p>
        </p:txBody>
      </p:sp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turtle1.py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פונים ימינה ושמאלה: מעלות</a:t>
            </a:r>
            <a:endParaRPr lang="en-US" sz="3600" dirty="0"/>
          </a:p>
        </p:txBody>
      </p:sp>
      <p:sp>
        <p:nvSpPr>
          <p:cNvPr id="3" name="angle-card"/>
          <p:cNvSpPr/>
          <p:nvPr/>
        </p:nvSpPr>
        <p:spPr>
          <a:xfrm>
            <a:off x="8991295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991295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1"/>
                </a:solidFill>
              </a:rPr>
              <a:t>90°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9082735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פניה של זוית ישרה</a:t>
            </a:r>
            <a:endParaRPr lang="he-IL" sz="1800" dirty="0"/>
          </a:p>
        </p:txBody>
      </p:sp>
      <p:sp>
        <p:nvSpPr>
          <p:cNvPr id="6" name="angle-card"/>
          <p:cNvSpPr/>
          <p:nvPr/>
        </p:nvSpPr>
        <p:spPr>
          <a:xfrm>
            <a:off x="6177686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177686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4"/>
                </a:solidFill>
              </a:rPr>
              <a:t>120°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6269126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פניה של משולש</a:t>
            </a:r>
            <a:endParaRPr lang="en-US" altLang="en-US" sz="1800" dirty="0">
              <a:solidFill>
                <a:schemeClr val="tx1"/>
              </a:solidFill>
            </a:endParaRPr>
          </a:p>
          <a:p>
            <a:pPr marL="0" indent="0" algn="ctr" rtl="1">
              <a:buNone/>
            </a:pPr>
            <a:r>
              <a:rPr lang="en-US" dirty="0"/>
              <a:t>3 * 120 = 360</a:t>
            </a:r>
            <a:endParaRPr lang="he-IL" sz="1800" dirty="0"/>
          </a:p>
        </p:txBody>
      </p:sp>
      <p:sp>
        <p:nvSpPr>
          <p:cNvPr id="9" name="angle-card"/>
          <p:cNvSpPr/>
          <p:nvPr/>
        </p:nvSpPr>
        <p:spPr>
          <a:xfrm>
            <a:off x="3364078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364078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2"/>
                </a:solidFill>
              </a:rPr>
              <a:t>180°</a:t>
            </a:r>
            <a:endParaRPr lang="en-US" sz="6000" dirty="0"/>
          </a:p>
        </p:txBody>
      </p:sp>
      <p:sp>
        <p:nvSpPr>
          <p:cNvPr id="11" name="Text 9"/>
          <p:cNvSpPr txBox="1"/>
          <p:nvPr/>
        </p:nvSpPr>
        <p:spPr>
          <a:xfrm>
            <a:off x="3455518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אחורה פנה!</a:t>
            </a:r>
            <a:endParaRPr lang="he-IL" sz="1800" dirty="0"/>
          </a:p>
        </p:txBody>
      </p:sp>
      <p:sp>
        <p:nvSpPr>
          <p:cNvPr id="12" name="angle-card"/>
          <p:cNvSpPr/>
          <p:nvPr/>
        </p:nvSpPr>
        <p:spPr>
          <a:xfrm>
            <a:off x="550469" y="1371600"/>
            <a:ext cx="2651760" cy="2286000"/>
          </a:xfrm>
          <a:prstGeom prst="roundRect">
            <a:avLst>
              <a:gd name="adj" fmla="val 6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50469" y="155448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000" b="1" dirty="0">
                <a:solidFill>
                  <a:schemeClr val="accent3"/>
                </a:solidFill>
              </a:rPr>
              <a:t>360°</a:t>
            </a:r>
            <a:endParaRPr lang="en-US" sz="6000" dirty="0"/>
          </a:p>
        </p:txBody>
      </p:sp>
      <p:sp>
        <p:nvSpPr>
          <p:cNvPr id="14" name="Text 12"/>
          <p:cNvSpPr txBox="1"/>
          <p:nvPr/>
        </p:nvSpPr>
        <p:spPr>
          <a:xfrm>
            <a:off x="641909" y="2788920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he-IL" altLang="en-US" sz="1800" dirty="0">
                <a:solidFill>
                  <a:schemeClr val="tx1"/>
                </a:solidFill>
              </a:rPr>
              <a:t>סיבוב שלם (סחרחורת)‎</a:t>
            </a:r>
            <a:endParaRPr lang="he-IL" sz="1800" dirty="0"/>
          </a:p>
        </p:txBody>
      </p:sp>
      <p:sp>
        <p:nvSpPr>
          <p:cNvPr id="15" name="quiz"/>
          <p:cNvSpPr/>
          <p:nvPr/>
        </p:nvSpPr>
        <p:spPr>
          <a:xfrm>
            <a:off x="548640" y="4023360"/>
            <a:ext cx="11091672" cy="1920240"/>
          </a:xfrm>
          <a:prstGeom prst="roundRect">
            <a:avLst>
              <a:gd name="adj" fmla="val 7143"/>
            </a:avLst>
          </a:prstGeom>
          <a:solidFill>
            <a:srgbClr val="FFF4E0"/>
          </a:solidFill>
          <a:ln w="12700">
            <a:solidFill>
              <a:srgbClr val="FFF4E0"/>
            </a:solidFill>
            <a:prstDash val="solid"/>
          </a:ln>
        </p:spPr>
        <p:txBody>
          <a:bodyPr/>
          <a:p/>
        </p:txBody>
      </p:sp>
      <p:sp>
        <p:nvSpPr>
          <p:cNvPr id="16" name="badge"/>
          <p:cNvSpPr/>
          <p:nvPr/>
        </p:nvSpPr>
        <p:spPr>
          <a:xfrm>
            <a:off x="10515600" y="4251960"/>
            <a:ext cx="914400" cy="9144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  <p:txBody>
          <a:bodyPr/>
          <a:p/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6768" y="4453128"/>
            <a:ext cx="512064" cy="512064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6217920" y="425196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tx2"/>
                </a:solidFill>
              </a:rPr>
              <a:t>חידה: מה יצייר הקוד הזה?</a:t>
            </a:r>
            <a:endParaRPr lang="he-IL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6217920" y="48463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רמז: הצב מסתובב 3 פעמים, ובסך הכול 360 מעלות</a:t>
            </a:r>
            <a:endParaRPr lang="he-IL" sz="1600" dirty="0"/>
          </a:p>
        </p:txBody>
      </p:sp>
      <p:sp>
        <p:nvSpPr>
          <p:cNvPr id="20" name="code-bg"/>
          <p:cNvSpPr/>
          <p:nvPr/>
        </p:nvSpPr>
        <p:spPr>
          <a:xfrm>
            <a:off x="822960" y="4206240"/>
            <a:ext cx="4937760" cy="1554480"/>
          </a:xfrm>
          <a:prstGeom prst="roundRect">
            <a:avLst>
              <a:gd name="adj" fmla="val 705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1" name="code"/>
          <p:cNvSpPr txBox="1"/>
          <p:nvPr/>
        </p:nvSpPr>
        <p:spPr>
          <a:xfrm>
            <a:off x="1051560" y="4370832"/>
            <a:ext cx="44805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5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5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120</a:t>
            </a:r>
            <a:r>
              <a:rPr lang="en-US" sz="15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צבעים וסטייל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852160" y="1325880"/>
            <a:ext cx="5788152" cy="3017520"/>
          </a:xfrm>
          <a:prstGeom prst="roundRect">
            <a:avLst>
              <a:gd name="adj" fmla="val 3636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6080760" y="1490472"/>
            <a:ext cx="5330952" cy="2688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 = turtle.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screen.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bgcolor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"lightyellow"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"red"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pensize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  <a:p>
            <a:pPr marL="0" indent="0" algn="l">
              <a:buNone/>
            </a:pP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9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shape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9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"turtle"</a:t>
            </a:r>
            <a:r>
              <a:rPr lang="en-US" sz="19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4480560"/>
            <a:ext cx="592328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bgcolor</a:t>
            </a:r>
            <a:r>
              <a:rPr lang="he-IL" altLang="en-US" sz="1600" dirty="0">
                <a:solidFill>
                  <a:schemeClr val="tx1"/>
                </a:solidFill>
              </a:rPr>
              <a:t> צבע רקע</a:t>
            </a:r>
          </a:p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color</a:t>
            </a:r>
            <a:r>
              <a:rPr lang="he-IL" altLang="en-US" sz="1600" dirty="0">
                <a:solidFill>
                  <a:schemeClr val="tx1"/>
                </a:solidFill>
              </a:rPr>
              <a:t> צבע העט</a:t>
            </a:r>
          </a:p>
          <a:p>
            <a:pPr marL="0" indent="0" algn="r" rtl="1">
              <a:buNone/>
            </a:pPr>
            <a:r>
              <a:rPr lang="he-IL" altLang="en-US" sz="1600" b="1" dirty="0">
                <a:solidFill>
                  <a:schemeClr val="accent1"/>
                </a:solidFill>
              </a:rPr>
              <a:t>pensize</a:t>
            </a:r>
            <a:r>
              <a:rPr lang="he-IL" altLang="en-US" sz="1600" dirty="0">
                <a:solidFill>
                  <a:schemeClr val="tx1"/>
                </a:solidFill>
              </a:rPr>
              <a:t> עובי</a:t>
            </a:r>
          </a:p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 </a:t>
            </a:r>
            <a:r>
              <a:rPr lang="he-IL" altLang="en-US" sz="1600" b="1" dirty="0">
                <a:solidFill>
                  <a:schemeClr val="accent1"/>
                </a:solidFill>
              </a:rPr>
              <a:t>speed</a:t>
            </a:r>
            <a:r>
              <a:rPr lang="he-IL" altLang="en-US" sz="1600" dirty="0">
                <a:solidFill>
                  <a:schemeClr val="tx1"/>
                </a:solidFill>
              </a:rPr>
              <a:t>1  איטי ... 10 מהיר, 0 טורבו</a:t>
            </a:r>
            <a:endParaRPr lang="he-IL" sz="16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4937760" cy="3200400"/>
          </a:xfrm>
          <a:prstGeom prst="roundRect">
            <a:avLst>
              <a:gd name="adj" fmla="val 4286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129" y="1508760"/>
            <a:ext cx="3102782" cy="28346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640080" y="4754880"/>
            <a:ext cx="457200" cy="457200"/>
          </a:xfrm>
          <a:prstGeom prst="ellipse">
            <a:avLst/>
          </a:prstGeom>
          <a:solidFill>
            <a:srgbClr val="FF0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0292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red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271016" y="4754880"/>
            <a:ext cx="457200" cy="457200"/>
          </a:xfrm>
          <a:prstGeom prst="ellipse">
            <a:avLst/>
          </a:prstGeom>
          <a:solidFill>
            <a:srgbClr val="FFA5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33856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orange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901952" y="4754880"/>
            <a:ext cx="457200" cy="457200"/>
          </a:xfrm>
          <a:prstGeom prst="ellipse">
            <a:avLst/>
          </a:prstGeom>
          <a:solidFill>
            <a:srgbClr val="FFE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764792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yellow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2532888" y="4754880"/>
            <a:ext cx="457200" cy="457200"/>
          </a:xfrm>
          <a:prstGeom prst="ellipse">
            <a:avLst/>
          </a:prstGeom>
          <a:solidFill>
            <a:srgbClr val="008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395728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green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3163824" y="4754880"/>
            <a:ext cx="457200" cy="457200"/>
          </a:xfrm>
          <a:prstGeom prst="ellipse">
            <a:avLst/>
          </a:prstGeom>
          <a:solidFill>
            <a:srgbClr val="0000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026664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blue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3794760" y="4754880"/>
            <a:ext cx="457200" cy="457200"/>
          </a:xfrm>
          <a:prstGeom prst="ellipse">
            <a:avLst/>
          </a:prstGeom>
          <a:solidFill>
            <a:srgbClr val="80008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657600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purple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4425696" y="4754880"/>
            <a:ext cx="457200" cy="457200"/>
          </a:xfrm>
          <a:prstGeom prst="ellipse">
            <a:avLst/>
          </a:prstGeom>
          <a:solidFill>
            <a:srgbClr val="FFC0CB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288536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pink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5056632" y="4754880"/>
            <a:ext cx="457200" cy="457200"/>
          </a:xfrm>
          <a:prstGeom prst="ellipse">
            <a:avLst/>
          </a:prstGeom>
          <a:solidFill>
            <a:srgbClr val="00000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919472" y="5257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C6B73"/>
                </a:solidFill>
              </a:rPr>
              <a:t>black</a:t>
            </a:r>
            <a:endParaRPr lang="en-US" sz="1000" dirty="0"/>
          </a:p>
        </p:txBody>
      </p:sp>
      <p:sp>
        <p:nvSpPr>
          <p:cNvPr id="24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turtle2.py</a:t>
            </a:r>
            <a:endParaRPr lang="en-US" sz="1600" dirty="0"/>
          </a:p>
        </p:txBody>
      </p:sp>
      <p:sp>
        <p:nvSpPr>
          <p:cNvPr id="27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מרימים את העט: קפיצות ועיגולים</a:t>
            </a:r>
            <a:endParaRPr lang="en-US" sz="3600" dirty="0"/>
          </a:p>
        </p:txBody>
      </p:sp>
      <p:sp>
        <p:nvSpPr>
          <p:cNvPr id="3" name="badge"/>
          <p:cNvSpPr/>
          <p:nvPr/>
        </p:nvSpPr>
        <p:spPr>
          <a:xfrm>
            <a:off x="10835640" y="1371600"/>
            <a:ext cx="777240" cy="7772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06633" y="1542593"/>
            <a:ext cx="435254" cy="43525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0" y="1371600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penup() / pendown()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5486400" y="18013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מרימים / מורידים את העט - זזים בלי לצייר</a:t>
            </a:r>
            <a:endParaRPr lang="he-IL" sz="1600" dirty="0"/>
          </a:p>
        </p:txBody>
      </p:sp>
      <p:sp>
        <p:nvSpPr>
          <p:cNvPr id="7" name="badge"/>
          <p:cNvSpPr/>
          <p:nvPr/>
        </p:nvSpPr>
        <p:spPr>
          <a:xfrm>
            <a:off x="10835640" y="2487168"/>
            <a:ext cx="777240" cy="7772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06633" y="2658161"/>
            <a:ext cx="435254" cy="43525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486400" y="2487168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goto(x, y)</a:t>
            </a:r>
            <a:endParaRPr lang="en-US" sz="2000" dirty="0"/>
          </a:p>
        </p:txBody>
      </p:sp>
      <p:sp>
        <p:nvSpPr>
          <p:cNvPr id="10" name="Text 6"/>
          <p:cNvSpPr txBox="1"/>
          <p:nvPr/>
        </p:nvSpPr>
        <p:spPr>
          <a:xfrm>
            <a:off x="5486400" y="29169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קפיצה ישירה לנקודה במפה</a:t>
            </a:r>
            <a:endParaRPr lang="he-IL" sz="1600" dirty="0"/>
          </a:p>
        </p:txBody>
      </p:sp>
      <p:sp>
        <p:nvSpPr>
          <p:cNvPr id="11" name="badge"/>
          <p:cNvSpPr/>
          <p:nvPr/>
        </p:nvSpPr>
        <p:spPr>
          <a:xfrm>
            <a:off x="10835640" y="3602736"/>
            <a:ext cx="777240" cy="7772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06633" y="3773729"/>
            <a:ext cx="435254" cy="43525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5486400" y="3602736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circle(100)</a:t>
            </a:r>
            <a:endParaRPr lang="en-US" sz="2000" dirty="0"/>
          </a:p>
        </p:txBody>
      </p:sp>
      <p:sp>
        <p:nvSpPr>
          <p:cNvPr id="14" name="Text 9"/>
          <p:cNvSpPr txBox="1"/>
          <p:nvPr/>
        </p:nvSpPr>
        <p:spPr>
          <a:xfrm>
            <a:off x="5486400" y="403250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עיגול ברדיוס 100.</a:t>
            </a:r>
          </a:p>
          <a:p>
            <a:pPr algn="r" rtl="1"/>
            <a:r>
              <a:rPr lang="he-IL" sz="1600" dirty="0"/>
              <a:t>circle(radius, extent)</a:t>
            </a:r>
            <a:endParaRPr lang="he-IL" altLang="en-US" sz="1600" dirty="0">
              <a:solidFill>
                <a:schemeClr val="tx1"/>
              </a:solidFill>
            </a:endParaRPr>
          </a:p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חצי עיגול</a:t>
            </a:r>
            <a:r>
              <a:rPr lang="en-US" altLang="en-US" sz="1600" dirty="0">
                <a:solidFill>
                  <a:schemeClr val="tx1"/>
                </a:solidFill>
              </a:rPr>
              <a:t> circle(100, 180)   </a:t>
            </a:r>
            <a:endParaRPr lang="he-IL" sz="1600" dirty="0"/>
          </a:p>
        </p:txBody>
      </p:sp>
      <p:sp>
        <p:nvSpPr>
          <p:cNvPr id="15" name="badge"/>
          <p:cNvSpPr/>
          <p:nvPr/>
        </p:nvSpPr>
        <p:spPr>
          <a:xfrm>
            <a:off x="10835640" y="4718304"/>
            <a:ext cx="777240" cy="7772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006633" y="4889297"/>
            <a:ext cx="435254" cy="43525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486400" y="4718304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dot(25)</a:t>
            </a:r>
            <a:endParaRPr lang="en-US" sz="2000" dirty="0"/>
          </a:p>
        </p:txBody>
      </p:sp>
      <p:sp>
        <p:nvSpPr>
          <p:cNvPr id="18" name="Text 12"/>
          <p:cNvSpPr txBox="1"/>
          <p:nvPr/>
        </p:nvSpPr>
        <p:spPr>
          <a:xfrm>
            <a:off x="5486400" y="5148072"/>
            <a:ext cx="5120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600" dirty="0">
                <a:solidFill>
                  <a:schemeClr val="tx1"/>
                </a:solidFill>
              </a:rPr>
              <a:t>נקודה עגולה ומלאה (מעולה לעיניים!)‎</a:t>
            </a:r>
            <a:endParaRPr lang="he-IL" sz="1600" dirty="0"/>
          </a:p>
        </p:txBody>
      </p:sp>
      <p:sp>
        <p:nvSpPr>
          <p:cNvPr id="19" name="pic-card"/>
          <p:cNvSpPr/>
          <p:nvPr/>
        </p:nvSpPr>
        <p:spPr>
          <a:xfrm>
            <a:off x="548640" y="1325880"/>
            <a:ext cx="4572000" cy="4297680"/>
          </a:xfrm>
          <a:prstGeom prst="roundRect">
            <a:avLst>
              <a:gd name="adj" fmla="val 3191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8680" y="1508760"/>
            <a:ext cx="3931920" cy="3931920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548640" y="57607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600" dirty="0">
                <a:solidFill>
                  <a:srgbClr val="5C6B73"/>
                </a:solidFill>
              </a:rPr>
              <a:t>סמיילי שלם מ-4 פקודות חדשות</a:t>
            </a:r>
            <a:endParaRPr lang="he-IL" sz="1600" dirty="0"/>
          </a:p>
        </p:txBody>
      </p:sp>
      <p:sp>
        <p:nvSpPr>
          <p:cNvPr id="22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turtle3.py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מתכנתים עצלנים משתמשים בלולאות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6583680" y="1325880"/>
            <a:ext cx="50566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000" b="1" dirty="0">
                <a:solidFill>
                  <a:schemeClr val="accent3"/>
                </a:solidFill>
              </a:rPr>
              <a:t>בלי לולאה: 8 שורות</a:t>
            </a:r>
            <a:endParaRPr lang="he-IL" sz="2000" dirty="0"/>
          </a:p>
        </p:txBody>
      </p:sp>
      <p:sp>
        <p:nvSpPr>
          <p:cNvPr id="4" name="code-bg"/>
          <p:cNvSpPr/>
          <p:nvPr/>
        </p:nvSpPr>
        <p:spPr>
          <a:xfrm>
            <a:off x="6583680" y="1828800"/>
            <a:ext cx="5056632" cy="3749040"/>
          </a:xfrm>
          <a:prstGeom prst="roundRect">
            <a:avLst>
              <a:gd name="adj" fmla="val 292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5" name="code"/>
          <p:cNvSpPr txBox="1"/>
          <p:nvPr/>
        </p:nvSpPr>
        <p:spPr>
          <a:xfrm>
            <a:off x="6812280" y="1993392"/>
            <a:ext cx="4599432" cy="3419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000" b="1" dirty="0">
                <a:solidFill>
                  <a:schemeClr val="accent1"/>
                </a:solidFill>
              </a:rPr>
              <a:t>עם לולאה: 3 שורות</a:t>
            </a:r>
            <a:endParaRPr lang="he-IL" sz="2000" dirty="0"/>
          </a:p>
        </p:txBody>
      </p:sp>
      <p:sp>
        <p:nvSpPr>
          <p:cNvPr id="7" name="code-bg"/>
          <p:cNvSpPr/>
          <p:nvPr/>
        </p:nvSpPr>
        <p:spPr>
          <a:xfrm>
            <a:off x="548640" y="1828800"/>
            <a:ext cx="5394960" cy="1508760"/>
          </a:xfrm>
          <a:prstGeom prst="roundRect">
            <a:avLst>
              <a:gd name="adj" fmla="val 7273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8" name="code"/>
          <p:cNvSpPr txBox="1"/>
          <p:nvPr/>
        </p:nvSpPr>
        <p:spPr>
          <a:xfrm>
            <a:off x="777240" y="1993392"/>
            <a:ext cx="4937760" cy="1179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8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8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8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8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8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8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loop-tip"/>
          <p:cNvSpPr/>
          <p:nvPr/>
        </p:nvSpPr>
        <p:spPr>
          <a:xfrm>
            <a:off x="548640" y="3566160"/>
            <a:ext cx="5394960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74904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range(4)</a:t>
            </a:r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‎</a:t>
            </a:r>
            <a:r>
              <a:rPr lang="he-IL" altLang="en-US" sz="1800" dirty="0">
                <a:solidFill>
                  <a:schemeClr val="tx1"/>
                </a:solidFill>
              </a:rPr>
              <a:t> = חזור 4 פעמים</a:t>
            </a:r>
            <a:endParaRPr lang="he-IL" sz="1800" dirty="0"/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1"/>
                </a:solidFill>
              </a:rPr>
              <a:t>הזחה (4 רווחים)‎</a:t>
            </a:r>
            <a:r>
              <a:rPr lang="he-IL" altLang="en-US" sz="1800" dirty="0">
                <a:solidFill>
                  <a:schemeClr val="tx1"/>
                </a:solidFill>
              </a:rPr>
              <a:t> = ארבע פעמים מה שבתוך הלולאה </a:t>
            </a:r>
            <a:endParaRPr lang="he-IL" sz="1800" dirty="0"/>
          </a:p>
          <a:p>
            <a:pPr marL="0" indent="0" algn="r">
              <a:spcAft>
                <a:spcPts val="800"/>
              </a:spcAft>
              <a:buNone/>
            </a:pPr>
            <a:r>
              <a:rPr lang="he-IL" altLang="en-US" sz="1800" b="1" dirty="0">
                <a:solidFill>
                  <a:schemeClr val="accent3"/>
                </a:solidFill>
              </a:rPr>
              <a:t>נקודתיים (:)‎</a:t>
            </a:r>
            <a:r>
              <a:rPr lang="he-IL" altLang="en-US" sz="1800" dirty="0">
                <a:solidFill>
                  <a:schemeClr val="tx1"/>
                </a:solidFill>
              </a:rPr>
              <a:t> - חובה בסוף השורה-for</a:t>
            </a:r>
            <a:endParaRPr lang="he-IL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כלל הזהב: כל מצולע שתרצו</a:t>
            </a:r>
            <a:endParaRPr lang="en-US" sz="3600" dirty="0"/>
          </a:p>
        </p:txBody>
      </p:sp>
      <p:sp>
        <p:nvSpPr>
          <p:cNvPr id="3" name="rule"/>
          <p:cNvSpPr/>
          <p:nvPr/>
        </p:nvSpPr>
        <p:spPr>
          <a:xfrm>
            <a:off x="6309360" y="1325880"/>
            <a:ext cx="5330952" cy="1188720"/>
          </a:xfrm>
          <a:prstGeom prst="roundRect">
            <a:avLst>
              <a:gd name="adj" fmla="val 1153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309360" y="1325880"/>
            <a:ext cx="5330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angle = 360 / sides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2697480"/>
          <a:ext cx="5330952" cy="2578608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848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זווית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צלעות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צורה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120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משולש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90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ריבוע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משושה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36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כמעט עיגול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144 ימינה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rtl="1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כוכב</a:t>
                      </a:r>
                      <a:endParaRPr lang="en-US" sz="1600" dirty="0"/>
                    </a:p>
                  </a:txBody>
                  <a:tcPr anchor="ctr">
                    <a:lnL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8E8D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code-bg"/>
          <p:cNvSpPr/>
          <p:nvPr/>
        </p:nvSpPr>
        <p:spPr>
          <a:xfrm>
            <a:off x="548640" y="1325880"/>
            <a:ext cx="5394960" cy="2103120"/>
          </a:xfrm>
          <a:prstGeom prst="roundRect">
            <a:avLst>
              <a:gd name="adj" fmla="val 5217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7" name="code"/>
          <p:cNvSpPr txBox="1"/>
          <p:nvPr/>
        </p:nvSpPr>
        <p:spPr>
          <a:xfrm>
            <a:off x="777240" y="1490472"/>
            <a:ext cx="4937760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angle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360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sides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(sides):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(angle)</a:t>
            </a:r>
            <a:endParaRPr lang="en-US" sz="1700" dirty="0"/>
          </a:p>
        </p:txBody>
      </p:sp>
      <p:sp>
        <p:nvSpPr>
          <p:cNvPr id="8" name="pic-card"/>
          <p:cNvSpPr/>
          <p:nvPr/>
        </p:nvSpPr>
        <p:spPr>
          <a:xfrm>
            <a:off x="548640" y="3611880"/>
            <a:ext cx="5394960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162" y="3794760"/>
            <a:ext cx="4679916" cy="1737360"/>
          </a:xfrm>
          <a:prstGeom prst="rect">
            <a:avLst/>
          </a:prstGeom>
        </p:spPr>
      </p:pic>
      <p:sp>
        <p:nvSpPr>
          <p:cNvPr id="10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dirty="0">
                <a:solidFill>
                  <a:schemeClr val="bg1"/>
                </a:solidFill>
              </a:rPr>
              <a:t> </a:t>
            </a:r>
            <a:r>
              <a:rPr lang="en-US" sz="1600" b="1" dirty="0">
                <a:solidFill>
                  <a:schemeClr val="bg1"/>
                </a:solidFill>
              </a:rPr>
              <a:t>turtle4.py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צובעים צורות וכותבים טקסט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4480560" y="1325880"/>
            <a:ext cx="7159752" cy="2926080"/>
          </a:xfrm>
          <a:prstGeom prst="roundRect">
            <a:avLst>
              <a:gd name="adj" fmla="val 3750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4709160" y="1490472"/>
            <a:ext cx="6702552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"black"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"khaki"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</a:t>
            </a: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range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end_fill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"My Home"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font=(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"Arial"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4480560" y="4434840"/>
            <a:ext cx="71597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1"/>
                </a:solidFill>
              </a:rPr>
              <a:t>color(קו, מילוי)‎</a:t>
            </a:r>
            <a:r>
              <a:rPr lang="he-IL" altLang="en-US" sz="1700" dirty="0">
                <a:solidFill>
                  <a:schemeClr val="tx1"/>
                </a:solidFill>
              </a:rPr>
              <a:t> - שני צבעים: לקו ולמילוי   </a:t>
            </a:r>
            <a:endParaRPr lang="he-IL" sz="17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2"/>
                </a:solidFill>
              </a:rPr>
              <a:t>begin_fill()‎ ... end_fill()‎</a:t>
            </a:r>
            <a:r>
              <a:rPr lang="he-IL" altLang="en-US" sz="1700" dirty="0">
                <a:solidFill>
                  <a:schemeClr val="tx1"/>
                </a:solidFill>
              </a:rPr>
              <a:t> - כל מה שמצויר ביניהם נצבע      </a:t>
            </a:r>
            <a:endParaRPr lang="he-IL" sz="1700" dirty="0"/>
          </a:p>
          <a:p>
            <a:pPr marL="0" indent="0" algn="r">
              <a:spcAft>
                <a:spcPts val="600"/>
              </a:spcAft>
              <a:buNone/>
            </a:pPr>
            <a:r>
              <a:rPr lang="he-IL" altLang="en-US" sz="1700" b="1" dirty="0">
                <a:solidFill>
                  <a:schemeClr val="accent4"/>
                </a:solidFill>
              </a:rPr>
              <a:t>write(...)‎</a:t>
            </a:r>
            <a:r>
              <a:rPr lang="he-IL" altLang="en-US" sz="1700" dirty="0">
                <a:solidFill>
                  <a:schemeClr val="tx1"/>
                </a:solidFill>
              </a:rPr>
              <a:t> - כותב טקסט על המסך (באנגלית)     ‎</a:t>
            </a:r>
            <a:endParaRPr lang="he-IL" sz="17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3566160" cy="438912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15777"/>
            <a:ext cx="3200400" cy="3809326"/>
          </a:xfrm>
          <a:prstGeom prst="rect">
            <a:avLst/>
          </a:prstGeom>
        </p:spPr>
      </p:pic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turtle5.py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 err="1">
                <a:solidFill>
                  <a:schemeClr val="tx2"/>
                </a:solidFill>
              </a:rPr>
              <a:t>הצב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מחליט</a:t>
            </a:r>
            <a:r>
              <a:rPr lang="he-IL" sz="3600" b="1" dirty="0">
                <a:solidFill>
                  <a:schemeClr val="tx2"/>
                </a:solidFill>
              </a:rPr>
              <a:t>: </a:t>
            </a:r>
            <a:r>
              <a:rPr lang="en-US" sz="3600" b="1" dirty="0">
                <a:solidFill>
                  <a:schemeClr val="tx2"/>
                </a:solidFill>
              </a:rPr>
              <a:t> random</a:t>
            </a:r>
            <a:endParaRPr lang="en-US" sz="3600" dirty="0"/>
          </a:p>
        </p:txBody>
      </p:sp>
      <p:sp>
        <p:nvSpPr>
          <p:cNvPr id="3" name="code-bg"/>
          <p:cNvSpPr/>
          <p:nvPr/>
        </p:nvSpPr>
        <p:spPr>
          <a:xfrm>
            <a:off x="5394960" y="1325880"/>
            <a:ext cx="6245352" cy="3200400"/>
          </a:xfrm>
          <a:prstGeom prst="roundRect">
            <a:avLst>
              <a:gd name="adj" fmla="val 3429"/>
            </a:avLst>
          </a:prstGeom>
          <a:solidFill>
            <a:srgbClr val="1E1E2E"/>
          </a:solidFill>
          <a:ln w="12700">
            <a:solidFill>
              <a:srgbClr val="1E1E2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code"/>
          <p:cNvSpPr txBox="1"/>
          <p:nvPr/>
        </p:nvSpPr>
        <p:spPr>
          <a:xfrm>
            <a:off x="5623560" y="1490472"/>
            <a:ext cx="5788152" cy="2871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random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sides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sides ==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"red"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FF9F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95E0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"cyan"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  <a:p>
            <a:pPr marL="0" indent="0" algn="l">
              <a:buNone/>
            </a:pP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random.</a:t>
            </a:r>
            <a:r>
              <a:rPr lang="en-US" sz="1700" dirty="0">
                <a:solidFill>
                  <a:srgbClr val="7FD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randint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-300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en-US" sz="1700" dirty="0">
                <a:solidFill>
                  <a:srgbClr val="FFD16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300</a:t>
            </a:r>
            <a:r>
              <a:rPr lang="en-US" sz="1700" dirty="0">
                <a:solidFill>
                  <a:srgbClr val="E0E0E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5394960" y="4663440"/>
            <a:ext cx="62453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>
              <a:spcAft>
                <a:spcPts val="400"/>
              </a:spcAft>
            </a:pPr>
            <a:r>
              <a:rPr lang="he-IL" altLang="en-US" sz="1600" b="1" dirty="0">
                <a:solidFill>
                  <a:schemeClr val="accent3"/>
                </a:solidFill>
              </a:rPr>
              <a:t>random.randint(a, b) </a:t>
            </a:r>
            <a:r>
              <a:rPr lang="he-IL" altLang="en-US" sz="1600" dirty="0">
                <a:solidFill>
                  <a:schemeClr val="accent3"/>
                </a:solidFill>
              </a:rPr>
              <a:t>             </a:t>
            </a:r>
            <a:r>
              <a:rPr lang="en-US" altLang="en-US" sz="1600" dirty="0" err="1"/>
              <a:t>a,b</a:t>
            </a:r>
            <a:r>
              <a:rPr lang="he-IL" altLang="en-US" sz="1600" b="1" dirty="0">
                <a:solidFill>
                  <a:schemeClr val="accent3"/>
                </a:solidFill>
              </a:rPr>
              <a:t> ‎</a:t>
            </a:r>
            <a:r>
              <a:rPr lang="he-IL" altLang="en-US" sz="1600" dirty="0">
                <a:solidFill>
                  <a:schemeClr val="tx1"/>
                </a:solidFill>
              </a:rPr>
              <a:t> -</a:t>
            </a:r>
            <a:r>
              <a:rPr lang="he-IL" altLang="en-US" sz="1600" dirty="0"/>
              <a:t> </a:t>
            </a:r>
            <a:r>
              <a:rPr lang="he-IL" altLang="en-US" sz="1600" dirty="0">
                <a:solidFill>
                  <a:schemeClr val="tx1"/>
                </a:solidFill>
              </a:rPr>
              <a:t>מספר אקראי בטווח </a:t>
            </a:r>
            <a:endParaRPr lang="he-IL" sz="1600" dirty="0"/>
          </a:p>
          <a:p>
            <a:pPr marL="0" indent="0" algn="r">
              <a:spcAft>
                <a:spcPts val="400"/>
              </a:spcAft>
              <a:buNone/>
            </a:pPr>
            <a:r>
              <a:rPr lang="he-IL" altLang="en-US" sz="1600" b="1" dirty="0">
                <a:solidFill>
                  <a:schemeClr val="accent3"/>
                </a:solidFill>
              </a:rPr>
              <a:t>random.choice(list)‎</a:t>
            </a:r>
            <a:r>
              <a:rPr lang="he-IL" altLang="en-US" sz="1600" dirty="0">
                <a:solidFill>
                  <a:schemeClr val="tx1"/>
                </a:solidFill>
              </a:rPr>
              <a:t> - בוחר פריט אקראי מרשימה          </a:t>
            </a:r>
            <a:endParaRPr lang="he-IL" sz="1600" dirty="0"/>
          </a:p>
          <a:p>
            <a:pPr marL="0" indent="0" algn="r">
              <a:spcAft>
                <a:spcPts val="400"/>
              </a:spcAft>
              <a:buNone/>
            </a:pPr>
            <a:r>
              <a:rPr lang="he-IL" altLang="en-US" sz="1600" b="1" dirty="0">
                <a:solidFill>
                  <a:schemeClr val="accent4"/>
                </a:solidFill>
              </a:rPr>
              <a:t>screen.numinput(...)      ‎</a:t>
            </a:r>
            <a:r>
              <a:rPr lang="he-IL" altLang="en-US" sz="1600" dirty="0">
                <a:solidFill>
                  <a:schemeClr val="tx1"/>
                </a:solidFill>
              </a:rPr>
              <a:t> - חלון ששואל את המשתמש מספר</a:t>
            </a:r>
            <a:endParaRPr lang="he-IL" sz="1600" dirty="0"/>
          </a:p>
        </p:txBody>
      </p:sp>
      <p:sp>
        <p:nvSpPr>
          <p:cNvPr id="6" name="pic-card"/>
          <p:cNvSpPr/>
          <p:nvPr/>
        </p:nvSpPr>
        <p:spPr>
          <a:xfrm>
            <a:off x="548640" y="1325880"/>
            <a:ext cx="4480560" cy="4434840"/>
          </a:xfrm>
          <a:prstGeom prst="roundRect">
            <a:avLst>
              <a:gd name="adj" fmla="val 3093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676" y="1508760"/>
            <a:ext cx="4022487" cy="4069080"/>
          </a:xfrm>
          <a:prstGeom prst="rect">
            <a:avLst/>
          </a:prstGeom>
        </p:spPr>
      </p:pic>
      <p:sp>
        <p:nvSpPr>
          <p:cNvPr id="8" name="file-tag"/>
          <p:cNvSpPr/>
          <p:nvPr/>
        </p:nvSpPr>
        <p:spPr>
          <a:xfrm>
            <a:off x="8897112" y="5760720"/>
            <a:ext cx="2743200" cy="502920"/>
          </a:xfrm>
          <a:prstGeom prst="roundRect">
            <a:avLst>
              <a:gd name="adj" fmla="val 49091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5870448"/>
            <a:ext cx="283464" cy="28346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9034272" y="5760720"/>
            <a:ext cx="2103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chemeClr val="bg1"/>
                </a:solidFill>
              </a:rPr>
              <a:t>turtle6.py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דף העזר של הצב</a:t>
            </a:r>
            <a:endParaRPr lang="en-US" sz="3600" dirty="0"/>
          </a:p>
        </p:txBody>
      </p:sp>
      <p:sp>
        <p:nvSpPr>
          <p:cNvPr id="3" name="cheat-card"/>
          <p:cNvSpPr/>
          <p:nvPr/>
        </p:nvSpPr>
        <p:spPr>
          <a:xfrm>
            <a:off x="8067751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96351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1"/>
                </a:solidFill>
              </a:rPr>
              <a:t>תזוזה</a:t>
            </a:r>
            <a:endParaRPr lang="he-IL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8250631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forward(100)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170871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קדימה</a:t>
            </a:r>
            <a:endParaRPr lang="he-IL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250631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backward(50)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170871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אחורה</a:t>
            </a:r>
            <a:endParaRPr lang="he-IL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250631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left(90)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70871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פנייה שמאלה</a:t>
            </a:r>
            <a:endParaRPr lang="he-IL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250631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right(90)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170871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פנייה ימינה</a:t>
            </a:r>
            <a:endParaRPr lang="he-IL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50631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goto(x, y)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170871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קפיצה לנקודה</a:t>
            </a:r>
            <a:endParaRPr lang="he-IL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8250631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setheading(90)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170871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כיוון מדויק</a:t>
            </a:r>
            <a:endParaRPr lang="he-IL" sz="1400" dirty="0"/>
          </a:p>
        </p:txBody>
      </p:sp>
      <p:sp>
        <p:nvSpPr>
          <p:cNvPr id="17" name="cheat-card"/>
          <p:cNvSpPr/>
          <p:nvPr/>
        </p:nvSpPr>
        <p:spPr>
          <a:xfrm>
            <a:off x="4309567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38167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2"/>
                </a:solidFill>
              </a:rPr>
              <a:t>עט וצבע</a:t>
            </a:r>
            <a:endParaRPr lang="he-IL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4492447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penup()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12687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הרם עט</a:t>
            </a:r>
            <a:endParaRPr lang="he-IL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492447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pendown()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412687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הורד עט</a:t>
            </a:r>
            <a:endParaRPr lang="he-IL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4492447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color("red")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12687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צבע</a:t>
            </a:r>
            <a:endParaRPr lang="he-IL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4492447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pensize(5)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412687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עובי</a:t>
            </a:r>
            <a:endParaRPr lang="he-IL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4492447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begin_fill()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12687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התחל צביעה</a:t>
            </a:r>
            <a:endParaRPr lang="he-IL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492447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end_fill()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6412687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סיים צביעה</a:t>
            </a:r>
            <a:endParaRPr lang="he-IL" sz="1400" dirty="0"/>
          </a:p>
        </p:txBody>
      </p:sp>
      <p:sp>
        <p:nvSpPr>
          <p:cNvPr id="31" name="cheat-card"/>
          <p:cNvSpPr/>
          <p:nvPr/>
        </p:nvSpPr>
        <p:spPr>
          <a:xfrm>
            <a:off x="551383" y="1325880"/>
            <a:ext cx="3575304" cy="4663440"/>
          </a:xfrm>
          <a:prstGeom prst="roundRect">
            <a:avLst>
              <a:gd name="adj" fmla="val 38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779983" y="1463040"/>
            <a:ext cx="31181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2200" b="1" dirty="0">
                <a:solidFill>
                  <a:schemeClr val="accent4"/>
                </a:solidFill>
              </a:rPr>
              <a:t>צורות ועוד</a:t>
            </a:r>
            <a:endParaRPr lang="he-IL" sz="2200" dirty="0"/>
          </a:p>
        </p:txBody>
      </p:sp>
      <p:sp>
        <p:nvSpPr>
          <p:cNvPr id="33" name="Text 31"/>
          <p:cNvSpPr txBox="1"/>
          <p:nvPr/>
        </p:nvSpPr>
        <p:spPr>
          <a:xfrm>
            <a:off x="734263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circle(50)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2654503" y="210312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עיגול</a:t>
            </a:r>
            <a:endParaRPr lang="he-IL" sz="1400" dirty="0"/>
          </a:p>
        </p:txBody>
      </p:sp>
      <p:sp>
        <p:nvSpPr>
          <p:cNvPr id="35" name="Text 33"/>
          <p:cNvSpPr txBox="1"/>
          <p:nvPr/>
        </p:nvSpPr>
        <p:spPr>
          <a:xfrm>
            <a:off x="734263" y="2734056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dot(20)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2654503" y="2734056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נקודה</a:t>
            </a:r>
            <a:endParaRPr lang="he-IL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734263" y="336499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write("Hi")</a:t>
            </a:r>
            <a:endParaRPr lang="en-US" sz="1400" dirty="0"/>
          </a:p>
        </p:txBody>
      </p:sp>
      <p:sp>
        <p:nvSpPr>
          <p:cNvPr id="38" name="Text 36"/>
          <p:cNvSpPr txBox="1"/>
          <p:nvPr/>
        </p:nvSpPr>
        <p:spPr>
          <a:xfrm>
            <a:off x="2654503" y="3364992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טקסט</a:t>
            </a:r>
            <a:endParaRPr lang="he-IL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734263" y="3995928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speed(0)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2654503" y="3995928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מהירות</a:t>
            </a:r>
            <a:endParaRPr lang="he-IL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734263" y="4626864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hideturtle()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2654503" y="4626864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הסתר צב</a:t>
            </a:r>
            <a:endParaRPr lang="he-IL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734263" y="5257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chemeClr val="tx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turtle.done()</a:t>
            </a:r>
            <a:endParaRPr lang="en-US" sz="1400" dirty="0"/>
          </a:p>
        </p:txBody>
      </p:sp>
      <p:sp>
        <p:nvSpPr>
          <p:cNvPr id="44" name="Text 42"/>
          <p:cNvSpPr txBox="1"/>
          <p:nvPr/>
        </p:nvSpPr>
        <p:spPr>
          <a:xfrm>
            <a:off x="2654503" y="5257800"/>
            <a:ext cx="128930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400" dirty="0">
                <a:solidFill>
                  <a:schemeClr val="tx1"/>
                </a:solidFill>
              </a:rPr>
              <a:t>תמיד בסוף!</a:t>
            </a:r>
            <a:endParaRPr lang="he-IL" sz="1400" dirty="0"/>
          </a:p>
        </p:txBody>
      </p:sp>
      <p:sp>
        <p:nvSpPr>
          <p:cNvPr id="4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chemeClr val="tx2"/>
                </a:solidFill>
              </a:rPr>
              <a:t>באגים </a:t>
            </a:r>
            <a:r>
              <a:rPr lang="en-US" sz="3600" b="1" dirty="0" err="1">
                <a:solidFill>
                  <a:schemeClr val="tx2"/>
                </a:solidFill>
              </a:rPr>
              <a:t>מפורסמים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שכולנו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 err="1">
                <a:solidFill>
                  <a:schemeClr val="tx2"/>
                </a:solidFill>
              </a:rPr>
              <a:t>עשינו</a:t>
            </a:r>
            <a:r>
              <a:rPr lang="en-US" sz="3600" b="1" dirty="0">
                <a:solidFill>
                  <a:schemeClr val="tx2"/>
                </a:solidFill>
              </a:rPr>
              <a:t> </a:t>
            </a:r>
            <a:r>
              <a:rPr lang="en-US" sz="3600" b="1" dirty="0">
                <a:solidFill>
                  <a:schemeClr val="tx2"/>
                </a:solidFill>
                <a:sym typeface="Wingdings" panose="05000000000000000000" pitchFamily="2" charset="2"/>
              </a:rPr>
              <a:t></a:t>
            </a:r>
            <a:endParaRPr lang="en-US" sz="3600" dirty="0"/>
          </a:p>
        </p:txBody>
      </p:sp>
      <p:sp>
        <p:nvSpPr>
          <p:cNvPr id="3" name="bug-card"/>
          <p:cNvSpPr/>
          <p:nvPr/>
        </p:nvSpPr>
        <p:spPr>
          <a:xfrm>
            <a:off x="6227064" y="137160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4" name="badge"/>
          <p:cNvSpPr/>
          <p:nvPr/>
        </p:nvSpPr>
        <p:spPr>
          <a:xfrm>
            <a:off x="10661904" y="1645920"/>
            <a:ext cx="731520" cy="7315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2838" y="1806854"/>
            <a:ext cx="409651" cy="409651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501384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3"/>
                </a:solidFill>
              </a:rPr>
              <a:t>החלון נעלם בשנייה</a:t>
            </a:r>
            <a:endParaRPr lang="he-IL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501384" y="2423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שכחתם turtle.done()‎ בסוף הקוד</a:t>
            </a:r>
            <a:endParaRPr lang="he-IL" sz="1700" dirty="0"/>
          </a:p>
        </p:txBody>
      </p:sp>
      <p:sp>
        <p:nvSpPr>
          <p:cNvPr id="8" name="bug-card"/>
          <p:cNvSpPr/>
          <p:nvPr/>
        </p:nvSpPr>
        <p:spPr>
          <a:xfrm>
            <a:off x="548640" y="137160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9" name="badge"/>
          <p:cNvSpPr/>
          <p:nvPr/>
        </p:nvSpPr>
        <p:spPr>
          <a:xfrm>
            <a:off x="4983480" y="1645920"/>
            <a:ext cx="731520" cy="7315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414" y="1806854"/>
            <a:ext cx="409651" cy="409651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82296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2"/>
                </a:solidFill>
              </a:rPr>
              <a:t>AttributeError מוזר</a:t>
            </a:r>
            <a:endParaRPr lang="he-IL" sz="21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42316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קראתם לקובץ turtle.py - שנו את השם!</a:t>
            </a:r>
            <a:endParaRPr lang="he-IL" sz="1700" dirty="0"/>
          </a:p>
        </p:txBody>
      </p:sp>
      <p:sp>
        <p:nvSpPr>
          <p:cNvPr id="13" name="bug-card"/>
          <p:cNvSpPr/>
          <p:nvPr/>
        </p:nvSpPr>
        <p:spPr>
          <a:xfrm>
            <a:off x="6227064" y="370332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4" name="badge"/>
          <p:cNvSpPr/>
          <p:nvPr/>
        </p:nvSpPr>
        <p:spPr>
          <a:xfrm>
            <a:off x="10661904" y="3977640"/>
            <a:ext cx="731520" cy="7315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22838" y="4138574"/>
            <a:ext cx="409651" cy="409651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6501384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4"/>
                </a:solidFill>
              </a:rPr>
              <a:t>הצב מצייר רק פעם אחת</a:t>
            </a:r>
            <a:endParaRPr lang="he-IL" sz="2100" dirty="0"/>
          </a:p>
        </p:txBody>
      </p:sp>
      <p:sp>
        <p:nvSpPr>
          <p:cNvPr id="17" name="Text 12"/>
          <p:cNvSpPr txBox="1"/>
          <p:nvPr/>
        </p:nvSpPr>
        <p:spPr>
          <a:xfrm>
            <a:off x="6501384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שכחתם הזחה בתוך ה-for</a:t>
            </a:r>
            <a:endParaRPr lang="he-IL" sz="1700" dirty="0"/>
          </a:p>
        </p:txBody>
      </p:sp>
      <p:sp>
        <p:nvSpPr>
          <p:cNvPr id="18" name="bug-card"/>
          <p:cNvSpPr/>
          <p:nvPr/>
        </p:nvSpPr>
        <p:spPr>
          <a:xfrm>
            <a:off x="548640" y="3703320"/>
            <a:ext cx="5413248" cy="2103120"/>
          </a:xfrm>
          <a:prstGeom prst="roundRect">
            <a:avLst>
              <a:gd name="adj" fmla="val 6522"/>
            </a:avLst>
          </a:prstGeom>
          <a:solidFill>
            <a:schemeClr val="bg1"/>
          </a:solidFill>
          <a:ln w="12700">
            <a:solidFill>
              <a:srgbClr val="E3E3E3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sp>
        <p:nvSpPr>
          <p:cNvPr id="19" name="badge"/>
          <p:cNvSpPr/>
          <p:nvPr/>
        </p:nvSpPr>
        <p:spPr>
          <a:xfrm>
            <a:off x="4983480" y="3977640"/>
            <a:ext cx="731520" cy="73152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4414" y="4138574"/>
            <a:ext cx="409651" cy="409651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822960" y="402336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2100" b="1" dirty="0">
                <a:solidFill>
                  <a:schemeClr val="accent6"/>
                </a:solidFill>
              </a:rPr>
              <a:t>Turtle לא מוכר</a:t>
            </a:r>
            <a:endParaRPr lang="he-IL" sz="2100" dirty="0"/>
          </a:p>
        </p:txBody>
      </p:sp>
      <p:sp>
        <p:nvSpPr>
          <p:cNvPr id="22" name="Text 16"/>
          <p:cNvSpPr txBox="1"/>
          <p:nvPr/>
        </p:nvSpPr>
        <p:spPr>
          <a:xfrm>
            <a:off x="822960" y="4754880"/>
            <a:ext cx="4846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tx1"/>
                </a:solidFill>
              </a:rPr>
              <a:t>כתבתם turtle.turtle()‎ - צריך T גדולה: turtle.Turtle()‎</a:t>
            </a:r>
            <a:endParaRPr lang="he-IL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3600" b="1" dirty="0">
                <a:solidFill>
                  <a:schemeClr val="bg1"/>
                </a:solidFill>
              </a:rPr>
              <a:t>שיעורי בית: הנוף שלי</a:t>
            </a:r>
            <a:endParaRPr lang="he-IL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110916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accent5"/>
                </a:solidFill>
              </a:rPr>
              <a:t>פתחו את הקובץ homework_turtle.py והשלימו את הקוד.</a:t>
            </a:r>
            <a:endParaRPr lang="he-IL" sz="1700" dirty="0"/>
          </a:p>
        </p:txBody>
      </p:sp>
      <p:sp>
        <p:nvSpPr>
          <p:cNvPr id="4" name="Shape 2"/>
          <p:cNvSpPr/>
          <p:nvPr/>
        </p:nvSpPr>
        <p:spPr>
          <a:xfrm>
            <a:off x="11228832" y="172821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228832" y="17282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691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צבע רקע למסך (bgcolor)‎</a:t>
            </a:r>
            <a:endParaRPr lang="he-IL" sz="1700" dirty="0"/>
          </a:p>
        </p:txBody>
      </p:sp>
      <p:sp>
        <p:nvSpPr>
          <p:cNvPr id="7" name="Shape 5"/>
          <p:cNvSpPr/>
          <p:nvPr/>
        </p:nvSpPr>
        <p:spPr>
          <a:xfrm>
            <a:off x="11228832" y="2240280"/>
            <a:ext cx="384048" cy="38404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228832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203704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בית: ריבוע צבוע + גג משולש צבוע</a:t>
            </a:r>
            <a:endParaRPr lang="he-IL" sz="1700" dirty="0"/>
          </a:p>
        </p:txBody>
      </p:sp>
      <p:sp>
        <p:nvSpPr>
          <p:cNvPr id="10" name="Shape 8"/>
          <p:cNvSpPr/>
          <p:nvPr/>
        </p:nvSpPr>
        <p:spPr>
          <a:xfrm>
            <a:off x="11228832" y="2752344"/>
            <a:ext cx="384048" cy="384048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228832" y="27523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27157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שמש צהובה צבועה בפינה (circle)‎</a:t>
            </a:r>
            <a:endParaRPr lang="he-IL" sz="1700" dirty="0"/>
          </a:p>
        </p:txBody>
      </p:sp>
      <p:sp>
        <p:nvSpPr>
          <p:cNvPr id="13" name="Shape 11"/>
          <p:cNvSpPr/>
          <p:nvPr/>
        </p:nvSpPr>
        <p:spPr>
          <a:xfrm>
            <a:off x="11228832" y="3264408"/>
            <a:ext cx="384048" cy="384048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228832" y="3264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309360" y="32278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לפחות לולאת for אחת</a:t>
            </a:r>
            <a:endParaRPr lang="he-IL" sz="1700" dirty="0"/>
          </a:p>
        </p:txBody>
      </p:sp>
      <p:sp>
        <p:nvSpPr>
          <p:cNvPr id="16" name="Shape 14"/>
          <p:cNvSpPr/>
          <p:nvPr/>
        </p:nvSpPr>
        <p:spPr>
          <a:xfrm>
            <a:off x="11228832" y="3776472"/>
            <a:ext cx="384048" cy="38404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228832" y="3776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309360" y="373989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מעברים עם penup / goto / pendown</a:t>
            </a:r>
            <a:endParaRPr lang="he-IL" sz="1700" dirty="0"/>
          </a:p>
        </p:txBody>
      </p:sp>
      <p:sp>
        <p:nvSpPr>
          <p:cNvPr id="19" name="Shape 17"/>
          <p:cNvSpPr/>
          <p:nvPr/>
        </p:nvSpPr>
        <p:spPr>
          <a:xfrm>
            <a:off x="11228832" y="428853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1228832" y="42885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6309360" y="42519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700" dirty="0">
                <a:solidFill>
                  <a:schemeClr val="bg1"/>
                </a:solidFill>
              </a:rPr>
              <a:t>השם שלכם על המסך (write, באנגלית)‎</a:t>
            </a:r>
            <a:endParaRPr lang="he-IL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6309360" y="47548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he-IL" altLang="en-US" sz="1300" dirty="0">
                <a:solidFill>
                  <a:srgbClr val="A8D5BA"/>
                </a:solidFill>
              </a:rPr>
              <a:t>15 נק' לכל סעיף</a:t>
            </a:r>
            <a:endParaRPr lang="he-IL" sz="1300" dirty="0"/>
          </a:p>
        </p:txBody>
      </p:sp>
      <p:sp>
        <p:nvSpPr>
          <p:cNvPr id="23" name="bonus"/>
          <p:cNvSpPr/>
          <p:nvPr/>
        </p:nvSpPr>
        <p:spPr>
          <a:xfrm>
            <a:off x="6309360" y="5120640"/>
            <a:ext cx="5330952" cy="1371600"/>
          </a:xfrm>
          <a:prstGeom prst="roundRect">
            <a:avLst>
              <a:gd name="adj" fmla="val 10000"/>
            </a:avLst>
          </a:prstGeom>
          <a:solidFill>
            <a:srgbClr val="2D6A4F"/>
          </a:solidFill>
          <a:ln w="12700">
            <a:solidFill>
              <a:srgbClr val="2D6A4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5212080"/>
            <a:ext cx="49651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500" b="1" dirty="0">
                <a:solidFill>
                  <a:schemeClr val="accent5"/>
                </a:solidFill>
              </a:rPr>
              <a:t>בחירה (10 נק')‎: </a:t>
            </a:r>
            <a:r>
              <a:rPr lang="he-IL" altLang="en-US" sz="1500" dirty="0">
                <a:solidFill>
                  <a:schemeClr val="bg1"/>
                </a:solidFill>
              </a:rPr>
              <a:t>משתנה time_of_day ו-if ליום/לילה, או עץ / ענן / פרחים, או כוכבים במקומות אקראיים (random)‎</a:t>
            </a:r>
            <a:endParaRPr lang="he-IL" sz="1500" dirty="0"/>
          </a:p>
        </p:txBody>
      </p:sp>
      <p:sp>
        <p:nvSpPr>
          <p:cNvPr id="25" name="pic-card"/>
          <p:cNvSpPr/>
          <p:nvPr/>
        </p:nvSpPr>
        <p:spPr>
          <a:xfrm>
            <a:off x="548640" y="1691640"/>
            <a:ext cx="5394960" cy="3657600"/>
          </a:xfrm>
          <a:prstGeom prst="roundRect">
            <a:avLst>
              <a:gd name="adj" fmla="val 3750"/>
            </a:avLst>
          </a:prstGeom>
          <a:solidFill>
            <a:schemeClr val="bg1"/>
          </a:solidFill>
          <a:ln w="12700">
            <a:solidFill>
              <a:srgbClr val="D8E8DE"/>
            </a:solidFill>
            <a:prstDash val="solid"/>
          </a:ln>
          <a:effectLst>
            <a:outerShdw blurRad="76200" dist="25400" dir="5400000" algn="bl" rotWithShape="0">
              <a:srgbClr val="000000">
                <a:alpha val="18000"/>
              </a:srgbClr>
            </a:outerShdw>
          </a:effectLst>
        </p:spPr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792" y="1874520"/>
            <a:ext cx="4486656" cy="329184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548640" y="539496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 rtl="1">
              <a:buNone/>
            </a:pPr>
            <a:r>
              <a:rPr lang="he-IL" altLang="en-US" sz="1300" dirty="0">
                <a:solidFill>
                  <a:srgbClr val="A8D5BA"/>
                </a:solidFill>
              </a:rPr>
              <a:t>דוגמה לתוצאה (גרסת לילה)‎</a:t>
            </a:r>
            <a:endParaRPr lang="he-IL" sz="1300" dirty="0"/>
          </a:p>
        </p:txBody>
      </p:sp>
      <p:sp>
        <p:nvSpPr>
          <p:cNvPr id="28" name="badge"/>
          <p:cNvSpPr/>
          <p:nvPr/>
        </p:nvSpPr>
        <p:spPr>
          <a:xfrm>
            <a:off x="5394960" y="5833872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2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15661" y="5954573"/>
            <a:ext cx="307238" cy="307238"/>
          </a:xfrm>
          <a:prstGeom prst="rect">
            <a:avLst/>
          </a:prstGeom>
        </p:spPr>
      </p:pic>
      <p:sp>
        <p:nvSpPr>
          <p:cNvPr id="30" name="Text 26"/>
          <p:cNvSpPr txBox="1"/>
          <p:nvPr/>
        </p:nvSpPr>
        <p:spPr>
          <a:xfrm>
            <a:off x="548640" y="5852160"/>
            <a:ext cx="4709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altLang="en-US" sz="1500" b="1" dirty="0">
                <a:solidFill>
                  <a:schemeClr val="accent2"/>
                </a:solidFill>
              </a:rPr>
              <a:t>הגשה: </a:t>
            </a:r>
            <a:r>
              <a:rPr lang="he-IL" altLang="en-US" sz="1500" dirty="0">
                <a:solidFill>
                  <a:schemeClr val="bg1"/>
                </a:solidFill>
              </a:rPr>
              <a:t>שמרו בשם turtle_hw_השם.py והעלו ל-Classroom</a:t>
            </a:r>
            <a:endParaRPr lang="he-IL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27432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 err="1">
                <a:solidFill>
                  <a:schemeClr val="tx2"/>
                </a:solidFill>
              </a:rPr>
              <a:t>בונוס: הצב יודע גם לשחק!</a:t>
            </a:r>
            <a:endParaRPr lang="en-US" sz="3600" dirty="0"/>
          </a:p>
        </p:txBody>
      </p:sp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/>
        </p:txBody>
      </p:sp>
      <p:sp>
        <p:nvSpPr>
          <p:cNvPr id="3" name="Rounded Rectangle 2"/>
          <p:cNvSpPr/>
          <p:nvPr/>
        </p:nvSpPr>
        <p:spPr>
          <a:xfrm>
            <a:off x="6336792" y="1325880"/>
            <a:ext cx="5303520" cy="2971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keys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6912" y="1463040"/>
            <a:ext cx="3379154" cy="2697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336792" y="44348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200" b="1">
                <a:solidFill>
                  <a:srgbClr val="2D9F5C"/>
                </a:solidFill>
                <a:latin typeface="Arial"/>
              </a:rPr>
              <a:t>ציור עם המקלדת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6792" y="489204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חיצים - הזזת הצב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רווח - הרמת / הורדת העט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c - מחיקת הציור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262872" y="58064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turtle7.py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25880"/>
            <a:ext cx="5303520" cy="2971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E8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game_mid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8760" y="1463040"/>
            <a:ext cx="3379154" cy="2697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434840"/>
            <a:ext cx="5303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2200" b="1">
                <a:solidFill>
                  <a:srgbClr val="EF476F"/>
                </a:solidFill>
                <a:latin typeface="Arial"/>
              </a:rPr>
              <a:t>משחק: תפסו את הצב!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92040"/>
            <a:ext cx="5303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לחיצה על הצב - נקודה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יש לכם 30 שניות</a:t>
            </a:r>
          </a:p>
          <a:p>
            <a:pPr algn="r" rtl="1">
              <a:spcAft>
                <a:spcPts val="400"/>
              </a:spcAft>
            </a:pPr>
            <a:r>
              <a:rPr sz="1600" b="0">
                <a:solidFill>
                  <a:srgbClr val="1B2B34"/>
                </a:solidFill>
                <a:latin typeface="Arial"/>
              </a:rPr>
              <a:t>כמה תצליחו לצבור?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19" y="5806440"/>
            <a:ext cx="2377440" cy="45720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turtle_game.py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urtle Pond">
  <a:themeElements>
    <a:clrScheme name="Turtle Pond">
      <a:dk1>
        <a:srgbClr val="1B2B34"/>
      </a:dk1>
      <a:lt1>
        <a:srgbClr val="FFFFFF"/>
      </a:lt1>
      <a:dk2>
        <a:srgbClr val="1B4332"/>
      </a:dk2>
      <a:lt2>
        <a:srgbClr val="E9F7EF"/>
      </a:lt2>
      <a:accent1>
        <a:srgbClr val="2D9F5C"/>
      </a:accent1>
      <a:accent2>
        <a:srgbClr val="FF9F1C"/>
      </a:accent2>
      <a:accent3>
        <a:srgbClr val="EF476F"/>
      </a:accent3>
      <a:accent4>
        <a:srgbClr val="118AB2"/>
      </a:accent4>
      <a:accent5>
        <a:srgbClr val="FFD166"/>
      </a:accent5>
      <a:accent6>
        <a:srgbClr val="8E44AD"/>
      </a:accent6>
      <a:hlink>
        <a:srgbClr val="118AB2"/>
      </a:hlink>
      <a:folHlink>
        <a:srgbClr val="8E44AD"/>
      </a:folHlink>
    </a:clrScheme>
    <a:fontScheme name="Turtle Pond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</TotalTime>
  <Words>1607</Words>
  <Application>Microsoft Office PowerPoint</Application>
  <PresentationFormat>Widescreen</PresentationFormat>
  <Paragraphs>298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Courier New</vt:lpstr>
      <vt:lpstr>Wingdings</vt:lpstr>
      <vt:lpstr>Turtle Pond</vt:lpstr>
      <vt:lpstr>PowerPoint Presentation</vt:lpstr>
      <vt:lpstr>תזכורת: מה למדנו בשיעור הקודם</vt:lpstr>
      <vt:lpstr>השיעור של היום</vt:lpstr>
      <vt:lpstr>מי זה הצב?</vt:lpstr>
      <vt:lpstr>התוכנית הראשונה: ריבוע</vt:lpstr>
      <vt:lpstr>פונים ימינה ושמאלה: מעלות</vt:lpstr>
      <vt:lpstr>צבעים וסטייל</vt:lpstr>
      <vt:lpstr>מרימים את העט: קפיצות ועיגולים</vt:lpstr>
      <vt:lpstr>מתכנתים עצלנים משתמשים בלולאות</vt:lpstr>
      <vt:lpstr>כלל הזהב: כל מצולע שתרצו</vt:lpstr>
      <vt:lpstr>צובעים צורות וכותבים טקסט</vt:lpstr>
      <vt:lpstr>הצב מחליט:  random</vt:lpstr>
      <vt:lpstr>דף העזר של הצב</vt:lpstr>
      <vt:lpstr>באגים מפורסמים שכולנו עשינו 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הצב המצייר - turtle בפייתון</dc:title>
  <dc:subject>PptxGenJS Presentation</dc:subject>
  <dc:creator>PptxGenJS</dc:creator>
  <cp:lastModifiedBy>Dani Livne</cp:lastModifiedBy>
  <cp:revision>14</cp:revision>
  <dcterms:created xsi:type="dcterms:W3CDTF">2026-10-04T10:37:06Z</dcterms:created>
  <dcterms:modified xsi:type="dcterms:W3CDTF">2026-10-04T11:12:50Z</dcterms:modified>
</cp:coreProperties>
</file>