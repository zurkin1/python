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פתיחה" id="{25735534-611B-5565-B470-9A49223618D5}">
          <p14:sldIdLst>
            <p14:sldId id="256"/>
            <p14:sldId id="257"/>
            <p14:sldId id="258"/>
          </p14:sldIdLst>
        </p14:section>
        <p14:section name="צעדים ראשונים" id="{4F9E82EC-A13F-5CD2-AE2E-2E1042503D1E}">
          <p14:sldIdLst>
            <p14:sldId id="259"/>
            <p14:sldId id="260"/>
            <p14:sldId id="261"/>
          </p14:sldIdLst>
        </p14:section>
        <p14:section name="צבעים וצורות" id="{F1A7A32A-8E9A-9FF6-9D16-3AACC09BAE73}">
          <p14:sldIdLst>
            <p14:sldId id="262"/>
            <p14:sldId id="263"/>
          </p14:sldIdLst>
        </p14:section>
        <p14:section name="לולאות" id="{277FD145-71B0-5045-9BF1-CBFF10211974}">
          <p14:sldIdLst>
            <p14:sldId id="264"/>
            <p14:sldId id="265"/>
          </p14:sldIdLst>
        </p14:section>
        <p14:section name="צביעה והחלטות" id="{91D24F6C-FD40-7225-E15F-8EEAC7F6374D}">
          <p14:sldIdLst>
            <p14:sldId id="266"/>
            <p14:sldId id="267"/>
          </p14:sldIdLst>
        </p14:section>
        <p14:section name="סיכום" id="{E4207923-479A-D920-63A9-9F45E04704F9}">
          <p14:sldIdLst>
            <p14:sldId id="268"/>
            <p14:sldId id="269"/>
            <p14:sldId id="271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2593" autoAdjust="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038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פתיחה (1 דק'). ספריית turtle היא דרך כיפית לראות את הקוד 'מתעורר לחיים' - כל שורה מזיזה צב על המסך.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דק'. לא כולם זוכרים - שאלו את הכיתה: מה זה משתנה? מה עושה if? רק חזרה קצרה. לולאות עוד לא בטוח שנלמדו - נכיר אותן היום דרך הצב.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דק'. כל שלב = קובץ תרגול. בכל קובץ יש קוד מוכן להרצה ובסופו 'אתגרים'. אם קובץ נקרא turtle.py - פייתון ייבא אותו במקום הספרייה ויתקבל AttributeError.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דק'. הסבירו שהמסך הוא כמו מפה. הצב מתחיל ב-(0,0) ופניו ימינה. שאלו: איפה תהיה הנקודה (0, 200)?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דק'. הריצו את turtle1.py יחד, ואז תנו 4-5 דקות לאתגרים 1-4 בקובץ (מלבן, משולש).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 דק'. בקשו מתלמיד לקום ולהיות 'הצב' - הכיתה נותנת לו פקודות. תשובת החידה: משולש שווה צלעות. left = שמאלה, right = ימינה. שימו לב: הזווית בתוך משולש שווה צלעות היא 60, אבל הצב מסתובב 120 (180 פחות 60). בריבוע שתיהן 90 ולכן זה לא מבלבל.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דק'. הצבעים נכתבים באנגלית בתוך מירכאות. אפשר גם קוד צבע כמו "#FF00FF". תנו לתלמידים לבחור צבעים משלהם.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דק'. penup זה כמו להרים את העיפרון מהדף. הראו את turtle3.py ואז אתגר: פרצוף עצוב / אף.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דק'. הדגישו: אותה תוצאה, הרבה פחות עבודה. ההזחה בפייתון קובעת מה בתוך הלולאה - בדיוק כמו ב-if.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דק'. כאן משתנים ולולאה עובדים יחד: משנים רק את sides ומקבלים צורה חדשה. אתגר בקובץ: פרח (לולאה בתוך לולאה) וספירלה.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דק'. turtle5.py מצייר בית - זה גם בסיס טוב לשיעורי הבית. אתגר: חלון, דשא, עץ.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דק'. חיבור לשיעור הקודם: if עובד בדיוק אותו דבר, רק שעכשיו התוצאה היא ציור. כל הרצה של turtle6.py נראית אחרת בגלל random.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דק'. כדאי להדפיס את השקף הזה או לשתף אותו בקלאסרום - יעזור בשיעורי הבית.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דק'. אלה הטעויות הנפוצות ביותר בשיעורי הבית - חסכו לעצמכם שאלות בווטסאפ :)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 דק'. הדגמה בלבד - לא צריך להבין כל שורה. turtle7.py: תנו לתלמיד לשלוט בצב מול הכיתה. turtle_game.py: תחרות קצרה - מי מגיע לניקוד הגבוה ביותר. פקודות חדשות: onkey, onclick, ontimer ו-def (פונקציה) - נלמד בהמשך.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דק'. הקובץ homework_turtle.py כבר מכיל את רשימת הדרישות ושלד קוד. פתרון לדוגמה למורה: teacher/homework_solution.py. בדיקה: מריצים את הקובץ ובודקים כל סעיף.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 rtl="1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r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b"/>
          <p:cNvSpPr/>
          <p:nvPr/>
        </p:nvSpPr>
        <p:spPr>
          <a:xfrm>
            <a:off x="640080" y="1097280"/>
            <a:ext cx="4572000" cy="45720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783080"/>
            <a:ext cx="3200400" cy="3200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206240" y="9144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846320" y="4937760"/>
            <a:ext cx="320040" cy="3200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51206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0" y="173736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6000" b="1" dirty="0">
                <a:solidFill>
                  <a:schemeClr val="bg1"/>
                </a:solidFill>
              </a:rPr>
              <a:t>הצב המצייר</a:t>
            </a:r>
            <a:endParaRPr lang="he-IL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29260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2600" dirty="0">
                <a:solidFill>
                  <a:schemeClr val="accent5"/>
                </a:solidFill>
              </a:rPr>
              <a:t>ציור וגרפיקה עם ספריית turtle בפייתון</a:t>
            </a:r>
            <a:endParaRPr lang="he-IL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5669280" y="38404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800" dirty="0">
                <a:solidFill>
                  <a:srgbClr val="CDE8D8"/>
                </a:solidFill>
              </a:rPr>
              <a:t>היום נלמד את הצב לצייר: קווים, צורות, צבעים, עיגולים ואפילו בית שלם!</a:t>
            </a:r>
            <a:endParaRPr lang="he-IL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chemeClr val="tx2"/>
                </a:solidFill>
              </a:rPr>
              <a:t>תזכורת: מה למדנו בשיעור הקודם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800" dirty="0">
                <a:solidFill>
                  <a:schemeClr val="tx1"/>
                </a:solidFill>
              </a:rPr>
              <a:t>בשיעור הקודם סקרנו את יסודות פייתון: קבועים, משתנים, print ותנאי if. היום - הכול יעבוד יחד עם הצב!</a:t>
            </a:r>
            <a:endParaRPr lang="he-IL" sz="1800" dirty="0"/>
          </a:p>
        </p:txBody>
      </p:sp>
      <p:sp>
        <p:nvSpPr>
          <p:cNvPr id="4" name="recap-card"/>
          <p:cNvSpPr/>
          <p:nvPr/>
        </p:nvSpPr>
        <p:spPr>
          <a:xfrm>
            <a:off x="8997696" y="2057400"/>
            <a:ext cx="2633472" cy="3840480"/>
          </a:xfrm>
          <a:prstGeom prst="roundRect">
            <a:avLst>
              <a:gd name="adj" fmla="val 52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"/>
          <p:cNvSpPr/>
          <p:nvPr/>
        </p:nvSpPr>
        <p:spPr>
          <a:xfrm>
            <a:off x="9857232" y="23317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2532888"/>
            <a:ext cx="512064" cy="5120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80576" y="342900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he-IL" altLang="en-US" sz="2400" b="1" dirty="0">
                <a:solidFill>
                  <a:schemeClr val="accent1"/>
                </a:solidFill>
              </a:rPr>
              <a:t>קבועים</a:t>
            </a:r>
            <a:endParaRPr lang="he-IL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9180576" y="393192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he-IL" altLang="en-US" sz="1600" dirty="0">
                <a:solidFill>
                  <a:schemeClr val="tx1"/>
                </a:solidFill>
              </a:rPr>
              <a:t>ערך שלא משתנה</a:t>
            </a:r>
            <a:endParaRPr lang="he-IL" sz="1600" dirty="0"/>
          </a:p>
        </p:txBody>
      </p:sp>
      <p:sp>
        <p:nvSpPr>
          <p:cNvPr id="9" name="code-bg"/>
          <p:cNvSpPr/>
          <p:nvPr/>
        </p:nvSpPr>
        <p:spPr>
          <a:xfrm>
            <a:off x="9180576" y="4572000"/>
            <a:ext cx="2267712" cy="868680"/>
          </a:xfrm>
          <a:prstGeom prst="roundRect">
            <a:avLst>
              <a:gd name="adj" fmla="val 1263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code"/>
          <p:cNvSpPr txBox="1"/>
          <p:nvPr/>
        </p:nvSpPr>
        <p:spPr>
          <a:xfrm>
            <a:off x="9409176" y="4736592"/>
            <a:ext cx="18105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SIDES</a:t>
            </a:r>
            <a:r>
              <a:rPr lang="en-US" sz="16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6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recap-card"/>
          <p:cNvSpPr/>
          <p:nvPr/>
        </p:nvSpPr>
        <p:spPr>
          <a:xfrm>
            <a:off x="6181344" y="2057400"/>
            <a:ext cx="2633472" cy="3840480"/>
          </a:xfrm>
          <a:prstGeom prst="roundRect">
            <a:avLst>
              <a:gd name="adj" fmla="val 52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badge"/>
          <p:cNvSpPr/>
          <p:nvPr/>
        </p:nvSpPr>
        <p:spPr>
          <a:xfrm>
            <a:off x="7040880" y="233172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048" y="2532888"/>
            <a:ext cx="512064" cy="5120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364224" y="342900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he-IL" altLang="en-US" sz="2400" b="1" dirty="0">
                <a:solidFill>
                  <a:schemeClr val="accent2"/>
                </a:solidFill>
              </a:rPr>
              <a:t>משתנים</a:t>
            </a:r>
            <a:endParaRPr lang="he-IL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6364224" y="393192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he-IL" altLang="en-US" sz="1600" dirty="0">
                <a:solidFill>
                  <a:schemeClr val="tx1"/>
                </a:solidFill>
              </a:rPr>
              <a:t>קופסה ששומרת ערך</a:t>
            </a:r>
            <a:endParaRPr lang="he-IL" sz="1600" dirty="0"/>
          </a:p>
        </p:txBody>
      </p:sp>
      <p:sp>
        <p:nvSpPr>
          <p:cNvPr id="16" name="code-bg"/>
          <p:cNvSpPr/>
          <p:nvPr/>
        </p:nvSpPr>
        <p:spPr>
          <a:xfrm>
            <a:off x="6364224" y="4572000"/>
            <a:ext cx="2267712" cy="868680"/>
          </a:xfrm>
          <a:prstGeom prst="roundRect">
            <a:avLst>
              <a:gd name="adj" fmla="val 1263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code"/>
          <p:cNvSpPr txBox="1"/>
          <p:nvPr/>
        </p:nvSpPr>
        <p:spPr>
          <a:xfrm>
            <a:off x="6592824" y="4736592"/>
            <a:ext cx="18105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r>
              <a:rPr lang="en-US" sz="16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6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600" dirty="0"/>
          </a:p>
        </p:txBody>
      </p:sp>
      <p:sp>
        <p:nvSpPr>
          <p:cNvPr id="18" name="recap-card"/>
          <p:cNvSpPr/>
          <p:nvPr/>
        </p:nvSpPr>
        <p:spPr>
          <a:xfrm>
            <a:off x="3364992" y="2057400"/>
            <a:ext cx="2633472" cy="3840480"/>
          </a:xfrm>
          <a:prstGeom prst="roundRect">
            <a:avLst>
              <a:gd name="adj" fmla="val 52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"/>
          <p:cNvSpPr/>
          <p:nvPr/>
        </p:nvSpPr>
        <p:spPr>
          <a:xfrm>
            <a:off x="4224528" y="233172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5696" y="2532888"/>
            <a:ext cx="512064" cy="51206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3547872" y="342900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he-IL" altLang="en-US" sz="2400" b="1" dirty="0">
                <a:solidFill>
                  <a:schemeClr val="accent3"/>
                </a:solidFill>
              </a:rPr>
              <a:t>print</a:t>
            </a:r>
            <a:endParaRPr lang="he-IL" sz="2400" dirty="0"/>
          </a:p>
        </p:txBody>
      </p:sp>
      <p:sp>
        <p:nvSpPr>
          <p:cNvPr id="22" name="Text 17"/>
          <p:cNvSpPr txBox="1"/>
          <p:nvPr/>
        </p:nvSpPr>
        <p:spPr>
          <a:xfrm>
            <a:off x="3547872" y="393192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he-IL" altLang="en-US" sz="1600" dirty="0">
                <a:solidFill>
                  <a:schemeClr val="tx1"/>
                </a:solidFill>
              </a:rPr>
              <a:t>הדפסה למסך</a:t>
            </a:r>
            <a:endParaRPr lang="he-IL" sz="1600" dirty="0"/>
          </a:p>
        </p:txBody>
      </p:sp>
      <p:sp>
        <p:nvSpPr>
          <p:cNvPr id="23" name="code-bg"/>
          <p:cNvSpPr/>
          <p:nvPr/>
        </p:nvSpPr>
        <p:spPr>
          <a:xfrm>
            <a:off x="3547872" y="4572000"/>
            <a:ext cx="2267712" cy="868680"/>
          </a:xfrm>
          <a:prstGeom prst="roundRect">
            <a:avLst>
              <a:gd name="adj" fmla="val 1263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code"/>
          <p:cNvSpPr txBox="1"/>
          <p:nvPr/>
        </p:nvSpPr>
        <p:spPr>
          <a:xfrm>
            <a:off x="3776472" y="4736592"/>
            <a:ext cx="18105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6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00" dirty="0">
                <a:solidFill>
                  <a:srgbClr val="95E0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"Hi!"</a:t>
            </a:r>
            <a:r>
              <a:rPr lang="en-US" sz="16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</p:txBody>
      </p:sp>
      <p:sp>
        <p:nvSpPr>
          <p:cNvPr id="25" name="recap-card"/>
          <p:cNvSpPr/>
          <p:nvPr/>
        </p:nvSpPr>
        <p:spPr>
          <a:xfrm>
            <a:off x="548640" y="2057400"/>
            <a:ext cx="2633472" cy="3840480"/>
          </a:xfrm>
          <a:prstGeom prst="roundRect">
            <a:avLst>
              <a:gd name="adj" fmla="val 52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badge"/>
          <p:cNvSpPr/>
          <p:nvPr/>
        </p:nvSpPr>
        <p:spPr>
          <a:xfrm>
            <a:off x="1408176" y="2331720"/>
            <a:ext cx="914400" cy="9144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9344" y="2532888"/>
            <a:ext cx="512064" cy="51206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31520" y="342900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he-IL" altLang="en-US" sz="2400" b="1" dirty="0">
                <a:solidFill>
                  <a:schemeClr val="accent4"/>
                </a:solidFill>
              </a:rPr>
              <a:t>תנאי if</a:t>
            </a:r>
            <a:endParaRPr lang="he-IL" sz="2400" dirty="0"/>
          </a:p>
        </p:txBody>
      </p:sp>
      <p:sp>
        <p:nvSpPr>
          <p:cNvPr id="29" name="Text 23"/>
          <p:cNvSpPr txBox="1"/>
          <p:nvPr/>
        </p:nvSpPr>
        <p:spPr>
          <a:xfrm>
            <a:off x="731520" y="3931920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he-IL" altLang="en-US" sz="1600" dirty="0">
                <a:solidFill>
                  <a:schemeClr val="tx1"/>
                </a:solidFill>
              </a:rPr>
              <a:t>המחשב מחליט</a:t>
            </a:r>
            <a:endParaRPr lang="he-IL" sz="1600" dirty="0"/>
          </a:p>
        </p:txBody>
      </p:sp>
      <p:sp>
        <p:nvSpPr>
          <p:cNvPr id="30" name="code-bg"/>
          <p:cNvSpPr/>
          <p:nvPr/>
        </p:nvSpPr>
        <p:spPr>
          <a:xfrm>
            <a:off x="731520" y="4572000"/>
            <a:ext cx="2267712" cy="868680"/>
          </a:xfrm>
          <a:prstGeom prst="roundRect">
            <a:avLst>
              <a:gd name="adj" fmla="val 1263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code"/>
          <p:cNvSpPr txBox="1"/>
          <p:nvPr/>
        </p:nvSpPr>
        <p:spPr>
          <a:xfrm>
            <a:off x="960120" y="4736592"/>
            <a:ext cx="18105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6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 &gt; </a:t>
            </a:r>
            <a:r>
              <a:rPr lang="en-US" sz="16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r>
              <a:rPr lang="en-US" sz="16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6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dirty="0"/>
              <a:t>השיעור של היום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10317175" y="17373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17175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9905695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altLang="en-US" sz="1800" b="1" dirty="0">
                <a:solidFill>
                  <a:schemeClr val="tx1"/>
                </a:solidFill>
              </a:rPr>
              <a:t>הצעדים הראשונים</a:t>
            </a:r>
            <a:endParaRPr lang="he-IL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905695" y="3566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forward, left, right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905695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he-IL" altLang="en-US" sz="1400" b="1" dirty="0">
                <a:solidFill>
                  <a:schemeClr val="accent2"/>
                </a:solidFill>
              </a:rPr>
              <a:t>turtle1.py</a:t>
            </a:r>
            <a:endParaRPr lang="he-IL" sz="1400" dirty="0"/>
          </a:p>
        </p:txBody>
      </p:sp>
      <p:sp>
        <p:nvSpPr>
          <p:cNvPr id="8" name="Shape 6"/>
          <p:cNvSpPr/>
          <p:nvPr/>
        </p:nvSpPr>
        <p:spPr>
          <a:xfrm>
            <a:off x="8449970" y="173736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49970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</a:rPr>
              <a:t>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8038490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altLang="en-US" sz="1800" b="1" dirty="0">
                <a:solidFill>
                  <a:schemeClr val="tx1"/>
                </a:solidFill>
              </a:rPr>
              <a:t>צבעים וסטייל</a:t>
            </a:r>
            <a:endParaRPr lang="he-IL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038490" y="3566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color, pensize, speed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038490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he-IL" altLang="en-US" sz="1400" b="1" dirty="0">
                <a:solidFill>
                  <a:schemeClr val="accent2"/>
                </a:solidFill>
              </a:rPr>
              <a:t>turtle2.py</a:t>
            </a:r>
            <a:endParaRPr lang="he-IL" sz="1400" dirty="0"/>
          </a:p>
        </p:txBody>
      </p:sp>
      <p:sp>
        <p:nvSpPr>
          <p:cNvPr id="13" name="Shape 11"/>
          <p:cNvSpPr/>
          <p:nvPr/>
        </p:nvSpPr>
        <p:spPr>
          <a:xfrm>
            <a:off x="6582766" y="1737360"/>
            <a:ext cx="914400" cy="9144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2766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</a:rPr>
              <a:t>3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171286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altLang="en-US" sz="1800" b="1" dirty="0">
                <a:solidFill>
                  <a:schemeClr val="tx1"/>
                </a:solidFill>
              </a:rPr>
              <a:t>קפיצות ועיגולים</a:t>
            </a:r>
            <a:endParaRPr lang="he-IL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171286" y="3566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penup, goto, circle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171286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he-IL" altLang="en-US" sz="1400" b="1" dirty="0">
                <a:solidFill>
                  <a:schemeClr val="accent2"/>
                </a:solidFill>
              </a:rPr>
              <a:t>turtle3.py</a:t>
            </a:r>
            <a:endParaRPr lang="he-IL" sz="1400" dirty="0"/>
          </a:p>
        </p:txBody>
      </p:sp>
      <p:sp>
        <p:nvSpPr>
          <p:cNvPr id="18" name="Shape 16"/>
          <p:cNvSpPr/>
          <p:nvPr/>
        </p:nvSpPr>
        <p:spPr>
          <a:xfrm>
            <a:off x="4715561" y="1737360"/>
            <a:ext cx="914400" cy="9144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15561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</a:rPr>
              <a:t>4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4304081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altLang="en-US" sz="1800" b="1" dirty="0">
                <a:solidFill>
                  <a:schemeClr val="tx1"/>
                </a:solidFill>
              </a:rPr>
              <a:t>לולאות</a:t>
            </a:r>
            <a:endParaRPr lang="he-IL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304081" y="3566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+ range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304081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he-IL" altLang="en-US" sz="1400" b="1" dirty="0">
                <a:solidFill>
                  <a:schemeClr val="accent2"/>
                </a:solidFill>
              </a:rPr>
              <a:t>turtle4.py</a:t>
            </a:r>
            <a:endParaRPr lang="he-IL" sz="1400" dirty="0"/>
          </a:p>
        </p:txBody>
      </p:sp>
      <p:sp>
        <p:nvSpPr>
          <p:cNvPr id="23" name="Shape 21"/>
          <p:cNvSpPr/>
          <p:nvPr/>
        </p:nvSpPr>
        <p:spPr>
          <a:xfrm>
            <a:off x="2848356" y="1737360"/>
            <a:ext cx="914400" cy="9144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848356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</a:rPr>
              <a:t>5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2436876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altLang="en-US" sz="1800" b="1" dirty="0">
                <a:solidFill>
                  <a:schemeClr val="tx1"/>
                </a:solidFill>
              </a:rPr>
              <a:t>צביעה וטקסט</a:t>
            </a:r>
            <a:endParaRPr lang="he-IL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2436876" y="3566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begin_fill, write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436876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he-IL" altLang="en-US" sz="1400" b="1" dirty="0">
                <a:solidFill>
                  <a:schemeClr val="accent2"/>
                </a:solidFill>
              </a:rPr>
              <a:t>turtle5.py</a:t>
            </a:r>
            <a:endParaRPr lang="he-IL" sz="1400" dirty="0"/>
          </a:p>
        </p:txBody>
      </p:sp>
      <p:sp>
        <p:nvSpPr>
          <p:cNvPr id="28" name="Shape 26"/>
          <p:cNvSpPr/>
          <p:nvPr/>
        </p:nvSpPr>
        <p:spPr>
          <a:xfrm>
            <a:off x="981151" y="17373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81151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</a:rPr>
              <a:t>6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569671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altLang="en-US" sz="1800" b="1" dirty="0">
                <a:solidFill>
                  <a:schemeClr val="tx1"/>
                </a:solidFill>
              </a:rPr>
              <a:t>הצב מחליט</a:t>
            </a:r>
            <a:endParaRPr lang="he-IL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569671" y="3566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C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+ random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69671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he-IL" altLang="en-US" sz="1400" b="1" dirty="0">
                <a:solidFill>
                  <a:schemeClr val="accent2"/>
                </a:solidFill>
              </a:rPr>
              <a:t>turtle6.py</a:t>
            </a:r>
            <a:endParaRPr lang="he-IL" sz="1400" dirty="0"/>
          </a:p>
        </p:txBody>
      </p:sp>
      <p:sp>
        <p:nvSpPr>
          <p:cNvPr id="33" name="tip"/>
          <p:cNvSpPr/>
          <p:nvPr/>
        </p:nvSpPr>
        <p:spPr>
          <a:xfrm>
            <a:off x="548640" y="4937760"/>
            <a:ext cx="11091672" cy="1097280"/>
          </a:xfrm>
          <a:prstGeom prst="roundRect">
            <a:avLst>
              <a:gd name="adj" fmla="val 12500"/>
            </a:avLst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</p:sp>
      <p:sp>
        <p:nvSpPr>
          <p:cNvPr id="34" name="badge"/>
          <p:cNvSpPr/>
          <p:nvPr/>
        </p:nvSpPr>
        <p:spPr>
          <a:xfrm>
            <a:off x="10744200" y="507492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5251" y="5255971"/>
            <a:ext cx="460858" cy="460858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822960" y="50292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700" b="1" dirty="0">
                <a:solidFill>
                  <a:schemeClr val="tx1"/>
                </a:solidFill>
              </a:rPr>
              <a:t>שימו לב: </a:t>
            </a:r>
            <a:r>
              <a:rPr lang="he-IL" altLang="en-US" sz="1700" dirty="0">
                <a:solidFill>
                  <a:schemeClr val="tx1"/>
                </a:solidFill>
              </a:rPr>
              <a:t>עובדים במחשב עם </a:t>
            </a:r>
            <a:r>
              <a:rPr lang="en-US" altLang="en-US" sz="1700" dirty="0">
                <a:solidFill>
                  <a:schemeClr val="tx1"/>
                </a:solidFill>
              </a:rPr>
              <a:t>Thorny</a:t>
            </a:r>
            <a:r>
              <a:rPr lang="he-IL" altLang="en-US" sz="1700" dirty="0">
                <a:solidFill>
                  <a:schemeClr val="tx1"/>
                </a:solidFill>
              </a:rPr>
              <a:t> </a:t>
            </a:r>
            <a:r>
              <a:rPr lang="he-IL" altLang="en-US" sz="1700" dirty="0"/>
              <a:t>/ </a:t>
            </a:r>
            <a:r>
              <a:rPr lang="he-IL" altLang="en-US" sz="1700" dirty="0">
                <a:solidFill>
                  <a:schemeClr val="tx1"/>
                </a:solidFill>
              </a:rPr>
              <a:t>PyCharm</a:t>
            </a:r>
          </a:p>
          <a:p>
            <a:pPr marL="0" indent="0" algn="r" rtl="1">
              <a:buNone/>
            </a:pPr>
            <a:r>
              <a:rPr lang="he-IL" altLang="en-US" sz="1700" dirty="0"/>
              <a:t>אל </a:t>
            </a:r>
            <a:r>
              <a:rPr lang="he-IL" altLang="en-US" sz="1700" dirty="0">
                <a:solidFill>
                  <a:schemeClr val="tx1"/>
                </a:solidFill>
              </a:rPr>
              <a:t>קראו לקובץ שלכם turtle.py</a:t>
            </a:r>
            <a:endParaRPr lang="he-IL" sz="17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chemeClr val="tx2"/>
                </a:solidFill>
              </a:rPr>
              <a:t>מי זה הצב?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0" y="146304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spcAft>
                <a:spcPts val="1400"/>
              </a:spcAft>
              <a:buNone/>
            </a:pPr>
            <a:r>
              <a:rPr lang="he-IL" altLang="en-US" sz="2000" b="1" dirty="0">
                <a:solidFill>
                  <a:schemeClr val="accent1"/>
                </a:solidFill>
              </a:rPr>
              <a:t>רובוט קטן עם עט</a:t>
            </a:r>
            <a:r>
              <a:rPr lang="he-IL" altLang="en-US" sz="2000" dirty="0">
                <a:solidFill>
                  <a:schemeClr val="tx1"/>
                </a:solidFill>
              </a:rPr>
              <a:t> - כל פקודה מזיזה אותו, והוא מצייר את הדרך שעבר</a:t>
            </a:r>
            <a:endParaRPr lang="he-IL" sz="2000" dirty="0"/>
          </a:p>
          <a:p>
            <a:pPr marL="0" indent="0" algn="r" rtl="1">
              <a:spcAft>
                <a:spcPts val="1400"/>
              </a:spcAft>
              <a:buNone/>
            </a:pPr>
            <a:r>
              <a:rPr lang="he-IL" altLang="en-US" sz="2000" b="1" dirty="0">
                <a:solidFill>
                  <a:schemeClr val="accent1"/>
                </a:solidFill>
              </a:rPr>
              <a:t>מתחיל באמצע המסך</a:t>
            </a:r>
            <a:r>
              <a:rPr lang="he-IL" altLang="en-US" sz="2000" dirty="0">
                <a:solidFill>
                  <a:schemeClr val="tx1"/>
                </a:solidFill>
              </a:rPr>
              <a:t> - בנקודה (0, 0)‎, ומסתכל ימינה</a:t>
            </a:r>
            <a:endParaRPr lang="he-IL" sz="2000" dirty="0"/>
          </a:p>
          <a:p>
            <a:pPr marL="0" indent="0" algn="r" rtl="1">
              <a:spcAft>
                <a:spcPts val="1400"/>
              </a:spcAft>
              <a:buNone/>
            </a:pPr>
            <a:r>
              <a:rPr lang="he-IL" altLang="en-US" sz="2000" b="1" dirty="0">
                <a:solidFill>
                  <a:schemeClr val="accent3"/>
                </a:solidFill>
              </a:rPr>
              <a:t>ציר x</a:t>
            </a:r>
            <a:r>
              <a:rPr lang="he-IL" altLang="en-US" sz="2000" dirty="0">
                <a:solidFill>
                  <a:schemeClr val="tx1"/>
                </a:solidFill>
              </a:rPr>
              <a:t> - ימינה (+)‎ ושמאלה (-)‎</a:t>
            </a:r>
            <a:endParaRPr lang="he-IL" sz="2000" dirty="0"/>
          </a:p>
          <a:p>
            <a:pPr marL="0" indent="0" algn="r" rtl="1">
              <a:spcAft>
                <a:spcPts val="1400"/>
              </a:spcAft>
              <a:buNone/>
            </a:pPr>
            <a:r>
              <a:rPr lang="he-IL" altLang="en-US" sz="2000" b="1" dirty="0">
                <a:solidFill>
                  <a:schemeClr val="accent4"/>
                </a:solidFill>
              </a:rPr>
              <a:t>ציר y</a:t>
            </a:r>
            <a:r>
              <a:rPr lang="he-IL" altLang="en-US" sz="2000" dirty="0">
                <a:solidFill>
                  <a:schemeClr val="tx1"/>
                </a:solidFill>
              </a:rPr>
              <a:t> - למעלה (+)‎ ולמטה (-)‎</a:t>
            </a:r>
            <a:endParaRPr lang="he-IL" sz="2000" dirty="0"/>
          </a:p>
        </p:txBody>
      </p:sp>
      <p:sp>
        <p:nvSpPr>
          <p:cNvPr id="4" name="code-bg"/>
          <p:cNvSpPr/>
          <p:nvPr/>
        </p:nvSpPr>
        <p:spPr>
          <a:xfrm>
            <a:off x="6583680" y="4480560"/>
            <a:ext cx="5029200" cy="1371600"/>
          </a:xfrm>
          <a:prstGeom prst="roundRect">
            <a:avLst>
              <a:gd name="adj" fmla="val 80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code"/>
          <p:cNvSpPr txBox="1"/>
          <p:nvPr/>
        </p:nvSpPr>
        <p:spPr>
          <a:xfrm>
            <a:off x="6812280" y="4645152"/>
            <a:ext cx="45720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2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turtle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turtle.</a:t>
            </a:r>
            <a:r>
              <a:rPr lang="en-US" sz="20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Turtle</a:t>
            </a:r>
            <a:r>
              <a:rPr lang="en-US" sz="2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2000" dirty="0"/>
          </a:p>
        </p:txBody>
      </p:sp>
      <p:sp>
        <p:nvSpPr>
          <p:cNvPr id="6" name="plane"/>
          <p:cNvSpPr/>
          <p:nvPr/>
        </p:nvSpPr>
        <p:spPr>
          <a:xfrm>
            <a:off x="548640" y="1371600"/>
            <a:ext cx="5486400" cy="45720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657600"/>
            <a:ext cx="4937760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91840" y="1645920"/>
            <a:ext cx="0" cy="4023360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solid"/>
            <a:headEnd type="triangle"/>
          </a:ln>
        </p:spPr>
      </p:sp>
      <p:sp>
        <p:nvSpPr>
          <p:cNvPr id="9" name="Text 7"/>
          <p:cNvSpPr txBox="1"/>
          <p:nvPr/>
        </p:nvSpPr>
        <p:spPr>
          <a:xfrm>
            <a:off x="548640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x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401568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y</a:t>
            </a:r>
            <a:endParaRPr lang="en-US" sz="20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880360" y="3246120"/>
            <a:ext cx="822960" cy="82296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3383280" y="3977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(0, 0)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0" y="2194560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0" y="1783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/>
                </a:solidFill>
              </a:rPr>
              <a:t>(200, 150)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371600" y="4937760"/>
            <a:ext cx="201168" cy="20116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60120" y="5212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6"/>
                </a:solidFill>
              </a:rPr>
              <a:t>(-200, -150)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chemeClr val="tx2"/>
                </a:solidFill>
              </a:rPr>
              <a:t>התוכנית הראשונה: ריבוע</a:t>
            </a:r>
            <a:endParaRPr lang="en-US" sz="3600" dirty="0"/>
          </a:p>
        </p:txBody>
      </p:sp>
      <p:sp>
        <p:nvSpPr>
          <p:cNvPr id="3" name="code-bg"/>
          <p:cNvSpPr/>
          <p:nvPr/>
        </p:nvSpPr>
        <p:spPr>
          <a:xfrm>
            <a:off x="5120640" y="1325880"/>
            <a:ext cx="6519672" cy="4206240"/>
          </a:xfrm>
          <a:prstGeom prst="roundRect">
            <a:avLst>
              <a:gd name="adj" fmla="val 260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code"/>
          <p:cNvSpPr txBox="1"/>
          <p:nvPr/>
        </p:nvSpPr>
        <p:spPr>
          <a:xfrm>
            <a:off x="5349240" y="1490472"/>
            <a:ext cx="6062472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2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turtle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turtle.</a:t>
            </a:r>
            <a:r>
              <a:rPr lang="en-US" sz="20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Turtle</a:t>
            </a:r>
            <a:r>
              <a:rPr lang="en-US" sz="2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r>
              <a:rPr lang="en-US" sz="20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r>
              <a:rPr lang="en-US" sz="2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2000" dirty="0">
                <a:solidFill>
                  <a:srgbClr val="95E0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"turtle"</a:t>
            </a:r>
            <a:r>
              <a:rPr lang="en-US" sz="2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r>
              <a:rPr lang="en-US" sz="20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r>
              <a:rPr lang="en-US" sz="2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2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2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r>
              <a:rPr lang="en-US" sz="20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r>
              <a:rPr lang="en-US" sz="2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2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r>
              <a:rPr lang="en-US" sz="2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8A9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x4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turtle.</a:t>
            </a:r>
            <a:r>
              <a:rPr lang="en-US" sz="20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r>
              <a:rPr lang="en-US" sz="2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2000" dirty="0"/>
          </a:p>
        </p:txBody>
      </p:sp>
      <p:sp>
        <p:nvSpPr>
          <p:cNvPr id="5" name="pic-card"/>
          <p:cNvSpPr/>
          <p:nvPr/>
        </p:nvSpPr>
        <p:spPr>
          <a:xfrm>
            <a:off x="548640" y="1325880"/>
            <a:ext cx="4206240" cy="301752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12700">
            <a:solidFill>
              <a:srgbClr val="D8E8DE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970" y="1508760"/>
            <a:ext cx="2637579" cy="2651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45262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600"/>
              </a:spcAft>
              <a:buNone/>
            </a:pPr>
            <a:r>
              <a:rPr lang="he-IL" altLang="en-US" sz="1600" b="1" dirty="0">
                <a:solidFill>
                  <a:schemeClr val="accent1"/>
                </a:solidFill>
              </a:rPr>
              <a:t>forward100)‎</a:t>
            </a:r>
            <a:r>
              <a:rPr lang="he-IL" altLang="en-US" sz="1600" dirty="0">
                <a:solidFill>
                  <a:schemeClr val="tx1"/>
                </a:solidFill>
              </a:rPr>
              <a:t> - </a:t>
            </a:r>
          </a:p>
          <a:p>
            <a:pPr marL="0" indent="0" algn="r">
              <a:spcAft>
                <a:spcPts val="600"/>
              </a:spcAft>
              <a:buNone/>
            </a:pPr>
            <a:r>
              <a:rPr lang="he-IL" altLang="en-US" sz="1600" dirty="0">
                <a:solidFill>
                  <a:schemeClr val="tx1"/>
                </a:solidFill>
              </a:rPr>
              <a:t>קדימה 100 צעדים</a:t>
            </a:r>
            <a:endParaRPr lang="he-IL" sz="1600" dirty="0"/>
          </a:p>
          <a:p>
            <a:pPr marL="0" indent="0" algn="r">
              <a:spcAft>
                <a:spcPts val="600"/>
              </a:spcAft>
              <a:buNone/>
            </a:pPr>
            <a:r>
              <a:rPr lang="he-IL" altLang="en-US" sz="1600" b="1" dirty="0">
                <a:solidFill>
                  <a:schemeClr val="accent1"/>
                </a:solidFill>
              </a:rPr>
              <a:t>left(90)</a:t>
            </a:r>
          </a:p>
          <a:p>
            <a:pPr marL="0" indent="0" algn="r">
              <a:spcAft>
                <a:spcPts val="600"/>
              </a:spcAft>
              <a:buNone/>
            </a:pPr>
            <a:r>
              <a:rPr lang="he-IL" altLang="en-US" sz="1600" b="1" dirty="0">
                <a:solidFill>
                  <a:schemeClr val="accent1"/>
                </a:solidFill>
              </a:rPr>
              <a:t>‎</a:t>
            </a:r>
            <a:r>
              <a:rPr lang="he-IL" altLang="en-US" sz="1600" dirty="0">
                <a:solidFill>
                  <a:schemeClr val="tx1"/>
                </a:solidFill>
              </a:rPr>
              <a:t> - פנייה שמאלה 90 מעלות</a:t>
            </a:r>
            <a:endParaRPr lang="he-IL" sz="1600" dirty="0"/>
          </a:p>
          <a:p>
            <a:pPr marL="0" indent="0" algn="r">
              <a:spcAft>
                <a:spcPts val="600"/>
              </a:spcAft>
              <a:buNone/>
            </a:pPr>
            <a:r>
              <a:rPr lang="he-IL" altLang="en-US" sz="1600" b="1" dirty="0">
                <a:solidFill>
                  <a:schemeClr val="accent3"/>
                </a:solidFill>
              </a:rPr>
              <a:t>turtle.done()</a:t>
            </a:r>
          </a:p>
          <a:p>
            <a:pPr marL="0" indent="0" algn="r">
              <a:spcAft>
                <a:spcPts val="600"/>
              </a:spcAft>
              <a:buNone/>
            </a:pPr>
            <a:r>
              <a:rPr lang="he-IL" altLang="en-US" sz="1600" b="1" dirty="0">
                <a:solidFill>
                  <a:schemeClr val="accent3"/>
                </a:solidFill>
              </a:rPr>
              <a:t>‎</a:t>
            </a:r>
            <a:r>
              <a:rPr lang="he-IL" altLang="en-US" sz="1600" dirty="0">
                <a:solidFill>
                  <a:schemeClr val="tx1"/>
                </a:solidFill>
              </a:rPr>
              <a:t> - תמיד בסוף, אחרת החלון ייסגר!</a:t>
            </a:r>
            <a:endParaRPr lang="he-IL" sz="1600" dirty="0"/>
          </a:p>
        </p:txBody>
      </p:sp>
      <p:sp>
        <p:nvSpPr>
          <p:cNvPr id="8" name="file-tag"/>
          <p:cNvSpPr/>
          <p:nvPr/>
        </p:nvSpPr>
        <p:spPr>
          <a:xfrm>
            <a:off x="8897112" y="5760720"/>
            <a:ext cx="274320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3112" y="5870448"/>
            <a:ext cx="283464" cy="28346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034272" y="5760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bg1"/>
                </a:solidFill>
              </a:rPr>
              <a:t>turtle1.py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chemeClr val="tx2"/>
                </a:solidFill>
              </a:rPr>
              <a:t>פונים ימינה ושמאלה: מעלות</a:t>
            </a:r>
            <a:endParaRPr lang="en-US" sz="3600" dirty="0"/>
          </a:p>
        </p:txBody>
      </p:sp>
      <p:sp>
        <p:nvSpPr>
          <p:cNvPr id="3" name="angle-card"/>
          <p:cNvSpPr/>
          <p:nvPr/>
        </p:nvSpPr>
        <p:spPr>
          <a:xfrm>
            <a:off x="8991295" y="1371600"/>
            <a:ext cx="2651760" cy="22860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8991295" y="15544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chemeClr val="accent1"/>
                </a:solidFill>
              </a:rPr>
              <a:t>90°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9082735" y="2788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altLang="en-US" sz="1800" dirty="0">
                <a:solidFill>
                  <a:schemeClr val="tx1"/>
                </a:solidFill>
              </a:rPr>
              <a:t>פניה של זוית ישרה</a:t>
            </a:r>
            <a:endParaRPr lang="he-IL" sz="1800" dirty="0"/>
          </a:p>
        </p:txBody>
      </p:sp>
      <p:sp>
        <p:nvSpPr>
          <p:cNvPr id="6" name="angle-card"/>
          <p:cNvSpPr/>
          <p:nvPr/>
        </p:nvSpPr>
        <p:spPr>
          <a:xfrm>
            <a:off x="6177686" y="1371600"/>
            <a:ext cx="2651760" cy="22860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6177686" y="15544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chemeClr val="accent4"/>
                </a:solidFill>
              </a:rPr>
              <a:t>120°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6269126" y="2788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altLang="en-US" sz="1800" dirty="0">
                <a:solidFill>
                  <a:schemeClr val="tx1"/>
                </a:solidFill>
              </a:rPr>
              <a:t>פניה של משולש</a:t>
            </a:r>
            <a:endParaRPr lang="en-US" altLang="en-US" sz="1800" dirty="0">
              <a:solidFill>
                <a:schemeClr val="tx1"/>
              </a:solidFill>
            </a:endParaRPr>
          </a:p>
          <a:p>
            <a:pPr marL="0" indent="0" algn="ctr" rtl="1">
              <a:buNone/>
            </a:pPr>
            <a:r>
              <a:rPr lang="en-US" dirty="0"/>
              <a:t>3 * 120 = 360</a:t>
            </a:r>
            <a:endParaRPr lang="he-IL" sz="1800" dirty="0"/>
          </a:p>
        </p:txBody>
      </p:sp>
      <p:sp>
        <p:nvSpPr>
          <p:cNvPr id="9" name="angle-card"/>
          <p:cNvSpPr/>
          <p:nvPr/>
        </p:nvSpPr>
        <p:spPr>
          <a:xfrm>
            <a:off x="3364078" y="1371600"/>
            <a:ext cx="2651760" cy="22860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3364078" y="15544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chemeClr val="accent2"/>
                </a:solidFill>
              </a:rPr>
              <a:t>180°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3455518" y="2788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altLang="en-US" sz="1800" dirty="0">
                <a:solidFill>
                  <a:schemeClr val="tx1"/>
                </a:solidFill>
              </a:rPr>
              <a:t>אחורה פנה!</a:t>
            </a:r>
            <a:endParaRPr lang="he-IL" sz="1800" dirty="0"/>
          </a:p>
        </p:txBody>
      </p:sp>
      <p:sp>
        <p:nvSpPr>
          <p:cNvPr id="12" name="angle-card"/>
          <p:cNvSpPr/>
          <p:nvPr/>
        </p:nvSpPr>
        <p:spPr>
          <a:xfrm>
            <a:off x="550469" y="1371600"/>
            <a:ext cx="2651760" cy="22860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550469" y="15544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chemeClr val="accent3"/>
                </a:solidFill>
              </a:rPr>
              <a:t>360°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641909" y="2788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he-IL" altLang="en-US" sz="1800" dirty="0">
                <a:solidFill>
                  <a:schemeClr val="tx1"/>
                </a:solidFill>
              </a:rPr>
              <a:t>סיבוב שלם (סחרחורת)‎</a:t>
            </a:r>
            <a:endParaRPr lang="he-IL" sz="1800" dirty="0"/>
          </a:p>
        </p:txBody>
      </p:sp>
      <p:sp>
        <p:nvSpPr>
          <p:cNvPr id="15" name="quiz"/>
          <p:cNvSpPr/>
          <p:nvPr/>
        </p:nvSpPr>
        <p:spPr>
          <a:xfrm>
            <a:off x="548640" y="4023360"/>
            <a:ext cx="11091672" cy="1920240"/>
          </a:xfrm>
          <a:prstGeom prst="roundRect">
            <a:avLst>
              <a:gd name="adj" fmla="val 7143"/>
            </a:avLst>
          </a:prstGeom>
          <a:solidFill>
            <a:srgbClr val="FFF4E0"/>
          </a:solidFill>
          <a:ln w="12700">
            <a:solidFill>
              <a:srgbClr val="FFF4E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badge"/>
          <p:cNvSpPr/>
          <p:nvPr/>
        </p:nvSpPr>
        <p:spPr>
          <a:xfrm>
            <a:off x="10515600" y="425196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4453128"/>
            <a:ext cx="512064" cy="51206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6217920" y="42519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2200" b="1" dirty="0">
                <a:solidFill>
                  <a:schemeClr val="tx2"/>
                </a:solidFill>
              </a:rPr>
              <a:t>חידה: מה יצייר הקוד הזה?</a:t>
            </a:r>
            <a:endParaRPr lang="he-IL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217920" y="48463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600" dirty="0">
                <a:solidFill>
                  <a:schemeClr val="tx1"/>
                </a:solidFill>
              </a:rPr>
              <a:t>רמז: הצב מסתובב 3 פעמים, ובסך הכול 360 מעלות</a:t>
            </a:r>
            <a:endParaRPr lang="he-IL" sz="1600" dirty="0"/>
          </a:p>
        </p:txBody>
      </p:sp>
      <p:sp>
        <p:nvSpPr>
          <p:cNvPr id="20" name="code-bg"/>
          <p:cNvSpPr/>
          <p:nvPr/>
        </p:nvSpPr>
        <p:spPr>
          <a:xfrm>
            <a:off x="822960" y="4206240"/>
            <a:ext cx="4937760" cy="1554480"/>
          </a:xfrm>
          <a:prstGeom prst="roundRect">
            <a:avLst>
              <a:gd name="adj" fmla="val 705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code"/>
          <p:cNvSpPr txBox="1"/>
          <p:nvPr/>
        </p:nvSpPr>
        <p:spPr>
          <a:xfrm>
            <a:off x="1051560" y="4370832"/>
            <a:ext cx="44805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r>
              <a:rPr lang="en-US" sz="15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r>
              <a:rPr lang="en-US" sz="15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r>
              <a:rPr lang="en-US" sz="15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t.</a:t>
            </a:r>
            <a:r>
              <a:rPr lang="en-US" sz="15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r>
              <a:rPr lang="en-US" sz="15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r>
              <a:rPr lang="en-US" sz="15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r>
              <a:rPr lang="en-US" sz="15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r>
              <a:rPr lang="en-US" sz="15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r>
              <a:rPr lang="en-US" sz="15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t.</a:t>
            </a:r>
            <a:r>
              <a:rPr lang="en-US" sz="15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r>
              <a:rPr lang="en-US" sz="15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r>
              <a:rPr lang="en-US" sz="15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r>
              <a:rPr lang="en-US" sz="15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r>
              <a:rPr lang="en-US" sz="15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r>
              <a:rPr lang="en-US" sz="15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t.</a:t>
            </a:r>
            <a:r>
              <a:rPr lang="en-US" sz="15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r>
              <a:rPr lang="en-US" sz="15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r>
              <a:rPr lang="en-US" sz="15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chemeClr val="tx2"/>
                </a:solidFill>
              </a:rPr>
              <a:t>צבעים וסטייל</a:t>
            </a:r>
            <a:endParaRPr lang="en-US" sz="3600" dirty="0"/>
          </a:p>
        </p:txBody>
      </p:sp>
      <p:sp>
        <p:nvSpPr>
          <p:cNvPr id="3" name="code-bg"/>
          <p:cNvSpPr/>
          <p:nvPr/>
        </p:nvSpPr>
        <p:spPr>
          <a:xfrm>
            <a:off x="5852160" y="1325880"/>
            <a:ext cx="5788152" cy="3017520"/>
          </a:xfrm>
          <a:prstGeom prst="roundRect">
            <a:avLst>
              <a:gd name="adj" fmla="val 363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code"/>
          <p:cNvSpPr txBox="1"/>
          <p:nvPr/>
        </p:nvSpPr>
        <p:spPr>
          <a:xfrm>
            <a:off x="6080760" y="1490472"/>
            <a:ext cx="5330952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 = turtle.</a:t>
            </a:r>
            <a:r>
              <a:rPr lang="en-US" sz="19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</a:t>
            </a:r>
            <a:r>
              <a:rPr lang="en-US" sz="1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screen.</a:t>
            </a:r>
            <a:r>
              <a:rPr lang="en-US" sz="19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bgcolor</a:t>
            </a:r>
            <a:r>
              <a:rPr lang="en-US" sz="1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900" dirty="0">
                <a:solidFill>
                  <a:srgbClr val="95E0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"lightyellow"</a:t>
            </a:r>
            <a:r>
              <a:rPr lang="en-US" sz="1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r>
              <a:rPr lang="en-US" sz="19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900" dirty="0">
                <a:solidFill>
                  <a:srgbClr val="95E0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"red"</a:t>
            </a:r>
            <a:r>
              <a:rPr lang="en-US" sz="1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r>
              <a:rPr lang="en-US" sz="19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pensize</a:t>
            </a:r>
            <a:r>
              <a:rPr lang="en-US" sz="1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r>
              <a:rPr lang="en-US" sz="19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</a:t>
            </a:r>
            <a:r>
              <a:rPr lang="en-US" sz="1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9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900" dirty="0"/>
          </a:p>
          <a:p>
            <a:pPr marL="0" indent="0" algn="l">
              <a:buNone/>
            </a:pPr>
            <a:r>
              <a:rPr lang="en-US" sz="1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r>
              <a:rPr lang="en-US" sz="19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</a:t>
            </a:r>
            <a:r>
              <a:rPr lang="en-US" sz="1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900" dirty="0">
                <a:solidFill>
                  <a:srgbClr val="95E0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"turtle"</a:t>
            </a:r>
            <a:r>
              <a:rPr lang="en-US" sz="1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5852160" y="4480560"/>
            <a:ext cx="59232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600" b="1" dirty="0">
                <a:solidFill>
                  <a:schemeClr val="accent1"/>
                </a:solidFill>
              </a:rPr>
              <a:t>bgcolor</a:t>
            </a:r>
            <a:r>
              <a:rPr lang="he-IL" altLang="en-US" sz="1600" dirty="0">
                <a:solidFill>
                  <a:schemeClr val="tx1"/>
                </a:solidFill>
              </a:rPr>
              <a:t> צבע רקע</a:t>
            </a:r>
          </a:p>
          <a:p>
            <a:pPr marL="0" indent="0" algn="r" rtl="1">
              <a:buNone/>
            </a:pPr>
            <a:r>
              <a:rPr lang="he-IL" altLang="en-US" sz="1600" b="1" dirty="0">
                <a:solidFill>
                  <a:schemeClr val="accent1"/>
                </a:solidFill>
              </a:rPr>
              <a:t>color</a:t>
            </a:r>
            <a:r>
              <a:rPr lang="he-IL" altLang="en-US" sz="1600" dirty="0">
                <a:solidFill>
                  <a:schemeClr val="tx1"/>
                </a:solidFill>
              </a:rPr>
              <a:t> צבע העט</a:t>
            </a:r>
          </a:p>
          <a:p>
            <a:pPr marL="0" indent="0" algn="r" rtl="1">
              <a:buNone/>
            </a:pPr>
            <a:r>
              <a:rPr lang="he-IL" altLang="en-US" sz="1600" b="1" dirty="0">
                <a:solidFill>
                  <a:schemeClr val="accent1"/>
                </a:solidFill>
              </a:rPr>
              <a:t>pensize</a:t>
            </a:r>
            <a:r>
              <a:rPr lang="he-IL" altLang="en-US" sz="1600" dirty="0">
                <a:solidFill>
                  <a:schemeClr val="tx1"/>
                </a:solidFill>
              </a:rPr>
              <a:t> עובי</a:t>
            </a:r>
          </a:p>
          <a:p>
            <a:pPr marL="0" indent="0" algn="r" rtl="1">
              <a:buNone/>
            </a:pPr>
            <a:r>
              <a:rPr lang="he-IL" altLang="en-US" sz="1600" dirty="0">
                <a:solidFill>
                  <a:schemeClr val="tx1"/>
                </a:solidFill>
              </a:rPr>
              <a:t> </a:t>
            </a:r>
            <a:r>
              <a:rPr lang="he-IL" altLang="en-US" sz="1600" b="1" dirty="0">
                <a:solidFill>
                  <a:schemeClr val="accent1"/>
                </a:solidFill>
              </a:rPr>
              <a:t>speed</a:t>
            </a:r>
            <a:r>
              <a:rPr lang="he-IL" altLang="en-US" sz="1600" dirty="0">
                <a:solidFill>
                  <a:schemeClr val="tx1"/>
                </a:solidFill>
              </a:rPr>
              <a:t>1  איטי ... 10 מהיר, 0 טורבו</a:t>
            </a:r>
            <a:endParaRPr lang="he-IL" sz="1600" dirty="0"/>
          </a:p>
        </p:txBody>
      </p:sp>
      <p:sp>
        <p:nvSpPr>
          <p:cNvPr id="6" name="pic-card"/>
          <p:cNvSpPr/>
          <p:nvPr/>
        </p:nvSpPr>
        <p:spPr>
          <a:xfrm>
            <a:off x="548640" y="1325880"/>
            <a:ext cx="4937760" cy="320040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rgbClr val="D8E8DE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129" y="1508760"/>
            <a:ext cx="3102782" cy="2834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4754880"/>
            <a:ext cx="457200" cy="4572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" y="5257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3"/>
                </a:solidFill>
              </a:rPr>
              <a:t>red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271016" y="4754880"/>
            <a:ext cx="457200" cy="457200"/>
          </a:xfrm>
          <a:prstGeom prst="ellipse">
            <a:avLst/>
          </a:prstGeom>
          <a:solidFill>
            <a:srgbClr val="FFA50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33856" y="5257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3"/>
                </a:solidFill>
              </a:rPr>
              <a:t>orange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901952" y="4754880"/>
            <a:ext cx="457200" cy="457200"/>
          </a:xfrm>
          <a:prstGeom prst="ellipse">
            <a:avLst/>
          </a:prstGeom>
          <a:solidFill>
            <a:srgbClr val="FFE00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764792" y="5257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3"/>
                </a:solidFill>
              </a:rPr>
              <a:t>yellow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532888" y="4754880"/>
            <a:ext cx="457200" cy="457200"/>
          </a:xfrm>
          <a:prstGeom prst="ellipse">
            <a:avLst/>
          </a:prstGeom>
          <a:solidFill>
            <a:srgbClr val="00800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395728" y="5257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3"/>
                </a:solidFill>
              </a:rPr>
              <a:t>green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163824" y="4754880"/>
            <a:ext cx="457200" cy="457200"/>
          </a:xfrm>
          <a:prstGeom prst="ellipse">
            <a:avLst/>
          </a:prstGeom>
          <a:solidFill>
            <a:srgbClr val="0000FF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026664" y="5257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3"/>
                </a:solidFill>
              </a:rPr>
              <a:t>blue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794760" y="4754880"/>
            <a:ext cx="457200" cy="457200"/>
          </a:xfrm>
          <a:prstGeom prst="ellipse">
            <a:avLst/>
          </a:prstGeom>
          <a:solidFill>
            <a:srgbClr val="80008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657600" y="5257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3"/>
                </a:solidFill>
              </a:rPr>
              <a:t>purple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425696" y="4754880"/>
            <a:ext cx="457200" cy="457200"/>
          </a:xfrm>
          <a:prstGeom prst="ellipse">
            <a:avLst/>
          </a:prstGeom>
          <a:solidFill>
            <a:srgbClr val="FFC0CB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288536" y="5257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3"/>
                </a:solidFill>
              </a:rPr>
              <a:t>pink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056632" y="4754880"/>
            <a:ext cx="457200" cy="457200"/>
          </a:xfrm>
          <a:prstGeom prst="ellipse">
            <a:avLst/>
          </a:prstGeom>
          <a:solidFill>
            <a:srgbClr val="000000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919472" y="5257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3"/>
                </a:solidFill>
              </a:rPr>
              <a:t>black</a:t>
            </a:r>
            <a:endParaRPr lang="en-US" sz="1000" dirty="0"/>
          </a:p>
        </p:txBody>
      </p:sp>
      <p:sp>
        <p:nvSpPr>
          <p:cNvPr id="24" name="file-tag"/>
          <p:cNvSpPr/>
          <p:nvPr/>
        </p:nvSpPr>
        <p:spPr>
          <a:xfrm>
            <a:off x="8897112" y="5760720"/>
            <a:ext cx="274320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3112" y="5870448"/>
            <a:ext cx="283464" cy="28346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034272" y="5760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bg1"/>
                </a:solidFill>
              </a:rPr>
              <a:t>turtle2.py</a:t>
            </a:r>
            <a:endParaRPr lang="en-US" sz="16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chemeClr val="tx2"/>
                </a:solidFill>
              </a:rPr>
              <a:t>מרימים את העט: קפיצות ועיגולים</a:t>
            </a:r>
            <a:endParaRPr lang="en-US" sz="3600" dirty="0"/>
          </a:p>
        </p:txBody>
      </p:sp>
      <p:sp>
        <p:nvSpPr>
          <p:cNvPr id="3" name="badge"/>
          <p:cNvSpPr/>
          <p:nvPr/>
        </p:nvSpPr>
        <p:spPr>
          <a:xfrm>
            <a:off x="10835640" y="137160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6633" y="1542593"/>
            <a:ext cx="435254" cy="43525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0" y="13716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penup() / pendown()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0" y="18013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600" dirty="0">
                <a:solidFill>
                  <a:schemeClr val="tx1"/>
                </a:solidFill>
              </a:rPr>
              <a:t>מרימים / מורידים את העט - זזים בלי לצייר</a:t>
            </a:r>
            <a:endParaRPr lang="he-IL" sz="1600" dirty="0"/>
          </a:p>
        </p:txBody>
      </p:sp>
      <p:sp>
        <p:nvSpPr>
          <p:cNvPr id="7" name="badge"/>
          <p:cNvSpPr/>
          <p:nvPr/>
        </p:nvSpPr>
        <p:spPr>
          <a:xfrm>
            <a:off x="10835640" y="2487168"/>
            <a:ext cx="777240" cy="7772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6633" y="2658161"/>
            <a:ext cx="435254" cy="43525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0" y="24871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goto(x, y)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5486400" y="291693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600" dirty="0">
                <a:solidFill>
                  <a:schemeClr val="tx1"/>
                </a:solidFill>
              </a:rPr>
              <a:t>קפיצה ישירה לנקודה במפה</a:t>
            </a:r>
            <a:endParaRPr lang="he-IL" sz="1600" dirty="0"/>
          </a:p>
        </p:txBody>
      </p:sp>
      <p:sp>
        <p:nvSpPr>
          <p:cNvPr id="11" name="badge"/>
          <p:cNvSpPr/>
          <p:nvPr/>
        </p:nvSpPr>
        <p:spPr>
          <a:xfrm>
            <a:off x="10835640" y="3602736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6633" y="3773729"/>
            <a:ext cx="435254" cy="43525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486400" y="360273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circle(100)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5486400" y="403250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600" dirty="0">
                <a:solidFill>
                  <a:schemeClr val="tx1"/>
                </a:solidFill>
              </a:rPr>
              <a:t>עיגול ברדיוס 100.</a:t>
            </a:r>
          </a:p>
          <a:p>
            <a:pPr algn="r" rtl="1"/>
            <a:r>
              <a:rPr lang="he-IL" sz="1600" dirty="0"/>
              <a:t>circle(radius, extent)</a:t>
            </a:r>
            <a:endParaRPr lang="he-IL" altLang="en-US" sz="1600" dirty="0">
              <a:solidFill>
                <a:schemeClr val="tx1"/>
              </a:solidFill>
            </a:endParaRPr>
          </a:p>
          <a:p>
            <a:pPr marL="0" indent="0" algn="r" rtl="1">
              <a:buNone/>
            </a:pPr>
            <a:r>
              <a:rPr lang="he-IL" altLang="en-US" sz="1600" dirty="0">
                <a:solidFill>
                  <a:schemeClr val="tx1"/>
                </a:solidFill>
              </a:rPr>
              <a:t>חצי עיגול</a:t>
            </a:r>
            <a:r>
              <a:rPr lang="en-US" altLang="en-US" sz="1600" dirty="0">
                <a:solidFill>
                  <a:schemeClr val="tx1"/>
                </a:solidFill>
              </a:rPr>
              <a:t> circle(100, 180)   </a:t>
            </a:r>
            <a:endParaRPr lang="he-IL" sz="1600" dirty="0"/>
          </a:p>
        </p:txBody>
      </p:sp>
      <p:sp>
        <p:nvSpPr>
          <p:cNvPr id="15" name="badge"/>
          <p:cNvSpPr/>
          <p:nvPr/>
        </p:nvSpPr>
        <p:spPr>
          <a:xfrm>
            <a:off x="10835640" y="4718304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06633" y="4889297"/>
            <a:ext cx="435254" cy="43525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86400" y="471830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dot(25)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5486400" y="514807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600" dirty="0">
                <a:solidFill>
                  <a:schemeClr val="tx1"/>
                </a:solidFill>
              </a:rPr>
              <a:t>נקודה עגולה ומלאה (מעולה לעיניים!)‎</a:t>
            </a:r>
            <a:endParaRPr lang="he-IL" sz="1600" dirty="0"/>
          </a:p>
        </p:txBody>
      </p:sp>
      <p:sp>
        <p:nvSpPr>
          <p:cNvPr id="19" name="pic-card"/>
          <p:cNvSpPr/>
          <p:nvPr/>
        </p:nvSpPr>
        <p:spPr>
          <a:xfrm>
            <a:off x="548640" y="1325880"/>
            <a:ext cx="4572000" cy="4297680"/>
          </a:xfrm>
          <a:prstGeom prst="roundRect">
            <a:avLst>
              <a:gd name="adj" fmla="val 3191"/>
            </a:avLst>
          </a:prstGeom>
          <a:solidFill>
            <a:schemeClr val="bg1"/>
          </a:solidFill>
          <a:ln w="12700">
            <a:solidFill>
              <a:srgbClr val="D8E8DE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1508760"/>
            <a:ext cx="3931920" cy="39319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48640" y="5760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he-IL" altLang="en-US" sz="1600" dirty="0">
                <a:solidFill>
                  <a:srgbClr val="5C6B73"/>
                </a:solidFill>
              </a:rPr>
              <a:t>סמיילי שלם מ-4 פקודות חדשות</a:t>
            </a:r>
            <a:endParaRPr lang="he-IL" sz="1600" dirty="0"/>
          </a:p>
        </p:txBody>
      </p:sp>
      <p:sp>
        <p:nvSpPr>
          <p:cNvPr id="22" name="file-tag"/>
          <p:cNvSpPr/>
          <p:nvPr/>
        </p:nvSpPr>
        <p:spPr>
          <a:xfrm>
            <a:off x="8897112" y="5760720"/>
            <a:ext cx="274320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83112" y="5870448"/>
            <a:ext cx="283464" cy="283464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9034272" y="5760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b="1" dirty="0">
                <a:solidFill>
                  <a:schemeClr val="bg1"/>
                </a:solidFill>
              </a:rPr>
              <a:t>turtle3.py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chemeClr val="tx2"/>
                </a:solidFill>
              </a:rPr>
              <a:t>מתכנתים עצלנים משתמשים בלולאות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583680" y="1325880"/>
            <a:ext cx="5056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2000" b="1" dirty="0">
                <a:solidFill>
                  <a:schemeClr val="accent3"/>
                </a:solidFill>
              </a:rPr>
              <a:t>בלי לולאה: 8 שורות</a:t>
            </a:r>
            <a:endParaRPr lang="he-IL" sz="2000" dirty="0"/>
          </a:p>
        </p:txBody>
      </p:sp>
      <p:sp>
        <p:nvSpPr>
          <p:cNvPr id="4" name="code-bg"/>
          <p:cNvSpPr/>
          <p:nvPr/>
        </p:nvSpPr>
        <p:spPr>
          <a:xfrm>
            <a:off x="6583680" y="1828800"/>
            <a:ext cx="5056632" cy="3749040"/>
          </a:xfrm>
          <a:prstGeom prst="roundRect">
            <a:avLst>
              <a:gd name="adj" fmla="val 292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code"/>
          <p:cNvSpPr txBox="1"/>
          <p:nvPr/>
        </p:nvSpPr>
        <p:spPr>
          <a:xfrm>
            <a:off x="6812280" y="1993392"/>
            <a:ext cx="4599432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2000" b="1" dirty="0">
                <a:solidFill>
                  <a:schemeClr val="accent1"/>
                </a:solidFill>
              </a:rPr>
              <a:t>עם לולאה: 3 שורות</a:t>
            </a:r>
            <a:endParaRPr lang="he-IL" sz="2000" dirty="0"/>
          </a:p>
        </p:txBody>
      </p:sp>
      <p:sp>
        <p:nvSpPr>
          <p:cNvPr id="7" name="code-bg"/>
          <p:cNvSpPr/>
          <p:nvPr/>
        </p:nvSpPr>
        <p:spPr>
          <a:xfrm>
            <a:off x="548640" y="1828800"/>
            <a:ext cx="5394960" cy="1508760"/>
          </a:xfrm>
          <a:prstGeom prst="roundRect">
            <a:avLst>
              <a:gd name="adj" fmla="val 727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code"/>
          <p:cNvSpPr txBox="1"/>
          <p:nvPr/>
        </p:nvSpPr>
        <p:spPr>
          <a:xfrm>
            <a:off x="777240" y="1993392"/>
            <a:ext cx="49377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8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800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8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8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8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8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</a:t>
            </a:r>
            <a:r>
              <a:rPr lang="en-US" sz="18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r>
              <a:rPr lang="en-US" sz="18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8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</a:t>
            </a:r>
            <a:r>
              <a:rPr lang="en-US" sz="18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r>
              <a:rPr lang="en-US" sz="18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8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r>
              <a:rPr lang="en-US" sz="18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800" dirty="0"/>
          </a:p>
        </p:txBody>
      </p:sp>
      <p:sp>
        <p:nvSpPr>
          <p:cNvPr id="9" name="loop-tip"/>
          <p:cNvSpPr/>
          <p:nvPr/>
        </p:nvSpPr>
        <p:spPr>
          <a:xfrm>
            <a:off x="548640" y="3566160"/>
            <a:ext cx="5394960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74904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spcAft>
                <a:spcPts val="800"/>
              </a:spcAft>
              <a:buNone/>
            </a:pPr>
            <a:r>
              <a:rPr lang="he-IL" altLang="en-US" sz="1800" b="1" dirty="0">
                <a:solidFill>
                  <a:schemeClr val="accent1"/>
                </a:solidFill>
              </a:rPr>
              <a:t>range(4)</a:t>
            </a:r>
          </a:p>
          <a:p>
            <a:pPr marL="0" indent="0" algn="r">
              <a:spcAft>
                <a:spcPts val="800"/>
              </a:spcAft>
              <a:buNone/>
            </a:pPr>
            <a:r>
              <a:rPr lang="he-IL" altLang="en-US" sz="1800" b="1" dirty="0">
                <a:solidFill>
                  <a:schemeClr val="accent1"/>
                </a:solidFill>
              </a:rPr>
              <a:t>‎</a:t>
            </a:r>
            <a:r>
              <a:rPr lang="he-IL" altLang="en-US" sz="1800" dirty="0">
                <a:solidFill>
                  <a:schemeClr val="tx1"/>
                </a:solidFill>
              </a:rPr>
              <a:t> = חזור 4 פעמים</a:t>
            </a:r>
            <a:endParaRPr lang="he-IL" sz="1800" dirty="0"/>
          </a:p>
          <a:p>
            <a:pPr marL="0" indent="0" algn="r">
              <a:spcAft>
                <a:spcPts val="800"/>
              </a:spcAft>
              <a:buNone/>
            </a:pPr>
            <a:r>
              <a:rPr lang="he-IL" altLang="en-US" sz="1800" b="1" dirty="0">
                <a:solidFill>
                  <a:schemeClr val="accent1"/>
                </a:solidFill>
              </a:rPr>
              <a:t>הזחה (4 רווחים)‎</a:t>
            </a:r>
            <a:r>
              <a:rPr lang="he-IL" altLang="en-US" sz="1800" dirty="0">
                <a:solidFill>
                  <a:schemeClr val="tx1"/>
                </a:solidFill>
              </a:rPr>
              <a:t> = ארבע פעמים מה שבתוך הלולאה </a:t>
            </a:r>
            <a:endParaRPr lang="he-IL" sz="1800" dirty="0"/>
          </a:p>
          <a:p>
            <a:pPr marL="0" indent="0" algn="r">
              <a:spcAft>
                <a:spcPts val="800"/>
              </a:spcAft>
              <a:buNone/>
            </a:pPr>
            <a:r>
              <a:rPr lang="he-IL" altLang="en-US" sz="1800" b="1" dirty="0">
                <a:solidFill>
                  <a:schemeClr val="accent3"/>
                </a:solidFill>
              </a:rPr>
              <a:t>נקודתיים (:)‎</a:t>
            </a:r>
            <a:r>
              <a:rPr lang="he-IL" altLang="en-US" sz="1800" dirty="0">
                <a:solidFill>
                  <a:schemeClr val="tx1"/>
                </a:solidFill>
              </a:rPr>
              <a:t> - חובה בסוף השורה-for</a:t>
            </a:r>
            <a:endParaRPr lang="he-IL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chemeClr val="tx2"/>
                </a:solidFill>
              </a:rPr>
              <a:t>כלל הזהב: כל מצולע שתרצו</a:t>
            </a:r>
            <a:endParaRPr lang="en-US" sz="3600" dirty="0"/>
          </a:p>
        </p:txBody>
      </p:sp>
      <p:sp>
        <p:nvSpPr>
          <p:cNvPr id="3" name="rule"/>
          <p:cNvSpPr/>
          <p:nvPr/>
        </p:nvSpPr>
        <p:spPr>
          <a:xfrm>
            <a:off x="6309360" y="1325880"/>
            <a:ext cx="5330952" cy="1188720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309360" y="1325880"/>
            <a:ext cx="5330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angle = 360 / sides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697480"/>
          <a:ext cx="5330952" cy="2578608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4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זווית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צלעות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צורה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120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משולש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90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ריבוע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משושה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36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כמעט עיגול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144 ימינה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כוכב</a:t>
                      </a:r>
                      <a:endParaRPr lang="en-US" sz="1600" dirty="0"/>
                    </a:p>
                  </a:txBody>
                  <a:tcPr anchor="ctr">
                    <a:lnL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code-bg"/>
          <p:cNvSpPr/>
          <p:nvPr/>
        </p:nvSpPr>
        <p:spPr>
          <a:xfrm>
            <a:off x="548640" y="132588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code"/>
          <p:cNvSpPr txBox="1"/>
          <p:nvPr/>
        </p:nvSpPr>
        <p:spPr>
          <a:xfrm>
            <a:off x="777240" y="1490472"/>
            <a:ext cx="493776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sides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angle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360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sides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700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(sides):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</a:t>
            </a: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</a:t>
            </a: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(angle)</a:t>
            </a:r>
            <a:endParaRPr lang="en-US" sz="1700" dirty="0"/>
          </a:p>
        </p:txBody>
      </p:sp>
      <p:sp>
        <p:nvSpPr>
          <p:cNvPr id="8" name="pic-card"/>
          <p:cNvSpPr/>
          <p:nvPr/>
        </p:nvSpPr>
        <p:spPr>
          <a:xfrm>
            <a:off x="548640" y="3611880"/>
            <a:ext cx="5394960" cy="2103120"/>
          </a:xfrm>
          <a:prstGeom prst="roundRect">
            <a:avLst>
              <a:gd name="adj" fmla="val 6522"/>
            </a:avLst>
          </a:prstGeom>
          <a:solidFill>
            <a:schemeClr val="bg1"/>
          </a:solidFill>
          <a:ln w="12700">
            <a:solidFill>
              <a:srgbClr val="D8E8DE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162" y="3794760"/>
            <a:ext cx="4679916" cy="1737360"/>
          </a:xfrm>
          <a:prstGeom prst="rect">
            <a:avLst/>
          </a:prstGeom>
        </p:spPr>
      </p:pic>
      <p:sp>
        <p:nvSpPr>
          <p:cNvPr id="10" name="file-tag"/>
          <p:cNvSpPr/>
          <p:nvPr/>
        </p:nvSpPr>
        <p:spPr>
          <a:xfrm>
            <a:off x="8897112" y="5760720"/>
            <a:ext cx="274320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3112" y="587044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034272" y="5760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b="1" dirty="0">
                <a:solidFill>
                  <a:schemeClr val="bg1"/>
                </a:solidFill>
              </a:rPr>
              <a:t>turtle4.py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chemeClr val="tx2"/>
                </a:solidFill>
              </a:rPr>
              <a:t>צובעים צורות וכותבים טקסט</a:t>
            </a:r>
            <a:endParaRPr lang="en-US" sz="3600" dirty="0"/>
          </a:p>
        </p:txBody>
      </p:sp>
      <p:sp>
        <p:nvSpPr>
          <p:cNvPr id="3" name="code-bg"/>
          <p:cNvSpPr/>
          <p:nvPr/>
        </p:nvSpPr>
        <p:spPr>
          <a:xfrm>
            <a:off x="4480560" y="1325880"/>
            <a:ext cx="7159752" cy="2926080"/>
          </a:xfrm>
          <a:prstGeom prst="roundRect">
            <a:avLst>
              <a:gd name="adj" fmla="val 375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code"/>
          <p:cNvSpPr txBox="1"/>
          <p:nvPr/>
        </p:nvSpPr>
        <p:spPr>
          <a:xfrm>
            <a:off x="4709160" y="1490472"/>
            <a:ext cx="6702552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dirty="0">
                <a:solidFill>
                  <a:srgbClr val="95E0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"black"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700" dirty="0">
                <a:solidFill>
                  <a:srgbClr val="95E0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"khaki"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begin_fill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700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</a:t>
            </a: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t.</a:t>
            </a: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end_fill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</a:t>
            </a: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dirty="0">
                <a:solidFill>
                  <a:srgbClr val="95E0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"My Home"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font=(</a:t>
            </a:r>
            <a:r>
              <a:rPr lang="en-US" sz="1700" dirty="0">
                <a:solidFill>
                  <a:srgbClr val="95E0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"Arial"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480560" y="4434840"/>
            <a:ext cx="71597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spcAft>
                <a:spcPts val="600"/>
              </a:spcAft>
              <a:buNone/>
            </a:pPr>
            <a:r>
              <a:rPr lang="he-IL" altLang="en-US" sz="1700" b="1" dirty="0">
                <a:solidFill>
                  <a:schemeClr val="accent1"/>
                </a:solidFill>
              </a:rPr>
              <a:t>color(קו, מילוי)‎</a:t>
            </a:r>
            <a:r>
              <a:rPr lang="he-IL" altLang="en-US" sz="1700" dirty="0">
                <a:solidFill>
                  <a:schemeClr val="tx1"/>
                </a:solidFill>
              </a:rPr>
              <a:t> - שני צבעים: לקו ולמילוי   </a:t>
            </a:r>
            <a:endParaRPr lang="he-IL" sz="1700" dirty="0"/>
          </a:p>
          <a:p>
            <a:pPr marL="0" indent="0" algn="r">
              <a:spcAft>
                <a:spcPts val="600"/>
              </a:spcAft>
              <a:buNone/>
            </a:pPr>
            <a:r>
              <a:rPr lang="he-IL" altLang="en-US" sz="1700" b="1" dirty="0">
                <a:solidFill>
                  <a:schemeClr val="accent2"/>
                </a:solidFill>
              </a:rPr>
              <a:t>begin_fill()‎ ... end_fill()‎</a:t>
            </a:r>
            <a:r>
              <a:rPr lang="he-IL" altLang="en-US" sz="1700" dirty="0">
                <a:solidFill>
                  <a:schemeClr val="tx1"/>
                </a:solidFill>
              </a:rPr>
              <a:t> - כל מה שמצויר ביניהם נצבע      </a:t>
            </a:r>
            <a:endParaRPr lang="he-IL" sz="1700" dirty="0"/>
          </a:p>
          <a:p>
            <a:pPr marL="0" indent="0" algn="r">
              <a:spcAft>
                <a:spcPts val="600"/>
              </a:spcAft>
              <a:buNone/>
            </a:pPr>
            <a:r>
              <a:rPr lang="he-IL" altLang="en-US" sz="1700" b="1" dirty="0">
                <a:solidFill>
                  <a:schemeClr val="accent4"/>
                </a:solidFill>
              </a:rPr>
              <a:t>write(...)‎</a:t>
            </a:r>
            <a:r>
              <a:rPr lang="he-IL" altLang="en-US" sz="1700" dirty="0">
                <a:solidFill>
                  <a:schemeClr val="tx1"/>
                </a:solidFill>
              </a:rPr>
              <a:t> - כותב טקסט על המסך (באנגלית)     ‎</a:t>
            </a:r>
            <a:endParaRPr lang="he-IL" sz="1700" dirty="0"/>
          </a:p>
        </p:txBody>
      </p:sp>
      <p:sp>
        <p:nvSpPr>
          <p:cNvPr id="6" name="pic-card"/>
          <p:cNvSpPr/>
          <p:nvPr/>
        </p:nvSpPr>
        <p:spPr>
          <a:xfrm>
            <a:off x="548640" y="1325880"/>
            <a:ext cx="3566160" cy="4389120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 w="12700">
            <a:solidFill>
              <a:srgbClr val="D8E8DE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15777"/>
            <a:ext cx="3200400" cy="3809326"/>
          </a:xfrm>
          <a:prstGeom prst="rect">
            <a:avLst/>
          </a:prstGeom>
        </p:spPr>
      </p:pic>
      <p:sp>
        <p:nvSpPr>
          <p:cNvPr id="8" name="file-tag"/>
          <p:cNvSpPr/>
          <p:nvPr/>
        </p:nvSpPr>
        <p:spPr>
          <a:xfrm>
            <a:off x="8897112" y="5760720"/>
            <a:ext cx="274320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3112" y="5870448"/>
            <a:ext cx="283464" cy="28346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034272" y="5760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bg1"/>
                </a:solidFill>
              </a:rPr>
              <a:t>turtle5.py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 err="1">
                <a:solidFill>
                  <a:schemeClr val="tx2"/>
                </a:solidFill>
              </a:rPr>
              <a:t>הצב</a:t>
            </a:r>
            <a:r>
              <a:rPr lang="en-US" sz="3600" b="1" dirty="0">
                <a:solidFill>
                  <a:schemeClr val="tx2"/>
                </a:solidFill>
              </a:rPr>
              <a:t> </a:t>
            </a:r>
            <a:r>
              <a:rPr lang="en-US" sz="3600" b="1" dirty="0" err="1">
                <a:solidFill>
                  <a:schemeClr val="tx2"/>
                </a:solidFill>
              </a:rPr>
              <a:t>מחליט</a:t>
            </a:r>
            <a:r>
              <a:rPr lang="he-IL" sz="3600" b="1" dirty="0">
                <a:solidFill>
                  <a:schemeClr val="tx2"/>
                </a:solidFill>
              </a:rPr>
              <a:t>: </a:t>
            </a:r>
            <a:r>
              <a:rPr lang="en-US" sz="3600" b="1" dirty="0">
                <a:solidFill>
                  <a:schemeClr val="tx2"/>
                </a:solidFill>
              </a:rPr>
              <a:t> random</a:t>
            </a:r>
            <a:endParaRPr lang="en-US" sz="3600" dirty="0"/>
          </a:p>
        </p:txBody>
      </p:sp>
      <p:sp>
        <p:nvSpPr>
          <p:cNvPr id="3" name="code-bg"/>
          <p:cNvSpPr/>
          <p:nvPr/>
        </p:nvSpPr>
        <p:spPr>
          <a:xfrm>
            <a:off x="5394960" y="1325880"/>
            <a:ext cx="6245352" cy="3200400"/>
          </a:xfrm>
          <a:prstGeom prst="roundRect">
            <a:avLst>
              <a:gd name="adj" fmla="val 342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code"/>
          <p:cNvSpPr txBox="1"/>
          <p:nvPr/>
        </p:nvSpPr>
        <p:spPr>
          <a:xfrm>
            <a:off x="5623560" y="1490472"/>
            <a:ext cx="5788152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random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sides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sides == </a:t>
            </a: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</a:t>
            </a: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dirty="0">
                <a:solidFill>
                  <a:srgbClr val="95E0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"red"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t.</a:t>
            </a: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dirty="0">
                <a:solidFill>
                  <a:srgbClr val="95E0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"cyan"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random.</a:t>
            </a:r>
            <a:r>
              <a:rPr lang="en-US" sz="1700" dirty="0">
                <a:solidFill>
                  <a:srgbClr val="7FD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randint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-300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7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</a:t>
            </a:r>
            <a:r>
              <a:rPr lang="en-US" sz="17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394960" y="4663440"/>
            <a:ext cx="6245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spcAft>
                <a:spcPts val="400"/>
              </a:spcAft>
            </a:pPr>
            <a:r>
              <a:rPr lang="he-IL" altLang="en-US" sz="1600" b="1" dirty="0">
                <a:solidFill>
                  <a:schemeClr val="accent3"/>
                </a:solidFill>
              </a:rPr>
              <a:t>random.randint(a, b) </a:t>
            </a:r>
            <a:r>
              <a:rPr lang="he-IL" altLang="en-US" sz="1600" dirty="0">
                <a:solidFill>
                  <a:schemeClr val="accent3"/>
                </a:solidFill>
              </a:rPr>
              <a:t>             </a:t>
            </a:r>
            <a:r>
              <a:rPr lang="en-US" altLang="en-US" sz="1600" dirty="0" err="1"/>
              <a:t>a,b</a:t>
            </a:r>
            <a:r>
              <a:rPr lang="he-IL" altLang="en-US" sz="1600" b="1" dirty="0">
                <a:solidFill>
                  <a:schemeClr val="accent3"/>
                </a:solidFill>
              </a:rPr>
              <a:t> ‎</a:t>
            </a:r>
            <a:r>
              <a:rPr lang="he-IL" altLang="en-US" sz="1600" dirty="0">
                <a:solidFill>
                  <a:schemeClr val="tx1"/>
                </a:solidFill>
              </a:rPr>
              <a:t> -</a:t>
            </a:r>
            <a:r>
              <a:rPr lang="he-IL" altLang="en-US" sz="1600" dirty="0"/>
              <a:t> </a:t>
            </a:r>
            <a:r>
              <a:rPr lang="he-IL" altLang="en-US" sz="1600" dirty="0">
                <a:solidFill>
                  <a:schemeClr val="tx1"/>
                </a:solidFill>
              </a:rPr>
              <a:t>מספר אקראי בטווח </a:t>
            </a:r>
            <a:endParaRPr lang="he-IL" sz="1600" dirty="0"/>
          </a:p>
          <a:p>
            <a:pPr marL="0" indent="0" algn="r">
              <a:spcAft>
                <a:spcPts val="400"/>
              </a:spcAft>
              <a:buNone/>
            </a:pPr>
            <a:r>
              <a:rPr lang="he-IL" altLang="en-US" sz="1600" b="1" dirty="0">
                <a:solidFill>
                  <a:schemeClr val="accent3"/>
                </a:solidFill>
              </a:rPr>
              <a:t>random.choice(list)‎</a:t>
            </a:r>
            <a:r>
              <a:rPr lang="he-IL" altLang="en-US" sz="1600" dirty="0">
                <a:solidFill>
                  <a:schemeClr val="tx1"/>
                </a:solidFill>
              </a:rPr>
              <a:t> - בוחר פריט אקראי מרשימה          </a:t>
            </a:r>
            <a:endParaRPr lang="he-IL" sz="1600" dirty="0"/>
          </a:p>
          <a:p>
            <a:pPr marL="0" indent="0" algn="r">
              <a:spcAft>
                <a:spcPts val="400"/>
              </a:spcAft>
              <a:buNone/>
            </a:pPr>
            <a:r>
              <a:rPr lang="he-IL" altLang="en-US" sz="1600" b="1" dirty="0">
                <a:solidFill>
                  <a:schemeClr val="accent4"/>
                </a:solidFill>
              </a:rPr>
              <a:t>screen.numinput(...)      ‎</a:t>
            </a:r>
            <a:r>
              <a:rPr lang="he-IL" altLang="en-US" sz="1600" dirty="0">
                <a:solidFill>
                  <a:schemeClr val="tx1"/>
                </a:solidFill>
              </a:rPr>
              <a:t> - חלון ששואל את המשתמש מספר</a:t>
            </a:r>
            <a:endParaRPr lang="he-IL" sz="1600" dirty="0"/>
          </a:p>
        </p:txBody>
      </p:sp>
      <p:sp>
        <p:nvSpPr>
          <p:cNvPr id="6" name="pic-card"/>
          <p:cNvSpPr/>
          <p:nvPr/>
        </p:nvSpPr>
        <p:spPr>
          <a:xfrm>
            <a:off x="548640" y="1325880"/>
            <a:ext cx="4480560" cy="4434840"/>
          </a:xfrm>
          <a:prstGeom prst="roundRect">
            <a:avLst>
              <a:gd name="adj" fmla="val 3093"/>
            </a:avLst>
          </a:prstGeom>
          <a:solidFill>
            <a:schemeClr val="bg1"/>
          </a:solidFill>
          <a:ln w="12700">
            <a:solidFill>
              <a:srgbClr val="D8E8DE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76" y="1508760"/>
            <a:ext cx="4022487" cy="4069080"/>
          </a:xfrm>
          <a:prstGeom prst="rect">
            <a:avLst/>
          </a:prstGeom>
        </p:spPr>
      </p:pic>
      <p:sp>
        <p:nvSpPr>
          <p:cNvPr id="8" name="file-tag"/>
          <p:cNvSpPr/>
          <p:nvPr/>
        </p:nvSpPr>
        <p:spPr>
          <a:xfrm>
            <a:off x="8897112" y="5760720"/>
            <a:ext cx="274320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3112" y="5870448"/>
            <a:ext cx="283464" cy="28346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034272" y="5760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bg1"/>
                </a:solidFill>
              </a:rPr>
              <a:t>turtle6.py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chemeClr val="tx2"/>
                </a:solidFill>
              </a:rPr>
              <a:t>דף העזר של הצב</a:t>
            </a:r>
            <a:endParaRPr lang="en-US" sz="3600" dirty="0"/>
          </a:p>
        </p:txBody>
      </p:sp>
      <p:sp>
        <p:nvSpPr>
          <p:cNvPr id="3" name="cheat-card"/>
          <p:cNvSpPr/>
          <p:nvPr/>
        </p:nvSpPr>
        <p:spPr>
          <a:xfrm>
            <a:off x="8067751" y="1325880"/>
            <a:ext cx="3575304" cy="4663440"/>
          </a:xfrm>
          <a:prstGeom prst="roundRect">
            <a:avLst>
              <a:gd name="adj" fmla="val 38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96351" y="146304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2200" b="1" dirty="0">
                <a:solidFill>
                  <a:schemeClr val="accent1"/>
                </a:solidFill>
              </a:rPr>
              <a:t>תזוזה</a:t>
            </a:r>
            <a:endParaRPr lang="he-IL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50631" y="2103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forward(100)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170871" y="2103120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400" dirty="0">
                <a:solidFill>
                  <a:schemeClr val="tx1"/>
                </a:solidFill>
              </a:rPr>
              <a:t>קדימה</a:t>
            </a:r>
            <a:endParaRPr lang="he-IL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50631" y="273405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backward(50)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170871" y="2734056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400" dirty="0">
                <a:solidFill>
                  <a:schemeClr val="tx1"/>
                </a:solidFill>
              </a:rPr>
              <a:t>אחורה</a:t>
            </a:r>
            <a:endParaRPr lang="he-IL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50631" y="33649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left(90)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170871" y="3364992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400" dirty="0">
                <a:solidFill>
                  <a:schemeClr val="tx1"/>
                </a:solidFill>
              </a:rPr>
              <a:t>פנייה שמאלה</a:t>
            </a:r>
            <a:endParaRPr lang="he-IL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50631" y="39959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right(90)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170871" y="3995928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400" dirty="0">
                <a:solidFill>
                  <a:schemeClr val="tx1"/>
                </a:solidFill>
              </a:rPr>
              <a:t>פנייה ימינה</a:t>
            </a:r>
            <a:endParaRPr lang="he-IL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50631" y="462686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goto(x, y)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170871" y="4626864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400" dirty="0">
                <a:solidFill>
                  <a:schemeClr val="tx1"/>
                </a:solidFill>
              </a:rPr>
              <a:t>קפיצה לנקודה</a:t>
            </a:r>
            <a:endParaRPr lang="he-IL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50631" y="5257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setheading(90)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170871" y="5257800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400" dirty="0">
                <a:solidFill>
                  <a:schemeClr val="tx1"/>
                </a:solidFill>
              </a:rPr>
              <a:t>כיוון מדויק</a:t>
            </a:r>
            <a:endParaRPr lang="he-IL" sz="1400" dirty="0"/>
          </a:p>
        </p:txBody>
      </p:sp>
      <p:sp>
        <p:nvSpPr>
          <p:cNvPr id="17" name="cheat-card"/>
          <p:cNvSpPr/>
          <p:nvPr/>
        </p:nvSpPr>
        <p:spPr>
          <a:xfrm>
            <a:off x="4309567" y="1325880"/>
            <a:ext cx="3575304" cy="4663440"/>
          </a:xfrm>
          <a:prstGeom prst="roundRect">
            <a:avLst>
              <a:gd name="adj" fmla="val 38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38167" y="146304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2200" b="1" dirty="0">
                <a:solidFill>
                  <a:schemeClr val="accent2"/>
                </a:solidFill>
              </a:rPr>
              <a:t>עט וצבע</a:t>
            </a:r>
            <a:endParaRPr lang="he-IL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4492447" y="2103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penup()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12687" y="2103120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400" dirty="0">
                <a:solidFill>
                  <a:schemeClr val="tx1"/>
                </a:solidFill>
              </a:rPr>
              <a:t>הרם עט</a:t>
            </a:r>
            <a:endParaRPr lang="he-IL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492447" y="273405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pendown()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12687" y="2734056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400" dirty="0">
                <a:solidFill>
                  <a:schemeClr val="tx1"/>
                </a:solidFill>
              </a:rPr>
              <a:t>הורד עט</a:t>
            </a:r>
            <a:endParaRPr lang="he-IL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492447" y="33649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color("red")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12687" y="3364992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400" dirty="0">
                <a:solidFill>
                  <a:schemeClr val="tx1"/>
                </a:solidFill>
              </a:rPr>
              <a:t>צבע</a:t>
            </a:r>
            <a:endParaRPr lang="he-IL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492447" y="39959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pensize(5)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12687" y="3995928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400" dirty="0">
                <a:solidFill>
                  <a:schemeClr val="tx1"/>
                </a:solidFill>
              </a:rPr>
              <a:t>עובי</a:t>
            </a:r>
            <a:endParaRPr lang="he-IL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492447" y="462686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begin_fill()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12687" y="4626864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400" dirty="0">
                <a:solidFill>
                  <a:schemeClr val="tx1"/>
                </a:solidFill>
              </a:rPr>
              <a:t>התחל צביעה</a:t>
            </a:r>
            <a:endParaRPr lang="he-IL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492447" y="5257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end_fill()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412687" y="5257800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400" dirty="0">
                <a:solidFill>
                  <a:schemeClr val="tx1"/>
                </a:solidFill>
              </a:rPr>
              <a:t>סיים צביעה</a:t>
            </a:r>
            <a:endParaRPr lang="he-IL" sz="1400" dirty="0"/>
          </a:p>
        </p:txBody>
      </p:sp>
      <p:sp>
        <p:nvSpPr>
          <p:cNvPr id="31" name="cheat-card"/>
          <p:cNvSpPr/>
          <p:nvPr/>
        </p:nvSpPr>
        <p:spPr>
          <a:xfrm>
            <a:off x="551383" y="1325880"/>
            <a:ext cx="3575304" cy="4663440"/>
          </a:xfrm>
          <a:prstGeom prst="roundRect">
            <a:avLst>
              <a:gd name="adj" fmla="val 38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9983" y="1463040"/>
            <a:ext cx="3118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2200" b="1" dirty="0">
                <a:solidFill>
                  <a:schemeClr val="accent4"/>
                </a:solidFill>
              </a:rPr>
              <a:t>צורות ועוד</a:t>
            </a:r>
            <a:endParaRPr lang="he-IL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734263" y="2103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circle(50)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2654503" y="2103120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400" dirty="0">
                <a:solidFill>
                  <a:schemeClr val="tx1"/>
                </a:solidFill>
              </a:rPr>
              <a:t>עיגול</a:t>
            </a:r>
            <a:endParaRPr lang="he-IL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34263" y="273405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dot(20)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654503" y="2734056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400" dirty="0">
                <a:solidFill>
                  <a:schemeClr val="tx1"/>
                </a:solidFill>
              </a:rPr>
              <a:t>נקודה</a:t>
            </a:r>
            <a:endParaRPr lang="he-IL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734263" y="33649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write("Hi")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2654503" y="3364992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400" dirty="0">
                <a:solidFill>
                  <a:schemeClr val="tx1"/>
                </a:solidFill>
              </a:rPr>
              <a:t>טקסט</a:t>
            </a:r>
            <a:endParaRPr lang="he-IL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34263" y="39959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speed(0)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2654503" y="3995928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400" dirty="0">
                <a:solidFill>
                  <a:schemeClr val="tx1"/>
                </a:solidFill>
              </a:rPr>
              <a:t>מהירות</a:t>
            </a:r>
            <a:endParaRPr lang="he-IL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34263" y="462686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hideturtle()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2654503" y="4626864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400" dirty="0">
                <a:solidFill>
                  <a:schemeClr val="tx1"/>
                </a:solidFill>
              </a:rPr>
              <a:t>הסתר צב</a:t>
            </a:r>
            <a:endParaRPr lang="he-IL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734263" y="5257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turtle.done()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2654503" y="5257800"/>
            <a:ext cx="1289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400" dirty="0">
                <a:solidFill>
                  <a:schemeClr val="tx1"/>
                </a:solidFill>
              </a:rPr>
              <a:t>תמיד בסוף!</a:t>
            </a:r>
            <a:endParaRPr lang="he-IL" sz="14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chemeClr val="tx2"/>
                </a:solidFill>
              </a:rPr>
              <a:t>באגים </a:t>
            </a:r>
            <a:r>
              <a:rPr lang="en-US" sz="3600" b="1" dirty="0" err="1">
                <a:solidFill>
                  <a:schemeClr val="tx2"/>
                </a:solidFill>
              </a:rPr>
              <a:t>מפורסמים</a:t>
            </a:r>
            <a:r>
              <a:rPr lang="en-US" sz="3600" b="1" dirty="0">
                <a:solidFill>
                  <a:schemeClr val="tx2"/>
                </a:solidFill>
              </a:rPr>
              <a:t> </a:t>
            </a:r>
            <a:r>
              <a:rPr lang="en-US" sz="3600" b="1" dirty="0" err="1">
                <a:solidFill>
                  <a:schemeClr val="tx2"/>
                </a:solidFill>
              </a:rPr>
              <a:t>שכולנו</a:t>
            </a:r>
            <a:r>
              <a:rPr lang="en-US" sz="3600" b="1" dirty="0">
                <a:solidFill>
                  <a:schemeClr val="tx2"/>
                </a:solidFill>
              </a:rPr>
              <a:t> </a:t>
            </a:r>
            <a:r>
              <a:rPr lang="en-US" sz="3600" b="1" dirty="0" err="1">
                <a:solidFill>
                  <a:schemeClr val="tx2"/>
                </a:solidFill>
              </a:rPr>
              <a:t>עשינו</a:t>
            </a:r>
            <a:r>
              <a:rPr lang="en-US" sz="3600" b="1" dirty="0">
                <a:solidFill>
                  <a:schemeClr val="tx2"/>
                </a:solidFill>
              </a:rPr>
              <a:t> </a:t>
            </a:r>
            <a:r>
              <a:rPr lang="en-US" sz="3600" b="1" dirty="0">
                <a:solidFill>
                  <a:schemeClr val="tx2"/>
                </a:solidFill>
                <a:sym typeface="Wingdings" panose="05000000000000000000" pitchFamily="2" charset="2"/>
              </a:rPr>
              <a:t></a:t>
            </a:r>
            <a:endParaRPr lang="en-US" sz="3600" dirty="0"/>
          </a:p>
        </p:txBody>
      </p:sp>
      <p:sp>
        <p:nvSpPr>
          <p:cNvPr id="3" name="bug-card"/>
          <p:cNvSpPr/>
          <p:nvPr/>
        </p:nvSpPr>
        <p:spPr>
          <a:xfrm>
            <a:off x="6227064" y="1371600"/>
            <a:ext cx="5413248" cy="2103120"/>
          </a:xfrm>
          <a:prstGeom prst="roundRect">
            <a:avLst>
              <a:gd name="adj" fmla="val 6522"/>
            </a:avLst>
          </a:prstGeom>
          <a:solidFill>
            <a:schemeClr val="bg1"/>
          </a:solidFill>
          <a:ln w="12700">
            <a:solidFill>
              <a:srgbClr val="E3E3E3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badge"/>
          <p:cNvSpPr/>
          <p:nvPr/>
        </p:nvSpPr>
        <p:spPr>
          <a:xfrm>
            <a:off x="10661904" y="164592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2838" y="1806854"/>
            <a:ext cx="409651" cy="4096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01384" y="1691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2100" b="1" dirty="0">
                <a:solidFill>
                  <a:schemeClr val="accent3"/>
                </a:solidFill>
              </a:rPr>
              <a:t>החלון נעלם בשנייה</a:t>
            </a:r>
            <a:endParaRPr lang="he-IL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501384" y="24231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700" dirty="0">
                <a:solidFill>
                  <a:schemeClr val="tx1"/>
                </a:solidFill>
              </a:rPr>
              <a:t>שכחתם turtle.done()‎ בסוף הקוד</a:t>
            </a:r>
            <a:endParaRPr lang="he-IL" sz="1700" dirty="0"/>
          </a:p>
        </p:txBody>
      </p:sp>
      <p:sp>
        <p:nvSpPr>
          <p:cNvPr id="8" name="bug-card"/>
          <p:cNvSpPr/>
          <p:nvPr/>
        </p:nvSpPr>
        <p:spPr>
          <a:xfrm>
            <a:off x="548640" y="1371600"/>
            <a:ext cx="5413248" cy="2103120"/>
          </a:xfrm>
          <a:prstGeom prst="roundRect">
            <a:avLst>
              <a:gd name="adj" fmla="val 6522"/>
            </a:avLst>
          </a:prstGeom>
          <a:solidFill>
            <a:schemeClr val="bg1"/>
          </a:solidFill>
          <a:ln w="12700">
            <a:solidFill>
              <a:srgbClr val="E3E3E3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badge"/>
          <p:cNvSpPr/>
          <p:nvPr/>
        </p:nvSpPr>
        <p:spPr>
          <a:xfrm>
            <a:off x="4983480" y="16459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4414" y="1806854"/>
            <a:ext cx="409651" cy="40965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2960" y="1691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2100" b="1" dirty="0">
                <a:solidFill>
                  <a:schemeClr val="accent2"/>
                </a:solidFill>
              </a:rPr>
              <a:t>AttributeError מוזר</a:t>
            </a:r>
            <a:endParaRPr lang="he-IL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4231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700" dirty="0">
                <a:solidFill>
                  <a:schemeClr val="tx1"/>
                </a:solidFill>
              </a:rPr>
              <a:t>קראתם לקובץ turtle.py - שנו את השם!</a:t>
            </a:r>
            <a:endParaRPr lang="he-IL" sz="1700" dirty="0"/>
          </a:p>
        </p:txBody>
      </p:sp>
      <p:sp>
        <p:nvSpPr>
          <p:cNvPr id="13" name="bug-card"/>
          <p:cNvSpPr/>
          <p:nvPr/>
        </p:nvSpPr>
        <p:spPr>
          <a:xfrm>
            <a:off x="6227064" y="3703320"/>
            <a:ext cx="5413248" cy="2103120"/>
          </a:xfrm>
          <a:prstGeom prst="roundRect">
            <a:avLst>
              <a:gd name="adj" fmla="val 6522"/>
            </a:avLst>
          </a:prstGeom>
          <a:solidFill>
            <a:schemeClr val="bg1"/>
          </a:solidFill>
          <a:ln w="12700">
            <a:solidFill>
              <a:srgbClr val="E3E3E3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badge"/>
          <p:cNvSpPr/>
          <p:nvPr/>
        </p:nvSpPr>
        <p:spPr>
          <a:xfrm>
            <a:off x="10661904" y="397764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2838" y="4138574"/>
            <a:ext cx="409651" cy="40965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1384" y="40233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2100" b="1" dirty="0">
                <a:solidFill>
                  <a:schemeClr val="accent4"/>
                </a:solidFill>
              </a:rPr>
              <a:t>הצב מצייר רק פעם אחת</a:t>
            </a:r>
            <a:endParaRPr lang="he-IL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6501384" y="47548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700" dirty="0">
                <a:solidFill>
                  <a:schemeClr val="tx1"/>
                </a:solidFill>
              </a:rPr>
              <a:t>שכחתם הזחה בתוך ה-for</a:t>
            </a:r>
            <a:endParaRPr lang="he-IL" sz="1700" dirty="0"/>
          </a:p>
        </p:txBody>
      </p:sp>
      <p:sp>
        <p:nvSpPr>
          <p:cNvPr id="18" name="bug-card"/>
          <p:cNvSpPr/>
          <p:nvPr/>
        </p:nvSpPr>
        <p:spPr>
          <a:xfrm>
            <a:off x="548640" y="3703320"/>
            <a:ext cx="5413248" cy="2103120"/>
          </a:xfrm>
          <a:prstGeom prst="roundRect">
            <a:avLst>
              <a:gd name="adj" fmla="val 6522"/>
            </a:avLst>
          </a:prstGeom>
          <a:solidFill>
            <a:schemeClr val="bg1"/>
          </a:solidFill>
          <a:ln w="12700">
            <a:solidFill>
              <a:srgbClr val="E3E3E3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badge"/>
          <p:cNvSpPr/>
          <p:nvPr/>
        </p:nvSpPr>
        <p:spPr>
          <a:xfrm>
            <a:off x="4983480" y="3977640"/>
            <a:ext cx="731520" cy="7315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4414" y="4138574"/>
            <a:ext cx="409651" cy="40965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40233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2100" b="1" dirty="0">
                <a:solidFill>
                  <a:schemeClr val="accent6"/>
                </a:solidFill>
              </a:rPr>
              <a:t>Turtle לא מוכר</a:t>
            </a:r>
            <a:endParaRPr lang="he-IL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7548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700" dirty="0">
                <a:solidFill>
                  <a:schemeClr val="tx1"/>
                </a:solidFill>
              </a:rPr>
              <a:t>כתבתם turtle.turtle()‎ - צריך T גדולה: turtle.Turtle()‎</a:t>
            </a:r>
            <a:endParaRPr lang="he-IL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 err="1">
                <a:solidFill>
                  <a:schemeClr val="tx2"/>
                </a:solidFill>
              </a:rPr>
              <a:t>בונוס: הצב יודע גם לשחק!</a:t>
            </a:r>
            <a:endParaRPr lang="en-US" sz="3600" dirty="0"/>
          </a:p>
        </p:txBody>
      </p:sp>
      <p:sp>
        <p:nvSpPr>
          <p:cNvPr id="3" name="Rounded Rectangle 2"/>
          <p:cNvSpPr/>
          <p:nvPr/>
        </p:nvSpPr>
        <p:spPr>
          <a:xfrm>
            <a:off x="6336792" y="1325880"/>
            <a:ext cx="5303520" cy="297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" name="Picture 3" descr="key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1463040"/>
            <a:ext cx="3379154" cy="2697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36792" y="443484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>
                <a:solidFill>
                  <a:srgbClr val="2D9F5C"/>
                </a:solidFill>
                <a:latin typeface="Arial"/>
              </a:rPr>
              <a:t>ציור עם המקלדת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6792" y="4892040"/>
            <a:ext cx="5303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 b="0">
                <a:solidFill>
                  <a:srgbClr val="1B2B34"/>
                </a:solidFill>
                <a:latin typeface="Arial"/>
              </a:rPr>
              <a:t>חיצים - הזזת הצב</a:t>
            </a:r>
          </a:p>
          <a:p>
            <a:pPr algn="r" rtl="1">
              <a:spcAft>
                <a:spcPts val="400"/>
              </a:spcAft>
            </a:pPr>
            <a:r>
              <a:rPr sz="1600" b="0">
                <a:solidFill>
                  <a:srgbClr val="1B2B34"/>
                </a:solidFill>
                <a:latin typeface="Arial"/>
              </a:rPr>
              <a:t>רווח - הרמת / הורדת העט</a:t>
            </a:r>
          </a:p>
          <a:p>
            <a:pPr algn="r" rtl="1">
              <a:spcAft>
                <a:spcPts val="400"/>
              </a:spcAft>
            </a:pPr>
            <a:r>
              <a:rPr sz="1600" b="0">
                <a:solidFill>
                  <a:srgbClr val="1B2B34"/>
                </a:solidFill>
                <a:latin typeface="Arial"/>
              </a:rPr>
              <a:t>c - מחיקת הציור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62872" y="58064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turtle7.py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25880"/>
            <a:ext cx="5303520" cy="297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" name="Picture 8" descr="game_mi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1463040"/>
            <a:ext cx="3379154" cy="2697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43484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>
                <a:solidFill>
                  <a:srgbClr val="EF476F"/>
                </a:solidFill>
                <a:latin typeface="Arial"/>
              </a:rPr>
              <a:t>משחק: תפסו את הצב!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92040"/>
            <a:ext cx="5303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 b="0">
                <a:solidFill>
                  <a:srgbClr val="1B2B34"/>
                </a:solidFill>
                <a:latin typeface="Arial"/>
              </a:rPr>
              <a:t>לחיצה על הצב - נקודה</a:t>
            </a:r>
          </a:p>
          <a:p>
            <a:pPr algn="r" rtl="1">
              <a:spcAft>
                <a:spcPts val="400"/>
              </a:spcAft>
            </a:pPr>
            <a:r>
              <a:rPr sz="1600" b="0">
                <a:solidFill>
                  <a:srgbClr val="1B2B34"/>
                </a:solidFill>
                <a:latin typeface="Arial"/>
              </a:rPr>
              <a:t>יש לכם 30 שניות</a:t>
            </a:r>
          </a:p>
          <a:p>
            <a:pPr algn="r" rtl="1">
              <a:spcAft>
                <a:spcPts val="400"/>
              </a:spcAft>
            </a:pPr>
            <a:r>
              <a:rPr sz="1600" b="0">
                <a:solidFill>
                  <a:srgbClr val="1B2B34"/>
                </a:solidFill>
                <a:latin typeface="Arial"/>
              </a:rPr>
              <a:t>כמה תצליחו לצבור?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19" y="58064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turtle_game.py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3600" b="1" dirty="0">
                <a:solidFill>
                  <a:schemeClr val="bg1"/>
                </a:solidFill>
              </a:rPr>
              <a:t>שיעורי בית: הנוף שלי</a:t>
            </a:r>
            <a:endParaRPr lang="he-IL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700" dirty="0">
                <a:solidFill>
                  <a:schemeClr val="accent5"/>
                </a:solidFill>
              </a:rPr>
              <a:t>פתחו את הקובץ homework_turtle.py והשלימו את הקוד.</a:t>
            </a:r>
            <a:endParaRPr lang="he-IL" sz="1700" dirty="0"/>
          </a:p>
        </p:txBody>
      </p:sp>
      <p:sp>
        <p:nvSpPr>
          <p:cNvPr id="4" name="Shape 2"/>
          <p:cNvSpPr/>
          <p:nvPr/>
        </p:nvSpPr>
        <p:spPr>
          <a:xfrm>
            <a:off x="11228832" y="17282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28832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700" dirty="0">
                <a:solidFill>
                  <a:schemeClr val="bg1"/>
                </a:solidFill>
              </a:rPr>
              <a:t>צבע רקע למסך (bgcolor)‎</a:t>
            </a:r>
            <a:endParaRPr lang="he-IL" sz="1700" dirty="0"/>
          </a:p>
        </p:txBody>
      </p:sp>
      <p:sp>
        <p:nvSpPr>
          <p:cNvPr id="7" name="Shape 5"/>
          <p:cNvSpPr/>
          <p:nvPr/>
        </p:nvSpPr>
        <p:spPr>
          <a:xfrm>
            <a:off x="11228832" y="22402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228832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2037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700" dirty="0">
                <a:solidFill>
                  <a:schemeClr val="bg1"/>
                </a:solidFill>
              </a:rPr>
              <a:t>בית: ריבוע צבוע + גג משולש צבוע</a:t>
            </a:r>
            <a:endParaRPr lang="he-IL" sz="1700" dirty="0"/>
          </a:p>
        </p:txBody>
      </p:sp>
      <p:sp>
        <p:nvSpPr>
          <p:cNvPr id="10" name="Shape 8"/>
          <p:cNvSpPr/>
          <p:nvPr/>
        </p:nvSpPr>
        <p:spPr>
          <a:xfrm>
            <a:off x="11228832" y="2752344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228832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7157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700" dirty="0">
                <a:solidFill>
                  <a:schemeClr val="bg1"/>
                </a:solidFill>
              </a:rPr>
              <a:t>שמש צהובה צבועה בפינה (circle)‎</a:t>
            </a:r>
            <a:endParaRPr lang="he-IL" sz="1700" dirty="0"/>
          </a:p>
        </p:txBody>
      </p:sp>
      <p:sp>
        <p:nvSpPr>
          <p:cNvPr id="13" name="Shape 11"/>
          <p:cNvSpPr/>
          <p:nvPr/>
        </p:nvSpPr>
        <p:spPr>
          <a:xfrm>
            <a:off x="11228832" y="326440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228832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32278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700" dirty="0">
                <a:solidFill>
                  <a:schemeClr val="bg1"/>
                </a:solidFill>
              </a:rPr>
              <a:t>לפחות לולאת for אחת</a:t>
            </a:r>
            <a:endParaRPr lang="he-IL" sz="1700" dirty="0"/>
          </a:p>
        </p:txBody>
      </p:sp>
      <p:sp>
        <p:nvSpPr>
          <p:cNvPr id="16" name="Shape 14"/>
          <p:cNvSpPr/>
          <p:nvPr/>
        </p:nvSpPr>
        <p:spPr>
          <a:xfrm>
            <a:off x="11228832" y="3776472"/>
            <a:ext cx="384048" cy="38404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228832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73989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700" dirty="0">
                <a:solidFill>
                  <a:schemeClr val="bg1"/>
                </a:solidFill>
              </a:rPr>
              <a:t>מעברים עם penup / goto / pendown</a:t>
            </a:r>
            <a:endParaRPr lang="he-IL" sz="1700" dirty="0"/>
          </a:p>
        </p:txBody>
      </p:sp>
      <p:sp>
        <p:nvSpPr>
          <p:cNvPr id="19" name="Shape 17"/>
          <p:cNvSpPr/>
          <p:nvPr/>
        </p:nvSpPr>
        <p:spPr>
          <a:xfrm>
            <a:off x="11228832" y="42885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228832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4251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700" dirty="0">
                <a:solidFill>
                  <a:schemeClr val="bg1"/>
                </a:solidFill>
              </a:rPr>
              <a:t>השם שלכם על המסך (write, באנגלית)‎</a:t>
            </a:r>
            <a:endParaRPr lang="he-IL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47548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he-IL" altLang="en-US" sz="1300" dirty="0">
                <a:solidFill>
                  <a:srgbClr val="A8D5BA"/>
                </a:solidFill>
              </a:rPr>
              <a:t>15 נק' לכל סעיף</a:t>
            </a:r>
            <a:endParaRPr lang="he-IL" sz="1300" dirty="0"/>
          </a:p>
        </p:txBody>
      </p:sp>
      <p:sp>
        <p:nvSpPr>
          <p:cNvPr id="23" name="bonus"/>
          <p:cNvSpPr/>
          <p:nvPr/>
        </p:nvSpPr>
        <p:spPr>
          <a:xfrm>
            <a:off x="6309360" y="5120640"/>
            <a:ext cx="5330952" cy="1371600"/>
          </a:xfrm>
          <a:prstGeom prst="roundRect">
            <a:avLst>
              <a:gd name="adj" fmla="val 10000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0" y="5212080"/>
            <a:ext cx="49651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500" b="1" dirty="0">
                <a:solidFill>
                  <a:schemeClr val="accent5"/>
                </a:solidFill>
              </a:rPr>
              <a:t>בחירה (10 נק')‎: </a:t>
            </a:r>
            <a:r>
              <a:rPr lang="he-IL" altLang="en-US" sz="1500" dirty="0">
                <a:solidFill>
                  <a:schemeClr val="bg1"/>
                </a:solidFill>
              </a:rPr>
              <a:t>משתנה time_of_day ו-if ליום/לילה, או עץ / ענן / פרחים, או כוכבים במקומות אקראיים (random)‎</a:t>
            </a:r>
            <a:endParaRPr lang="he-IL" sz="1500" dirty="0"/>
          </a:p>
        </p:txBody>
      </p:sp>
      <p:sp>
        <p:nvSpPr>
          <p:cNvPr id="25" name="pic-card"/>
          <p:cNvSpPr/>
          <p:nvPr/>
        </p:nvSpPr>
        <p:spPr>
          <a:xfrm>
            <a:off x="548640" y="1691640"/>
            <a:ext cx="5394960" cy="3657600"/>
          </a:xfrm>
          <a:prstGeom prst="roundRect">
            <a:avLst>
              <a:gd name="adj" fmla="val 3750"/>
            </a:avLst>
          </a:prstGeom>
          <a:solidFill>
            <a:schemeClr val="bg1"/>
          </a:solidFill>
          <a:ln w="12700">
            <a:solidFill>
              <a:srgbClr val="D8E8DE"/>
            </a:solidFill>
            <a:prstDash val="solid"/>
          </a:ln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792" y="1874520"/>
            <a:ext cx="4486656" cy="329184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548640" y="53949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he-IL" altLang="en-US" sz="1300" dirty="0">
                <a:solidFill>
                  <a:srgbClr val="A8D5BA"/>
                </a:solidFill>
              </a:rPr>
              <a:t>דוגמה לתוצאה (גרסת לילה)‎</a:t>
            </a:r>
            <a:endParaRPr lang="he-IL" sz="1300" dirty="0"/>
          </a:p>
        </p:txBody>
      </p:sp>
      <p:sp>
        <p:nvSpPr>
          <p:cNvPr id="28" name="badge"/>
          <p:cNvSpPr/>
          <p:nvPr/>
        </p:nvSpPr>
        <p:spPr>
          <a:xfrm>
            <a:off x="5394960" y="5833872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661" y="5954573"/>
            <a:ext cx="307238" cy="307238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548640" y="585216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altLang="en-US" sz="1500" b="1" dirty="0">
                <a:solidFill>
                  <a:schemeClr val="accent2"/>
                </a:solidFill>
              </a:rPr>
              <a:t>הגשה: </a:t>
            </a:r>
            <a:r>
              <a:rPr lang="he-IL" altLang="en-US" sz="1500" dirty="0">
                <a:solidFill>
                  <a:schemeClr val="bg1"/>
                </a:solidFill>
              </a:rPr>
              <a:t>שמרו בשם turtle_hw_השם.py והעלו ל-Classroom</a:t>
            </a:r>
            <a:endParaRPr lang="he-IL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tle Pond">
  <a:themeElements>
    <a:clrScheme name="Turtle Pond">
      <a:dk1>
        <a:srgbClr val="1B2B34"/>
      </a:dk1>
      <a:lt1>
        <a:srgbClr val="FFFFFF"/>
      </a:lt1>
      <a:dk2>
        <a:srgbClr val="1B4332"/>
      </a:dk2>
      <a:lt2>
        <a:srgbClr val="E9F7EF"/>
      </a:lt2>
      <a:accent1>
        <a:srgbClr val="2D9F5C"/>
      </a:accent1>
      <a:accent2>
        <a:srgbClr val="FF9F1C"/>
      </a:accent2>
      <a:accent3>
        <a:srgbClr val="EF476F"/>
      </a:accent3>
      <a:accent4>
        <a:srgbClr val="118AB2"/>
      </a:accent4>
      <a:accent5>
        <a:srgbClr val="FFD166"/>
      </a:accent5>
      <a:accent6>
        <a:srgbClr val="8E44AD"/>
      </a:accent6>
      <a:hlink>
        <a:srgbClr val="118AB2"/>
      </a:hlink>
      <a:folHlink>
        <a:srgbClr val="8E44AD"/>
      </a:folHlink>
    </a:clrScheme>
    <a:fontScheme name="Turtle Pon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1741</Words>
  <Application>Microsoft Office PowerPoint</Application>
  <PresentationFormat>Widescreen</PresentationFormat>
  <Paragraphs>311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Courier New</vt:lpstr>
      <vt:lpstr>Wingdings</vt:lpstr>
      <vt:lpstr>Turtle Pond</vt:lpstr>
      <vt:lpstr>PowerPoint Presentation</vt:lpstr>
      <vt:lpstr>תזכורת: מה למדנו בשיעור הקודם</vt:lpstr>
      <vt:lpstr>השיעור של היום</vt:lpstr>
      <vt:lpstr>מי זה הצב?</vt:lpstr>
      <vt:lpstr>התוכנית הראשונה: ריבוע</vt:lpstr>
      <vt:lpstr>פונים ימינה ושמאלה: מעלות</vt:lpstr>
      <vt:lpstr>צבעים וסטייל</vt:lpstr>
      <vt:lpstr>מרימים את העט: קפיצות ועיגולים</vt:lpstr>
      <vt:lpstr>מתכנתים עצלנים משתמשים בלולאות</vt:lpstr>
      <vt:lpstr>כלל הזהב: כל מצולע שתרצו</vt:lpstr>
      <vt:lpstr>צובעים צורות וכותבים טקסט</vt:lpstr>
      <vt:lpstr>הצב מחליט:  random</vt:lpstr>
      <vt:lpstr>דף העזר של הצב</vt:lpstr>
      <vt:lpstr>באגים מפורסמים שכולנו עשינו </vt:lpstr>
      <vt:lpstr>בונוס: הצב יודע גם לשחק!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הצב המצייר - turtle בפייתון</dc:title>
  <dc:subject>PptxGenJS Presentation</dc:subject>
  <dc:creator>PptxGenJS</dc:creator>
  <cp:lastModifiedBy>Dani Livne</cp:lastModifiedBy>
  <cp:revision>15</cp:revision>
  <dcterms:created xsi:type="dcterms:W3CDTF">2026-10-04T10:37:06Z</dcterms:created>
  <dcterms:modified xsi:type="dcterms:W3CDTF">2026-10-04T12:00:35Z</dcterms:modified>
</cp:coreProperties>
</file>