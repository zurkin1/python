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90"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5" r:id="rId29"/>
    <p:sldId id="286" r:id="rId30"/>
    <p:sldId id="287" r:id="rId31"/>
    <p:sldId id="288" r:id="rId32"/>
    <p:sldId id="289"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3" d="100"/>
          <a:sy n="73" d="100"/>
        </p:scale>
        <p:origin x="38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8510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ברוכים הבאים לשיעור 4. היום יש שלושה חלקים: מבינים מה זה AI, מדברים עם Gemini מתוך פייתון, ובונים משחק NIM שבו Gemini הוא היריב.</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סקירה של השיעור. כל חלק נגמר בתרגיל. הכלל של היום חשוב במיוחד בחלק 3: אנחנו בודקים כל תשובה של Gemini לפני שמשתמשים בה.</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חלק 1: מבוא קצר ל-AI. המטרה היא אינטואיציה, לא מתמטיקה.</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בתכנות רגיל (כמו משחק המכוניות) אנחנו כותבים את החוקים: אם המכוניות קרובות - התנגשות. בלמידת מכונה אנחנו לא יודעים לכתוב את החוקים (למשל: איך מזהים חתול בתמונה?), אז נותנים למחשב המון דוגמאות עם התשובות - והוא מוצא את החוקים לבד. התוצאה נקראת מודל.</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אימון = לולאה: המודל מנחש, בודקים כמה הוא טעה, ומתקנים אותו קצת. חוזרים על זה מיליוני פעמים. כמו ללמוד לרכב על אופניים או לזרוק לסל. אפשר לשאול את הילדים: איך אתם למדתם לזרוק לסל?</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בסוף האימון יש לנו מודל - בעצם קובץ ענק של מספרים. עכשיו אפשר להשתמש בו שוב ושוב, בלי לאמן מחדש. אותו רעיון עובד למשימות שונות מאוד: לחזות מספר, לצייר תמונה, לענות על שאלה.</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משחק: הילדים הם המודל. הדוגמאות: 1→3, 2→5, 3→7, 4→9. מה יוצא עבור 10? התשובה: 21 (החוק: כפול 2 ועוד 1). זה בדיוק מה שמודל עושה: מוצא חוק מתוך דוגמאות ואז חוזה תשובה לקלט חדש שלא ראה. שאלו: כמה דוגמאות הייתם צריכים כדי להיות בטוחים?</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רשת נוירונים היא מודל שבנוי מהרבה יחידות קטנות שנקראות נוירונים מלאכותיים. הרעיון לקוח מהמוח: גם במוח יש מיליארדי תאי עצב שמחוברים זה לזה ומעבירים אותות. ברשת, כל נוירון מקבל מספרים מהנוירונים שלפניו ומעביר מספר הלאה. הנוירונים מסודרים בשכבות, וכל שכבה מחוברת לשכבה הבאה. באימון, הרשת משנה את החוזק של החיבורים - כך היא "לומדת". רשת עם הרבה שכבות נקראת רשת עמוקה (Deep Learning).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LLM = Large Language Model, מודל שפה גדול. המשימה שלו פשוטה: לנחש את המילה הבאה. הוא נותן הסתברות לכל מילה, בוחר אחת, מוסיף אותה לטקסט - ושוב. כך נבנית תשובה שלמה, מילה אחרי מילה. בגלל שיש בחירה, אותה שאלה יכולה לתת תשובות שונות! (זה יחזור בתרגיל 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מה מיוחד ב-LLM לעומת רשת רגילה? (1) כמות נתונים עצומה - כמעט כל הטקסט הציבורי באינטרנט. (2) גודל - מאות מיליארדי משקלים. (3) טריק בשם תשומת לב (Transformer): כל מילה "מסתכלת" על כל שאר המילים כדי להבין הקשר. (4) אימון נוסף עם משוב מבני אדם שמלמד אותו להיות עוזר מועיל. חשוב: הוא לא באמת יודע - הוא מנחש, ולפעמים טועה בביטחון מלא (הזיה).</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תרגיל 1: כל אחד פותח את gemini.google.com ושולח את השאלה בדיוק כפי שכתובה (באנגלית). שומרים את התשובה - נשתמש בה בתרגיל 2. אחר כך פותחים צ'אט חדש ושולחים שוב את אותה שאלה בדיוק: האם התשובה זהה? (רמז ל-LLM מהשקף הקודם: הוא בוחר מילים עם הסתברות.)</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חלק 2: במקום להקליד באתר, התוכנית שלנו שולחת את השאלה. כך אפשר לשלב AI בכל תוכנית - למשל במשחק.</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API = Application Programming Interface. הדרך שבה תוכנית אחת מבקשת שירות מתוכנית אחרת. אנלוגיה: מסעדה. אנחנו (התוכנית) לא נכנסים למטבח (השרתים של Google). המלצר (ה-API) לוקח את ההזמנה (השאלה) ומביא את המנה (התשובה).</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כדי ש-Google תדע מי שואל (ותספור כמה שאלות נשלחו), כל בקשה כוללת מפתח API - סוג של סיסמה. מי שיש לו את המפתח יכול להשתמש בחשבון שלנו! לכן לא מפרסמים אותו ב-GitHub, לא שולחים בקבוצות. בשיעור משתמשים במפתח של המורה. מי שרוצה מפתח משלו - יש מדריך (בעזרת הורה: Google דורשת גיל 18+ ליצירת מפתח).</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מתקינים את הספרייה פעם אחת בכל מחשב. ב-VS Code: Terminal ← New Terminal, ומקלידים את הפקודה. אם יש כמה גרסאות של פייתון, אפשר גם: python -m pip install google-genai. בדיקה: אם השורה from google import genai רצה בלי שגיאה - הכול מוכן.</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עוברים על הקוד שורה אחרי שורה: 1) מייבאים את הספרייה. 2) יוצרים client - החיבור ל-Google, עם המפתח. 3) generate_content שולח את השאלה: model = איזה מודל, contents = השאלה עצמה. 4) response.text = התשובה כמחרוזת, ומדפיסים אותה.</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יש כמה מודלים. flash מהיר ומספיק לרוב הדברים - בו נשתמש. pro חכם יותר אבל איטי יותר ויש לו פחות שאלות בחינם. lite הכי מהיר וזול. את רשימת השמות אפשר לקבל בקוד - לולאה על רשימה, כמו בשיעור הקודם! השמות מתעדכנים כל כמה חודשים.</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ה-prompt הוא מחרוזת רגילה. אפשר לבנות אותו מחלקים עם + (כמו "Score: " + str(score) במשחק המכוניות). \n בתוך מחרוזת = ירידת שורה. כך נבנה את ה-prompt של משחק NIM: נכניס לתוכו את מצב הערימות.</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אפשר לשלוט בהתנהגות: system_instruction = הוראה קבועה (תפקיד, סגנון). temperature = כמה "אקראי" לבחור את המילה הבאה. 0 = כמעט תמיד אותה תשובה. גבוה = יצירתי ומשתנה. גם עם 0 התשובה לא מובטחת זהה ב-100%.</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שגיאות נפוצות. 429 ו-503 יקרו בכיתה כשכולם שולחים בבת אחת עם אותו מפתח - מחכים קצת ומנסים שוב. במשחק NIM נטפל בזה עם try/except.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תרגיל 2: משנים את contents ל-שאלה המדויקת מתרגיל 1. מריצים ומשווים. כמעט תמיד התשובה תהיה שונה. למה? (1) LLM בוחר מילים עם הסתברות (temperature) - גם באתר עצמו קיבלנו תשובות שונות. (2) האתר משתמש בהוראות מערכת נסתרות (system instruction) ולפעמים בחיפוש באינטרנט ובהיסטוריית הצ'אט. (3) ייתכן שהאתר משתמש במודל או גרסה אחרת. בונוס: הוסיפו temperature=0 והריצו פעמיים - האם עכשיו התשובות דומות יותר?</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חלק 3: בונים משחק בשלבים כמו במרוץ המכוניות. כל שלב = קובץ שעובד.</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NIM הוא משחק עתיק. כאן הגרסה שבה מי שלוקח את האסימון האחרון מפסיד. כדאי לשחק סיבוב אחד על הלוח: המורה נגד הכיתה, עם 3, 4, 5 אסימונים. ויקיפדיה: https://he.wikipedia.org/wiki/נים</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תשובות: (א) [0,0,1] - חייבים לקחת את האחרון ומפסידים. (ב) [0,3,0] - לוקחים 2 ומשאירים 1, היריב חייב לקחת אותו ומפסיד. (ג) [1,1,1] - כל מהלך משאיר [1,1], היריב לוקח אחד ואתם חייבים לקחת את האחרון - מפסידים. כלומר יש מצבים "מנצחים" ו"מפסידים" - האם Gemini יודע את זה?</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כמו במשחק המכוניות - כל פונקציה עושה דבר אחד קטן. הקבוצה השלישית חדשה: הפונקציות שמדברות עם Gemini ובודקות את התשובה שלו.</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שלושה שלבים. כל שלב הוא קובץ שעובד. נתקעתם? פותחים את הקובץ של השלב הבא.</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כל הערימות שמורות ברשימה אחת: piles. piles[0] = כמה אסימונים בערימה הראשונה. draw_pile מציירת ערימה אחת: לולאה שמציירת ריבוע לכל אסימון. כדי להוריד אסימונים - פשוט משנים מספר ברשימה ומציירים מחדש.</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משתנה player שומר של מי התור. next_player מחליפה בין 1 ל-2 (צריך global, כמו lane במכוניות). sum(piles) מחבר את כל הרשימה: אם יצא 0 - השחקן שעשה עכשיו את המהלך לקח את האחרון והפסיד.</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זה הלב של שלב 3: בונים prompt ממחרוזות (כמו בחלק 2). board_text מכניסה את מצב הערימות. מבקשים פורמט מאוד מדויק: 2 מספרים בלבד - כי את התשובה תקרא תוכנית, לא בן אדם. בחלון ההדפסות רואים בדיוק מה נשלח ומה חזר.</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Gemini לא תמיד עונה כמו שביקשנו. כשבדקנו מודל ישן יותר הוא כתב הסבר ארוך במקום 2 מספרים! לפעמים השרת עמוס (503). לכן: split מפרק את התשובה, isdigit בודק שזה מספר, legal_move בודקת שהמהלך חוקי - ואם לא, משחקים מהלך אקראי. try/except תופס שגיאות במקום שהתוכנית תקרוס.</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סיכום. שאלו: מה הפתיע אתכם היום?</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שיעורי בית: לבחור לפחות 2 מתוך 3, מתחילים מ-nim3.py. תרגיל 1: צריך לשנות 3 רשימות (piles, COLORS, ROWS) - ה-prompt מתעדכן לבד כי board_text עוברת על כל הרשימה. תרגיל 2: לשנות את שורת ה-Rules ב-prompt ואת שתי ההודעות בסוף המשחק. תרגיל 3: פונקציה חדשה שבונה prompt שני ומחזירה משפט, וקוראים לה ב-computer_turn אחרי המהלך.</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Oval 1"/>
          <p:cNvSpPr/>
          <p:nvPr/>
        </p:nvSpPr>
        <p:spPr>
          <a:xfrm>
            <a:off x="685800" y="868680"/>
            <a:ext cx="5120640" cy="512064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nim3_start_c.png"/>
          <p:cNvPicPr>
            <a:picLocks noChangeAspect="1"/>
          </p:cNvPicPr>
          <p:nvPr/>
        </p:nvPicPr>
        <p:blipFill>
          <a:blip r:embed="rId3"/>
          <a:stretch>
            <a:fillRect/>
          </a:stretch>
        </p:blipFill>
        <p:spPr>
          <a:xfrm>
            <a:off x="1234440" y="1965960"/>
            <a:ext cx="4023360" cy="3346027"/>
          </a:xfrm>
          <a:prstGeom prst="rect">
            <a:avLst/>
          </a:prstGeom>
        </p:spPr>
      </p:pic>
      <p:sp>
        <p:nvSpPr>
          <p:cNvPr id="4" name="Oval 3"/>
          <p:cNvSpPr/>
          <p:nvPr/>
        </p:nvSpPr>
        <p:spPr>
          <a:xfrm>
            <a:off x="5074920" y="731520"/>
            <a:ext cx="502920" cy="5029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5257800"/>
            <a:ext cx="457200" cy="45720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486400" y="4937760"/>
            <a:ext cx="347472" cy="347472"/>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60" y="1737360"/>
            <a:ext cx="5349240" cy="1014984"/>
          </a:xfrm>
          <a:prstGeom prst="rect">
            <a:avLst/>
          </a:prstGeom>
          <a:noFill/>
        </p:spPr>
        <p:txBody>
          <a:bodyPr wrap="square" lIns="45720" rIns="45720" anchor="t">
            <a:spAutoFit/>
          </a:bodyPr>
          <a:lstStyle/>
          <a:p>
            <a:pPr algn="r" rtl="1"/>
            <a:r>
              <a:rPr lang="he-IL" sz="6000" b="1" i="0">
                <a:solidFill>
                  <a:srgbClr val="FFFFFF"/>
                </a:solidFill>
                <a:latin typeface="Arial"/>
                <a:cs typeface="Arial"/>
              </a:rPr>
              <a:t>שיעור 4</a:t>
            </a:r>
          </a:p>
        </p:txBody>
      </p:sp>
      <p:sp>
        <p:nvSpPr>
          <p:cNvPr id="8" name="TextBox 7"/>
          <p:cNvSpPr txBox="1"/>
          <p:nvPr/>
        </p:nvSpPr>
        <p:spPr>
          <a:xfrm>
            <a:off x="6309360" y="2834640"/>
            <a:ext cx="5349240" cy="548640"/>
          </a:xfrm>
          <a:prstGeom prst="rect">
            <a:avLst/>
          </a:prstGeom>
          <a:noFill/>
        </p:spPr>
        <p:txBody>
          <a:bodyPr wrap="square" lIns="45720" rIns="45720" anchor="t">
            <a:spAutoFit/>
          </a:bodyPr>
          <a:lstStyle/>
          <a:p>
            <a:pPr algn="r" rtl="1"/>
            <a:r>
              <a:rPr lang="he-IL" sz="2600" b="0" i="0">
                <a:solidFill>
                  <a:srgbClr val="FFD166"/>
                </a:solidFill>
                <a:latin typeface="Arial"/>
                <a:cs typeface="Arial"/>
              </a:rPr>
              <a:t>בינה מלאכותית ומשחק נגד </a:t>
            </a:r>
            <a:r>
              <a:rPr lang="en-US" sz="2600" b="0" i="0">
                <a:solidFill>
                  <a:srgbClr val="FFD166"/>
                </a:solidFill>
                <a:latin typeface="Arial"/>
                <a:cs typeface="Arial"/>
              </a:rPr>
              <a:t>Gemini</a:t>
            </a:r>
          </a:p>
        </p:txBody>
      </p:sp>
      <p:sp>
        <p:nvSpPr>
          <p:cNvPr id="9" name="TextBox 8"/>
          <p:cNvSpPr txBox="1"/>
          <p:nvPr/>
        </p:nvSpPr>
        <p:spPr>
          <a:xfrm>
            <a:off x="6309360" y="3657600"/>
            <a:ext cx="5349240" cy="1280160"/>
          </a:xfrm>
          <a:prstGeom prst="rect">
            <a:avLst/>
          </a:prstGeom>
          <a:noFill/>
        </p:spPr>
        <p:txBody>
          <a:bodyPr wrap="square" lIns="45720" rIns="45720" anchor="t">
            <a:spAutoFit/>
          </a:bodyPr>
          <a:lstStyle/>
          <a:p>
            <a:pPr algn="r" rtl="1"/>
            <a:r>
              <a:rPr lang="he-IL" sz="2000" b="0" i="0">
                <a:solidFill>
                  <a:srgbClr val="CDE8D8"/>
                </a:solidFill>
                <a:latin typeface="Arial"/>
                <a:cs typeface="Arial"/>
              </a:rPr>
              <a:t>היום נבין איך מחשב "לומד", נשלח שאלות ל-</a:t>
            </a:r>
            <a:r>
              <a:rPr lang="en-US" sz="2000" b="0" i="0">
                <a:solidFill>
                  <a:srgbClr val="CDE8D8"/>
                </a:solidFill>
                <a:latin typeface="Arial"/>
                <a:cs typeface="Arial"/>
              </a:rPr>
              <a:t>Gemini</a:t>
            </a:r>
            <a:r>
              <a:rPr lang="he-IL" sz="2000" b="0" i="0">
                <a:solidFill>
                  <a:srgbClr val="CDE8D8"/>
                </a:solidFill>
                <a:latin typeface="Arial"/>
                <a:cs typeface="Arial"/>
              </a:rPr>
              <a:t> מתוך פייתון - ונבנה משחק שבו </a:t>
            </a:r>
            <a:r>
              <a:rPr lang="en-US" sz="2000" b="0" i="0">
                <a:solidFill>
                  <a:srgbClr val="CDE8D8"/>
                </a:solidFill>
                <a:latin typeface="Arial"/>
                <a:cs typeface="Arial"/>
              </a:rPr>
              <a:t>Gemini</a:t>
            </a:r>
            <a:r>
              <a:rPr lang="he-IL" sz="2000" b="0" i="0">
                <a:solidFill>
                  <a:srgbClr val="CDE8D8"/>
                </a:solidFill>
                <a:latin typeface="Arial"/>
                <a:cs typeface="Arial"/>
              </a:rPr>
              <a:t> הוא היריב שלנו!</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השיעור של היום</a:t>
            </a:r>
          </a:p>
        </p:txBody>
      </p:sp>
      <p:sp>
        <p:nvSpPr>
          <p:cNvPr id="4" name="Oval 3"/>
          <p:cNvSpPr/>
          <p:nvPr/>
        </p:nvSpPr>
        <p:spPr>
          <a:xfrm>
            <a:off x="10195560" y="1554480"/>
            <a:ext cx="1188720" cy="118872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600" b="1" i="0">
                <a:solidFill>
                  <a:srgbClr val="FFFFFF"/>
                </a:solidFill>
                <a:latin typeface="Arial"/>
                <a:cs typeface="Arial"/>
              </a:rPr>
              <a:t>1</a:t>
            </a:r>
          </a:p>
        </p:txBody>
      </p:sp>
      <p:sp>
        <p:nvSpPr>
          <p:cNvPr id="5" name="TextBox 4"/>
          <p:cNvSpPr txBox="1"/>
          <p:nvPr/>
        </p:nvSpPr>
        <p:spPr>
          <a:xfrm>
            <a:off x="9372600" y="2926080"/>
            <a:ext cx="2834640" cy="45720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מה זה </a:t>
            </a:r>
            <a:r>
              <a:rPr lang="en-US" sz="2200" b="1" i="0">
                <a:solidFill>
                  <a:srgbClr val="1B2B34"/>
                </a:solidFill>
                <a:latin typeface="Arial"/>
                <a:cs typeface="Arial"/>
              </a:rPr>
              <a:t>AI</a:t>
            </a:r>
            <a:r>
              <a:rPr lang="he-IL" sz="2200" b="1" i="0">
                <a:solidFill>
                  <a:srgbClr val="1B2B34"/>
                </a:solidFill>
                <a:latin typeface="Arial"/>
                <a:cs typeface="Arial"/>
              </a:rPr>
              <a:t>?</a:t>
            </a:r>
          </a:p>
        </p:txBody>
      </p:sp>
      <p:sp>
        <p:nvSpPr>
          <p:cNvPr id="6" name="TextBox 5"/>
          <p:cNvSpPr txBox="1"/>
          <p:nvPr/>
        </p:nvSpPr>
        <p:spPr>
          <a:xfrm>
            <a:off x="9372600" y="3429000"/>
            <a:ext cx="2834640" cy="36576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למידת מכונה, נוירונים, </a:t>
            </a:r>
            <a:r>
              <a:rPr lang="en-US" sz="1500" b="0" i="0">
                <a:solidFill>
                  <a:srgbClr val="5F6F78"/>
                </a:solidFill>
                <a:latin typeface="Arial"/>
                <a:cs typeface="Arial"/>
              </a:rPr>
              <a:t>LLM</a:t>
            </a:r>
          </a:p>
        </p:txBody>
      </p:sp>
      <p:sp>
        <p:nvSpPr>
          <p:cNvPr id="7" name="TextBox 6"/>
          <p:cNvSpPr txBox="1"/>
          <p:nvPr/>
        </p:nvSpPr>
        <p:spPr>
          <a:xfrm>
            <a:off x="9372600" y="3840480"/>
            <a:ext cx="2834640" cy="365760"/>
          </a:xfrm>
          <a:prstGeom prst="rect">
            <a:avLst/>
          </a:prstGeom>
          <a:noFill/>
        </p:spPr>
        <p:txBody>
          <a:bodyPr wrap="square" lIns="45720" rIns="45720" anchor="t">
            <a:spAutoFit/>
          </a:bodyPr>
          <a:lstStyle/>
          <a:p>
            <a:pPr algn="ctr" rtl="0"/>
            <a:r>
              <a:rPr lang="en-US" sz="1600" b="1" i="0">
                <a:solidFill>
                  <a:srgbClr val="FF9F1C"/>
                </a:solidFill>
                <a:latin typeface="Arial"/>
                <a:cs typeface="Arial"/>
              </a:rPr>
              <a:t>gemini.google.com</a:t>
            </a:r>
          </a:p>
        </p:txBody>
      </p:sp>
      <p:cxnSp>
        <p:nvCxnSpPr>
          <p:cNvPr id="8" name="Connector 7"/>
          <p:cNvCxnSpPr/>
          <p:nvPr/>
        </p:nvCxnSpPr>
        <p:spPr>
          <a:xfrm flipH="1">
            <a:off x="8823960" y="2148840"/>
            <a:ext cx="731520" cy="0"/>
          </a:xfrm>
          <a:prstGeom prst="line">
            <a:avLst/>
          </a:prstGeom>
          <a:ln w="38100">
            <a:solidFill>
              <a:srgbClr val="B8C4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446520" y="1554480"/>
            <a:ext cx="1188720" cy="118872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600" b="1" i="0">
                <a:solidFill>
                  <a:srgbClr val="FFFFFF"/>
                </a:solidFill>
                <a:latin typeface="Arial"/>
                <a:cs typeface="Arial"/>
              </a:rPr>
              <a:t>2</a:t>
            </a:r>
          </a:p>
        </p:txBody>
      </p:sp>
      <p:sp>
        <p:nvSpPr>
          <p:cNvPr id="10" name="TextBox 9"/>
          <p:cNvSpPr txBox="1"/>
          <p:nvPr/>
        </p:nvSpPr>
        <p:spPr>
          <a:xfrm>
            <a:off x="5623560" y="2926080"/>
            <a:ext cx="2834640" cy="457200"/>
          </a:xfrm>
          <a:prstGeom prst="rect">
            <a:avLst/>
          </a:prstGeom>
          <a:noFill/>
        </p:spPr>
        <p:txBody>
          <a:bodyPr wrap="square" lIns="45720" rIns="45720" anchor="t">
            <a:spAutoFit/>
          </a:bodyPr>
          <a:lstStyle/>
          <a:p>
            <a:pPr algn="ctr" rtl="1"/>
            <a:r>
              <a:rPr lang="en-US" sz="2200" b="1" i="0">
                <a:solidFill>
                  <a:srgbClr val="1B2B34"/>
                </a:solidFill>
                <a:latin typeface="Arial"/>
                <a:cs typeface="Arial"/>
              </a:rPr>
              <a:t>Gemini</a:t>
            </a:r>
            <a:r>
              <a:rPr lang="he-IL" sz="2200" b="1" i="0">
                <a:solidFill>
                  <a:srgbClr val="1B2B34"/>
                </a:solidFill>
                <a:latin typeface="Arial"/>
                <a:cs typeface="Arial"/>
              </a:rPr>
              <a:t> בפייתון</a:t>
            </a:r>
          </a:p>
        </p:txBody>
      </p:sp>
      <p:sp>
        <p:nvSpPr>
          <p:cNvPr id="11" name="TextBox 10"/>
          <p:cNvSpPr txBox="1"/>
          <p:nvPr/>
        </p:nvSpPr>
        <p:spPr>
          <a:xfrm>
            <a:off x="5623560" y="3429000"/>
            <a:ext cx="2834640" cy="365760"/>
          </a:xfrm>
          <a:prstGeom prst="rect">
            <a:avLst/>
          </a:prstGeom>
          <a:noFill/>
        </p:spPr>
        <p:txBody>
          <a:bodyPr wrap="square" lIns="45720" rIns="45720" anchor="t">
            <a:spAutoFit/>
          </a:bodyPr>
          <a:lstStyle/>
          <a:p>
            <a:pPr algn="ctr" rtl="1"/>
            <a:r>
              <a:rPr lang="en-US" sz="1500" b="0" i="0">
                <a:solidFill>
                  <a:srgbClr val="5F6F78"/>
                </a:solidFill>
                <a:latin typeface="Arial"/>
                <a:cs typeface="Arial"/>
              </a:rPr>
              <a:t>API</a:t>
            </a:r>
            <a:r>
              <a:rPr lang="he-IL" sz="1500" b="0" i="0">
                <a:solidFill>
                  <a:srgbClr val="5F6F78"/>
                </a:solidFill>
                <a:latin typeface="Arial"/>
                <a:cs typeface="Arial"/>
              </a:rPr>
              <a:t>, </a:t>
            </a:r>
            <a:r>
              <a:rPr lang="en-US" sz="1500" b="0" i="0">
                <a:solidFill>
                  <a:srgbClr val="5F6F78"/>
                </a:solidFill>
                <a:latin typeface="Arial"/>
                <a:cs typeface="Arial"/>
              </a:rPr>
              <a:t>google-genai</a:t>
            </a:r>
          </a:p>
        </p:txBody>
      </p:sp>
      <p:sp>
        <p:nvSpPr>
          <p:cNvPr id="12" name="TextBox 11"/>
          <p:cNvSpPr txBox="1"/>
          <p:nvPr/>
        </p:nvSpPr>
        <p:spPr>
          <a:xfrm>
            <a:off x="5623560" y="3840480"/>
            <a:ext cx="2834640" cy="365760"/>
          </a:xfrm>
          <a:prstGeom prst="rect">
            <a:avLst/>
          </a:prstGeom>
          <a:noFill/>
        </p:spPr>
        <p:txBody>
          <a:bodyPr wrap="square" lIns="45720" rIns="45720" anchor="t">
            <a:spAutoFit/>
          </a:bodyPr>
          <a:lstStyle/>
          <a:p>
            <a:pPr algn="ctr" rtl="0"/>
            <a:r>
              <a:rPr lang="en-US" sz="1600" b="1" i="0">
                <a:solidFill>
                  <a:srgbClr val="FF9F1C"/>
                </a:solidFill>
                <a:latin typeface="Arial"/>
                <a:cs typeface="Arial"/>
              </a:rPr>
              <a:t>aiapibasic_example.py</a:t>
            </a:r>
          </a:p>
        </p:txBody>
      </p:sp>
      <p:cxnSp>
        <p:nvCxnSpPr>
          <p:cNvPr id="13" name="Connector 12"/>
          <p:cNvCxnSpPr/>
          <p:nvPr/>
        </p:nvCxnSpPr>
        <p:spPr>
          <a:xfrm flipH="1">
            <a:off x="5074920" y="2148840"/>
            <a:ext cx="731520" cy="0"/>
          </a:xfrm>
          <a:prstGeom prst="line">
            <a:avLst/>
          </a:prstGeom>
          <a:ln w="38100">
            <a:solidFill>
              <a:srgbClr val="B8C4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697480" y="1554480"/>
            <a:ext cx="1188720" cy="11887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600" b="1" i="0">
                <a:solidFill>
                  <a:srgbClr val="FFFFFF"/>
                </a:solidFill>
                <a:latin typeface="Arial"/>
                <a:cs typeface="Arial"/>
              </a:rPr>
              <a:t>3</a:t>
            </a:r>
          </a:p>
        </p:txBody>
      </p:sp>
      <p:sp>
        <p:nvSpPr>
          <p:cNvPr id="15" name="TextBox 14"/>
          <p:cNvSpPr txBox="1"/>
          <p:nvPr/>
        </p:nvSpPr>
        <p:spPr>
          <a:xfrm>
            <a:off x="1874520" y="2926080"/>
            <a:ext cx="2834640" cy="45720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משחק </a:t>
            </a:r>
            <a:r>
              <a:rPr lang="en-US" sz="2200" b="1" i="0">
                <a:solidFill>
                  <a:srgbClr val="1B2B34"/>
                </a:solidFill>
                <a:latin typeface="Arial"/>
                <a:cs typeface="Arial"/>
              </a:rPr>
              <a:t>NIM</a:t>
            </a:r>
          </a:p>
        </p:txBody>
      </p:sp>
      <p:sp>
        <p:nvSpPr>
          <p:cNvPr id="16" name="TextBox 15"/>
          <p:cNvSpPr txBox="1"/>
          <p:nvPr/>
        </p:nvSpPr>
        <p:spPr>
          <a:xfrm>
            <a:off x="1874520" y="3429000"/>
            <a:ext cx="2834640" cy="36576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3 שלבים, משחק נגד </a:t>
            </a:r>
            <a:r>
              <a:rPr lang="en-US" sz="1500" b="0" i="0">
                <a:solidFill>
                  <a:srgbClr val="5F6F78"/>
                </a:solidFill>
                <a:latin typeface="Arial"/>
                <a:cs typeface="Arial"/>
              </a:rPr>
              <a:t>Gemini</a:t>
            </a:r>
          </a:p>
        </p:txBody>
      </p:sp>
      <p:sp>
        <p:nvSpPr>
          <p:cNvPr id="17" name="TextBox 16"/>
          <p:cNvSpPr txBox="1"/>
          <p:nvPr/>
        </p:nvSpPr>
        <p:spPr>
          <a:xfrm>
            <a:off x="1874520" y="3840480"/>
            <a:ext cx="2834640" cy="365760"/>
          </a:xfrm>
          <a:prstGeom prst="rect">
            <a:avLst/>
          </a:prstGeom>
          <a:noFill/>
        </p:spPr>
        <p:txBody>
          <a:bodyPr wrap="square" lIns="45720" rIns="45720" anchor="t">
            <a:spAutoFit/>
          </a:bodyPr>
          <a:lstStyle/>
          <a:p>
            <a:pPr algn="ctr" rtl="0"/>
            <a:r>
              <a:rPr lang="en-US" sz="1600" b="1" i="0">
                <a:solidFill>
                  <a:srgbClr val="FF9F1C"/>
                </a:solidFill>
                <a:latin typeface="Arial"/>
                <a:cs typeface="Arial"/>
              </a:rPr>
              <a:t>nim1.py ... nim3.py</a:t>
            </a:r>
          </a:p>
        </p:txBody>
      </p:sp>
      <p:sp>
        <p:nvSpPr>
          <p:cNvPr id="18" name="Rounded Rectangle 17"/>
          <p:cNvSpPr/>
          <p:nvPr/>
        </p:nvSpPr>
        <p:spPr>
          <a:xfrm>
            <a:off x="548640" y="4800600"/>
            <a:ext cx="11091672" cy="914400"/>
          </a:xfrm>
          <a:prstGeom prst="roundRect">
            <a:avLst>
              <a:gd name="adj" fmla="val 15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81360" y="5001768"/>
            <a:ext cx="512064" cy="512064"/>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20" name="TextBox 19"/>
          <p:cNvSpPr txBox="1"/>
          <p:nvPr/>
        </p:nvSpPr>
        <p:spPr>
          <a:xfrm>
            <a:off x="822960" y="4846320"/>
            <a:ext cx="9875520" cy="822960"/>
          </a:xfrm>
          <a:prstGeom prst="rect">
            <a:avLst/>
          </a:prstGeom>
          <a:noFill/>
        </p:spPr>
        <p:txBody>
          <a:bodyPr wrap="square" lIns="45720" rIns="45720" anchor="ctr">
            <a:spAutoFit/>
          </a:bodyPr>
          <a:lstStyle/>
          <a:p>
            <a:pPr algn="r" rtl="1"/>
            <a:r>
              <a:rPr lang="he-IL" sz="1700" b="1" i="0">
                <a:solidFill>
                  <a:srgbClr val="1B2B34"/>
                </a:solidFill>
                <a:latin typeface="Arial"/>
                <a:cs typeface="Arial"/>
              </a:rPr>
              <a:t>הכלל של היום: </a:t>
            </a:r>
          </a:p>
          <a:p>
            <a:pPr algn="r" rtl="1"/>
            <a:r>
              <a:rPr lang="en-US" sz="1700" b="0" i="0">
                <a:solidFill>
                  <a:srgbClr val="1B2B34"/>
                </a:solidFill>
                <a:latin typeface="Arial"/>
                <a:cs typeface="Arial"/>
              </a:rPr>
              <a:t>Gemini</a:t>
            </a:r>
            <a:r>
              <a:rPr lang="he-IL" sz="1700" b="0" i="0">
                <a:solidFill>
                  <a:srgbClr val="1B2B34"/>
                </a:solidFill>
                <a:latin typeface="Arial"/>
                <a:cs typeface="Arial"/>
              </a:rPr>
              <a:t> הוא כלי חזק - אבל הוא יכול לטעות. תמיד בודקים את התשובה שלו!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Oval 1"/>
          <p:cNvSpPr/>
          <p:nvPr/>
        </p:nvSpPr>
        <p:spPr>
          <a:xfrm>
            <a:off x="6949440" y="1325880"/>
            <a:ext cx="3931920" cy="3931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0" y="1325880"/>
            <a:ext cx="3931920" cy="3931920"/>
          </a:xfrm>
          <a:prstGeom prst="rect">
            <a:avLst/>
          </a:prstGeom>
          <a:noFill/>
        </p:spPr>
        <p:txBody>
          <a:bodyPr wrap="square" lIns="45720" rIns="45720" anchor="ctr">
            <a:spAutoFit/>
          </a:bodyPr>
          <a:lstStyle/>
          <a:p>
            <a:pPr algn="ctr" rtl="1"/>
            <a:r>
              <a:rPr lang="he-IL" sz="16000" b="1" i="0">
                <a:solidFill>
                  <a:srgbClr val="FFD166"/>
                </a:solidFill>
                <a:latin typeface="Arial"/>
                <a:cs typeface="Arial"/>
              </a:rPr>
              <a:t>1</a:t>
            </a:r>
          </a:p>
        </p:txBody>
      </p:sp>
      <p:sp>
        <p:nvSpPr>
          <p:cNvPr id="4" name="Oval 3"/>
          <p:cNvSpPr/>
          <p:nvPr/>
        </p:nvSpPr>
        <p:spPr>
          <a:xfrm>
            <a:off x="10332720" y="1097280"/>
            <a:ext cx="502920" cy="5029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040880" y="4846320"/>
            <a:ext cx="411480" cy="4114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63040"/>
            <a:ext cx="6126480" cy="2194560"/>
          </a:xfrm>
          <a:prstGeom prst="rect">
            <a:avLst/>
          </a:prstGeom>
          <a:noFill/>
        </p:spPr>
        <p:txBody>
          <a:bodyPr wrap="square" lIns="45720" rIns="45720" anchor="b">
            <a:spAutoFit/>
          </a:bodyPr>
          <a:lstStyle/>
          <a:p>
            <a:pPr algn="r" rtl="1"/>
            <a:r>
              <a:rPr lang="he-IL" sz="4800" b="1" i="0">
                <a:solidFill>
                  <a:srgbClr val="FFFFFF"/>
                </a:solidFill>
                <a:latin typeface="Arial"/>
                <a:cs typeface="Arial"/>
              </a:rPr>
              <a:t>מה זה בינה מלאכותית?</a:t>
            </a:r>
          </a:p>
        </p:txBody>
      </p:sp>
      <p:sp>
        <p:nvSpPr>
          <p:cNvPr id="7" name="TextBox 6"/>
          <p:cNvSpPr txBox="1"/>
          <p:nvPr/>
        </p:nvSpPr>
        <p:spPr>
          <a:xfrm>
            <a:off x="548640" y="3794760"/>
            <a:ext cx="6126480" cy="914400"/>
          </a:xfrm>
          <a:prstGeom prst="rect">
            <a:avLst/>
          </a:prstGeom>
          <a:noFill/>
        </p:spPr>
        <p:txBody>
          <a:bodyPr wrap="square" lIns="45720" rIns="45720" anchor="t">
            <a:spAutoFit/>
          </a:bodyPr>
          <a:lstStyle/>
          <a:p>
            <a:pPr algn="r" rtl="1"/>
            <a:r>
              <a:rPr lang="he-IL" sz="2200" b="0" i="0">
                <a:solidFill>
                  <a:srgbClr val="CDE8D8"/>
                </a:solidFill>
                <a:latin typeface="Arial"/>
                <a:cs typeface="Arial"/>
              </a:rPr>
              <a:t>איך מחשב לומד מדוגמאות</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4</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תכנות רגיל מול למידת מכונה</a:t>
            </a:r>
          </a:p>
        </p:txBody>
      </p:sp>
      <p:sp>
        <p:nvSpPr>
          <p:cNvPr id="4" name="Rounded Rectangle 3"/>
          <p:cNvSpPr/>
          <p:nvPr/>
        </p:nvSpPr>
        <p:spPr>
          <a:xfrm>
            <a:off x="548640" y="1508760"/>
            <a:ext cx="11091672" cy="1737360"/>
          </a:xfrm>
          <a:prstGeom prst="roundRect">
            <a:avLst>
              <a:gd name="adj" fmla="val 10000"/>
            </a:avLst>
          </a:prstGeom>
          <a:solidFill>
            <a:srgbClr val="E3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052560" y="1691639"/>
            <a:ext cx="2377440" cy="1371600"/>
          </a:xfrm>
          <a:prstGeom prst="rect">
            <a:avLst/>
          </a:prstGeom>
          <a:noFill/>
        </p:spPr>
        <p:txBody>
          <a:bodyPr wrap="square" lIns="45720" rIns="45720" anchor="ctr">
            <a:spAutoFit/>
          </a:bodyPr>
          <a:lstStyle/>
          <a:p>
            <a:pPr algn="r" rtl="1"/>
            <a:r>
              <a:rPr lang="he-IL" sz="2400" b="1" i="0">
                <a:solidFill>
                  <a:srgbClr val="118AB2"/>
                </a:solidFill>
                <a:latin typeface="Arial"/>
                <a:cs typeface="Arial"/>
              </a:rPr>
              <a:t>תכנות רגיל</a:t>
            </a:r>
          </a:p>
        </p:txBody>
      </p:sp>
      <p:sp>
        <p:nvSpPr>
          <p:cNvPr id="6" name="Rounded Rectangle 5"/>
          <p:cNvSpPr/>
          <p:nvPr/>
        </p:nvSpPr>
        <p:spPr>
          <a:xfrm>
            <a:off x="6858000" y="1737360"/>
            <a:ext cx="1920240" cy="548640"/>
          </a:xfrm>
          <a:prstGeom prst="roundRect">
            <a:avLst>
              <a:gd name="adj" fmla="val 8000"/>
            </a:avLst>
          </a:prstGeom>
          <a:solidFill>
            <a:srgbClr val="FFFFFF"/>
          </a:solidFill>
          <a:ln w="19050">
            <a:solidFill>
              <a:srgbClr val="118AB2"/>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600" b="1" i="0">
                <a:solidFill>
                  <a:srgbClr val="1B2B34"/>
                </a:solidFill>
                <a:latin typeface="Arial"/>
                <a:cs typeface="Arial"/>
              </a:rPr>
              <a:t>חוקים</a:t>
            </a:r>
          </a:p>
        </p:txBody>
      </p:sp>
      <p:sp>
        <p:nvSpPr>
          <p:cNvPr id="7" name="Rounded Rectangle 6"/>
          <p:cNvSpPr/>
          <p:nvPr/>
        </p:nvSpPr>
        <p:spPr>
          <a:xfrm>
            <a:off x="6858000" y="2423160"/>
            <a:ext cx="1920240" cy="548640"/>
          </a:xfrm>
          <a:prstGeom prst="roundRect">
            <a:avLst>
              <a:gd name="adj" fmla="val 8000"/>
            </a:avLst>
          </a:prstGeom>
          <a:solidFill>
            <a:srgbClr val="FFFFFF"/>
          </a:solidFill>
          <a:ln w="19050">
            <a:solidFill>
              <a:srgbClr val="118AB2"/>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600" b="1" i="0">
                <a:solidFill>
                  <a:srgbClr val="1B2B34"/>
                </a:solidFill>
                <a:latin typeface="Arial"/>
                <a:cs typeface="Arial"/>
              </a:rPr>
              <a:t>נתונים</a:t>
            </a:r>
          </a:p>
        </p:txBody>
      </p:sp>
      <p:cxnSp>
        <p:nvCxnSpPr>
          <p:cNvPr id="8" name="Connector 7"/>
          <p:cNvCxnSpPr/>
          <p:nvPr/>
        </p:nvCxnSpPr>
        <p:spPr>
          <a:xfrm flipH="1">
            <a:off x="5715000" y="2377439"/>
            <a:ext cx="1005840" cy="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343400" y="1783080"/>
            <a:ext cx="1188720" cy="118872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000" b="1" i="0">
                <a:solidFill>
                  <a:srgbClr val="FFFFFF"/>
                </a:solidFill>
                <a:latin typeface="Arial"/>
                <a:cs typeface="Arial"/>
              </a:rPr>
              <a:t>💻</a:t>
            </a:r>
          </a:p>
        </p:txBody>
      </p:sp>
      <p:cxnSp>
        <p:nvCxnSpPr>
          <p:cNvPr id="10" name="Connector 9"/>
          <p:cNvCxnSpPr/>
          <p:nvPr/>
        </p:nvCxnSpPr>
        <p:spPr>
          <a:xfrm flipH="1">
            <a:off x="3200400" y="2377439"/>
            <a:ext cx="1005840" cy="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2011680"/>
            <a:ext cx="2286000" cy="731520"/>
          </a:xfrm>
          <a:prstGeom prst="roundRect">
            <a:avLst>
              <a:gd name="adj" fmla="val 8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תשובות</a:t>
            </a:r>
          </a:p>
        </p:txBody>
      </p:sp>
      <p:sp>
        <p:nvSpPr>
          <p:cNvPr id="12" name="Rounded Rectangle 11"/>
          <p:cNvSpPr/>
          <p:nvPr/>
        </p:nvSpPr>
        <p:spPr>
          <a:xfrm>
            <a:off x="548640" y="3611879"/>
            <a:ext cx="11091672" cy="1737360"/>
          </a:xfrm>
          <a:prstGeom prst="roundRect">
            <a:avLst>
              <a:gd name="adj" fmla="val 10000"/>
            </a:avLst>
          </a:prstGeom>
          <a:solidFill>
            <a:srgbClr val="FD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52560" y="3794759"/>
            <a:ext cx="2377440" cy="1371600"/>
          </a:xfrm>
          <a:prstGeom prst="rect">
            <a:avLst/>
          </a:prstGeom>
          <a:noFill/>
        </p:spPr>
        <p:txBody>
          <a:bodyPr wrap="square" lIns="45720" rIns="45720" anchor="ctr">
            <a:spAutoFit/>
          </a:bodyPr>
          <a:lstStyle/>
          <a:p>
            <a:pPr algn="r" rtl="1"/>
            <a:r>
              <a:rPr lang="he-IL" sz="2400" b="1" i="0">
                <a:solidFill>
                  <a:srgbClr val="EF476F"/>
                </a:solidFill>
                <a:latin typeface="Arial"/>
                <a:cs typeface="Arial"/>
              </a:rPr>
              <a:t>למידת מכונה</a:t>
            </a:r>
          </a:p>
        </p:txBody>
      </p:sp>
      <p:sp>
        <p:nvSpPr>
          <p:cNvPr id="14" name="Rounded Rectangle 13"/>
          <p:cNvSpPr/>
          <p:nvPr/>
        </p:nvSpPr>
        <p:spPr>
          <a:xfrm>
            <a:off x="6858000" y="3840479"/>
            <a:ext cx="1920240" cy="548640"/>
          </a:xfrm>
          <a:prstGeom prst="roundRect">
            <a:avLst>
              <a:gd name="adj" fmla="val 8000"/>
            </a:avLst>
          </a:prstGeom>
          <a:solidFill>
            <a:srgbClr val="FFFFFF"/>
          </a:solidFill>
          <a:ln w="19050">
            <a:solidFill>
              <a:srgbClr val="EF476F"/>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600" b="1" i="0">
                <a:solidFill>
                  <a:srgbClr val="1B2B34"/>
                </a:solidFill>
                <a:latin typeface="Arial"/>
                <a:cs typeface="Arial"/>
              </a:rPr>
              <a:t>דוגמאות</a:t>
            </a:r>
          </a:p>
        </p:txBody>
      </p:sp>
      <p:sp>
        <p:nvSpPr>
          <p:cNvPr id="15" name="Rounded Rectangle 14"/>
          <p:cNvSpPr/>
          <p:nvPr/>
        </p:nvSpPr>
        <p:spPr>
          <a:xfrm>
            <a:off x="6858000" y="4526279"/>
            <a:ext cx="1920240" cy="548640"/>
          </a:xfrm>
          <a:prstGeom prst="roundRect">
            <a:avLst>
              <a:gd name="adj" fmla="val 8000"/>
            </a:avLst>
          </a:prstGeom>
          <a:solidFill>
            <a:srgbClr val="FFFFFF"/>
          </a:solidFill>
          <a:ln w="19050">
            <a:solidFill>
              <a:srgbClr val="EF476F"/>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600" b="1" i="0">
                <a:solidFill>
                  <a:srgbClr val="1B2B34"/>
                </a:solidFill>
                <a:latin typeface="Arial"/>
                <a:cs typeface="Arial"/>
              </a:rPr>
              <a:t>התשובות שלהן</a:t>
            </a:r>
          </a:p>
        </p:txBody>
      </p:sp>
      <p:cxnSp>
        <p:nvCxnSpPr>
          <p:cNvPr id="16" name="Connector 15"/>
          <p:cNvCxnSpPr/>
          <p:nvPr/>
        </p:nvCxnSpPr>
        <p:spPr>
          <a:xfrm flipH="1">
            <a:off x="5715000" y="4480559"/>
            <a:ext cx="1005840" cy="0"/>
          </a:xfrm>
          <a:prstGeom prst="line">
            <a:avLst/>
          </a:prstGeom>
          <a:ln w="38100">
            <a:solidFill>
              <a:srgbClr val="EF47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343400" y="3886200"/>
            <a:ext cx="1188720" cy="11887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000" b="1" i="0">
                <a:solidFill>
                  <a:srgbClr val="FFFFFF"/>
                </a:solidFill>
                <a:latin typeface="Arial"/>
                <a:cs typeface="Arial"/>
              </a:rPr>
              <a:t>💻</a:t>
            </a:r>
          </a:p>
        </p:txBody>
      </p:sp>
      <p:cxnSp>
        <p:nvCxnSpPr>
          <p:cNvPr id="18" name="Connector 17"/>
          <p:cNvCxnSpPr/>
          <p:nvPr/>
        </p:nvCxnSpPr>
        <p:spPr>
          <a:xfrm flipH="1">
            <a:off x="3200400" y="4480559"/>
            <a:ext cx="1005840" cy="0"/>
          </a:xfrm>
          <a:prstGeom prst="line">
            <a:avLst/>
          </a:prstGeom>
          <a:ln w="38100">
            <a:solidFill>
              <a:srgbClr val="EF47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2960" y="4114800"/>
            <a:ext cx="2286000" cy="731520"/>
          </a:xfrm>
          <a:prstGeom prst="roundRect">
            <a:avLst>
              <a:gd name="adj" fmla="val 8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dirty="0">
                <a:solidFill>
                  <a:srgbClr val="FFFFFF"/>
                </a:solidFill>
                <a:latin typeface="Arial"/>
                <a:cs typeface="Arial"/>
              </a:rPr>
              <a:t>מודל!</a:t>
            </a:r>
          </a:p>
        </p:txBody>
      </p:sp>
      <p:sp>
        <p:nvSpPr>
          <p:cNvPr id="20" name="TextBox 19"/>
          <p:cNvSpPr txBox="1"/>
          <p:nvPr/>
        </p:nvSpPr>
        <p:spPr>
          <a:xfrm>
            <a:off x="548640" y="5760720"/>
            <a:ext cx="11091672" cy="548640"/>
          </a:xfrm>
          <a:prstGeom prst="rect">
            <a:avLst/>
          </a:prstGeom>
          <a:noFill/>
        </p:spPr>
        <p:txBody>
          <a:bodyPr wrap="square" lIns="45720" rIns="45720" anchor="t">
            <a:spAutoFit/>
          </a:bodyPr>
          <a:lstStyle/>
          <a:p>
            <a:pPr algn="ctr" rtl="1"/>
            <a:r>
              <a:rPr lang="he-IL" sz="1800" b="0" i="0">
                <a:solidFill>
                  <a:srgbClr val="5F6F78"/>
                </a:solidFill>
                <a:latin typeface="Arial"/>
                <a:cs typeface="Arial"/>
              </a:rPr>
              <a:t>במקום לכתוב את החוקים בעצמנו - נותנים למחשב המון דוגמאות, והוא מוצא את החוקים לבד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5</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אימון: לומדים מהמון דוגמאות</a:t>
            </a:r>
          </a:p>
        </p:txBody>
      </p:sp>
      <p:sp>
        <p:nvSpPr>
          <p:cNvPr id="4" name="Rounded Rectangle 3"/>
          <p:cNvSpPr/>
          <p:nvPr/>
        </p:nvSpPr>
        <p:spPr>
          <a:xfrm>
            <a:off x="8503920" y="1554480"/>
            <a:ext cx="2743200" cy="2377440"/>
          </a:xfrm>
          <a:prstGeom prst="roundRect">
            <a:avLst>
              <a:gd name="adj" fmla="val 1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509760" y="1737360"/>
            <a:ext cx="731520" cy="73152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1</a:t>
            </a:r>
          </a:p>
        </p:txBody>
      </p:sp>
      <p:sp>
        <p:nvSpPr>
          <p:cNvPr id="6" name="TextBox 5"/>
          <p:cNvSpPr txBox="1"/>
          <p:nvPr/>
        </p:nvSpPr>
        <p:spPr>
          <a:xfrm>
            <a:off x="8503920" y="2560320"/>
            <a:ext cx="2743200" cy="45720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מנחשים</a:t>
            </a:r>
          </a:p>
        </p:txBody>
      </p:sp>
      <p:sp>
        <p:nvSpPr>
          <p:cNvPr id="7" name="TextBox 6"/>
          <p:cNvSpPr txBox="1"/>
          <p:nvPr/>
        </p:nvSpPr>
        <p:spPr>
          <a:xfrm>
            <a:off x="8595360" y="3017520"/>
            <a:ext cx="2560320" cy="82296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המודל רואה תמונה</a:t>
            </a:r>
          </a:p>
          <a:p>
            <a:pPr algn="ctr" rtl="1"/>
            <a:r>
              <a:rPr lang="he-IL" sz="1500" b="0" i="0">
                <a:solidFill>
                  <a:srgbClr val="5F6F78"/>
                </a:solidFill>
                <a:latin typeface="Arial"/>
                <a:cs typeface="Arial"/>
              </a:rPr>
              <a:t>ואומר: "כלב"</a:t>
            </a:r>
          </a:p>
        </p:txBody>
      </p:sp>
      <p:cxnSp>
        <p:nvCxnSpPr>
          <p:cNvPr id="8" name="Connector 7"/>
          <p:cNvCxnSpPr/>
          <p:nvPr/>
        </p:nvCxnSpPr>
        <p:spPr>
          <a:xfrm flipH="1">
            <a:off x="8046720" y="2743200"/>
            <a:ext cx="36576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2080" y="1554480"/>
            <a:ext cx="2743200" cy="2377440"/>
          </a:xfrm>
          <a:prstGeom prst="roundRect">
            <a:avLst>
              <a:gd name="adj" fmla="val 1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17920" y="1737360"/>
            <a:ext cx="731520" cy="7315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2</a:t>
            </a:r>
          </a:p>
        </p:txBody>
      </p:sp>
      <p:sp>
        <p:nvSpPr>
          <p:cNvPr id="11" name="TextBox 10"/>
          <p:cNvSpPr txBox="1"/>
          <p:nvPr/>
        </p:nvSpPr>
        <p:spPr>
          <a:xfrm>
            <a:off x="5212080" y="2560320"/>
            <a:ext cx="2743200" cy="45720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בודקים</a:t>
            </a:r>
          </a:p>
        </p:txBody>
      </p:sp>
      <p:sp>
        <p:nvSpPr>
          <p:cNvPr id="12" name="TextBox 11"/>
          <p:cNvSpPr txBox="1"/>
          <p:nvPr/>
        </p:nvSpPr>
        <p:spPr>
          <a:xfrm>
            <a:off x="5303520" y="3017520"/>
            <a:ext cx="2560320" cy="82296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התשובה הנכונה:</a:t>
            </a:r>
          </a:p>
          <a:p>
            <a:pPr algn="ctr" rtl="1"/>
            <a:r>
              <a:rPr lang="he-IL" sz="1500" b="0" i="0">
                <a:solidFill>
                  <a:srgbClr val="5F6F78"/>
                </a:solidFill>
                <a:latin typeface="Arial"/>
                <a:cs typeface="Arial"/>
              </a:rPr>
              <a:t>"חתול" - טעות!</a:t>
            </a:r>
          </a:p>
        </p:txBody>
      </p:sp>
      <p:cxnSp>
        <p:nvCxnSpPr>
          <p:cNvPr id="13" name="Connector 12"/>
          <p:cNvCxnSpPr/>
          <p:nvPr/>
        </p:nvCxnSpPr>
        <p:spPr>
          <a:xfrm flipH="1">
            <a:off x="4754880" y="2743200"/>
            <a:ext cx="36576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920240" y="1554480"/>
            <a:ext cx="2743200" cy="2377440"/>
          </a:xfrm>
          <a:prstGeom prst="roundRect">
            <a:avLst>
              <a:gd name="adj" fmla="val 1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926080" y="1737360"/>
            <a:ext cx="731520" cy="73152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3</a:t>
            </a:r>
          </a:p>
        </p:txBody>
      </p:sp>
      <p:sp>
        <p:nvSpPr>
          <p:cNvPr id="16" name="TextBox 15"/>
          <p:cNvSpPr txBox="1"/>
          <p:nvPr/>
        </p:nvSpPr>
        <p:spPr>
          <a:xfrm>
            <a:off x="1920240" y="2560320"/>
            <a:ext cx="2743200" cy="45720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מתקנים קצת</a:t>
            </a:r>
          </a:p>
        </p:txBody>
      </p:sp>
      <p:sp>
        <p:nvSpPr>
          <p:cNvPr id="17" name="TextBox 16"/>
          <p:cNvSpPr txBox="1"/>
          <p:nvPr/>
        </p:nvSpPr>
        <p:spPr>
          <a:xfrm>
            <a:off x="2011680" y="3017520"/>
            <a:ext cx="2560320" cy="82296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משנים את המודל</a:t>
            </a:r>
          </a:p>
          <a:p>
            <a:pPr algn="ctr" rtl="1"/>
            <a:r>
              <a:rPr lang="he-IL" sz="1500" b="0" i="0">
                <a:solidFill>
                  <a:srgbClr val="5F6F78"/>
                </a:solidFill>
                <a:latin typeface="Arial"/>
                <a:cs typeface="Arial"/>
              </a:rPr>
              <a:t>כדי לטעות פחות</a:t>
            </a:r>
          </a:p>
        </p:txBody>
      </p:sp>
      <p:sp>
        <p:nvSpPr>
          <p:cNvPr id="18" name="Rounded Rectangle 17"/>
          <p:cNvSpPr/>
          <p:nvPr/>
        </p:nvSpPr>
        <p:spPr>
          <a:xfrm>
            <a:off x="1920240" y="4297680"/>
            <a:ext cx="9326880" cy="731520"/>
          </a:xfrm>
          <a:prstGeom prst="roundRect">
            <a:avLst>
              <a:gd name="adj" fmla="val 3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dirty="0">
                <a:solidFill>
                  <a:srgbClr val="1B2B34"/>
                </a:solidFill>
                <a:latin typeface="Arial"/>
                <a:cs typeface="Arial"/>
              </a:rPr>
              <a:t>↻  חוזרים על זה הרבה פעמים - עד שהמודל כמעט לא טועה</a:t>
            </a:r>
          </a:p>
        </p:txBody>
      </p:sp>
      <p:sp>
        <p:nvSpPr>
          <p:cNvPr id="19" name="TextBox 18"/>
          <p:cNvSpPr txBox="1"/>
          <p:nvPr/>
        </p:nvSpPr>
        <p:spPr>
          <a:xfrm>
            <a:off x="548640" y="5303520"/>
            <a:ext cx="11091672" cy="822960"/>
          </a:xfrm>
          <a:prstGeom prst="rect">
            <a:avLst/>
          </a:prstGeom>
          <a:noFill/>
        </p:spPr>
        <p:txBody>
          <a:bodyPr wrap="square" lIns="45720" rIns="45720" anchor="t">
            <a:spAutoFit/>
          </a:bodyPr>
          <a:lstStyle/>
          <a:p>
            <a:pPr algn="ctr" rtl="1"/>
            <a:r>
              <a:rPr lang="he-IL" sz="1800" b="0" i="0">
                <a:solidFill>
                  <a:srgbClr val="5F6F78"/>
                </a:solidFill>
                <a:latin typeface="Arial"/>
                <a:cs typeface="Arial"/>
              </a:rPr>
              <a:t>כמו שאתם לומדים לזרוק לסל: זורקים, רואים שפספסתם, מתקנים את התנועה קצת - ושוב.</a:t>
            </a:r>
          </a:p>
        </p:txBody>
      </p:sp>
      <p:sp>
        <p:nvSpPr>
          <p:cNvPr id="20" name="TextBox 19"/>
          <p:cNvSpPr txBox="1"/>
          <p:nvPr/>
        </p:nvSpPr>
        <p:spPr>
          <a:xfrm>
            <a:off x="548640" y="1645920"/>
            <a:ext cx="1828800" cy="2286000"/>
          </a:xfrm>
          <a:prstGeom prst="rect">
            <a:avLst/>
          </a:prstGeom>
          <a:noFill/>
        </p:spPr>
        <p:txBody>
          <a:bodyPr wrap="square" lIns="45720" rIns="45720" anchor="t">
            <a:spAutoFit/>
          </a:bodyPr>
          <a:lstStyle/>
          <a:p>
            <a:pPr algn="ctr" rtl="0"/>
            <a:r>
              <a:rPr lang="en-US" sz="6000" b="0" i="0">
                <a:solidFill>
                  <a:srgbClr val="1B2B34"/>
                </a:solidFill>
                <a:latin typeface="Arial"/>
                <a:cs typeface="Aria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6</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המודל יוצא מהאימון, מה הוא יכול לעשות?</a:t>
            </a:r>
          </a:p>
        </p:txBody>
      </p:sp>
      <p:sp>
        <p:nvSpPr>
          <p:cNvPr id="4" name="Rounded Rectangle 3"/>
          <p:cNvSpPr/>
          <p:nvPr/>
        </p:nvSpPr>
        <p:spPr>
          <a:xfrm>
            <a:off x="8595360" y="1417320"/>
            <a:ext cx="3017520" cy="1097280"/>
          </a:xfrm>
          <a:prstGeom prst="roundRect">
            <a:avLst>
              <a:gd name="adj" fmla="val 8000"/>
            </a:avLst>
          </a:prstGeom>
          <a:solidFill>
            <a:srgbClr val="E3F2F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1B2B34"/>
                </a:solidFill>
                <a:latin typeface="Arial"/>
                <a:cs typeface="Arial"/>
              </a:rPr>
              <a:t>📚 המון נתונים</a:t>
            </a:r>
          </a:p>
        </p:txBody>
      </p:sp>
      <p:cxnSp>
        <p:nvCxnSpPr>
          <p:cNvPr id="5" name="Connector 4"/>
          <p:cNvCxnSpPr/>
          <p:nvPr/>
        </p:nvCxnSpPr>
        <p:spPr>
          <a:xfrm flipH="1">
            <a:off x="7589520" y="1965960"/>
            <a:ext cx="91440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303520" y="1417320"/>
            <a:ext cx="2194560" cy="109728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אימון</a:t>
            </a:r>
          </a:p>
        </p:txBody>
      </p:sp>
      <p:cxnSp>
        <p:nvCxnSpPr>
          <p:cNvPr id="7" name="Connector 6"/>
          <p:cNvCxnSpPr/>
          <p:nvPr/>
        </p:nvCxnSpPr>
        <p:spPr>
          <a:xfrm flipH="1">
            <a:off x="4297680" y="1965960"/>
            <a:ext cx="91440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463040" y="1417320"/>
            <a:ext cx="2743200" cy="1097280"/>
          </a:xfrm>
          <a:prstGeom prst="roundRect">
            <a:avLst>
              <a:gd name="adj" fmla="val 8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 מודל</a:t>
            </a:r>
          </a:p>
          <a:p>
            <a:pPr algn="ctr" rtl="1"/>
            <a:r>
              <a:rPr lang="he-IL" sz="1300" b="0" i="0">
                <a:solidFill>
                  <a:srgbClr val="FFFFFF"/>
                </a:solidFill>
                <a:latin typeface="Arial"/>
                <a:cs typeface="Arial"/>
              </a:rPr>
              <a:t>(קובץ של מספרים)</a:t>
            </a:r>
          </a:p>
        </p:txBody>
      </p:sp>
      <p:sp>
        <p:nvSpPr>
          <p:cNvPr id="9" name="TextBox 8"/>
          <p:cNvSpPr txBox="1"/>
          <p:nvPr/>
        </p:nvSpPr>
        <p:spPr>
          <a:xfrm>
            <a:off x="548640" y="2788920"/>
            <a:ext cx="11091672" cy="457200"/>
          </a:xfrm>
          <a:prstGeom prst="rect">
            <a:avLst/>
          </a:prstGeom>
          <a:noFill/>
        </p:spPr>
        <p:txBody>
          <a:bodyPr wrap="square" lIns="45720" rIns="45720" anchor="t">
            <a:spAutoFit/>
          </a:bodyPr>
          <a:lstStyle/>
          <a:p>
            <a:pPr algn="r" rtl="1"/>
            <a:r>
              <a:rPr lang="he-IL" sz="1800" b="0" i="0">
                <a:solidFill>
                  <a:srgbClr val="5F6F78"/>
                </a:solidFill>
                <a:latin typeface="Arial"/>
                <a:cs typeface="Arial"/>
              </a:rPr>
              <a:t>עכשיו משתמשים במודל - שוב ושוב - למשימות שונות:</a:t>
            </a:r>
          </a:p>
        </p:txBody>
      </p:sp>
      <p:sp>
        <p:nvSpPr>
          <p:cNvPr id="10" name="Rounded Rectangle 9"/>
          <p:cNvSpPr/>
          <p:nvPr/>
        </p:nvSpPr>
        <p:spPr>
          <a:xfrm>
            <a:off x="8092440" y="3337560"/>
            <a:ext cx="3520440" cy="2743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464040" y="3474720"/>
            <a:ext cx="777240" cy="7772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2" name="TextBox 11"/>
          <p:cNvSpPr txBox="1"/>
          <p:nvPr/>
        </p:nvSpPr>
        <p:spPr>
          <a:xfrm>
            <a:off x="8092440" y="4343400"/>
            <a:ext cx="352044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לחזות מספר</a:t>
            </a:r>
          </a:p>
        </p:txBody>
      </p:sp>
      <p:sp>
        <p:nvSpPr>
          <p:cNvPr id="13" name="TextBox 12"/>
          <p:cNvSpPr txBox="1"/>
          <p:nvPr/>
        </p:nvSpPr>
        <p:spPr>
          <a:xfrm>
            <a:off x="8229600" y="4800600"/>
            <a:ext cx="3246120" cy="64008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מה תהיה הטמפרטורה מחר?</a:t>
            </a:r>
          </a:p>
        </p:txBody>
      </p:sp>
      <p:sp>
        <p:nvSpPr>
          <p:cNvPr id="14" name="TextBox 13"/>
          <p:cNvSpPr txBox="1"/>
          <p:nvPr/>
        </p:nvSpPr>
        <p:spPr>
          <a:xfrm>
            <a:off x="8229600" y="5394960"/>
            <a:ext cx="3246120" cy="457200"/>
          </a:xfrm>
          <a:prstGeom prst="rect">
            <a:avLst/>
          </a:prstGeom>
          <a:noFill/>
        </p:spPr>
        <p:txBody>
          <a:bodyPr wrap="square" lIns="45720" rIns="45720" anchor="t">
            <a:spAutoFit/>
          </a:bodyPr>
          <a:lstStyle/>
          <a:p>
            <a:pPr algn="ctr" rtl="1"/>
            <a:r>
              <a:rPr lang="he-IL" sz="1700" b="1" i="0">
                <a:solidFill>
                  <a:srgbClr val="118AB2"/>
                </a:solidFill>
                <a:latin typeface="Arial"/>
                <a:cs typeface="Arial"/>
              </a:rPr>
              <a:t>24°</a:t>
            </a:r>
          </a:p>
        </p:txBody>
      </p:sp>
      <p:sp>
        <p:nvSpPr>
          <p:cNvPr id="15" name="Rounded Rectangle 14"/>
          <p:cNvSpPr/>
          <p:nvPr/>
        </p:nvSpPr>
        <p:spPr>
          <a:xfrm>
            <a:off x="4343400" y="3337560"/>
            <a:ext cx="3520440" cy="2743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715000" y="3474720"/>
            <a:ext cx="777240" cy="7772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7" name="TextBox 16"/>
          <p:cNvSpPr txBox="1"/>
          <p:nvPr/>
        </p:nvSpPr>
        <p:spPr>
          <a:xfrm>
            <a:off x="4343400" y="4343400"/>
            <a:ext cx="352044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לצייר תמונה</a:t>
            </a:r>
          </a:p>
        </p:txBody>
      </p:sp>
      <p:sp>
        <p:nvSpPr>
          <p:cNvPr id="18" name="TextBox 17"/>
          <p:cNvSpPr txBox="1"/>
          <p:nvPr/>
        </p:nvSpPr>
        <p:spPr>
          <a:xfrm>
            <a:off x="4480560" y="4800600"/>
            <a:ext cx="3246120" cy="64008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"צייר חתול עם כובע של פיראט"</a:t>
            </a:r>
          </a:p>
        </p:txBody>
      </p:sp>
      <p:sp>
        <p:nvSpPr>
          <p:cNvPr id="19" name="TextBox 18"/>
          <p:cNvSpPr txBox="1"/>
          <p:nvPr/>
        </p:nvSpPr>
        <p:spPr>
          <a:xfrm>
            <a:off x="4480560" y="5394960"/>
            <a:ext cx="3246120" cy="457200"/>
          </a:xfrm>
          <a:prstGeom prst="rect">
            <a:avLst/>
          </a:prstGeom>
          <a:noFill/>
        </p:spPr>
        <p:txBody>
          <a:bodyPr wrap="square" lIns="45720" rIns="45720" anchor="t">
            <a:spAutoFit/>
          </a:bodyPr>
          <a:lstStyle/>
          <a:p>
            <a:pPr algn="ctr" rtl="1"/>
            <a:r>
              <a:rPr lang="he-IL" sz="1700" b="1" i="0">
                <a:solidFill>
                  <a:srgbClr val="EF476F"/>
                </a:solidFill>
                <a:latin typeface="Arial"/>
                <a:cs typeface="Arial"/>
              </a:rPr>
              <a:t>🐱🎩</a:t>
            </a:r>
          </a:p>
        </p:txBody>
      </p:sp>
      <p:sp>
        <p:nvSpPr>
          <p:cNvPr id="20" name="Rounded Rectangle 19"/>
          <p:cNvSpPr/>
          <p:nvPr/>
        </p:nvSpPr>
        <p:spPr>
          <a:xfrm>
            <a:off x="594360" y="3337560"/>
            <a:ext cx="3520440" cy="2743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965960" y="3474720"/>
            <a:ext cx="777240" cy="77724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22" name="TextBox 21"/>
          <p:cNvSpPr txBox="1"/>
          <p:nvPr/>
        </p:nvSpPr>
        <p:spPr>
          <a:xfrm>
            <a:off x="594360" y="4343400"/>
            <a:ext cx="352044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לענות על שאלה</a:t>
            </a:r>
          </a:p>
        </p:txBody>
      </p:sp>
      <p:sp>
        <p:nvSpPr>
          <p:cNvPr id="23" name="TextBox 22"/>
          <p:cNvSpPr txBox="1"/>
          <p:nvPr/>
        </p:nvSpPr>
        <p:spPr>
          <a:xfrm>
            <a:off x="731520" y="4800600"/>
            <a:ext cx="3246120" cy="64008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"מה זה רשימה בפייתון?"</a:t>
            </a:r>
          </a:p>
        </p:txBody>
      </p:sp>
      <p:sp>
        <p:nvSpPr>
          <p:cNvPr id="24" name="TextBox 23"/>
          <p:cNvSpPr txBox="1"/>
          <p:nvPr/>
        </p:nvSpPr>
        <p:spPr>
          <a:xfrm>
            <a:off x="731520" y="5394960"/>
            <a:ext cx="3246120" cy="457200"/>
          </a:xfrm>
          <a:prstGeom prst="rect">
            <a:avLst/>
          </a:prstGeom>
          <a:noFill/>
        </p:spPr>
        <p:txBody>
          <a:bodyPr wrap="square" lIns="45720" rIns="45720" anchor="t">
            <a:spAutoFit/>
          </a:bodyPr>
          <a:lstStyle/>
          <a:p>
            <a:pPr algn="ctr" rtl="1"/>
            <a:r>
              <a:rPr lang="he-IL" sz="1700" b="1" i="0">
                <a:solidFill>
                  <a:srgbClr val="2D9F5C"/>
                </a:solidFill>
                <a:latin typeface="Arial"/>
                <a:cs typeface="Arial"/>
              </a:rPr>
              <a:t>רשימה היא...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7</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תורכם להיות המודל!</a:t>
            </a:r>
          </a:p>
        </p:txBody>
      </p:sp>
      <p:sp>
        <p:nvSpPr>
          <p:cNvPr id="4" name="TextBox 3"/>
          <p:cNvSpPr txBox="1"/>
          <p:nvPr/>
        </p:nvSpPr>
        <p:spPr>
          <a:xfrm>
            <a:off x="8778240" y="1463040"/>
            <a:ext cx="2834640" cy="369332"/>
          </a:xfrm>
          <a:prstGeom prst="rect">
            <a:avLst/>
          </a:prstGeom>
          <a:noFill/>
        </p:spPr>
        <p:txBody>
          <a:bodyPr wrap="square" lIns="45720" rIns="45720" anchor="t">
            <a:spAutoFit/>
          </a:bodyPr>
          <a:lstStyle/>
          <a:p>
            <a:pPr algn="r" rtl="1"/>
            <a:r>
              <a:rPr lang="he-IL" sz="1800" b="1" i="0" dirty="0">
                <a:solidFill>
                  <a:srgbClr val="1B2B34"/>
                </a:solidFill>
                <a:latin typeface="Arial"/>
                <a:cs typeface="Arial"/>
              </a:rPr>
              <a:t>הדוגמאות (נתונים+תשובות):</a:t>
            </a:r>
          </a:p>
        </p:txBody>
      </p:sp>
      <p:sp>
        <p:nvSpPr>
          <p:cNvPr id="5" name="Rounded Rectangle 4"/>
          <p:cNvSpPr/>
          <p:nvPr/>
        </p:nvSpPr>
        <p:spPr>
          <a:xfrm>
            <a:off x="10241280" y="2011680"/>
            <a:ext cx="1280160" cy="594360"/>
          </a:xfrm>
          <a:prstGeom prst="roundRect">
            <a:avLst>
              <a:gd name="adj" fmla="val 8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1</a:t>
            </a:r>
          </a:p>
        </p:txBody>
      </p:sp>
      <p:cxnSp>
        <p:nvCxnSpPr>
          <p:cNvPr id="6" name="Connector 5"/>
          <p:cNvCxnSpPr/>
          <p:nvPr/>
        </p:nvCxnSpPr>
        <p:spPr>
          <a:xfrm flipH="1">
            <a:off x="9418320" y="2313432"/>
            <a:ext cx="73152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8046720" y="2011680"/>
            <a:ext cx="1280160" cy="594360"/>
          </a:xfrm>
          <a:prstGeom prst="roundRect">
            <a:avLst>
              <a:gd name="adj" fmla="val 8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3</a:t>
            </a:r>
          </a:p>
        </p:txBody>
      </p:sp>
      <p:sp>
        <p:nvSpPr>
          <p:cNvPr id="8" name="Rounded Rectangle 7"/>
          <p:cNvSpPr/>
          <p:nvPr/>
        </p:nvSpPr>
        <p:spPr>
          <a:xfrm>
            <a:off x="10241280" y="2743200"/>
            <a:ext cx="1280160" cy="594360"/>
          </a:xfrm>
          <a:prstGeom prst="roundRect">
            <a:avLst>
              <a:gd name="adj" fmla="val 8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2</a:t>
            </a:r>
          </a:p>
        </p:txBody>
      </p:sp>
      <p:cxnSp>
        <p:nvCxnSpPr>
          <p:cNvPr id="9" name="Connector 8"/>
          <p:cNvCxnSpPr/>
          <p:nvPr/>
        </p:nvCxnSpPr>
        <p:spPr>
          <a:xfrm flipH="1">
            <a:off x="9418320" y="3044952"/>
            <a:ext cx="73152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46720" y="2743200"/>
            <a:ext cx="1280160" cy="594360"/>
          </a:xfrm>
          <a:prstGeom prst="roundRect">
            <a:avLst>
              <a:gd name="adj" fmla="val 8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5</a:t>
            </a:r>
          </a:p>
        </p:txBody>
      </p:sp>
      <p:sp>
        <p:nvSpPr>
          <p:cNvPr id="11" name="Rounded Rectangle 10"/>
          <p:cNvSpPr/>
          <p:nvPr/>
        </p:nvSpPr>
        <p:spPr>
          <a:xfrm>
            <a:off x="10241280" y="3474720"/>
            <a:ext cx="1280160" cy="594360"/>
          </a:xfrm>
          <a:prstGeom prst="roundRect">
            <a:avLst>
              <a:gd name="adj" fmla="val 8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3</a:t>
            </a:r>
          </a:p>
        </p:txBody>
      </p:sp>
      <p:cxnSp>
        <p:nvCxnSpPr>
          <p:cNvPr id="12" name="Connector 11"/>
          <p:cNvCxnSpPr/>
          <p:nvPr/>
        </p:nvCxnSpPr>
        <p:spPr>
          <a:xfrm flipH="1">
            <a:off x="9418320" y="3776472"/>
            <a:ext cx="73152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46720" y="3474720"/>
            <a:ext cx="1280160" cy="594360"/>
          </a:xfrm>
          <a:prstGeom prst="roundRect">
            <a:avLst>
              <a:gd name="adj" fmla="val 8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7</a:t>
            </a:r>
          </a:p>
        </p:txBody>
      </p:sp>
      <p:sp>
        <p:nvSpPr>
          <p:cNvPr id="14" name="Rounded Rectangle 13"/>
          <p:cNvSpPr/>
          <p:nvPr/>
        </p:nvSpPr>
        <p:spPr>
          <a:xfrm>
            <a:off x="10241280" y="4206240"/>
            <a:ext cx="1280160" cy="594360"/>
          </a:xfrm>
          <a:prstGeom prst="roundRect">
            <a:avLst>
              <a:gd name="adj" fmla="val 8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4</a:t>
            </a:r>
          </a:p>
        </p:txBody>
      </p:sp>
      <p:cxnSp>
        <p:nvCxnSpPr>
          <p:cNvPr id="15" name="Connector 14"/>
          <p:cNvCxnSpPr/>
          <p:nvPr/>
        </p:nvCxnSpPr>
        <p:spPr>
          <a:xfrm flipH="1">
            <a:off x="9418320" y="4507992"/>
            <a:ext cx="73152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046720" y="4206240"/>
            <a:ext cx="1280160" cy="594360"/>
          </a:xfrm>
          <a:prstGeom prst="roundRect">
            <a:avLst>
              <a:gd name="adj" fmla="val 8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9</a:t>
            </a:r>
          </a:p>
        </p:txBody>
      </p:sp>
      <p:sp>
        <p:nvSpPr>
          <p:cNvPr id="17" name="Rounded Rectangle 16"/>
          <p:cNvSpPr/>
          <p:nvPr/>
        </p:nvSpPr>
        <p:spPr>
          <a:xfrm>
            <a:off x="10241280" y="4937760"/>
            <a:ext cx="1280160" cy="594360"/>
          </a:xfrm>
          <a:prstGeom prst="roundRect">
            <a:avLst>
              <a:gd name="adj" fmla="val 8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10</a:t>
            </a:r>
          </a:p>
        </p:txBody>
      </p:sp>
      <p:cxnSp>
        <p:nvCxnSpPr>
          <p:cNvPr id="18" name="Connector 17"/>
          <p:cNvCxnSpPr/>
          <p:nvPr/>
        </p:nvCxnSpPr>
        <p:spPr>
          <a:xfrm flipH="1">
            <a:off x="9418320" y="5239512"/>
            <a:ext cx="73152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046720" y="4937760"/>
            <a:ext cx="1280160" cy="594360"/>
          </a:xfrm>
          <a:prstGeom prst="roundRect">
            <a:avLst>
              <a:gd name="adj" fmla="val 8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a:t>
            </a:r>
          </a:p>
        </p:txBody>
      </p:sp>
      <p:sp>
        <p:nvSpPr>
          <p:cNvPr id="20" name="Rounded Rectangle 19"/>
          <p:cNvSpPr/>
          <p:nvPr/>
        </p:nvSpPr>
        <p:spPr>
          <a:xfrm>
            <a:off x="548640" y="1554480"/>
            <a:ext cx="6766560" cy="2103120"/>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1691640"/>
            <a:ext cx="6217920" cy="1828800"/>
          </a:xfrm>
          <a:prstGeom prst="rect">
            <a:avLst/>
          </a:prstGeom>
          <a:noFill/>
        </p:spPr>
        <p:txBody>
          <a:bodyPr wrap="square" lIns="45720" rIns="45720" anchor="t">
            <a:spAutoFit/>
          </a:bodyPr>
          <a:lstStyle/>
          <a:p>
            <a:pPr algn="r" rtl="1">
              <a:spcAft>
                <a:spcPts val="1000"/>
              </a:spcAft>
            </a:pPr>
            <a:r>
              <a:rPr lang="he-IL" sz="1900" b="1" i="0">
                <a:solidFill>
                  <a:srgbClr val="1B2B34"/>
                </a:solidFill>
                <a:latin typeface="Arial"/>
                <a:cs typeface="Arial"/>
              </a:rPr>
              <a:t>1. </a:t>
            </a:r>
            <a:r>
              <a:rPr lang="he-IL" sz="1900" b="0" i="0">
                <a:solidFill>
                  <a:srgbClr val="1B2B34"/>
                </a:solidFill>
                <a:latin typeface="Arial"/>
                <a:cs typeface="Arial"/>
              </a:rPr>
              <a:t>מה החוק שהופך את המספר הכחול לירוק?</a:t>
            </a:r>
          </a:p>
          <a:p>
            <a:pPr algn="r" rtl="1">
              <a:spcAft>
                <a:spcPts val="1000"/>
              </a:spcAft>
            </a:pPr>
            <a:r>
              <a:rPr lang="he-IL" sz="1900" b="1" i="0">
                <a:solidFill>
                  <a:srgbClr val="1B2B34"/>
                </a:solidFill>
                <a:latin typeface="Arial"/>
                <a:cs typeface="Arial"/>
              </a:rPr>
              <a:t>2. </a:t>
            </a:r>
            <a:r>
              <a:rPr lang="he-IL" sz="1900" b="0" i="0">
                <a:solidFill>
                  <a:srgbClr val="1B2B34"/>
                </a:solidFill>
                <a:latin typeface="Arial"/>
                <a:cs typeface="Arial"/>
              </a:rPr>
              <a:t>מה התשובה עבור 10?</a:t>
            </a:r>
          </a:p>
          <a:p>
            <a:pPr algn="r" rtl="1">
              <a:spcAft>
                <a:spcPts val="1000"/>
              </a:spcAft>
            </a:pPr>
            <a:r>
              <a:rPr lang="he-IL" sz="1900" b="1" i="0">
                <a:solidFill>
                  <a:srgbClr val="1B2B34"/>
                </a:solidFill>
                <a:latin typeface="Arial"/>
                <a:cs typeface="Arial"/>
              </a:rPr>
              <a:t>3. </a:t>
            </a:r>
            <a:r>
              <a:rPr lang="he-IL" sz="1900" b="0" i="0">
                <a:solidFill>
                  <a:srgbClr val="1B2B34"/>
                </a:solidFill>
                <a:latin typeface="Arial"/>
                <a:cs typeface="Arial"/>
              </a:rPr>
              <a:t>כמה דוגמאות הייתם צריכים כדי להיות בטוחים?</a:t>
            </a:r>
          </a:p>
        </p:txBody>
      </p:sp>
      <p:sp>
        <p:nvSpPr>
          <p:cNvPr id="22" name="Rounded Rectangle 21"/>
          <p:cNvSpPr/>
          <p:nvPr/>
        </p:nvSpPr>
        <p:spPr>
          <a:xfrm>
            <a:off x="548640" y="3931920"/>
            <a:ext cx="6766560" cy="192024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069080"/>
            <a:ext cx="6217920" cy="1645920"/>
          </a:xfrm>
          <a:prstGeom prst="rect">
            <a:avLst/>
          </a:prstGeom>
          <a:noFill/>
        </p:spPr>
        <p:txBody>
          <a:bodyPr wrap="square" lIns="45720" rIns="45720" anchor="t">
            <a:spAutoFit/>
          </a:bodyPr>
          <a:lstStyle/>
          <a:p>
            <a:pPr algn="r" rtl="1">
              <a:spcAft>
                <a:spcPts val="600"/>
              </a:spcAft>
            </a:pPr>
            <a:r>
              <a:rPr lang="he-IL" sz="1800" b="1" i="0">
                <a:solidFill>
                  <a:srgbClr val="1B4332"/>
                </a:solidFill>
                <a:latin typeface="Arial"/>
                <a:cs typeface="Arial"/>
              </a:rPr>
              <a:t>זה בדיוק מה שמודל עושה:</a:t>
            </a:r>
          </a:p>
          <a:p>
            <a:pPr algn="r" rtl="1">
              <a:spcAft>
                <a:spcPts val="600"/>
              </a:spcAft>
            </a:pPr>
            <a:r>
              <a:rPr lang="he-IL" sz="1800" b="0" i="0">
                <a:solidFill>
                  <a:srgbClr val="1B2B34"/>
                </a:solidFill>
                <a:latin typeface="Arial"/>
                <a:cs typeface="Arial"/>
              </a:rPr>
              <a:t>מוצא את החוק מתוך דוגמאות - ואז נותן תשובה גם לדוגמה חדשה שהוא לא ראה אף פעם.</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8</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למידת מכונה עם רשת נוירונים: מוח מלאכותי</a:t>
            </a:r>
          </a:p>
        </p:txBody>
      </p:sp>
      <p:sp>
        <p:nvSpPr>
          <p:cNvPr id="4" name="Rounded Rectangle 3"/>
          <p:cNvSpPr/>
          <p:nvPr/>
        </p:nvSpPr>
        <p:spPr>
          <a:xfrm>
            <a:off x="6675120" y="1417320"/>
            <a:ext cx="496519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652760" y="1801368"/>
            <a:ext cx="822960" cy="82296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6" name="TextBox 5"/>
          <p:cNvSpPr txBox="1"/>
          <p:nvPr/>
        </p:nvSpPr>
        <p:spPr>
          <a:xfrm>
            <a:off x="6858000" y="1600200"/>
            <a:ext cx="3657600" cy="457200"/>
          </a:xfrm>
          <a:prstGeom prst="rect">
            <a:avLst/>
          </a:prstGeom>
          <a:noFill/>
        </p:spPr>
        <p:txBody>
          <a:bodyPr wrap="square" lIns="45720" rIns="45720" anchor="t">
            <a:spAutoFit/>
          </a:bodyPr>
          <a:lstStyle/>
          <a:p>
            <a:pPr algn="r" rtl="1"/>
            <a:r>
              <a:rPr lang="he-IL" sz="2200" b="1" i="0">
                <a:solidFill>
                  <a:srgbClr val="1B2B34"/>
                </a:solidFill>
                <a:latin typeface="Arial"/>
                <a:cs typeface="Arial"/>
              </a:rPr>
              <a:t>במוח</a:t>
            </a:r>
          </a:p>
        </p:txBody>
      </p:sp>
      <p:sp>
        <p:nvSpPr>
          <p:cNvPr id="7" name="TextBox 6"/>
          <p:cNvSpPr txBox="1"/>
          <p:nvPr/>
        </p:nvSpPr>
        <p:spPr>
          <a:xfrm>
            <a:off x="6858000" y="2075688"/>
            <a:ext cx="36576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מיליארדי תאי עצב (נוירונים) מחוברים זה לזה ומעבירים אותות</a:t>
            </a:r>
          </a:p>
        </p:txBody>
      </p:sp>
      <p:sp>
        <p:nvSpPr>
          <p:cNvPr id="8" name="Rounded Rectangle 7"/>
          <p:cNvSpPr/>
          <p:nvPr/>
        </p:nvSpPr>
        <p:spPr>
          <a:xfrm>
            <a:off x="6675120" y="3246120"/>
            <a:ext cx="496519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652760" y="3630168"/>
            <a:ext cx="822960" cy="82296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0" name="TextBox 9"/>
          <p:cNvSpPr txBox="1"/>
          <p:nvPr/>
        </p:nvSpPr>
        <p:spPr>
          <a:xfrm>
            <a:off x="6858000" y="3429000"/>
            <a:ext cx="3657600" cy="457200"/>
          </a:xfrm>
          <a:prstGeom prst="rect">
            <a:avLst/>
          </a:prstGeom>
          <a:noFill/>
        </p:spPr>
        <p:txBody>
          <a:bodyPr wrap="square" lIns="45720" rIns="45720" anchor="t">
            <a:spAutoFit/>
          </a:bodyPr>
          <a:lstStyle/>
          <a:p>
            <a:pPr algn="r" rtl="1"/>
            <a:r>
              <a:rPr lang="he-IL" sz="2200" b="1" i="0">
                <a:solidFill>
                  <a:srgbClr val="1B2B34"/>
                </a:solidFill>
                <a:latin typeface="Arial"/>
                <a:cs typeface="Arial"/>
              </a:rPr>
              <a:t>במחשב</a:t>
            </a:r>
          </a:p>
        </p:txBody>
      </p:sp>
      <p:sp>
        <p:nvSpPr>
          <p:cNvPr id="11" name="TextBox 10"/>
          <p:cNvSpPr txBox="1"/>
          <p:nvPr/>
        </p:nvSpPr>
        <p:spPr>
          <a:xfrm>
            <a:off x="6858000" y="3904487"/>
            <a:ext cx="36576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נוירונים מלאכותיים: יחידות קטנות שמקבלות מספרים ומעבירות מספר הלאה</a:t>
            </a:r>
          </a:p>
        </p:txBody>
      </p:sp>
      <p:cxnSp>
        <p:nvCxnSpPr>
          <p:cNvPr id="12" name="Connector 11"/>
          <p:cNvCxnSpPr/>
          <p:nvPr/>
        </p:nvCxnSpPr>
        <p:spPr>
          <a:xfrm flipH="1" flipV="1">
            <a:off x="3520439" y="178308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520439" y="219456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520439" y="2194560"/>
            <a:ext cx="1874520" cy="123444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520439" y="2194560"/>
            <a:ext cx="1874520" cy="205740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520439" y="1783080"/>
            <a:ext cx="1874520" cy="123444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3520439" y="260604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3520439" y="301752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520439" y="3017520"/>
            <a:ext cx="1874520" cy="123444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3520439" y="1783080"/>
            <a:ext cx="1874520" cy="205740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520439" y="2606040"/>
            <a:ext cx="1874520" cy="123444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3520439" y="342900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520439" y="384048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645920" y="1783080"/>
            <a:ext cx="1874519" cy="82296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645920" y="1783080"/>
            <a:ext cx="1874519" cy="164592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645920" y="2606040"/>
            <a:ext cx="1874519" cy="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645920" y="2606040"/>
            <a:ext cx="1874519" cy="82296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1645920" y="2606040"/>
            <a:ext cx="1874519" cy="82296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645920" y="3429000"/>
            <a:ext cx="1874519" cy="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645920" y="2606040"/>
            <a:ext cx="1874519" cy="164592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1645920" y="3429000"/>
            <a:ext cx="1874519" cy="82296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5120640" y="1920240"/>
            <a:ext cx="548640" cy="5486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120640" y="2743200"/>
            <a:ext cx="548640" cy="5486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120640" y="3566160"/>
            <a:ext cx="548640" cy="5486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246120" y="1508760"/>
            <a:ext cx="548640" cy="5486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246120" y="2331720"/>
            <a:ext cx="548640" cy="5486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3246120" y="3154680"/>
            <a:ext cx="548640" cy="5486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246120" y="3977640"/>
            <a:ext cx="548640" cy="5486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371600" y="2331720"/>
            <a:ext cx="548640" cy="5486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371600" y="3154680"/>
            <a:ext cx="548640" cy="5486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72000" y="4663440"/>
            <a:ext cx="1645920" cy="365760"/>
          </a:xfrm>
          <a:prstGeom prst="rect">
            <a:avLst/>
          </a:prstGeom>
          <a:noFill/>
        </p:spPr>
        <p:txBody>
          <a:bodyPr wrap="square" lIns="45720" rIns="45720" anchor="t">
            <a:spAutoFit/>
          </a:bodyPr>
          <a:lstStyle/>
          <a:p>
            <a:pPr algn="ctr" rtl="1"/>
            <a:r>
              <a:rPr lang="he-IL" sz="1500" b="1" i="0">
                <a:solidFill>
                  <a:srgbClr val="118AB2"/>
                </a:solidFill>
                <a:latin typeface="Arial"/>
                <a:cs typeface="Arial"/>
              </a:rPr>
              <a:t>קלט</a:t>
            </a:r>
          </a:p>
        </p:txBody>
      </p:sp>
      <p:sp>
        <p:nvSpPr>
          <p:cNvPr id="42" name="TextBox 41"/>
          <p:cNvSpPr txBox="1"/>
          <p:nvPr/>
        </p:nvSpPr>
        <p:spPr>
          <a:xfrm>
            <a:off x="2697480" y="4663440"/>
            <a:ext cx="1645920" cy="365760"/>
          </a:xfrm>
          <a:prstGeom prst="rect">
            <a:avLst/>
          </a:prstGeom>
          <a:noFill/>
        </p:spPr>
        <p:txBody>
          <a:bodyPr wrap="square" lIns="45720" rIns="45720" anchor="t">
            <a:spAutoFit/>
          </a:bodyPr>
          <a:lstStyle/>
          <a:p>
            <a:pPr algn="ctr" rtl="1"/>
            <a:r>
              <a:rPr lang="he-IL" sz="1500" b="1" i="0">
                <a:solidFill>
                  <a:srgbClr val="FF9F1C"/>
                </a:solidFill>
                <a:latin typeface="Arial"/>
                <a:cs typeface="Arial"/>
              </a:rPr>
              <a:t>שכבה נסתרת</a:t>
            </a:r>
          </a:p>
        </p:txBody>
      </p:sp>
      <p:sp>
        <p:nvSpPr>
          <p:cNvPr id="43" name="TextBox 42"/>
          <p:cNvSpPr txBox="1"/>
          <p:nvPr/>
        </p:nvSpPr>
        <p:spPr>
          <a:xfrm>
            <a:off x="822960" y="4663440"/>
            <a:ext cx="1645920" cy="365760"/>
          </a:xfrm>
          <a:prstGeom prst="rect">
            <a:avLst/>
          </a:prstGeom>
          <a:noFill/>
        </p:spPr>
        <p:txBody>
          <a:bodyPr wrap="square" lIns="45720" rIns="45720" anchor="t">
            <a:spAutoFit/>
          </a:bodyPr>
          <a:lstStyle/>
          <a:p>
            <a:pPr algn="ctr" rtl="1"/>
            <a:r>
              <a:rPr lang="he-IL" sz="1500" b="1" i="0">
                <a:solidFill>
                  <a:srgbClr val="EF476F"/>
                </a:solidFill>
                <a:latin typeface="Arial"/>
                <a:cs typeface="Arial"/>
              </a:rPr>
              <a:t>פלט</a:t>
            </a:r>
          </a:p>
        </p:txBody>
      </p:sp>
      <p:sp>
        <p:nvSpPr>
          <p:cNvPr id="44" name="Rounded Rectangle 43"/>
          <p:cNvSpPr/>
          <p:nvPr/>
        </p:nvSpPr>
        <p:spPr>
          <a:xfrm>
            <a:off x="548640" y="5166360"/>
            <a:ext cx="11091672" cy="914400"/>
          </a:xfrm>
          <a:prstGeom prst="roundRect">
            <a:avLst>
              <a:gd name="adj" fmla="val 15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2960" y="5212080"/>
            <a:ext cx="10607040" cy="822960"/>
          </a:xfrm>
          <a:prstGeom prst="rect">
            <a:avLst/>
          </a:prstGeom>
          <a:noFill/>
        </p:spPr>
        <p:txBody>
          <a:bodyPr wrap="square" lIns="45720" rIns="45720" anchor="ctr">
            <a:spAutoFit/>
          </a:bodyPr>
          <a:lstStyle/>
          <a:p>
            <a:pPr algn="r" rtl="1"/>
            <a:r>
              <a:rPr lang="he-IL" sz="1700" b="1" i="0">
                <a:solidFill>
                  <a:srgbClr val="1B2B34"/>
                </a:solidFill>
                <a:latin typeface="Arial"/>
                <a:cs typeface="Arial"/>
              </a:rPr>
              <a:t>רשת נוירונים </a:t>
            </a:r>
            <a:r>
              <a:rPr lang="he-IL" sz="1700" b="0" i="0">
                <a:solidFill>
                  <a:srgbClr val="1B2B34"/>
                </a:solidFill>
                <a:latin typeface="Arial"/>
                <a:cs typeface="Arial"/>
              </a:rPr>
              <a:t>= הרבה נוירונים מלאכותיים שמחוברים בשכבות. באימון היא מחזקת או מחלישה את החיבורים - וכך לומדת.</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9</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en-US" sz="3600" b="1" i="0" dirty="0">
                <a:solidFill>
                  <a:srgbClr val="1B4332"/>
                </a:solidFill>
                <a:latin typeface="Arial"/>
                <a:cs typeface="Arial"/>
              </a:rPr>
              <a:t>LLM</a:t>
            </a:r>
            <a:r>
              <a:rPr lang="he-IL" sz="3600" b="1" i="0" dirty="0">
                <a:solidFill>
                  <a:srgbClr val="1B4332"/>
                </a:solidFill>
                <a:latin typeface="Arial"/>
                <a:cs typeface="Arial"/>
              </a:rPr>
              <a:t>: מודל שמאומן לנחש את המילה הבאה</a:t>
            </a:r>
          </a:p>
        </p:txBody>
      </p:sp>
      <p:sp>
        <p:nvSpPr>
          <p:cNvPr id="4" name="Rounded Rectangle 3"/>
          <p:cNvSpPr/>
          <p:nvPr/>
        </p:nvSpPr>
        <p:spPr>
          <a:xfrm>
            <a:off x="4754880" y="1463040"/>
            <a:ext cx="6858000" cy="914400"/>
          </a:xfrm>
          <a:prstGeom prst="roundRect">
            <a:avLst>
              <a:gd name="adj" fmla="val 20000"/>
            </a:avLst>
          </a:prstGeom>
          <a:solidFill>
            <a:srgbClr val="E3F2F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1B2B34"/>
                </a:solidFill>
                <a:latin typeface="Arial"/>
                <a:cs typeface="Arial"/>
              </a:rPr>
              <a:t>החתול ישב על ה</a:t>
            </a:r>
            <a:r>
              <a:rPr lang="he-IL" sz="2800" b="1" i="0">
                <a:solidFill>
                  <a:srgbClr val="EF476F"/>
                </a:solidFill>
                <a:latin typeface="Arial"/>
                <a:cs typeface="Arial"/>
              </a:rPr>
              <a:t>_____</a:t>
            </a:r>
          </a:p>
        </p:txBody>
      </p:sp>
      <p:sp>
        <p:nvSpPr>
          <p:cNvPr id="5" name="TextBox 4"/>
          <p:cNvSpPr txBox="1"/>
          <p:nvPr/>
        </p:nvSpPr>
        <p:spPr>
          <a:xfrm>
            <a:off x="10058400" y="2743200"/>
            <a:ext cx="1554480" cy="457200"/>
          </a:xfrm>
          <a:prstGeom prst="rect">
            <a:avLst/>
          </a:prstGeom>
          <a:noFill/>
        </p:spPr>
        <p:txBody>
          <a:bodyPr wrap="square" lIns="45720" rIns="45720" anchor="ctr">
            <a:spAutoFit/>
          </a:bodyPr>
          <a:lstStyle/>
          <a:p>
            <a:pPr algn="r" rtl="1"/>
            <a:r>
              <a:rPr lang="he-IL" sz="2000" b="1" i="0">
                <a:solidFill>
                  <a:srgbClr val="1B2B34"/>
                </a:solidFill>
                <a:latin typeface="Arial"/>
                <a:cs typeface="Arial"/>
              </a:rPr>
              <a:t>שטיח</a:t>
            </a:r>
          </a:p>
        </p:txBody>
      </p:sp>
      <p:sp>
        <p:nvSpPr>
          <p:cNvPr id="6" name="Rounded Rectangle 5"/>
          <p:cNvSpPr/>
          <p:nvPr/>
        </p:nvSpPr>
        <p:spPr>
          <a:xfrm>
            <a:off x="5440680" y="2807208"/>
            <a:ext cx="4526280" cy="347472"/>
          </a:xfrm>
          <a:prstGeom prst="roundRect">
            <a:avLst>
              <a:gd name="adj" fmla="val 30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34840" y="2743200"/>
            <a:ext cx="914400" cy="457200"/>
          </a:xfrm>
          <a:prstGeom prst="rect">
            <a:avLst/>
          </a:prstGeom>
          <a:noFill/>
        </p:spPr>
        <p:txBody>
          <a:bodyPr wrap="square" lIns="45720" rIns="45720" anchor="ctr">
            <a:spAutoFit/>
          </a:bodyPr>
          <a:lstStyle/>
          <a:p>
            <a:pPr algn="l" rtl="0"/>
            <a:r>
              <a:rPr lang="en-US" sz="1600" b="0" i="0">
                <a:solidFill>
                  <a:srgbClr val="5F6F78"/>
                </a:solidFill>
                <a:latin typeface="Arial"/>
                <a:cs typeface="Arial"/>
              </a:rPr>
              <a:t>45%</a:t>
            </a:r>
          </a:p>
        </p:txBody>
      </p:sp>
      <p:sp>
        <p:nvSpPr>
          <p:cNvPr id="8" name="TextBox 7"/>
          <p:cNvSpPr txBox="1"/>
          <p:nvPr/>
        </p:nvSpPr>
        <p:spPr>
          <a:xfrm>
            <a:off x="10058400" y="3310128"/>
            <a:ext cx="1554480" cy="457200"/>
          </a:xfrm>
          <a:prstGeom prst="rect">
            <a:avLst/>
          </a:prstGeom>
          <a:noFill/>
        </p:spPr>
        <p:txBody>
          <a:bodyPr wrap="square" lIns="45720" rIns="45720" anchor="ctr">
            <a:spAutoFit/>
          </a:bodyPr>
          <a:lstStyle/>
          <a:p>
            <a:pPr algn="r" rtl="1"/>
            <a:r>
              <a:rPr lang="he-IL" sz="2000" b="1" i="0">
                <a:solidFill>
                  <a:srgbClr val="1B2B34"/>
                </a:solidFill>
                <a:latin typeface="Arial"/>
                <a:cs typeface="Arial"/>
              </a:rPr>
              <a:t>כיסא</a:t>
            </a:r>
          </a:p>
        </p:txBody>
      </p:sp>
      <p:sp>
        <p:nvSpPr>
          <p:cNvPr id="9" name="Rounded Rectangle 8"/>
          <p:cNvSpPr/>
          <p:nvPr/>
        </p:nvSpPr>
        <p:spPr>
          <a:xfrm>
            <a:off x="7452360" y="3374136"/>
            <a:ext cx="2514600" cy="347472"/>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3310128"/>
            <a:ext cx="914400" cy="457200"/>
          </a:xfrm>
          <a:prstGeom prst="rect">
            <a:avLst/>
          </a:prstGeom>
          <a:noFill/>
        </p:spPr>
        <p:txBody>
          <a:bodyPr wrap="square" lIns="45720" rIns="45720" anchor="ctr">
            <a:spAutoFit/>
          </a:bodyPr>
          <a:lstStyle/>
          <a:p>
            <a:pPr algn="l" rtl="0"/>
            <a:r>
              <a:rPr lang="en-US" sz="1600" b="0" i="0">
                <a:solidFill>
                  <a:srgbClr val="5F6F78"/>
                </a:solidFill>
                <a:latin typeface="Arial"/>
                <a:cs typeface="Arial"/>
              </a:rPr>
              <a:t>25%</a:t>
            </a:r>
          </a:p>
        </p:txBody>
      </p:sp>
      <p:sp>
        <p:nvSpPr>
          <p:cNvPr id="11" name="TextBox 10"/>
          <p:cNvSpPr txBox="1"/>
          <p:nvPr/>
        </p:nvSpPr>
        <p:spPr>
          <a:xfrm>
            <a:off x="10058400" y="3877056"/>
            <a:ext cx="1554480" cy="457200"/>
          </a:xfrm>
          <a:prstGeom prst="rect">
            <a:avLst/>
          </a:prstGeom>
          <a:noFill/>
        </p:spPr>
        <p:txBody>
          <a:bodyPr wrap="square" lIns="45720" rIns="45720" anchor="ctr">
            <a:spAutoFit/>
          </a:bodyPr>
          <a:lstStyle/>
          <a:p>
            <a:pPr algn="r" rtl="1"/>
            <a:r>
              <a:rPr lang="he-IL" sz="2000" b="1" i="0">
                <a:solidFill>
                  <a:srgbClr val="1B2B34"/>
                </a:solidFill>
                <a:latin typeface="Arial"/>
                <a:cs typeface="Arial"/>
              </a:rPr>
              <a:t>גג</a:t>
            </a:r>
          </a:p>
        </p:txBody>
      </p:sp>
      <p:sp>
        <p:nvSpPr>
          <p:cNvPr id="12" name="Rounded Rectangle 11"/>
          <p:cNvSpPr/>
          <p:nvPr/>
        </p:nvSpPr>
        <p:spPr>
          <a:xfrm>
            <a:off x="8458200" y="3941064"/>
            <a:ext cx="1508760" cy="347472"/>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52360" y="3877056"/>
            <a:ext cx="914400" cy="457200"/>
          </a:xfrm>
          <a:prstGeom prst="rect">
            <a:avLst/>
          </a:prstGeom>
          <a:noFill/>
        </p:spPr>
        <p:txBody>
          <a:bodyPr wrap="square" lIns="45720" rIns="45720" anchor="ctr">
            <a:spAutoFit/>
          </a:bodyPr>
          <a:lstStyle/>
          <a:p>
            <a:pPr algn="l" rtl="0"/>
            <a:r>
              <a:rPr lang="en-US" sz="1600" b="0" i="0">
                <a:solidFill>
                  <a:srgbClr val="5F6F78"/>
                </a:solidFill>
                <a:latin typeface="Arial"/>
                <a:cs typeface="Arial"/>
              </a:rPr>
              <a:t>15%</a:t>
            </a:r>
          </a:p>
        </p:txBody>
      </p:sp>
      <p:sp>
        <p:nvSpPr>
          <p:cNvPr id="14" name="TextBox 13"/>
          <p:cNvSpPr txBox="1"/>
          <p:nvPr/>
        </p:nvSpPr>
        <p:spPr>
          <a:xfrm>
            <a:off x="10058400" y="4443983"/>
            <a:ext cx="1554480" cy="457200"/>
          </a:xfrm>
          <a:prstGeom prst="rect">
            <a:avLst/>
          </a:prstGeom>
          <a:noFill/>
        </p:spPr>
        <p:txBody>
          <a:bodyPr wrap="square" lIns="45720" rIns="45720" anchor="ctr">
            <a:spAutoFit/>
          </a:bodyPr>
          <a:lstStyle/>
          <a:p>
            <a:pPr algn="r" rtl="1"/>
            <a:r>
              <a:rPr lang="he-IL" sz="2000" b="1" i="0">
                <a:solidFill>
                  <a:srgbClr val="1B2B34"/>
                </a:solidFill>
                <a:latin typeface="Arial"/>
                <a:cs typeface="Arial"/>
              </a:rPr>
              <a:t>ספה</a:t>
            </a:r>
          </a:p>
        </p:txBody>
      </p:sp>
      <p:sp>
        <p:nvSpPr>
          <p:cNvPr id="15" name="Rounded Rectangle 14"/>
          <p:cNvSpPr/>
          <p:nvPr/>
        </p:nvSpPr>
        <p:spPr>
          <a:xfrm>
            <a:off x="8961120" y="4507992"/>
            <a:ext cx="1005840" cy="347472"/>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80" y="4443983"/>
            <a:ext cx="914400" cy="457200"/>
          </a:xfrm>
          <a:prstGeom prst="rect">
            <a:avLst/>
          </a:prstGeom>
          <a:noFill/>
        </p:spPr>
        <p:txBody>
          <a:bodyPr wrap="square" lIns="45720" rIns="45720" anchor="ctr">
            <a:spAutoFit/>
          </a:bodyPr>
          <a:lstStyle/>
          <a:p>
            <a:pPr algn="l" rtl="0"/>
            <a:r>
              <a:rPr lang="en-US" sz="1600" b="0" i="0">
                <a:solidFill>
                  <a:srgbClr val="5F6F78"/>
                </a:solidFill>
                <a:latin typeface="Arial"/>
                <a:cs typeface="Arial"/>
              </a:rPr>
              <a:t>10%</a:t>
            </a:r>
          </a:p>
        </p:txBody>
      </p:sp>
      <p:sp>
        <p:nvSpPr>
          <p:cNvPr id="17" name="TextBox 16"/>
          <p:cNvSpPr txBox="1"/>
          <p:nvPr/>
        </p:nvSpPr>
        <p:spPr>
          <a:xfrm>
            <a:off x="10058400" y="5010912"/>
            <a:ext cx="1554480" cy="457200"/>
          </a:xfrm>
          <a:prstGeom prst="rect">
            <a:avLst/>
          </a:prstGeom>
          <a:noFill/>
        </p:spPr>
        <p:txBody>
          <a:bodyPr wrap="square" lIns="45720" rIns="45720" anchor="ctr">
            <a:spAutoFit/>
          </a:bodyPr>
          <a:lstStyle/>
          <a:p>
            <a:pPr algn="r" rtl="1"/>
            <a:r>
              <a:rPr lang="he-IL" sz="2000" b="1" i="0">
                <a:solidFill>
                  <a:srgbClr val="1B2B34"/>
                </a:solidFill>
                <a:latin typeface="Arial"/>
                <a:cs typeface="Arial"/>
              </a:rPr>
              <a:t>ירח</a:t>
            </a:r>
          </a:p>
        </p:txBody>
      </p:sp>
      <p:sp>
        <p:nvSpPr>
          <p:cNvPr id="18" name="Rounded Rectangle 17"/>
          <p:cNvSpPr/>
          <p:nvPr/>
        </p:nvSpPr>
        <p:spPr>
          <a:xfrm>
            <a:off x="9464040" y="5074920"/>
            <a:ext cx="502920" cy="347472"/>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58200" y="5010912"/>
            <a:ext cx="914400" cy="457200"/>
          </a:xfrm>
          <a:prstGeom prst="rect">
            <a:avLst/>
          </a:prstGeom>
          <a:noFill/>
        </p:spPr>
        <p:txBody>
          <a:bodyPr wrap="square" lIns="45720" rIns="45720" anchor="ctr">
            <a:spAutoFit/>
          </a:bodyPr>
          <a:lstStyle/>
          <a:p>
            <a:pPr algn="l" rtl="0"/>
            <a:r>
              <a:rPr lang="en-US" sz="1600" b="0" i="0">
                <a:solidFill>
                  <a:srgbClr val="5F6F78"/>
                </a:solidFill>
                <a:latin typeface="Arial"/>
                <a:cs typeface="Arial"/>
              </a:rPr>
              <a:t>5%</a:t>
            </a:r>
          </a:p>
        </p:txBody>
      </p:sp>
      <p:sp>
        <p:nvSpPr>
          <p:cNvPr id="20" name="Rounded Rectangle 19"/>
          <p:cNvSpPr/>
          <p:nvPr/>
        </p:nvSpPr>
        <p:spPr>
          <a:xfrm>
            <a:off x="548640" y="1463040"/>
            <a:ext cx="3931920" cy="91440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Arial"/>
                <a:cs typeface="Arial"/>
              </a:rPr>
              <a:t>LLM = Large Language Model</a:t>
            </a:r>
          </a:p>
          <a:p>
            <a:pPr algn="ctr" rtl="0"/>
            <a:r>
              <a:rPr lang="en-US" sz="1500" b="1" i="0">
                <a:solidFill>
                  <a:srgbClr val="FFFFFF"/>
                </a:solidFill>
                <a:latin typeface="Arial"/>
                <a:cs typeface="Arial"/>
              </a:rPr>
              <a:t>מודל שפה גדול</a:t>
            </a:r>
          </a:p>
        </p:txBody>
      </p:sp>
      <p:sp>
        <p:nvSpPr>
          <p:cNvPr id="21" name="TextBox 20"/>
          <p:cNvSpPr txBox="1"/>
          <p:nvPr/>
        </p:nvSpPr>
        <p:spPr>
          <a:xfrm>
            <a:off x="548640" y="5715000"/>
            <a:ext cx="11091672" cy="548640"/>
          </a:xfrm>
          <a:prstGeom prst="rect">
            <a:avLst/>
          </a:prstGeom>
          <a:noFill/>
        </p:spPr>
        <p:txBody>
          <a:bodyPr wrap="square" lIns="45720" rIns="45720" anchor="t">
            <a:spAutoFit/>
          </a:bodyPr>
          <a:lstStyle/>
          <a:p>
            <a:pPr algn="ctr" rtl="1"/>
            <a:r>
              <a:rPr lang="he-IL" sz="1800" b="0" i="0">
                <a:solidFill>
                  <a:srgbClr val="5F6F78"/>
                </a:solidFill>
                <a:latin typeface="Arial"/>
                <a:cs typeface="Arial"/>
              </a:rPr>
              <a:t>בוחרים מילה, מוסיפים אותה - ומנחשים שוב. כך נבנית תשובה שלמה, מילה אחרי מילה</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10</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מה הופך </a:t>
            </a:r>
            <a:r>
              <a:rPr lang="en-US" sz="3600" b="1" i="0">
                <a:solidFill>
                  <a:srgbClr val="1B4332"/>
                </a:solidFill>
                <a:latin typeface="Arial"/>
                <a:cs typeface="Arial"/>
              </a:rPr>
              <a:t>LLM</a:t>
            </a:r>
            <a:r>
              <a:rPr lang="he-IL" sz="3600" b="1" i="0">
                <a:solidFill>
                  <a:srgbClr val="1B4332"/>
                </a:solidFill>
                <a:latin typeface="Arial"/>
                <a:cs typeface="Arial"/>
              </a:rPr>
              <a:t> לחכם כל כך?</a:t>
            </a:r>
          </a:p>
        </p:txBody>
      </p:sp>
      <p:sp>
        <p:nvSpPr>
          <p:cNvPr id="4" name="Rounded Rectangle 3"/>
          <p:cNvSpPr/>
          <p:nvPr/>
        </p:nvSpPr>
        <p:spPr>
          <a:xfrm>
            <a:off x="6263640" y="1371600"/>
            <a:ext cx="537667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698480" y="1737360"/>
            <a:ext cx="822960" cy="82296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6" name="TextBox 5"/>
          <p:cNvSpPr txBox="1"/>
          <p:nvPr/>
        </p:nvSpPr>
        <p:spPr>
          <a:xfrm>
            <a:off x="6446520" y="1554480"/>
            <a:ext cx="4114800" cy="457200"/>
          </a:xfrm>
          <a:prstGeom prst="rect">
            <a:avLst/>
          </a:prstGeom>
          <a:noFill/>
        </p:spPr>
        <p:txBody>
          <a:bodyPr wrap="square" lIns="45720" rIns="45720" anchor="t">
            <a:spAutoFit/>
          </a:bodyPr>
          <a:lstStyle/>
          <a:p>
            <a:pPr algn="r" rtl="1"/>
            <a:r>
              <a:rPr lang="he-IL" sz="2100" b="1" i="0">
                <a:solidFill>
                  <a:srgbClr val="1B2B34"/>
                </a:solidFill>
                <a:latin typeface="Arial"/>
                <a:cs typeface="Arial"/>
              </a:rPr>
              <a:t>המון נתונים</a:t>
            </a:r>
          </a:p>
        </p:txBody>
      </p:sp>
      <p:sp>
        <p:nvSpPr>
          <p:cNvPr id="7" name="TextBox 6"/>
          <p:cNvSpPr txBox="1"/>
          <p:nvPr/>
        </p:nvSpPr>
        <p:spPr>
          <a:xfrm>
            <a:off x="6446520" y="2029967"/>
            <a:ext cx="41148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למד מכמעט כל הטקסט באינטרנט: ספרים, ויקיפדיה, קוד</a:t>
            </a:r>
          </a:p>
        </p:txBody>
      </p:sp>
      <p:sp>
        <p:nvSpPr>
          <p:cNvPr id="8" name="Rounded Rectangle 7"/>
          <p:cNvSpPr/>
          <p:nvPr/>
        </p:nvSpPr>
        <p:spPr>
          <a:xfrm>
            <a:off x="548640" y="1371600"/>
            <a:ext cx="537667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983479" y="1737360"/>
            <a:ext cx="822960" cy="8229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0" name="TextBox 9"/>
          <p:cNvSpPr txBox="1"/>
          <p:nvPr/>
        </p:nvSpPr>
        <p:spPr>
          <a:xfrm>
            <a:off x="731520" y="1554480"/>
            <a:ext cx="4114800" cy="457200"/>
          </a:xfrm>
          <a:prstGeom prst="rect">
            <a:avLst/>
          </a:prstGeom>
          <a:noFill/>
        </p:spPr>
        <p:txBody>
          <a:bodyPr wrap="square" lIns="45720" rIns="45720" anchor="t">
            <a:spAutoFit/>
          </a:bodyPr>
          <a:lstStyle/>
          <a:p>
            <a:pPr algn="r" rtl="1"/>
            <a:r>
              <a:rPr lang="he-IL" sz="2100" b="1" i="0">
                <a:solidFill>
                  <a:srgbClr val="1B2B34"/>
                </a:solidFill>
                <a:latin typeface="Arial"/>
                <a:cs typeface="Arial"/>
              </a:rPr>
              <a:t>רשת ענקית</a:t>
            </a:r>
          </a:p>
        </p:txBody>
      </p:sp>
      <p:sp>
        <p:nvSpPr>
          <p:cNvPr id="11" name="TextBox 10"/>
          <p:cNvSpPr txBox="1"/>
          <p:nvPr/>
        </p:nvSpPr>
        <p:spPr>
          <a:xfrm>
            <a:off x="731520" y="2029967"/>
            <a:ext cx="41148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רשת עמוקה עם מאות מיליארדי משקלים</a:t>
            </a:r>
          </a:p>
        </p:txBody>
      </p:sp>
      <p:sp>
        <p:nvSpPr>
          <p:cNvPr id="12" name="Rounded Rectangle 11"/>
          <p:cNvSpPr/>
          <p:nvPr/>
        </p:nvSpPr>
        <p:spPr>
          <a:xfrm>
            <a:off x="6263640" y="3200400"/>
            <a:ext cx="537667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698480" y="3566160"/>
            <a:ext cx="822960" cy="82296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4" name="TextBox 13"/>
          <p:cNvSpPr txBox="1"/>
          <p:nvPr/>
        </p:nvSpPr>
        <p:spPr>
          <a:xfrm>
            <a:off x="6446520" y="3383280"/>
            <a:ext cx="4114800" cy="457200"/>
          </a:xfrm>
          <a:prstGeom prst="rect">
            <a:avLst/>
          </a:prstGeom>
          <a:noFill/>
        </p:spPr>
        <p:txBody>
          <a:bodyPr wrap="square" lIns="45720" rIns="45720" anchor="t">
            <a:spAutoFit/>
          </a:bodyPr>
          <a:lstStyle/>
          <a:p>
            <a:pPr algn="r" rtl="1"/>
            <a:r>
              <a:rPr lang="he-IL" sz="2100" b="1" i="0">
                <a:solidFill>
                  <a:srgbClr val="1B2B34"/>
                </a:solidFill>
                <a:latin typeface="Arial"/>
                <a:cs typeface="Arial"/>
              </a:rPr>
              <a:t>טריק "תשומת לב"</a:t>
            </a:r>
          </a:p>
        </p:txBody>
      </p:sp>
      <p:sp>
        <p:nvSpPr>
          <p:cNvPr id="15" name="TextBox 14"/>
          <p:cNvSpPr txBox="1"/>
          <p:nvPr/>
        </p:nvSpPr>
        <p:spPr>
          <a:xfrm>
            <a:off x="6446520" y="3858768"/>
            <a:ext cx="41148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כל מילה מסתכלת על כל המילים האחרות כדי להבין הקשר (</a:t>
            </a:r>
            <a:r>
              <a:rPr lang="en-US" sz="1500" b="0" i="0">
                <a:solidFill>
                  <a:srgbClr val="5F6F78"/>
                </a:solidFill>
                <a:latin typeface="Arial"/>
                <a:cs typeface="Arial"/>
              </a:rPr>
              <a:t>Transformer)</a:t>
            </a:r>
          </a:p>
        </p:txBody>
      </p:sp>
      <p:sp>
        <p:nvSpPr>
          <p:cNvPr id="16" name="Rounded Rectangle 15"/>
          <p:cNvSpPr/>
          <p:nvPr/>
        </p:nvSpPr>
        <p:spPr>
          <a:xfrm>
            <a:off x="548640" y="3200400"/>
            <a:ext cx="537667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83479" y="3566160"/>
            <a:ext cx="822960" cy="822960"/>
          </a:xfrm>
          <a:prstGeom prst="ellipse">
            <a:avLst/>
          </a:prstGeom>
          <a:solidFill>
            <a:srgbClr val="7B4FB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8" name="TextBox 17"/>
          <p:cNvSpPr txBox="1"/>
          <p:nvPr/>
        </p:nvSpPr>
        <p:spPr>
          <a:xfrm>
            <a:off x="731520" y="3383280"/>
            <a:ext cx="4114800" cy="457200"/>
          </a:xfrm>
          <a:prstGeom prst="rect">
            <a:avLst/>
          </a:prstGeom>
          <a:noFill/>
        </p:spPr>
        <p:txBody>
          <a:bodyPr wrap="square" lIns="45720" rIns="45720" anchor="t">
            <a:spAutoFit/>
          </a:bodyPr>
          <a:lstStyle/>
          <a:p>
            <a:pPr algn="r" rtl="1"/>
            <a:r>
              <a:rPr lang="he-IL" sz="2100" b="1" i="0">
                <a:solidFill>
                  <a:srgbClr val="1B2B34"/>
                </a:solidFill>
                <a:latin typeface="Arial"/>
                <a:cs typeface="Arial"/>
              </a:rPr>
              <a:t>אימון להיות עוזר</a:t>
            </a:r>
          </a:p>
        </p:txBody>
      </p:sp>
      <p:sp>
        <p:nvSpPr>
          <p:cNvPr id="19" name="TextBox 18"/>
          <p:cNvSpPr txBox="1"/>
          <p:nvPr/>
        </p:nvSpPr>
        <p:spPr>
          <a:xfrm>
            <a:off x="731520" y="3858768"/>
            <a:ext cx="41148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אנשים דירגו תשובות - והמודל למד לענות בצורה מועילה ונעימה</a:t>
            </a:r>
          </a:p>
        </p:txBody>
      </p:sp>
      <p:sp>
        <p:nvSpPr>
          <p:cNvPr id="20" name="Rounded Rectangle 19"/>
          <p:cNvSpPr/>
          <p:nvPr/>
        </p:nvSpPr>
        <p:spPr>
          <a:xfrm>
            <a:off x="548640" y="5166360"/>
            <a:ext cx="11091672" cy="868680"/>
          </a:xfrm>
          <a:prstGeom prst="roundRect">
            <a:avLst>
              <a:gd name="adj" fmla="val 15000"/>
            </a:avLst>
          </a:prstGeom>
          <a:solidFill>
            <a:srgbClr val="FD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81360" y="5349240"/>
            <a:ext cx="512064" cy="512064"/>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a:t>
            </a:r>
          </a:p>
        </p:txBody>
      </p:sp>
      <p:sp>
        <p:nvSpPr>
          <p:cNvPr id="22" name="TextBox 21"/>
          <p:cNvSpPr txBox="1"/>
          <p:nvPr/>
        </p:nvSpPr>
        <p:spPr>
          <a:xfrm>
            <a:off x="822960" y="5212080"/>
            <a:ext cx="9875520" cy="777240"/>
          </a:xfrm>
          <a:prstGeom prst="rect">
            <a:avLst/>
          </a:prstGeom>
          <a:noFill/>
        </p:spPr>
        <p:txBody>
          <a:bodyPr wrap="square" lIns="45720" rIns="45720" anchor="ctr">
            <a:spAutoFit/>
          </a:bodyPr>
          <a:lstStyle/>
          <a:p>
            <a:pPr algn="r" rtl="1"/>
            <a:r>
              <a:rPr lang="he-IL" sz="1800" b="1" i="0">
                <a:solidFill>
                  <a:srgbClr val="1B2B34"/>
                </a:solidFill>
                <a:latin typeface="Arial"/>
                <a:cs typeface="Arial"/>
              </a:rPr>
              <a:t>אבל: </a:t>
            </a:r>
            <a:r>
              <a:rPr lang="en-US" sz="1800" b="0" i="0">
                <a:solidFill>
                  <a:srgbClr val="1B2B34"/>
                </a:solidFill>
                <a:latin typeface="Arial"/>
                <a:cs typeface="Arial"/>
              </a:rPr>
              <a:t>LLM</a:t>
            </a:r>
            <a:r>
              <a:rPr lang="he-IL" sz="1800" b="0" i="0">
                <a:solidFill>
                  <a:srgbClr val="1B2B34"/>
                </a:solidFill>
                <a:latin typeface="Arial"/>
                <a:cs typeface="Arial"/>
              </a:rPr>
              <a:t> לא באמת "יודע" - הוא מנחש. לפעמים הוא טועה, ובביטחון מלא!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11</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תרגיל 1: שואלים את </a:t>
            </a:r>
            <a:r>
              <a:rPr lang="en-US" sz="3600" b="1" i="0">
                <a:solidFill>
                  <a:srgbClr val="1B4332"/>
                </a:solidFill>
                <a:latin typeface="Arial"/>
                <a:cs typeface="Arial"/>
              </a:rPr>
              <a:t>Gemini</a:t>
            </a:r>
          </a:p>
        </p:txBody>
      </p:sp>
      <p:sp>
        <p:nvSpPr>
          <p:cNvPr id="4" name="Oval 3"/>
          <p:cNvSpPr/>
          <p:nvPr/>
        </p:nvSpPr>
        <p:spPr>
          <a:xfrm>
            <a:off x="10972800" y="1463040"/>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1</a:t>
            </a:r>
          </a:p>
        </p:txBody>
      </p:sp>
      <p:sp>
        <p:nvSpPr>
          <p:cNvPr id="5" name="TextBox 4"/>
          <p:cNvSpPr txBox="1"/>
          <p:nvPr/>
        </p:nvSpPr>
        <p:spPr>
          <a:xfrm>
            <a:off x="6309360" y="1463040"/>
            <a:ext cx="452628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היכנסו לאתר </a:t>
            </a:r>
            <a:r>
              <a:rPr lang="en-US" sz="1700" b="0" i="0">
                <a:solidFill>
                  <a:srgbClr val="1B2B34"/>
                </a:solidFill>
                <a:latin typeface="Arial"/>
                <a:cs typeface="Arial"/>
              </a:rPr>
              <a:t>gemini.google.com</a:t>
            </a:r>
          </a:p>
        </p:txBody>
      </p:sp>
      <p:sp>
        <p:nvSpPr>
          <p:cNvPr id="6" name="Oval 5"/>
          <p:cNvSpPr/>
          <p:nvPr/>
        </p:nvSpPr>
        <p:spPr>
          <a:xfrm>
            <a:off x="10972800" y="2423160"/>
            <a:ext cx="640080" cy="6400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2</a:t>
            </a:r>
          </a:p>
        </p:txBody>
      </p:sp>
      <p:sp>
        <p:nvSpPr>
          <p:cNvPr id="7" name="TextBox 6"/>
          <p:cNvSpPr txBox="1"/>
          <p:nvPr/>
        </p:nvSpPr>
        <p:spPr>
          <a:xfrm>
            <a:off x="6309360" y="2423160"/>
            <a:ext cx="452628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העתיקו את השאלה בדיוק כמו שהיא כתובה ושלחו</a:t>
            </a:r>
          </a:p>
        </p:txBody>
      </p:sp>
      <p:sp>
        <p:nvSpPr>
          <p:cNvPr id="8" name="Oval 7"/>
          <p:cNvSpPr/>
          <p:nvPr/>
        </p:nvSpPr>
        <p:spPr>
          <a:xfrm>
            <a:off x="10972800" y="3383280"/>
            <a:ext cx="640080" cy="6400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3</a:t>
            </a:r>
          </a:p>
        </p:txBody>
      </p:sp>
      <p:sp>
        <p:nvSpPr>
          <p:cNvPr id="9" name="TextBox 8"/>
          <p:cNvSpPr txBox="1"/>
          <p:nvPr/>
        </p:nvSpPr>
        <p:spPr>
          <a:xfrm>
            <a:off x="6309360" y="3418404"/>
            <a:ext cx="4526280" cy="615553"/>
          </a:xfrm>
          <a:prstGeom prst="rect">
            <a:avLst/>
          </a:prstGeom>
          <a:noFill/>
        </p:spPr>
        <p:txBody>
          <a:bodyPr wrap="square" lIns="45720" rIns="45720" anchor="ctr">
            <a:spAutoFit/>
          </a:bodyPr>
          <a:lstStyle/>
          <a:p>
            <a:pPr algn="r" rtl="1"/>
            <a:r>
              <a:rPr lang="he-IL" sz="1700" b="0" i="0" dirty="0">
                <a:solidFill>
                  <a:srgbClr val="1B2B34"/>
                </a:solidFill>
                <a:latin typeface="Arial"/>
                <a:cs typeface="Arial"/>
              </a:rPr>
              <a:t>שמרו את התשובה בקובץ - נצטרך אותה בתרגיל הבא!</a:t>
            </a:r>
          </a:p>
        </p:txBody>
      </p:sp>
      <p:sp>
        <p:nvSpPr>
          <p:cNvPr id="10" name="Oval 9"/>
          <p:cNvSpPr/>
          <p:nvPr/>
        </p:nvSpPr>
        <p:spPr>
          <a:xfrm>
            <a:off x="10972800" y="4343400"/>
            <a:ext cx="640080" cy="64008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4</a:t>
            </a:r>
          </a:p>
        </p:txBody>
      </p:sp>
      <p:sp>
        <p:nvSpPr>
          <p:cNvPr id="11" name="TextBox 10"/>
          <p:cNvSpPr txBox="1"/>
          <p:nvPr/>
        </p:nvSpPr>
        <p:spPr>
          <a:xfrm>
            <a:off x="6309360" y="4509328"/>
            <a:ext cx="4526280" cy="353943"/>
          </a:xfrm>
          <a:prstGeom prst="rect">
            <a:avLst/>
          </a:prstGeom>
          <a:noFill/>
        </p:spPr>
        <p:txBody>
          <a:bodyPr wrap="square" lIns="45720" rIns="45720" anchor="ctr">
            <a:spAutoFit/>
          </a:bodyPr>
          <a:lstStyle/>
          <a:p>
            <a:pPr algn="r" rtl="1"/>
            <a:r>
              <a:rPr lang="he-IL" sz="1700" dirty="0">
                <a:solidFill>
                  <a:srgbClr val="1B2B34"/>
                </a:solidFill>
                <a:latin typeface="Arial"/>
                <a:cs typeface="Arial"/>
              </a:rPr>
              <a:t>הריצו את הקוד וודאו שג'מיני לא טעה</a:t>
            </a:r>
          </a:p>
        </p:txBody>
      </p:sp>
      <p:sp>
        <p:nvSpPr>
          <p:cNvPr id="12" name="Rounded Rectangle 11"/>
          <p:cNvSpPr/>
          <p:nvPr/>
        </p:nvSpPr>
        <p:spPr>
          <a:xfrm>
            <a:off x="548640" y="1463040"/>
            <a:ext cx="5303520" cy="365760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554480"/>
            <a:ext cx="4937760" cy="365760"/>
          </a:xfrm>
          <a:prstGeom prst="rect">
            <a:avLst/>
          </a:prstGeom>
          <a:noFill/>
        </p:spPr>
        <p:txBody>
          <a:bodyPr wrap="square" lIns="45720" rIns="45720" anchor="t">
            <a:spAutoFit/>
          </a:bodyPr>
          <a:lstStyle/>
          <a:p>
            <a:pPr algn="l" rtl="0"/>
            <a:r>
              <a:rPr lang="en-US" sz="1600" b="1" i="0">
                <a:solidFill>
                  <a:srgbClr val="118AB2"/>
                </a:solidFill>
                <a:latin typeface="Arial"/>
                <a:cs typeface="Arial"/>
              </a:rPr>
              <a:t>Gemini ✦</a:t>
            </a:r>
          </a:p>
        </p:txBody>
      </p:sp>
      <p:sp>
        <p:nvSpPr>
          <p:cNvPr id="14" name="Rounded Rectangle 13"/>
          <p:cNvSpPr/>
          <p:nvPr/>
        </p:nvSpPr>
        <p:spPr>
          <a:xfrm>
            <a:off x="1188720" y="2103120"/>
            <a:ext cx="4480560" cy="1188720"/>
          </a:xfrm>
          <a:prstGeom prst="roundRect">
            <a:avLst>
              <a:gd name="adj" fmla="val 20000"/>
            </a:avLst>
          </a:prstGeom>
          <a:solidFill>
            <a:srgbClr val="FFFFFF"/>
          </a:solidFill>
          <a:ln w="19050">
            <a:solidFill>
              <a:srgbClr val="D0D7DB"/>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rtl="0"/>
            <a:r>
              <a:rPr lang="en-US" sz="1700" b="0" i="0">
                <a:solidFill>
                  <a:srgbClr val="1B2B34"/>
                </a:solidFill>
                <a:latin typeface="Arial"/>
                <a:cs typeface="Arial"/>
              </a:rPr>
              <a:t>Write a short Python program that prints the numbers from 1 to 10</a:t>
            </a:r>
          </a:p>
        </p:txBody>
      </p:sp>
      <p:sp>
        <p:nvSpPr>
          <p:cNvPr id="15" name="Rounded Rectangle 14"/>
          <p:cNvSpPr/>
          <p:nvPr/>
        </p:nvSpPr>
        <p:spPr>
          <a:xfrm>
            <a:off x="731520" y="3520440"/>
            <a:ext cx="3840480" cy="1371600"/>
          </a:xfrm>
          <a:prstGeom prst="roundRect">
            <a:avLst>
              <a:gd name="adj" fmla="val 8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rtl="0"/>
            <a:r>
              <a:rPr lang="en-US" sz="2000" b="0" i="0" dirty="0">
                <a:solidFill>
                  <a:srgbClr val="FF9F1C"/>
                </a:solidFill>
                <a:latin typeface="Consolas"/>
                <a:cs typeface="Consolas"/>
              </a:rPr>
              <a:t>for</a:t>
            </a:r>
            <a:r>
              <a:rPr lang="en-US" sz="2000" b="0" i="0" dirty="0">
                <a:solidFill>
                  <a:srgbClr val="E6E6E6"/>
                </a:solidFill>
                <a:latin typeface="Consolas"/>
                <a:cs typeface="Consolas"/>
              </a:rPr>
              <a:t> </a:t>
            </a:r>
            <a:r>
              <a:rPr lang="en-US" sz="2000" b="0" i="0" dirty="0" err="1">
                <a:solidFill>
                  <a:srgbClr val="E6E6E6"/>
                </a:solidFill>
                <a:latin typeface="Consolas"/>
                <a:cs typeface="Consolas"/>
              </a:rPr>
              <a:t>i</a:t>
            </a:r>
            <a:r>
              <a:rPr lang="en-US" sz="2000" b="0" i="0" dirty="0">
                <a:solidFill>
                  <a:srgbClr val="E6E6E6"/>
                </a:solidFill>
                <a:latin typeface="Consolas"/>
                <a:cs typeface="Consolas"/>
              </a:rPr>
              <a:t> </a:t>
            </a:r>
            <a:r>
              <a:rPr lang="en-US" sz="2000" b="0" i="0" dirty="0">
                <a:solidFill>
                  <a:srgbClr val="FF9F1C"/>
                </a:solidFill>
                <a:latin typeface="Consolas"/>
                <a:cs typeface="Consolas"/>
              </a:rPr>
              <a:t>in</a:t>
            </a:r>
            <a:r>
              <a:rPr lang="en-US" sz="2000" b="0" i="0" dirty="0">
                <a:solidFill>
                  <a:srgbClr val="E6E6E6"/>
                </a:solidFill>
                <a:latin typeface="Consolas"/>
                <a:cs typeface="Consolas"/>
              </a:rPr>
              <a:t> </a:t>
            </a:r>
            <a:r>
              <a:rPr lang="en-US" sz="2000" b="0" i="0" dirty="0">
                <a:solidFill>
                  <a:srgbClr val="66D9EF"/>
                </a:solidFill>
                <a:latin typeface="Consolas"/>
                <a:cs typeface="Consolas"/>
              </a:rPr>
              <a:t>range</a:t>
            </a:r>
            <a:r>
              <a:rPr lang="en-US" sz="2000" b="0" i="0" dirty="0">
                <a:solidFill>
                  <a:srgbClr val="E6E6E6"/>
                </a:solidFill>
                <a:latin typeface="Consolas"/>
                <a:cs typeface="Consolas"/>
              </a:rPr>
              <a:t>(</a:t>
            </a:r>
            <a:r>
              <a:rPr lang="en-US" sz="2000" b="0" i="0" dirty="0">
                <a:solidFill>
                  <a:srgbClr val="FFD166"/>
                </a:solidFill>
                <a:latin typeface="Consolas"/>
                <a:cs typeface="Consolas"/>
              </a:rPr>
              <a:t>1</a:t>
            </a:r>
            <a:r>
              <a:rPr lang="en-US" sz="2000" b="0" i="0" dirty="0">
                <a:solidFill>
                  <a:srgbClr val="E6E6E6"/>
                </a:solidFill>
                <a:latin typeface="Consolas"/>
                <a:cs typeface="Consolas"/>
              </a:rPr>
              <a:t>, </a:t>
            </a:r>
            <a:r>
              <a:rPr lang="en-US" sz="2000" b="0" i="0" dirty="0">
                <a:solidFill>
                  <a:srgbClr val="FFD166"/>
                </a:solidFill>
                <a:latin typeface="Consolas"/>
                <a:cs typeface="Consolas"/>
              </a:rPr>
              <a:t>11</a:t>
            </a:r>
            <a:r>
              <a:rPr lang="en-US" sz="2000" b="0" i="0" dirty="0">
                <a:solidFill>
                  <a:srgbClr val="E6E6E6"/>
                </a:solidFill>
                <a:latin typeface="Consolas"/>
                <a:cs typeface="Consolas"/>
              </a:rPr>
              <a:t>):</a:t>
            </a:r>
          </a:p>
          <a:p>
            <a:pPr algn="l" rtl="0"/>
            <a:r>
              <a:rPr lang="en-US" sz="2000" b="0" i="0" dirty="0">
                <a:solidFill>
                  <a:srgbClr val="E6E6E6"/>
                </a:solidFill>
                <a:latin typeface="Consolas"/>
                <a:cs typeface="Consolas"/>
              </a:rPr>
              <a:t>    </a:t>
            </a:r>
            <a:r>
              <a:rPr lang="en-US" sz="2000" b="0" i="0" dirty="0">
                <a:solidFill>
                  <a:srgbClr val="66D9EF"/>
                </a:solidFill>
                <a:latin typeface="Consolas"/>
                <a:cs typeface="Consolas"/>
              </a:rPr>
              <a:t>print</a:t>
            </a:r>
            <a:r>
              <a:rPr lang="en-US" sz="2000" b="0" i="0" dirty="0">
                <a:solidFill>
                  <a:srgbClr val="E6E6E6"/>
                </a:solidFill>
                <a:latin typeface="Consolas"/>
                <a:cs typeface="Consolas"/>
              </a:rPr>
              <a:t>(</a:t>
            </a:r>
            <a:r>
              <a:rPr lang="en-US" sz="2000" b="0" i="0" dirty="0" err="1">
                <a:solidFill>
                  <a:srgbClr val="E6E6E6"/>
                </a:solidFill>
                <a:latin typeface="Consolas"/>
                <a:cs typeface="Consolas"/>
              </a:rPr>
              <a:t>i</a:t>
            </a:r>
            <a:r>
              <a:rPr lang="en-US" sz="2000" b="0" i="0" dirty="0">
                <a:solidFill>
                  <a:srgbClr val="E6E6E6"/>
                </a:solidFill>
                <a:latin typeface="Consolas"/>
                <a:cs typeface="Consolas"/>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Oval 1"/>
          <p:cNvSpPr/>
          <p:nvPr/>
        </p:nvSpPr>
        <p:spPr>
          <a:xfrm>
            <a:off x="6949440" y="1325880"/>
            <a:ext cx="3931920" cy="3931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0" y="1325880"/>
            <a:ext cx="3931920" cy="3931920"/>
          </a:xfrm>
          <a:prstGeom prst="rect">
            <a:avLst/>
          </a:prstGeom>
          <a:noFill/>
        </p:spPr>
        <p:txBody>
          <a:bodyPr wrap="square" lIns="45720" rIns="45720" anchor="ctr">
            <a:spAutoFit/>
          </a:bodyPr>
          <a:lstStyle/>
          <a:p>
            <a:pPr algn="ctr" rtl="1"/>
            <a:r>
              <a:rPr lang="he-IL" sz="16000" b="1" i="0">
                <a:solidFill>
                  <a:srgbClr val="FFD166"/>
                </a:solidFill>
                <a:latin typeface="Arial"/>
                <a:cs typeface="Arial"/>
              </a:rPr>
              <a:t>2</a:t>
            </a:r>
          </a:p>
        </p:txBody>
      </p:sp>
      <p:sp>
        <p:nvSpPr>
          <p:cNvPr id="4" name="Oval 3"/>
          <p:cNvSpPr/>
          <p:nvPr/>
        </p:nvSpPr>
        <p:spPr>
          <a:xfrm>
            <a:off x="10332720" y="1097280"/>
            <a:ext cx="502920" cy="50292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040880" y="4846320"/>
            <a:ext cx="411480" cy="4114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63040"/>
            <a:ext cx="6126480" cy="2194560"/>
          </a:xfrm>
          <a:prstGeom prst="rect">
            <a:avLst/>
          </a:prstGeom>
          <a:noFill/>
        </p:spPr>
        <p:txBody>
          <a:bodyPr wrap="square" lIns="45720" rIns="45720" anchor="b">
            <a:spAutoFit/>
          </a:bodyPr>
          <a:lstStyle/>
          <a:p>
            <a:pPr algn="r" rtl="1"/>
            <a:r>
              <a:rPr lang="en-US" sz="4800" b="1" i="0">
                <a:solidFill>
                  <a:srgbClr val="FFFFFF"/>
                </a:solidFill>
                <a:latin typeface="Arial"/>
                <a:cs typeface="Arial"/>
              </a:rPr>
              <a:t>Gemini</a:t>
            </a:r>
            <a:r>
              <a:rPr lang="he-IL" sz="4800" b="1" i="0">
                <a:solidFill>
                  <a:srgbClr val="FFFFFF"/>
                </a:solidFill>
                <a:latin typeface="Arial"/>
                <a:cs typeface="Arial"/>
              </a:rPr>
              <a:t> מתוך פייתון</a:t>
            </a:r>
          </a:p>
        </p:txBody>
      </p:sp>
      <p:sp>
        <p:nvSpPr>
          <p:cNvPr id="7" name="TextBox 6"/>
          <p:cNvSpPr txBox="1"/>
          <p:nvPr/>
        </p:nvSpPr>
        <p:spPr>
          <a:xfrm>
            <a:off x="548640" y="3794760"/>
            <a:ext cx="6126480" cy="914400"/>
          </a:xfrm>
          <a:prstGeom prst="rect">
            <a:avLst/>
          </a:prstGeom>
          <a:noFill/>
        </p:spPr>
        <p:txBody>
          <a:bodyPr wrap="square" lIns="45720" rIns="45720" anchor="t">
            <a:spAutoFit/>
          </a:bodyPr>
          <a:lstStyle/>
          <a:p>
            <a:pPr algn="r" rtl="1"/>
            <a:r>
              <a:rPr lang="he-IL" sz="2200" b="0" i="0">
                <a:solidFill>
                  <a:srgbClr val="CDE8D8"/>
                </a:solidFill>
                <a:latin typeface="Arial"/>
                <a:cs typeface="Arial"/>
              </a:rPr>
              <a:t>התוכנית שלנו שואלת - </a:t>
            </a:r>
            <a:r>
              <a:rPr lang="en-US" sz="2200" b="0" i="0">
                <a:solidFill>
                  <a:srgbClr val="CDE8D8"/>
                </a:solidFill>
                <a:latin typeface="Arial"/>
                <a:cs typeface="Arial"/>
              </a:rPr>
              <a:t>Gemini</a:t>
            </a:r>
            <a:r>
              <a:rPr lang="he-IL" sz="2200" b="0" i="0">
                <a:solidFill>
                  <a:srgbClr val="CDE8D8"/>
                </a:solidFill>
                <a:latin typeface="Arial"/>
                <a:cs typeface="Arial"/>
              </a:rPr>
              <a:t> עונה</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13</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מה זה </a:t>
            </a:r>
            <a:r>
              <a:rPr lang="en-US" sz="3600" b="1" i="0">
                <a:solidFill>
                  <a:srgbClr val="1B4332"/>
                </a:solidFill>
                <a:latin typeface="Arial"/>
                <a:cs typeface="Arial"/>
              </a:rPr>
              <a:t>API</a:t>
            </a:r>
            <a:r>
              <a:rPr lang="he-IL" sz="3600" b="1" i="0">
                <a:solidFill>
                  <a:srgbClr val="1B4332"/>
                </a:solidFill>
                <a:latin typeface="Arial"/>
                <a:cs typeface="Arial"/>
              </a:rPr>
              <a:t>?</a:t>
            </a:r>
          </a:p>
        </p:txBody>
      </p:sp>
      <p:sp>
        <p:nvSpPr>
          <p:cNvPr id="4" name="Rounded Rectangle 3"/>
          <p:cNvSpPr/>
          <p:nvPr/>
        </p:nvSpPr>
        <p:spPr>
          <a:xfrm>
            <a:off x="8595360" y="1645920"/>
            <a:ext cx="3017520" cy="237744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92640" y="1783080"/>
            <a:ext cx="822960" cy="82296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600" b="1" i="0">
                <a:solidFill>
                  <a:srgbClr val="FFFFFF"/>
                </a:solidFill>
                <a:latin typeface="Arial"/>
                <a:cs typeface="Arial"/>
              </a:rPr>
              <a:t>🧑‍💻</a:t>
            </a:r>
          </a:p>
        </p:txBody>
      </p:sp>
      <p:sp>
        <p:nvSpPr>
          <p:cNvPr id="6" name="TextBox 5"/>
          <p:cNvSpPr txBox="1"/>
          <p:nvPr/>
        </p:nvSpPr>
        <p:spPr>
          <a:xfrm>
            <a:off x="8595360" y="2697480"/>
            <a:ext cx="3017520" cy="502920"/>
          </a:xfrm>
          <a:prstGeom prst="rect">
            <a:avLst/>
          </a:prstGeom>
          <a:noFill/>
        </p:spPr>
        <p:txBody>
          <a:bodyPr wrap="square" lIns="45720" rIns="45720" anchor="t">
            <a:spAutoFit/>
          </a:bodyPr>
          <a:lstStyle/>
          <a:p>
            <a:pPr algn="ctr" rtl="1"/>
            <a:r>
              <a:rPr lang="he-IL" sz="2400" b="1" i="0">
                <a:solidFill>
                  <a:srgbClr val="1B2B34"/>
                </a:solidFill>
                <a:latin typeface="Arial"/>
                <a:cs typeface="Arial"/>
              </a:rPr>
              <a:t>התוכנית שלנו</a:t>
            </a:r>
          </a:p>
        </p:txBody>
      </p:sp>
      <p:sp>
        <p:nvSpPr>
          <p:cNvPr id="7" name="TextBox 6"/>
          <p:cNvSpPr txBox="1"/>
          <p:nvPr/>
        </p:nvSpPr>
        <p:spPr>
          <a:xfrm>
            <a:off x="8686800" y="3200400"/>
            <a:ext cx="2834640" cy="640080"/>
          </a:xfrm>
          <a:prstGeom prst="rect">
            <a:avLst/>
          </a:prstGeom>
          <a:noFill/>
        </p:spPr>
        <p:txBody>
          <a:bodyPr wrap="square" lIns="45720" rIns="45720" anchor="t">
            <a:spAutoFit/>
          </a:bodyPr>
          <a:lstStyle/>
          <a:p>
            <a:pPr algn="ctr" rtl="1"/>
            <a:r>
              <a:rPr lang="he-IL" sz="1600" b="0" i="0">
                <a:solidFill>
                  <a:srgbClr val="5F6F78"/>
                </a:solidFill>
                <a:latin typeface="Arial"/>
                <a:cs typeface="Arial"/>
              </a:rPr>
              <a:t>שולחת שאלה</a:t>
            </a:r>
          </a:p>
        </p:txBody>
      </p:sp>
      <p:cxnSp>
        <p:nvCxnSpPr>
          <p:cNvPr id="8" name="Connector 7"/>
          <p:cNvCxnSpPr/>
          <p:nvPr/>
        </p:nvCxnSpPr>
        <p:spPr>
          <a:xfrm flipH="1">
            <a:off x="7909560" y="2468880"/>
            <a:ext cx="594360" cy="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909560" y="3200400"/>
            <a:ext cx="594360" cy="0"/>
          </a:xfrm>
          <a:prstGeom prst="line">
            <a:avLst/>
          </a:prstGeom>
          <a:ln w="38100">
            <a:solidFill>
              <a:srgbClr val="EF47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00600" y="1645920"/>
            <a:ext cx="3017520" cy="237744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897880" y="1783080"/>
            <a:ext cx="822960" cy="8229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600" b="1" i="0">
                <a:solidFill>
                  <a:srgbClr val="FFFFFF"/>
                </a:solidFill>
                <a:latin typeface="Arial"/>
                <a:cs typeface="Arial"/>
              </a:rPr>
              <a:t>🤵</a:t>
            </a:r>
          </a:p>
        </p:txBody>
      </p:sp>
      <p:sp>
        <p:nvSpPr>
          <p:cNvPr id="12" name="TextBox 11"/>
          <p:cNvSpPr txBox="1"/>
          <p:nvPr/>
        </p:nvSpPr>
        <p:spPr>
          <a:xfrm>
            <a:off x="4800600" y="2697480"/>
            <a:ext cx="3017520" cy="502920"/>
          </a:xfrm>
          <a:prstGeom prst="rect">
            <a:avLst/>
          </a:prstGeom>
          <a:noFill/>
        </p:spPr>
        <p:txBody>
          <a:bodyPr wrap="square" lIns="45720" rIns="45720" anchor="t">
            <a:spAutoFit/>
          </a:bodyPr>
          <a:lstStyle/>
          <a:p>
            <a:pPr algn="ctr" rtl="1"/>
            <a:r>
              <a:rPr lang="en-US" sz="2400" b="1" i="0">
                <a:solidFill>
                  <a:srgbClr val="1B2B34"/>
                </a:solidFill>
                <a:latin typeface="Arial"/>
                <a:cs typeface="Arial"/>
              </a:rPr>
              <a:t>API</a:t>
            </a:r>
          </a:p>
        </p:txBody>
      </p:sp>
      <p:sp>
        <p:nvSpPr>
          <p:cNvPr id="13" name="TextBox 12"/>
          <p:cNvSpPr txBox="1"/>
          <p:nvPr/>
        </p:nvSpPr>
        <p:spPr>
          <a:xfrm>
            <a:off x="4892040" y="3200400"/>
            <a:ext cx="2834640" cy="338554"/>
          </a:xfrm>
          <a:prstGeom prst="rect">
            <a:avLst/>
          </a:prstGeom>
          <a:noFill/>
        </p:spPr>
        <p:txBody>
          <a:bodyPr wrap="square" lIns="45720" rIns="45720" anchor="t">
            <a:spAutoFit/>
          </a:bodyPr>
          <a:lstStyle/>
          <a:p>
            <a:pPr algn="ctr" rtl="1"/>
            <a:r>
              <a:rPr lang="he-IL" sz="1600" b="0" i="0" dirty="0">
                <a:solidFill>
                  <a:srgbClr val="5F6F78"/>
                </a:solidFill>
                <a:latin typeface="Arial"/>
                <a:cs typeface="Arial"/>
              </a:rPr>
              <a:t>רשת האינטרנט</a:t>
            </a:r>
          </a:p>
        </p:txBody>
      </p:sp>
      <p:cxnSp>
        <p:nvCxnSpPr>
          <p:cNvPr id="14" name="Connector 13"/>
          <p:cNvCxnSpPr/>
          <p:nvPr/>
        </p:nvCxnSpPr>
        <p:spPr>
          <a:xfrm flipH="1">
            <a:off x="4114800" y="2468880"/>
            <a:ext cx="594360" cy="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114800" y="3200400"/>
            <a:ext cx="594360" cy="0"/>
          </a:xfrm>
          <a:prstGeom prst="line">
            <a:avLst/>
          </a:prstGeom>
          <a:ln w="38100">
            <a:solidFill>
              <a:srgbClr val="EF47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05839" y="1645920"/>
            <a:ext cx="3017520" cy="237744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103120" y="1783080"/>
            <a:ext cx="822960" cy="82296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600" b="1" i="0">
                <a:solidFill>
                  <a:srgbClr val="FFFFFF"/>
                </a:solidFill>
                <a:latin typeface="Arial"/>
                <a:cs typeface="Arial"/>
              </a:rPr>
              <a:t>🍳</a:t>
            </a:r>
          </a:p>
        </p:txBody>
      </p:sp>
      <p:sp>
        <p:nvSpPr>
          <p:cNvPr id="18" name="TextBox 17"/>
          <p:cNvSpPr txBox="1"/>
          <p:nvPr/>
        </p:nvSpPr>
        <p:spPr>
          <a:xfrm>
            <a:off x="1005839" y="2697480"/>
            <a:ext cx="3017520" cy="502920"/>
          </a:xfrm>
          <a:prstGeom prst="rect">
            <a:avLst/>
          </a:prstGeom>
          <a:noFill/>
        </p:spPr>
        <p:txBody>
          <a:bodyPr wrap="square" lIns="45720" rIns="45720" anchor="t">
            <a:spAutoFit/>
          </a:bodyPr>
          <a:lstStyle/>
          <a:p>
            <a:pPr algn="ctr" rtl="1"/>
            <a:r>
              <a:rPr lang="en-US" sz="2400" b="1" i="0">
                <a:solidFill>
                  <a:srgbClr val="1B2B34"/>
                </a:solidFill>
                <a:latin typeface="Arial"/>
                <a:cs typeface="Arial"/>
              </a:rPr>
              <a:t>Google</a:t>
            </a:r>
          </a:p>
        </p:txBody>
      </p:sp>
      <p:sp>
        <p:nvSpPr>
          <p:cNvPr id="19" name="TextBox 18"/>
          <p:cNvSpPr txBox="1"/>
          <p:nvPr/>
        </p:nvSpPr>
        <p:spPr>
          <a:xfrm>
            <a:off x="1097279" y="3200400"/>
            <a:ext cx="2834640" cy="338554"/>
          </a:xfrm>
          <a:prstGeom prst="rect">
            <a:avLst/>
          </a:prstGeom>
          <a:noFill/>
        </p:spPr>
        <p:txBody>
          <a:bodyPr wrap="square" lIns="45720" rIns="45720" anchor="t">
            <a:spAutoFit/>
          </a:bodyPr>
          <a:lstStyle/>
          <a:p>
            <a:pPr algn="ctr" rtl="1"/>
            <a:r>
              <a:rPr lang="he-IL" sz="1600" b="0" i="0" dirty="0">
                <a:solidFill>
                  <a:srgbClr val="5F6F78"/>
                </a:solidFill>
                <a:latin typeface="Arial"/>
                <a:cs typeface="Arial"/>
              </a:rPr>
              <a:t>שרתים של גוגל</a:t>
            </a:r>
          </a:p>
        </p:txBody>
      </p:sp>
      <p:sp>
        <p:nvSpPr>
          <p:cNvPr id="20" name="TextBox 19"/>
          <p:cNvSpPr txBox="1"/>
          <p:nvPr/>
        </p:nvSpPr>
        <p:spPr>
          <a:xfrm>
            <a:off x="4572000" y="4206240"/>
            <a:ext cx="6858000" cy="338554"/>
          </a:xfrm>
          <a:prstGeom prst="rect">
            <a:avLst/>
          </a:prstGeom>
          <a:noFill/>
        </p:spPr>
        <p:txBody>
          <a:bodyPr wrap="square" lIns="45720" rIns="45720" anchor="t">
            <a:spAutoFit/>
          </a:bodyPr>
          <a:lstStyle/>
          <a:p>
            <a:pPr algn="r" rtl="1"/>
            <a:r>
              <a:rPr lang="he-IL" sz="1600" b="1" i="0" dirty="0">
                <a:solidFill>
                  <a:srgbClr val="118AB2"/>
                </a:solidFill>
                <a:latin typeface="Arial"/>
                <a:cs typeface="Arial"/>
              </a:rPr>
              <a:t>חץ כחול: </a:t>
            </a:r>
            <a:r>
              <a:rPr lang="he-IL" sz="1600" b="0" i="0" dirty="0">
                <a:solidFill>
                  <a:srgbClr val="5F6F78"/>
                </a:solidFill>
                <a:latin typeface="Arial"/>
                <a:cs typeface="Arial"/>
              </a:rPr>
              <a:t>השאלה יוצאת מהתוכנית</a:t>
            </a:r>
          </a:p>
        </p:txBody>
      </p:sp>
      <p:sp>
        <p:nvSpPr>
          <p:cNvPr id="21" name="TextBox 20"/>
          <p:cNvSpPr txBox="1"/>
          <p:nvPr/>
        </p:nvSpPr>
        <p:spPr>
          <a:xfrm>
            <a:off x="4572000" y="4572000"/>
            <a:ext cx="6858000" cy="457200"/>
          </a:xfrm>
          <a:prstGeom prst="rect">
            <a:avLst/>
          </a:prstGeom>
          <a:noFill/>
        </p:spPr>
        <p:txBody>
          <a:bodyPr wrap="square" lIns="45720" rIns="45720" anchor="t">
            <a:spAutoFit/>
          </a:bodyPr>
          <a:lstStyle/>
          <a:p>
            <a:pPr algn="r" rtl="1"/>
            <a:r>
              <a:rPr lang="he-IL" sz="1600" b="1" i="0">
                <a:solidFill>
                  <a:srgbClr val="EF476F"/>
                </a:solidFill>
                <a:latin typeface="Arial"/>
                <a:cs typeface="Arial"/>
              </a:rPr>
              <a:t>חץ אדום: </a:t>
            </a:r>
            <a:r>
              <a:rPr lang="he-IL" sz="1600" b="0" i="0">
                <a:solidFill>
                  <a:srgbClr val="5F6F78"/>
                </a:solidFill>
                <a:latin typeface="Arial"/>
                <a:cs typeface="Arial"/>
              </a:rPr>
              <a:t>התשובה חוזרת לתוכנית</a:t>
            </a:r>
          </a:p>
        </p:txBody>
      </p:sp>
      <p:sp>
        <p:nvSpPr>
          <p:cNvPr id="22" name="Rounded Rectangle 21"/>
          <p:cNvSpPr/>
          <p:nvPr/>
        </p:nvSpPr>
        <p:spPr>
          <a:xfrm>
            <a:off x="548640" y="5257800"/>
            <a:ext cx="11091672" cy="777240"/>
          </a:xfrm>
          <a:prstGeom prst="roundRect">
            <a:avLst>
              <a:gd name="adj" fmla="val 2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en-US" sz="1900" b="1" i="0" dirty="0">
                <a:solidFill>
                  <a:srgbClr val="1B2B34"/>
                </a:solidFill>
                <a:latin typeface="Arial"/>
                <a:cs typeface="Arial"/>
              </a:rPr>
              <a:t>API</a:t>
            </a:r>
            <a:r>
              <a:rPr lang="he-IL" sz="1900" b="1" i="0" dirty="0">
                <a:solidFill>
                  <a:srgbClr val="1B2B34"/>
                </a:solidFill>
                <a:latin typeface="Arial"/>
                <a:cs typeface="Arial"/>
              </a:rPr>
              <a:t> </a:t>
            </a:r>
            <a:r>
              <a:rPr lang="he-IL" sz="1900" b="0" i="0" dirty="0">
                <a:solidFill>
                  <a:srgbClr val="1B2B34"/>
                </a:solidFill>
                <a:latin typeface="Arial"/>
                <a:cs typeface="Arial"/>
              </a:rPr>
              <a:t>= השפה (פרוטוקול) שבה תוכנית אחת מבקשת משהו מתוכנית אחרת</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14</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מפתח </a:t>
            </a:r>
            <a:r>
              <a:rPr lang="en-US" sz="3600" b="1" i="0" dirty="0">
                <a:solidFill>
                  <a:srgbClr val="1B4332"/>
                </a:solidFill>
                <a:latin typeface="Arial"/>
                <a:cs typeface="Arial"/>
              </a:rPr>
              <a:t>API</a:t>
            </a:r>
            <a:r>
              <a:rPr lang="he-IL" sz="3600" b="1" i="0" dirty="0">
                <a:solidFill>
                  <a:srgbClr val="1B4332"/>
                </a:solidFill>
                <a:latin typeface="Arial"/>
                <a:cs typeface="Arial"/>
              </a:rPr>
              <a:t> = הסיסמה מול גוגל</a:t>
            </a:r>
          </a:p>
        </p:txBody>
      </p:sp>
      <p:sp>
        <p:nvSpPr>
          <p:cNvPr id="4" name="Rounded Rectangle 3"/>
          <p:cNvSpPr/>
          <p:nvPr/>
        </p:nvSpPr>
        <p:spPr>
          <a:xfrm>
            <a:off x="5760720" y="1508760"/>
            <a:ext cx="5879592" cy="1188720"/>
          </a:xfrm>
          <a:prstGeom prst="roundRect">
            <a:avLst>
              <a:gd name="adj" fmla="val 10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rtl="0"/>
            <a:r>
              <a:rPr lang="en-US" sz="2000" b="0" i="0">
                <a:solidFill>
                  <a:srgbClr val="E6E6E6"/>
                </a:solidFill>
                <a:latin typeface="Consolas"/>
                <a:cs typeface="Consolas"/>
              </a:rPr>
              <a:t>API_KEY = </a:t>
            </a:r>
            <a:r>
              <a:rPr lang="en-US" sz="2000" b="0" i="0">
                <a:solidFill>
                  <a:srgbClr val="A6E22E"/>
                </a:solidFill>
                <a:latin typeface="Consolas"/>
                <a:cs typeface="Consolas"/>
              </a:rPr>
              <a:t>"AQ.Ab8R••••••••••••"</a:t>
            </a:r>
          </a:p>
        </p:txBody>
      </p:sp>
      <p:sp>
        <p:nvSpPr>
          <p:cNvPr id="5" name="Oval 4"/>
          <p:cNvSpPr/>
          <p:nvPr/>
        </p:nvSpPr>
        <p:spPr>
          <a:xfrm>
            <a:off x="3337560" y="91440"/>
            <a:ext cx="1371600" cy="1371600"/>
          </a:xfrm>
          <a:prstGeom prst="ellipse">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4000" b="1" i="0" dirty="0">
                <a:solidFill>
                  <a:srgbClr val="FFFFFF"/>
                </a:solidFill>
                <a:latin typeface="Arial"/>
                <a:cs typeface="Arial"/>
              </a:rPr>
              <a:t>🔑</a:t>
            </a:r>
          </a:p>
        </p:txBody>
      </p:sp>
      <p:sp>
        <p:nvSpPr>
          <p:cNvPr id="6" name="TextBox 5"/>
          <p:cNvSpPr txBox="1"/>
          <p:nvPr/>
        </p:nvSpPr>
        <p:spPr>
          <a:xfrm>
            <a:off x="6232124" y="5394210"/>
            <a:ext cx="4649236" cy="353943"/>
          </a:xfrm>
          <a:prstGeom prst="rect">
            <a:avLst/>
          </a:prstGeom>
          <a:noFill/>
        </p:spPr>
        <p:txBody>
          <a:bodyPr wrap="square" lIns="45720" rIns="45720" anchor="ctr">
            <a:spAutoFit/>
          </a:bodyPr>
          <a:lstStyle/>
          <a:p>
            <a:pPr algn="r" rtl="1"/>
            <a:r>
              <a:rPr lang="en-US" sz="1700" b="0" i="0" dirty="0">
                <a:solidFill>
                  <a:srgbClr val="5F6F78"/>
                </a:solidFill>
                <a:latin typeface="Arial"/>
                <a:cs typeface="Arial"/>
              </a:rPr>
              <a:t>Google</a:t>
            </a:r>
            <a:r>
              <a:rPr lang="he-IL" sz="1700" b="0" i="0" dirty="0">
                <a:solidFill>
                  <a:srgbClr val="5F6F78"/>
                </a:solidFill>
                <a:latin typeface="Arial"/>
                <a:cs typeface="Arial"/>
              </a:rPr>
              <a:t> יודעת מי שואל - וסופרת כמה שאלות שלחנו</a:t>
            </a:r>
          </a:p>
        </p:txBody>
      </p:sp>
      <p:sp>
        <p:nvSpPr>
          <p:cNvPr id="7" name="Oval 6"/>
          <p:cNvSpPr/>
          <p:nvPr/>
        </p:nvSpPr>
        <p:spPr>
          <a:xfrm>
            <a:off x="11064240" y="3017520"/>
            <a:ext cx="548640" cy="54864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8" name="TextBox 7"/>
          <p:cNvSpPr txBox="1"/>
          <p:nvPr/>
        </p:nvSpPr>
        <p:spPr>
          <a:xfrm>
            <a:off x="5760720" y="3017520"/>
            <a:ext cx="5120640" cy="548640"/>
          </a:xfrm>
          <a:prstGeom prst="rect">
            <a:avLst/>
          </a:prstGeom>
          <a:noFill/>
        </p:spPr>
        <p:txBody>
          <a:bodyPr wrap="square" lIns="45720" rIns="45720" anchor="ctr">
            <a:spAutoFit/>
          </a:bodyPr>
          <a:lstStyle/>
          <a:p>
            <a:pPr algn="r" rtl="1"/>
            <a:r>
              <a:rPr lang="he-IL" sz="1800" b="0" i="0">
                <a:solidFill>
                  <a:srgbClr val="1B2B34"/>
                </a:solidFill>
                <a:latin typeface="Arial"/>
                <a:cs typeface="Arial"/>
              </a:rPr>
              <a:t>שומרים בסוד - רק בתוך הקוד שלכם</a:t>
            </a:r>
          </a:p>
        </p:txBody>
      </p:sp>
      <p:sp>
        <p:nvSpPr>
          <p:cNvPr id="9" name="Oval 8"/>
          <p:cNvSpPr/>
          <p:nvPr/>
        </p:nvSpPr>
        <p:spPr>
          <a:xfrm>
            <a:off x="11064240" y="3749039"/>
            <a:ext cx="548640" cy="5486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10" name="TextBox 9"/>
          <p:cNvSpPr txBox="1"/>
          <p:nvPr/>
        </p:nvSpPr>
        <p:spPr>
          <a:xfrm>
            <a:off x="5760720" y="3749039"/>
            <a:ext cx="5120640" cy="548640"/>
          </a:xfrm>
          <a:prstGeom prst="rect">
            <a:avLst/>
          </a:prstGeom>
          <a:noFill/>
        </p:spPr>
        <p:txBody>
          <a:bodyPr wrap="square" lIns="45720" rIns="45720" anchor="ctr">
            <a:spAutoFit/>
          </a:bodyPr>
          <a:lstStyle/>
          <a:p>
            <a:pPr algn="r" rtl="1"/>
            <a:r>
              <a:rPr lang="he-IL" sz="1800" b="0" i="0">
                <a:solidFill>
                  <a:srgbClr val="1B2B34"/>
                </a:solidFill>
                <a:latin typeface="Arial"/>
                <a:cs typeface="Arial"/>
              </a:rPr>
              <a:t>לא מעלים ל-</a:t>
            </a:r>
            <a:r>
              <a:rPr lang="en-US" sz="1800" b="0" i="0">
                <a:solidFill>
                  <a:srgbClr val="1B2B34"/>
                </a:solidFill>
                <a:latin typeface="Arial"/>
                <a:cs typeface="Arial"/>
              </a:rPr>
              <a:t>GitHub</a:t>
            </a:r>
            <a:r>
              <a:rPr lang="he-IL" sz="1800" b="0" i="0">
                <a:solidFill>
                  <a:srgbClr val="1B2B34"/>
                </a:solidFill>
                <a:latin typeface="Arial"/>
                <a:cs typeface="Arial"/>
              </a:rPr>
              <a:t> ולא שולחים בקבוצת וואטסאפ</a:t>
            </a:r>
          </a:p>
        </p:txBody>
      </p:sp>
      <p:sp>
        <p:nvSpPr>
          <p:cNvPr id="11" name="Oval 10"/>
          <p:cNvSpPr/>
          <p:nvPr/>
        </p:nvSpPr>
        <p:spPr>
          <a:xfrm>
            <a:off x="11064240" y="4480560"/>
            <a:ext cx="548640" cy="5486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12" name="TextBox 11"/>
          <p:cNvSpPr txBox="1"/>
          <p:nvPr/>
        </p:nvSpPr>
        <p:spPr>
          <a:xfrm>
            <a:off x="5760720" y="4480560"/>
            <a:ext cx="5120640" cy="548640"/>
          </a:xfrm>
          <a:prstGeom prst="rect">
            <a:avLst/>
          </a:prstGeom>
          <a:noFill/>
        </p:spPr>
        <p:txBody>
          <a:bodyPr wrap="square" lIns="45720" rIns="45720" anchor="ctr">
            <a:spAutoFit/>
          </a:bodyPr>
          <a:lstStyle/>
          <a:p>
            <a:pPr algn="r" rtl="1"/>
            <a:r>
              <a:rPr lang="he-IL" sz="1800" b="0" i="0">
                <a:solidFill>
                  <a:srgbClr val="1B2B34"/>
                </a:solidFill>
                <a:latin typeface="Arial"/>
                <a:cs typeface="Arial"/>
              </a:rPr>
              <a:t>לא מצלמים את המסך כשהמפתח מופיע</a:t>
            </a:r>
          </a:p>
        </p:txBody>
      </p:sp>
      <p:sp>
        <p:nvSpPr>
          <p:cNvPr id="15" name="TextBox 14"/>
          <p:cNvSpPr txBox="1"/>
          <p:nvPr/>
        </p:nvSpPr>
        <p:spPr>
          <a:xfrm>
            <a:off x="4935984" y="5884563"/>
            <a:ext cx="5945376" cy="400110"/>
          </a:xfrm>
          <a:prstGeom prst="rect">
            <a:avLst/>
          </a:prstGeom>
          <a:noFill/>
        </p:spPr>
        <p:txBody>
          <a:bodyPr wrap="square" lIns="45720" rIns="45720" anchor="t">
            <a:spAutoFit/>
          </a:bodyPr>
          <a:lstStyle/>
          <a:p>
            <a:pPr algn="r" rtl="1"/>
            <a:r>
              <a:rPr lang="he-IL" sz="2000" b="1" i="0" dirty="0">
                <a:solidFill>
                  <a:srgbClr val="FF9F1C"/>
                </a:solidFill>
                <a:latin typeface="Arial"/>
                <a:cs typeface="Arial"/>
              </a:rPr>
              <a:t>בתיקייה: קובץ </a:t>
            </a:r>
            <a:r>
              <a:rPr lang="en-US" sz="2000" b="1" i="0" dirty="0">
                <a:solidFill>
                  <a:srgbClr val="FF9F1C"/>
                </a:solidFill>
                <a:latin typeface="Arial"/>
                <a:cs typeface="Arial"/>
              </a:rPr>
              <a:t>Word</a:t>
            </a:r>
            <a:r>
              <a:rPr lang="he-IL" sz="2000" b="1" i="0" dirty="0">
                <a:solidFill>
                  <a:srgbClr val="FF9F1C"/>
                </a:solidFill>
                <a:latin typeface="Arial"/>
                <a:cs typeface="Arial"/>
              </a:rPr>
              <a:t> בשם "מדריך יצירת מפתח </a:t>
            </a:r>
            <a:r>
              <a:rPr lang="en-US" sz="2000" b="1" i="0" dirty="0">
                <a:solidFill>
                  <a:srgbClr val="FF9F1C"/>
                </a:solidFill>
                <a:latin typeface="Arial"/>
                <a:cs typeface="Arial"/>
              </a:rPr>
              <a:t>API</a:t>
            </a:r>
            <a:r>
              <a:rPr lang="he-IL" sz="2000" b="1" i="0" dirty="0">
                <a:solidFill>
                  <a:srgbClr val="FF9F1C"/>
                </a:solidFill>
                <a:latin typeface="Arial"/>
                <a:cs typeface="Aria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15</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התקנה: </a:t>
            </a:r>
            <a:r>
              <a:rPr lang="en-US" sz="3600" b="1" i="0">
                <a:solidFill>
                  <a:srgbClr val="1B4332"/>
                </a:solidFill>
                <a:latin typeface="Arial"/>
                <a:cs typeface="Arial"/>
              </a:rPr>
              <a:t>pip install google-genai</a:t>
            </a:r>
          </a:p>
        </p:txBody>
      </p:sp>
      <p:sp>
        <p:nvSpPr>
          <p:cNvPr id="4" name="Rounded Rectangle 3"/>
          <p:cNvSpPr/>
          <p:nvPr/>
        </p:nvSpPr>
        <p:spPr>
          <a:xfrm>
            <a:off x="548640" y="1463040"/>
            <a:ext cx="6949440" cy="292608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00200"/>
            <a:ext cx="6492240" cy="365760"/>
          </a:xfrm>
          <a:prstGeom prst="rect">
            <a:avLst/>
          </a:prstGeom>
          <a:noFill/>
        </p:spPr>
        <p:txBody>
          <a:bodyPr wrap="square" lIns="45720" rIns="45720" anchor="t">
            <a:spAutoFit/>
          </a:bodyPr>
          <a:lstStyle/>
          <a:p>
            <a:pPr algn="l" rtl="0"/>
            <a:r>
              <a:rPr lang="en-US" sz="1300" b="0" i="0">
                <a:solidFill>
                  <a:srgbClr val="8A93A6"/>
                </a:solidFill>
                <a:latin typeface="Arial"/>
                <a:cs typeface="Arial"/>
              </a:rPr>
              <a:t>Terminal</a:t>
            </a:r>
          </a:p>
        </p:txBody>
      </p:sp>
      <p:sp>
        <p:nvSpPr>
          <p:cNvPr id="6" name="TextBox 5"/>
          <p:cNvSpPr txBox="1"/>
          <p:nvPr/>
        </p:nvSpPr>
        <p:spPr>
          <a:xfrm>
            <a:off x="777240" y="2011680"/>
            <a:ext cx="6492240" cy="1354217"/>
          </a:xfrm>
          <a:prstGeom prst="rect">
            <a:avLst/>
          </a:prstGeom>
          <a:noFill/>
        </p:spPr>
        <p:txBody>
          <a:bodyPr wrap="square" lIns="45720" rIns="45720" anchor="t">
            <a:spAutoFit/>
          </a:bodyPr>
          <a:lstStyle/>
          <a:p>
            <a:pPr algn="l" rtl="0">
              <a:spcAft>
                <a:spcPts val="600"/>
              </a:spcAft>
            </a:pPr>
            <a:r>
              <a:rPr lang="en-US" sz="2400" b="0" i="0" dirty="0">
                <a:solidFill>
                  <a:srgbClr val="2D9F5C"/>
                </a:solidFill>
                <a:latin typeface="Consolas"/>
                <a:cs typeface="Consolas"/>
              </a:rPr>
              <a:t>&gt; </a:t>
            </a:r>
            <a:r>
              <a:rPr lang="en-US" sz="2400" b="0" i="0" dirty="0">
                <a:solidFill>
                  <a:srgbClr val="FFFFFF"/>
                </a:solidFill>
                <a:latin typeface="Consolas"/>
                <a:cs typeface="Consolas"/>
              </a:rPr>
              <a:t>pip install google-</a:t>
            </a:r>
            <a:r>
              <a:rPr lang="en-US" sz="2400" b="0" i="0" dirty="0" err="1">
                <a:solidFill>
                  <a:srgbClr val="FFFFFF"/>
                </a:solidFill>
                <a:latin typeface="Consolas"/>
                <a:cs typeface="Consolas"/>
              </a:rPr>
              <a:t>genai</a:t>
            </a:r>
            <a:endParaRPr lang="en-US" sz="2400" b="0" i="0" dirty="0">
              <a:solidFill>
                <a:srgbClr val="FFFFFF"/>
              </a:solidFill>
              <a:latin typeface="Consolas"/>
              <a:cs typeface="Consolas"/>
            </a:endParaRPr>
          </a:p>
          <a:p>
            <a:pPr algn="l" rtl="0">
              <a:spcAft>
                <a:spcPts val="600"/>
              </a:spcAft>
            </a:pPr>
            <a:r>
              <a:rPr lang="en-US" sz="2400" b="0" i="0" dirty="0">
                <a:solidFill>
                  <a:srgbClr val="8A93A6"/>
                </a:solidFill>
                <a:latin typeface="Consolas"/>
                <a:cs typeface="Consolas"/>
              </a:rPr>
              <a:t>Collecting google-</a:t>
            </a:r>
            <a:r>
              <a:rPr lang="en-US" sz="2400" b="0" i="0" dirty="0" err="1">
                <a:solidFill>
                  <a:srgbClr val="8A93A6"/>
                </a:solidFill>
                <a:latin typeface="Consolas"/>
                <a:cs typeface="Consolas"/>
              </a:rPr>
              <a:t>genai</a:t>
            </a:r>
            <a:r>
              <a:rPr lang="en-US" sz="2400" b="0" i="0" dirty="0">
                <a:solidFill>
                  <a:srgbClr val="8A93A6"/>
                </a:solidFill>
                <a:latin typeface="Consolas"/>
                <a:cs typeface="Consolas"/>
              </a:rPr>
              <a:t> ...</a:t>
            </a:r>
          </a:p>
          <a:p>
            <a:pPr algn="l" rtl="0">
              <a:spcAft>
                <a:spcPts val="600"/>
              </a:spcAft>
            </a:pPr>
            <a:r>
              <a:rPr lang="en-US" sz="2400" b="0" i="0" dirty="0">
                <a:solidFill>
                  <a:srgbClr val="A6E22E"/>
                </a:solidFill>
                <a:latin typeface="Consolas"/>
                <a:cs typeface="Consolas"/>
              </a:rPr>
              <a:t>Successfully installed google-</a:t>
            </a:r>
            <a:r>
              <a:rPr lang="en-US" sz="2400" b="0" i="0" dirty="0" err="1">
                <a:solidFill>
                  <a:srgbClr val="A6E22E"/>
                </a:solidFill>
                <a:latin typeface="Consolas"/>
                <a:cs typeface="Consolas"/>
              </a:rPr>
              <a:t>genai</a:t>
            </a:r>
            <a:endParaRPr lang="en-US" sz="2400" b="0" i="0" dirty="0">
              <a:solidFill>
                <a:srgbClr val="A6E22E"/>
              </a:solidFill>
              <a:latin typeface="Consolas"/>
              <a:cs typeface="Consolas"/>
            </a:endParaRPr>
          </a:p>
        </p:txBody>
      </p:sp>
      <p:sp>
        <p:nvSpPr>
          <p:cNvPr id="7" name="Oval 6"/>
          <p:cNvSpPr/>
          <p:nvPr/>
        </p:nvSpPr>
        <p:spPr>
          <a:xfrm>
            <a:off x="11018520" y="1508760"/>
            <a:ext cx="594360" cy="59436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1</a:t>
            </a:r>
          </a:p>
        </p:txBody>
      </p:sp>
      <p:sp>
        <p:nvSpPr>
          <p:cNvPr id="8" name="TextBox 7"/>
          <p:cNvSpPr txBox="1"/>
          <p:nvPr/>
        </p:nvSpPr>
        <p:spPr>
          <a:xfrm>
            <a:off x="7863840" y="1463040"/>
            <a:ext cx="3017520" cy="411480"/>
          </a:xfrm>
          <a:prstGeom prst="rect">
            <a:avLst/>
          </a:prstGeom>
          <a:noFill/>
        </p:spPr>
        <p:txBody>
          <a:bodyPr wrap="square" lIns="45720" rIns="45720" anchor="t">
            <a:spAutoFit/>
          </a:bodyPr>
          <a:lstStyle/>
          <a:p>
            <a:pPr algn="r" rtl="1"/>
            <a:r>
              <a:rPr lang="he-IL" sz="1900" b="1" i="0">
                <a:solidFill>
                  <a:srgbClr val="1B2B34"/>
                </a:solidFill>
                <a:latin typeface="Arial"/>
                <a:cs typeface="Arial"/>
              </a:rPr>
              <a:t>פותחים טרמינל</a:t>
            </a:r>
          </a:p>
        </p:txBody>
      </p:sp>
      <p:sp>
        <p:nvSpPr>
          <p:cNvPr id="9" name="TextBox 8"/>
          <p:cNvSpPr txBox="1"/>
          <p:nvPr/>
        </p:nvSpPr>
        <p:spPr>
          <a:xfrm>
            <a:off x="7863840" y="1874520"/>
            <a:ext cx="3017520" cy="502920"/>
          </a:xfrm>
          <a:prstGeom prst="rect">
            <a:avLst/>
          </a:prstGeom>
          <a:noFill/>
        </p:spPr>
        <p:txBody>
          <a:bodyPr wrap="square" lIns="45720" rIns="45720" anchor="t">
            <a:spAutoFit/>
          </a:bodyPr>
          <a:lstStyle/>
          <a:p>
            <a:pPr algn="r" rtl="1"/>
            <a:r>
              <a:rPr lang="he-IL" sz="1400" b="0" i="0">
                <a:solidFill>
                  <a:srgbClr val="5F6F78"/>
                </a:solidFill>
                <a:latin typeface="Arial"/>
                <a:cs typeface="Arial"/>
              </a:rPr>
              <a:t>ב-</a:t>
            </a:r>
            <a:r>
              <a:rPr lang="en-US" sz="1400" b="0" i="0">
                <a:solidFill>
                  <a:srgbClr val="5F6F78"/>
                </a:solidFill>
                <a:latin typeface="Arial"/>
                <a:cs typeface="Arial"/>
              </a:rPr>
              <a:t>VS Code</a:t>
            </a:r>
            <a:r>
              <a:rPr lang="he-IL" sz="1400" b="0" i="0">
                <a:solidFill>
                  <a:srgbClr val="5F6F78"/>
                </a:solidFill>
                <a:latin typeface="Arial"/>
                <a:cs typeface="Arial"/>
              </a:rPr>
              <a:t>: תפריט </a:t>
            </a:r>
            <a:r>
              <a:rPr lang="en-US" sz="1400" b="0" i="0">
                <a:solidFill>
                  <a:srgbClr val="5F6F78"/>
                </a:solidFill>
                <a:latin typeface="Arial"/>
                <a:cs typeface="Arial"/>
              </a:rPr>
              <a:t>Terminal</a:t>
            </a:r>
            <a:r>
              <a:rPr lang="he-IL" sz="1400" b="0" i="0">
                <a:solidFill>
                  <a:srgbClr val="5F6F78"/>
                </a:solidFill>
                <a:latin typeface="Arial"/>
                <a:cs typeface="Arial"/>
              </a:rPr>
              <a:t>, ואז </a:t>
            </a:r>
            <a:r>
              <a:rPr lang="en-US" sz="1400" b="0" i="0">
                <a:solidFill>
                  <a:srgbClr val="5F6F78"/>
                </a:solidFill>
                <a:latin typeface="Arial"/>
                <a:cs typeface="Arial"/>
              </a:rPr>
              <a:t>New Terminal</a:t>
            </a:r>
          </a:p>
        </p:txBody>
      </p:sp>
      <p:sp>
        <p:nvSpPr>
          <p:cNvPr id="10" name="Oval 9"/>
          <p:cNvSpPr/>
          <p:nvPr/>
        </p:nvSpPr>
        <p:spPr>
          <a:xfrm>
            <a:off x="11018520" y="2514600"/>
            <a:ext cx="594360" cy="5943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2</a:t>
            </a:r>
          </a:p>
        </p:txBody>
      </p:sp>
      <p:sp>
        <p:nvSpPr>
          <p:cNvPr id="11" name="TextBox 10"/>
          <p:cNvSpPr txBox="1"/>
          <p:nvPr/>
        </p:nvSpPr>
        <p:spPr>
          <a:xfrm>
            <a:off x="7863840" y="2468880"/>
            <a:ext cx="3017520" cy="411480"/>
          </a:xfrm>
          <a:prstGeom prst="rect">
            <a:avLst/>
          </a:prstGeom>
          <a:noFill/>
        </p:spPr>
        <p:txBody>
          <a:bodyPr wrap="square" lIns="45720" rIns="45720" anchor="t">
            <a:spAutoFit/>
          </a:bodyPr>
          <a:lstStyle/>
          <a:p>
            <a:pPr algn="r" rtl="1"/>
            <a:r>
              <a:rPr lang="he-IL" sz="1900" b="1" i="0">
                <a:solidFill>
                  <a:srgbClr val="1B2B34"/>
                </a:solidFill>
                <a:latin typeface="Arial"/>
                <a:cs typeface="Arial"/>
              </a:rPr>
              <a:t>מקלידים את הפקודה</a:t>
            </a:r>
          </a:p>
        </p:txBody>
      </p:sp>
      <p:sp>
        <p:nvSpPr>
          <p:cNvPr id="12" name="TextBox 11"/>
          <p:cNvSpPr txBox="1"/>
          <p:nvPr/>
        </p:nvSpPr>
        <p:spPr>
          <a:xfrm>
            <a:off x="7863840" y="2880360"/>
            <a:ext cx="3017520" cy="502920"/>
          </a:xfrm>
          <a:prstGeom prst="rect">
            <a:avLst/>
          </a:prstGeom>
          <a:noFill/>
        </p:spPr>
        <p:txBody>
          <a:bodyPr wrap="square" lIns="45720" rIns="45720" anchor="t">
            <a:spAutoFit/>
          </a:bodyPr>
          <a:lstStyle/>
          <a:p>
            <a:pPr algn="r" rtl="1"/>
            <a:r>
              <a:rPr lang="en-US" sz="1400" b="0" i="0">
                <a:solidFill>
                  <a:srgbClr val="5F6F78"/>
                </a:solidFill>
                <a:latin typeface="Arial"/>
                <a:cs typeface="Arial"/>
              </a:rPr>
              <a:t>pip</a:t>
            </a:r>
            <a:r>
              <a:rPr lang="he-IL" sz="1400" b="0" i="0">
                <a:solidFill>
                  <a:srgbClr val="5F6F78"/>
                </a:solidFill>
                <a:latin typeface="Arial"/>
                <a:cs typeface="Arial"/>
              </a:rPr>
              <a:t> מוריד ומתקין ספריות של פייתון</a:t>
            </a:r>
          </a:p>
        </p:txBody>
      </p:sp>
      <p:sp>
        <p:nvSpPr>
          <p:cNvPr id="13" name="Oval 12"/>
          <p:cNvSpPr/>
          <p:nvPr/>
        </p:nvSpPr>
        <p:spPr>
          <a:xfrm>
            <a:off x="11018520" y="3520440"/>
            <a:ext cx="594360" cy="59436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3</a:t>
            </a:r>
          </a:p>
        </p:txBody>
      </p:sp>
      <p:sp>
        <p:nvSpPr>
          <p:cNvPr id="14" name="TextBox 13"/>
          <p:cNvSpPr txBox="1"/>
          <p:nvPr/>
        </p:nvSpPr>
        <p:spPr>
          <a:xfrm>
            <a:off x="7863840" y="3474720"/>
            <a:ext cx="3017520" cy="411480"/>
          </a:xfrm>
          <a:prstGeom prst="rect">
            <a:avLst/>
          </a:prstGeom>
          <a:noFill/>
        </p:spPr>
        <p:txBody>
          <a:bodyPr wrap="square" lIns="45720" rIns="45720" anchor="t">
            <a:spAutoFit/>
          </a:bodyPr>
          <a:lstStyle/>
          <a:p>
            <a:pPr algn="r" rtl="1"/>
            <a:r>
              <a:rPr lang="he-IL" sz="1900" b="1" i="0">
                <a:solidFill>
                  <a:srgbClr val="1B2B34"/>
                </a:solidFill>
                <a:latin typeface="Arial"/>
                <a:cs typeface="Arial"/>
              </a:rPr>
              <a:t>בודקים שעובד</a:t>
            </a:r>
          </a:p>
        </p:txBody>
      </p:sp>
      <p:sp>
        <p:nvSpPr>
          <p:cNvPr id="15" name="TextBox 14"/>
          <p:cNvSpPr txBox="1"/>
          <p:nvPr/>
        </p:nvSpPr>
        <p:spPr>
          <a:xfrm>
            <a:off x="7863840" y="3886200"/>
            <a:ext cx="3017520" cy="502920"/>
          </a:xfrm>
          <a:prstGeom prst="rect">
            <a:avLst/>
          </a:prstGeom>
          <a:noFill/>
        </p:spPr>
        <p:txBody>
          <a:bodyPr wrap="square" lIns="45720" rIns="45720" anchor="t">
            <a:spAutoFit/>
          </a:bodyPr>
          <a:lstStyle/>
          <a:p>
            <a:pPr algn="r" rtl="1"/>
            <a:r>
              <a:rPr lang="he-IL" sz="1400" b="0" i="0">
                <a:solidFill>
                  <a:srgbClr val="5F6F78"/>
                </a:solidFill>
                <a:latin typeface="Arial"/>
                <a:cs typeface="Arial"/>
              </a:rPr>
              <a:t>מריצים את התוכנית הראשונה - אין שגיאה? מוכן!</a:t>
            </a:r>
          </a:p>
        </p:txBody>
      </p:sp>
      <p:sp>
        <p:nvSpPr>
          <p:cNvPr id="16" name="Rounded Rectangle 15"/>
          <p:cNvSpPr/>
          <p:nvPr/>
        </p:nvSpPr>
        <p:spPr>
          <a:xfrm>
            <a:off x="548640" y="4800600"/>
            <a:ext cx="11091672" cy="868680"/>
          </a:xfrm>
          <a:prstGeom prst="roundRect">
            <a:avLst>
              <a:gd name="adj" fmla="val 2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700" b="1" i="0">
                <a:solidFill>
                  <a:srgbClr val="1B2B34"/>
                </a:solidFill>
                <a:latin typeface="Arial"/>
                <a:cs typeface="Arial"/>
              </a:rPr>
              <a:t>ספרייה </a:t>
            </a:r>
            <a:r>
              <a:rPr lang="he-IL" sz="1700" b="0" i="0">
                <a:solidFill>
                  <a:srgbClr val="1B2B34"/>
                </a:solidFill>
                <a:latin typeface="Arial"/>
                <a:cs typeface="Arial"/>
              </a:rPr>
              <a:t>= קוד שמישהו אחר כתב ואנחנו משתמשים בו. כמו </a:t>
            </a:r>
            <a:r>
              <a:rPr lang="en-US" sz="1700" b="0" i="0">
                <a:solidFill>
                  <a:srgbClr val="1B2B34"/>
                </a:solidFill>
                <a:latin typeface="Arial"/>
                <a:cs typeface="Arial"/>
              </a:rPr>
              <a:t>turtle</a:t>
            </a:r>
            <a:r>
              <a:rPr lang="he-IL" sz="1700" b="0" i="0">
                <a:solidFill>
                  <a:srgbClr val="1B2B34"/>
                </a:solidFill>
                <a:latin typeface="Arial"/>
                <a:cs typeface="Arial"/>
              </a:rPr>
              <a:t> - אבל צריך להתקין אותה פעם אחת.</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16</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התוכנית הראשונה שלנו מול גוגל</a:t>
            </a:r>
          </a:p>
        </p:txBody>
      </p:sp>
      <p:sp>
        <p:nvSpPr>
          <p:cNvPr id="4" name="Rounded Rectangle 3"/>
          <p:cNvSpPr/>
          <p:nvPr/>
        </p:nvSpPr>
        <p:spPr>
          <a:xfrm>
            <a:off x="548640" y="1417320"/>
            <a:ext cx="7223760" cy="338328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497278"/>
            <a:ext cx="6766560" cy="3170099"/>
          </a:xfrm>
          <a:prstGeom prst="rect">
            <a:avLst/>
          </a:prstGeom>
          <a:noFill/>
        </p:spPr>
        <p:txBody>
          <a:bodyPr wrap="square" lIns="45720" rIns="45720" anchor="ctr">
            <a:spAutoFit/>
          </a:bodyPr>
          <a:lstStyle/>
          <a:p>
            <a:pPr algn="l" rtl="0"/>
            <a:r>
              <a:rPr lang="en-US" sz="2000" b="0" i="0" dirty="0">
                <a:solidFill>
                  <a:srgbClr val="FF9F1C"/>
                </a:solidFill>
                <a:latin typeface="Consolas"/>
                <a:cs typeface="Consolas"/>
              </a:rPr>
              <a:t>from</a:t>
            </a:r>
            <a:r>
              <a:rPr lang="en-US" sz="2000" b="0" i="0" dirty="0">
                <a:solidFill>
                  <a:srgbClr val="E6E6E6"/>
                </a:solidFill>
                <a:latin typeface="Consolas"/>
                <a:cs typeface="Consolas"/>
              </a:rPr>
              <a:t> google </a:t>
            </a:r>
            <a:r>
              <a:rPr lang="en-US" sz="2000" b="0" i="0" dirty="0">
                <a:solidFill>
                  <a:srgbClr val="FF9F1C"/>
                </a:solidFill>
                <a:latin typeface="Consolas"/>
                <a:cs typeface="Consolas"/>
              </a:rPr>
              <a:t>import</a:t>
            </a:r>
            <a:r>
              <a:rPr lang="en-US" sz="2000" b="0" i="0" dirty="0">
                <a:solidFill>
                  <a:srgbClr val="E6E6E6"/>
                </a:solidFill>
                <a:latin typeface="Consolas"/>
                <a:cs typeface="Consolas"/>
              </a:rPr>
              <a:t> </a:t>
            </a:r>
            <a:r>
              <a:rPr lang="en-US" sz="2000" b="0" i="0" dirty="0" err="1">
                <a:solidFill>
                  <a:srgbClr val="E6E6E6"/>
                </a:solidFill>
                <a:latin typeface="Consolas"/>
                <a:cs typeface="Consolas"/>
              </a:rPr>
              <a:t>genai</a:t>
            </a:r>
            <a:endParaRPr lang="en-US" sz="2000" b="0" i="0" dirty="0">
              <a:solidFill>
                <a:srgbClr val="E6E6E6"/>
              </a:solidFill>
              <a:latin typeface="Consolas"/>
              <a:cs typeface="Consolas"/>
            </a:endParaRPr>
          </a:p>
          <a:p>
            <a:pPr algn="l" rtl="0"/>
            <a:r>
              <a:rPr lang="en-US" sz="2000" b="0" i="0" dirty="0">
                <a:solidFill>
                  <a:srgbClr val="E6E6E6"/>
                </a:solidFill>
                <a:latin typeface="Consolas"/>
                <a:cs typeface="Consolas"/>
              </a:rPr>
              <a:t> </a:t>
            </a:r>
          </a:p>
          <a:p>
            <a:pPr algn="l" rtl="0"/>
            <a:r>
              <a:rPr lang="en-US" sz="2000" b="0" i="0" dirty="0">
                <a:solidFill>
                  <a:srgbClr val="E6E6E6"/>
                </a:solidFill>
                <a:latin typeface="Consolas"/>
                <a:cs typeface="Consolas"/>
              </a:rPr>
              <a:t>client = </a:t>
            </a:r>
            <a:r>
              <a:rPr lang="en-US" sz="2000" b="0" i="0" dirty="0" err="1">
                <a:solidFill>
                  <a:srgbClr val="E6E6E6"/>
                </a:solidFill>
                <a:latin typeface="Consolas"/>
                <a:cs typeface="Consolas"/>
              </a:rPr>
              <a:t>genai.Client</a:t>
            </a:r>
            <a:r>
              <a:rPr lang="en-US" sz="2000" b="0" i="0" dirty="0">
                <a:solidFill>
                  <a:srgbClr val="E6E6E6"/>
                </a:solidFill>
                <a:latin typeface="Consolas"/>
                <a:cs typeface="Consolas"/>
              </a:rPr>
              <a:t>(</a:t>
            </a:r>
            <a:r>
              <a:rPr lang="en-US" sz="2000" b="0" i="0" dirty="0" err="1">
                <a:solidFill>
                  <a:srgbClr val="E6E6E6"/>
                </a:solidFill>
                <a:latin typeface="Consolas"/>
                <a:cs typeface="Consolas"/>
              </a:rPr>
              <a:t>api_key</a:t>
            </a:r>
            <a:r>
              <a:rPr lang="en-US" sz="2000" b="0" i="0" dirty="0">
                <a:solidFill>
                  <a:srgbClr val="E6E6E6"/>
                </a:solidFill>
                <a:latin typeface="Consolas"/>
                <a:cs typeface="Consolas"/>
              </a:rPr>
              <a:t>=</a:t>
            </a:r>
            <a:r>
              <a:rPr lang="en-US" sz="2000" b="0" i="0" dirty="0">
                <a:solidFill>
                  <a:srgbClr val="A6E22E"/>
                </a:solidFill>
                <a:latin typeface="Consolas"/>
                <a:cs typeface="Consolas"/>
              </a:rPr>
              <a:t>"AQ.Ab8R..."</a:t>
            </a:r>
            <a:r>
              <a:rPr lang="en-US" sz="2000" b="0" i="0" dirty="0">
                <a:solidFill>
                  <a:srgbClr val="E6E6E6"/>
                </a:solidFill>
                <a:latin typeface="Consolas"/>
                <a:cs typeface="Consolas"/>
              </a:rPr>
              <a:t>)</a:t>
            </a:r>
          </a:p>
          <a:p>
            <a:pPr algn="l" rtl="0"/>
            <a:r>
              <a:rPr lang="en-US" sz="2000" b="0" i="0" dirty="0">
                <a:solidFill>
                  <a:srgbClr val="E6E6E6"/>
                </a:solidFill>
                <a:latin typeface="Consolas"/>
                <a:cs typeface="Consolas"/>
              </a:rPr>
              <a:t> </a:t>
            </a:r>
          </a:p>
          <a:p>
            <a:pPr algn="l" rtl="0"/>
            <a:r>
              <a:rPr lang="en-US" sz="2000" b="0" i="0" dirty="0">
                <a:solidFill>
                  <a:srgbClr val="E6E6E6"/>
                </a:solidFill>
                <a:latin typeface="Consolas"/>
                <a:cs typeface="Consolas"/>
              </a:rPr>
              <a:t>response = </a:t>
            </a:r>
            <a:r>
              <a:rPr lang="en-US" sz="2000" b="0" i="0" dirty="0" err="1">
                <a:solidFill>
                  <a:srgbClr val="E6E6E6"/>
                </a:solidFill>
                <a:latin typeface="Consolas"/>
                <a:cs typeface="Consolas"/>
              </a:rPr>
              <a:t>client.models.generate_content</a:t>
            </a:r>
            <a:r>
              <a:rPr lang="en-US" sz="2000" b="0" i="0" dirty="0">
                <a:solidFill>
                  <a:srgbClr val="E6E6E6"/>
                </a:solidFill>
                <a:latin typeface="Consolas"/>
                <a:cs typeface="Consolas"/>
              </a:rPr>
              <a:t>(</a:t>
            </a:r>
          </a:p>
          <a:p>
            <a:pPr algn="l" rtl="0"/>
            <a:r>
              <a:rPr lang="en-US" sz="2000" b="0" i="0" dirty="0">
                <a:solidFill>
                  <a:srgbClr val="E6E6E6"/>
                </a:solidFill>
                <a:latin typeface="Consolas"/>
                <a:cs typeface="Consolas"/>
              </a:rPr>
              <a:t>    model=</a:t>
            </a:r>
            <a:r>
              <a:rPr lang="en-US" sz="2000" b="0" i="0" dirty="0">
                <a:solidFill>
                  <a:srgbClr val="A6E22E"/>
                </a:solidFill>
                <a:latin typeface="Consolas"/>
                <a:cs typeface="Consolas"/>
              </a:rPr>
              <a:t>"gemini-3.6-flash"</a:t>
            </a:r>
            <a:r>
              <a:rPr lang="en-US" sz="2000" b="0" i="0" dirty="0">
                <a:solidFill>
                  <a:srgbClr val="E6E6E6"/>
                </a:solidFill>
                <a:latin typeface="Consolas"/>
                <a:cs typeface="Consolas"/>
              </a:rPr>
              <a:t>,</a:t>
            </a:r>
          </a:p>
          <a:p>
            <a:pPr algn="l" rtl="0"/>
            <a:r>
              <a:rPr lang="en-US" sz="2000" b="0" i="0" dirty="0">
                <a:solidFill>
                  <a:srgbClr val="E6E6E6"/>
                </a:solidFill>
                <a:latin typeface="Consolas"/>
                <a:cs typeface="Consolas"/>
              </a:rPr>
              <a:t>    contents=</a:t>
            </a:r>
            <a:r>
              <a:rPr lang="en-US" sz="2000" b="0" i="0" dirty="0">
                <a:solidFill>
                  <a:srgbClr val="A6E22E"/>
                </a:solidFill>
                <a:latin typeface="Consolas"/>
                <a:cs typeface="Consolas"/>
              </a:rPr>
              <a:t>"suggest an easy word for alias game"</a:t>
            </a:r>
          </a:p>
          <a:p>
            <a:pPr algn="l" rtl="0"/>
            <a:r>
              <a:rPr lang="en-US" sz="2000" b="0" i="0" dirty="0">
                <a:solidFill>
                  <a:srgbClr val="E6E6E6"/>
                </a:solidFill>
                <a:latin typeface="Consolas"/>
                <a:cs typeface="Consolas"/>
              </a:rPr>
              <a:t>)</a:t>
            </a:r>
          </a:p>
          <a:p>
            <a:pPr algn="l" rtl="0"/>
            <a:r>
              <a:rPr lang="en-US" sz="2000" b="0" i="0" dirty="0">
                <a:solidFill>
                  <a:srgbClr val="66D9EF"/>
                </a:solidFill>
                <a:latin typeface="Consolas"/>
                <a:cs typeface="Consolas"/>
              </a:rPr>
              <a:t>print</a:t>
            </a:r>
            <a:r>
              <a:rPr lang="en-US" sz="2000" b="0" i="0" dirty="0">
                <a:solidFill>
                  <a:srgbClr val="E6E6E6"/>
                </a:solidFill>
                <a:latin typeface="Consolas"/>
                <a:cs typeface="Consolas"/>
              </a:rPr>
              <a:t>(</a:t>
            </a:r>
            <a:r>
              <a:rPr lang="en-US" sz="2000" b="0" i="0" dirty="0" err="1">
                <a:solidFill>
                  <a:srgbClr val="E6E6E6"/>
                </a:solidFill>
                <a:latin typeface="Consolas"/>
                <a:cs typeface="Consolas"/>
              </a:rPr>
              <a:t>response.text</a:t>
            </a:r>
            <a:r>
              <a:rPr lang="en-US" sz="2000" b="0" i="0" dirty="0">
                <a:solidFill>
                  <a:srgbClr val="E6E6E6"/>
                </a:solidFill>
                <a:latin typeface="Consolas"/>
                <a:cs typeface="Consolas"/>
              </a:rPr>
              <a:t>)</a:t>
            </a:r>
          </a:p>
        </p:txBody>
      </p:sp>
      <p:sp>
        <p:nvSpPr>
          <p:cNvPr id="6" name="Oval 5"/>
          <p:cNvSpPr/>
          <p:nvPr/>
        </p:nvSpPr>
        <p:spPr>
          <a:xfrm>
            <a:off x="11064240" y="1463040"/>
            <a:ext cx="548640" cy="54864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1</a:t>
            </a:r>
          </a:p>
        </p:txBody>
      </p:sp>
      <p:sp>
        <p:nvSpPr>
          <p:cNvPr id="7" name="TextBox 6"/>
          <p:cNvSpPr txBox="1"/>
          <p:nvPr/>
        </p:nvSpPr>
        <p:spPr>
          <a:xfrm>
            <a:off x="8046720" y="1417320"/>
            <a:ext cx="2926080" cy="365760"/>
          </a:xfrm>
          <a:prstGeom prst="rect">
            <a:avLst/>
          </a:prstGeom>
          <a:noFill/>
        </p:spPr>
        <p:txBody>
          <a:bodyPr wrap="square" lIns="45720" rIns="45720" anchor="t">
            <a:spAutoFit/>
          </a:bodyPr>
          <a:lstStyle/>
          <a:p>
            <a:pPr algn="r" rtl="0"/>
            <a:r>
              <a:rPr lang="en-US" sz="1700" b="1" i="0">
                <a:solidFill>
                  <a:srgbClr val="2D9F5C"/>
                </a:solidFill>
                <a:latin typeface="Consolas"/>
                <a:cs typeface="Consolas"/>
              </a:rPr>
              <a:t>import</a:t>
            </a:r>
          </a:p>
        </p:txBody>
      </p:sp>
      <p:sp>
        <p:nvSpPr>
          <p:cNvPr id="8" name="TextBox 7"/>
          <p:cNvSpPr txBox="1"/>
          <p:nvPr/>
        </p:nvSpPr>
        <p:spPr>
          <a:xfrm>
            <a:off x="8046720" y="1783080"/>
            <a:ext cx="2926080" cy="411480"/>
          </a:xfrm>
          <a:prstGeom prst="rect">
            <a:avLst/>
          </a:prstGeom>
          <a:noFill/>
        </p:spPr>
        <p:txBody>
          <a:bodyPr wrap="square" lIns="45720" rIns="45720" anchor="t">
            <a:spAutoFit/>
          </a:bodyPr>
          <a:lstStyle/>
          <a:p>
            <a:pPr algn="r" rtl="1"/>
            <a:r>
              <a:rPr lang="he-IL" sz="1500" b="0" i="0">
                <a:solidFill>
                  <a:srgbClr val="5F6F78"/>
                </a:solidFill>
                <a:latin typeface="Arial"/>
                <a:cs typeface="Arial"/>
              </a:rPr>
              <a:t>מביאים את הספרייה</a:t>
            </a:r>
          </a:p>
        </p:txBody>
      </p:sp>
      <p:sp>
        <p:nvSpPr>
          <p:cNvPr id="9" name="Oval 8"/>
          <p:cNvSpPr/>
          <p:nvPr/>
        </p:nvSpPr>
        <p:spPr>
          <a:xfrm>
            <a:off x="11064240" y="2331720"/>
            <a:ext cx="548640" cy="5486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2</a:t>
            </a:r>
          </a:p>
        </p:txBody>
      </p:sp>
      <p:sp>
        <p:nvSpPr>
          <p:cNvPr id="10" name="TextBox 9"/>
          <p:cNvSpPr txBox="1"/>
          <p:nvPr/>
        </p:nvSpPr>
        <p:spPr>
          <a:xfrm>
            <a:off x="8046720" y="2286000"/>
            <a:ext cx="2926080" cy="365760"/>
          </a:xfrm>
          <a:prstGeom prst="rect">
            <a:avLst/>
          </a:prstGeom>
          <a:noFill/>
        </p:spPr>
        <p:txBody>
          <a:bodyPr wrap="square" lIns="45720" rIns="45720" anchor="t">
            <a:spAutoFit/>
          </a:bodyPr>
          <a:lstStyle/>
          <a:p>
            <a:pPr algn="r" rtl="0"/>
            <a:r>
              <a:rPr lang="en-US" sz="1700" b="1" i="0">
                <a:solidFill>
                  <a:srgbClr val="FF9F1C"/>
                </a:solidFill>
                <a:latin typeface="Consolas"/>
                <a:cs typeface="Consolas"/>
              </a:rPr>
              <a:t>Client</a:t>
            </a:r>
          </a:p>
        </p:txBody>
      </p:sp>
      <p:sp>
        <p:nvSpPr>
          <p:cNvPr id="11" name="TextBox 10"/>
          <p:cNvSpPr txBox="1"/>
          <p:nvPr/>
        </p:nvSpPr>
        <p:spPr>
          <a:xfrm>
            <a:off x="8046720" y="2651760"/>
            <a:ext cx="2926080" cy="411480"/>
          </a:xfrm>
          <a:prstGeom prst="rect">
            <a:avLst/>
          </a:prstGeom>
          <a:noFill/>
        </p:spPr>
        <p:txBody>
          <a:bodyPr wrap="square" lIns="45720" rIns="45720" anchor="t">
            <a:spAutoFit/>
          </a:bodyPr>
          <a:lstStyle/>
          <a:p>
            <a:pPr algn="r" rtl="1"/>
            <a:r>
              <a:rPr lang="he-IL" sz="1500" b="0" i="0">
                <a:solidFill>
                  <a:srgbClr val="5F6F78"/>
                </a:solidFill>
                <a:latin typeface="Arial"/>
                <a:cs typeface="Arial"/>
              </a:rPr>
              <a:t>מתחברים ל-</a:t>
            </a:r>
            <a:r>
              <a:rPr lang="en-US" sz="1500" b="0" i="0">
                <a:solidFill>
                  <a:srgbClr val="5F6F78"/>
                </a:solidFill>
                <a:latin typeface="Arial"/>
                <a:cs typeface="Arial"/>
              </a:rPr>
              <a:t>Google</a:t>
            </a:r>
            <a:r>
              <a:rPr lang="he-IL" sz="1500" b="0" i="0">
                <a:solidFill>
                  <a:srgbClr val="5F6F78"/>
                </a:solidFill>
                <a:latin typeface="Arial"/>
                <a:cs typeface="Arial"/>
              </a:rPr>
              <a:t> עם המפתח</a:t>
            </a:r>
          </a:p>
        </p:txBody>
      </p:sp>
      <p:sp>
        <p:nvSpPr>
          <p:cNvPr id="12" name="Oval 11"/>
          <p:cNvSpPr/>
          <p:nvPr/>
        </p:nvSpPr>
        <p:spPr>
          <a:xfrm>
            <a:off x="11064240" y="3200400"/>
            <a:ext cx="548640" cy="5486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3</a:t>
            </a:r>
          </a:p>
        </p:txBody>
      </p:sp>
      <p:sp>
        <p:nvSpPr>
          <p:cNvPr id="13" name="TextBox 12"/>
          <p:cNvSpPr txBox="1"/>
          <p:nvPr/>
        </p:nvSpPr>
        <p:spPr>
          <a:xfrm>
            <a:off x="8046720" y="3154680"/>
            <a:ext cx="2926080" cy="365760"/>
          </a:xfrm>
          <a:prstGeom prst="rect">
            <a:avLst/>
          </a:prstGeom>
          <a:noFill/>
        </p:spPr>
        <p:txBody>
          <a:bodyPr wrap="square" lIns="45720" rIns="45720" anchor="t">
            <a:spAutoFit/>
          </a:bodyPr>
          <a:lstStyle/>
          <a:p>
            <a:pPr algn="r" rtl="0"/>
            <a:r>
              <a:rPr lang="en-US" sz="1700" b="1" i="0">
                <a:solidFill>
                  <a:srgbClr val="EF476F"/>
                </a:solidFill>
                <a:latin typeface="Consolas"/>
                <a:cs typeface="Consolas"/>
              </a:rPr>
              <a:t>generate_content</a:t>
            </a:r>
          </a:p>
        </p:txBody>
      </p:sp>
      <p:sp>
        <p:nvSpPr>
          <p:cNvPr id="14" name="TextBox 13"/>
          <p:cNvSpPr txBox="1"/>
          <p:nvPr/>
        </p:nvSpPr>
        <p:spPr>
          <a:xfrm>
            <a:off x="8046720" y="3520440"/>
            <a:ext cx="2926080" cy="323165"/>
          </a:xfrm>
          <a:prstGeom prst="rect">
            <a:avLst/>
          </a:prstGeom>
          <a:noFill/>
        </p:spPr>
        <p:txBody>
          <a:bodyPr wrap="square" lIns="45720" rIns="45720" anchor="t">
            <a:spAutoFit/>
          </a:bodyPr>
          <a:lstStyle/>
          <a:p>
            <a:pPr algn="r" rtl="1"/>
            <a:r>
              <a:rPr lang="he-IL" sz="1500" b="0" i="0" dirty="0">
                <a:solidFill>
                  <a:srgbClr val="5F6F78"/>
                </a:solidFill>
                <a:latin typeface="Arial"/>
                <a:cs typeface="Arial"/>
              </a:rPr>
              <a:t>בוחרים מודל + שאלה</a:t>
            </a:r>
          </a:p>
        </p:txBody>
      </p:sp>
      <p:sp>
        <p:nvSpPr>
          <p:cNvPr id="15" name="Oval 14"/>
          <p:cNvSpPr/>
          <p:nvPr/>
        </p:nvSpPr>
        <p:spPr>
          <a:xfrm>
            <a:off x="11064240" y="4069079"/>
            <a:ext cx="548640" cy="5486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4</a:t>
            </a:r>
          </a:p>
        </p:txBody>
      </p:sp>
      <p:sp>
        <p:nvSpPr>
          <p:cNvPr id="16" name="TextBox 15"/>
          <p:cNvSpPr txBox="1"/>
          <p:nvPr/>
        </p:nvSpPr>
        <p:spPr>
          <a:xfrm>
            <a:off x="8046720" y="4023359"/>
            <a:ext cx="2926080" cy="365760"/>
          </a:xfrm>
          <a:prstGeom prst="rect">
            <a:avLst/>
          </a:prstGeom>
          <a:noFill/>
        </p:spPr>
        <p:txBody>
          <a:bodyPr wrap="square" lIns="45720" rIns="45720" anchor="t">
            <a:spAutoFit/>
          </a:bodyPr>
          <a:lstStyle/>
          <a:p>
            <a:pPr algn="r" rtl="0"/>
            <a:r>
              <a:rPr lang="en-US" sz="1700" b="1" i="0">
                <a:solidFill>
                  <a:srgbClr val="118AB2"/>
                </a:solidFill>
                <a:latin typeface="Consolas"/>
                <a:cs typeface="Consolas"/>
              </a:rPr>
              <a:t>response.text</a:t>
            </a:r>
          </a:p>
        </p:txBody>
      </p:sp>
      <p:sp>
        <p:nvSpPr>
          <p:cNvPr id="17" name="TextBox 16"/>
          <p:cNvSpPr txBox="1"/>
          <p:nvPr/>
        </p:nvSpPr>
        <p:spPr>
          <a:xfrm>
            <a:off x="8046720" y="4389120"/>
            <a:ext cx="2926080" cy="411480"/>
          </a:xfrm>
          <a:prstGeom prst="rect">
            <a:avLst/>
          </a:prstGeom>
          <a:noFill/>
        </p:spPr>
        <p:txBody>
          <a:bodyPr wrap="square" lIns="45720" rIns="45720" anchor="t">
            <a:spAutoFit/>
          </a:bodyPr>
          <a:lstStyle/>
          <a:p>
            <a:pPr algn="r" rtl="1"/>
            <a:r>
              <a:rPr lang="he-IL" sz="1500" b="0" i="0">
                <a:solidFill>
                  <a:srgbClr val="5F6F78"/>
                </a:solidFill>
                <a:latin typeface="Arial"/>
                <a:cs typeface="Arial"/>
              </a:rPr>
              <a:t>התשובה של </a:t>
            </a:r>
            <a:r>
              <a:rPr lang="en-US" sz="1500" b="0" i="0">
                <a:solidFill>
                  <a:srgbClr val="5F6F78"/>
                </a:solidFill>
                <a:latin typeface="Arial"/>
                <a:cs typeface="Arial"/>
              </a:rPr>
              <a:t>Gemini</a:t>
            </a:r>
            <a:r>
              <a:rPr lang="he-IL" sz="1500" b="0" i="0">
                <a:solidFill>
                  <a:srgbClr val="5F6F78"/>
                </a:solidFill>
                <a:latin typeface="Arial"/>
                <a:cs typeface="Arial"/>
              </a:rPr>
              <a:t> - מחרוזת</a:t>
            </a:r>
          </a:p>
        </p:txBody>
      </p:sp>
      <p:sp>
        <p:nvSpPr>
          <p:cNvPr id="18" name="Rounded Rectangle 17"/>
          <p:cNvSpPr/>
          <p:nvPr/>
        </p:nvSpPr>
        <p:spPr>
          <a:xfrm>
            <a:off x="548640" y="5074920"/>
            <a:ext cx="32918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aiapibasic_example.py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17</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בוחרים מודל</a:t>
            </a:r>
          </a:p>
        </p:txBody>
      </p:sp>
      <p:sp>
        <p:nvSpPr>
          <p:cNvPr id="4" name="Rounded Rectangle 3"/>
          <p:cNvSpPr/>
          <p:nvPr/>
        </p:nvSpPr>
        <p:spPr>
          <a:xfrm>
            <a:off x="8092440" y="1417320"/>
            <a:ext cx="3520440" cy="265176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464040" y="1554480"/>
            <a:ext cx="777240" cy="7772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6" name="TextBox 5"/>
          <p:cNvSpPr txBox="1"/>
          <p:nvPr/>
        </p:nvSpPr>
        <p:spPr>
          <a:xfrm>
            <a:off x="8092440" y="2377440"/>
            <a:ext cx="3520440" cy="457200"/>
          </a:xfrm>
          <a:prstGeom prst="rect">
            <a:avLst/>
          </a:prstGeom>
          <a:noFill/>
        </p:spPr>
        <p:txBody>
          <a:bodyPr wrap="square" lIns="45720" rIns="45720" anchor="t">
            <a:spAutoFit/>
          </a:bodyPr>
          <a:lstStyle/>
          <a:p>
            <a:pPr algn="ctr" rtl="0"/>
            <a:r>
              <a:rPr lang="en-US" sz="2400" b="1" i="0">
                <a:solidFill>
                  <a:srgbClr val="1B2B34"/>
                </a:solidFill>
                <a:latin typeface="Arial"/>
                <a:cs typeface="Arial"/>
              </a:rPr>
              <a:t>Flash</a:t>
            </a:r>
          </a:p>
        </p:txBody>
      </p:sp>
      <p:sp>
        <p:nvSpPr>
          <p:cNvPr id="7" name="TextBox 6"/>
          <p:cNvSpPr txBox="1"/>
          <p:nvPr/>
        </p:nvSpPr>
        <p:spPr>
          <a:xfrm>
            <a:off x="8092440" y="2834640"/>
            <a:ext cx="3520440" cy="365760"/>
          </a:xfrm>
          <a:prstGeom prst="rect">
            <a:avLst/>
          </a:prstGeom>
          <a:noFill/>
        </p:spPr>
        <p:txBody>
          <a:bodyPr wrap="square" lIns="45720" rIns="45720" anchor="t">
            <a:spAutoFit/>
          </a:bodyPr>
          <a:lstStyle/>
          <a:p>
            <a:pPr algn="ctr" rtl="0"/>
            <a:r>
              <a:rPr lang="en-US" sz="1300" b="1" i="0">
                <a:solidFill>
                  <a:srgbClr val="FF9F1C"/>
                </a:solidFill>
                <a:latin typeface="Consolas"/>
                <a:cs typeface="Consolas"/>
              </a:rPr>
              <a:t>gemini-3.6-flash</a:t>
            </a:r>
          </a:p>
        </p:txBody>
      </p:sp>
      <p:sp>
        <p:nvSpPr>
          <p:cNvPr id="8" name="TextBox 7"/>
          <p:cNvSpPr txBox="1"/>
          <p:nvPr/>
        </p:nvSpPr>
        <p:spPr>
          <a:xfrm>
            <a:off x="8275319" y="3246120"/>
            <a:ext cx="3154680" cy="73152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מהיר, מספיק טוב לרוב הדברים. בו נשתמש היום</a:t>
            </a:r>
          </a:p>
        </p:txBody>
      </p:sp>
      <p:sp>
        <p:nvSpPr>
          <p:cNvPr id="9" name="Rounded Rectangle 8"/>
          <p:cNvSpPr/>
          <p:nvPr/>
        </p:nvSpPr>
        <p:spPr>
          <a:xfrm>
            <a:off x="4343400" y="1417320"/>
            <a:ext cx="3520440" cy="265176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715000" y="1554480"/>
            <a:ext cx="777240" cy="777240"/>
          </a:xfrm>
          <a:prstGeom prst="ellipse">
            <a:avLst/>
          </a:prstGeom>
          <a:solidFill>
            <a:srgbClr val="7B4FB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1" name="TextBox 10"/>
          <p:cNvSpPr txBox="1"/>
          <p:nvPr/>
        </p:nvSpPr>
        <p:spPr>
          <a:xfrm>
            <a:off x="4343400" y="2377440"/>
            <a:ext cx="3520440" cy="457200"/>
          </a:xfrm>
          <a:prstGeom prst="rect">
            <a:avLst/>
          </a:prstGeom>
          <a:noFill/>
        </p:spPr>
        <p:txBody>
          <a:bodyPr wrap="square" lIns="45720" rIns="45720" anchor="t">
            <a:spAutoFit/>
          </a:bodyPr>
          <a:lstStyle/>
          <a:p>
            <a:pPr algn="ctr" rtl="0"/>
            <a:r>
              <a:rPr lang="en-US" sz="2400" b="1" i="0">
                <a:solidFill>
                  <a:srgbClr val="1B2B34"/>
                </a:solidFill>
                <a:latin typeface="Arial"/>
                <a:cs typeface="Arial"/>
              </a:rPr>
              <a:t>Pro</a:t>
            </a:r>
          </a:p>
        </p:txBody>
      </p:sp>
      <p:sp>
        <p:nvSpPr>
          <p:cNvPr id="12" name="TextBox 11"/>
          <p:cNvSpPr txBox="1"/>
          <p:nvPr/>
        </p:nvSpPr>
        <p:spPr>
          <a:xfrm>
            <a:off x="4343400" y="2834640"/>
            <a:ext cx="3520440" cy="365760"/>
          </a:xfrm>
          <a:prstGeom prst="rect">
            <a:avLst/>
          </a:prstGeom>
          <a:noFill/>
        </p:spPr>
        <p:txBody>
          <a:bodyPr wrap="square" lIns="45720" rIns="45720" anchor="t">
            <a:spAutoFit/>
          </a:bodyPr>
          <a:lstStyle/>
          <a:p>
            <a:pPr algn="ctr" rtl="0"/>
            <a:r>
              <a:rPr lang="en-US" sz="1300" b="1" i="0">
                <a:solidFill>
                  <a:srgbClr val="7B4FB0"/>
                </a:solidFill>
                <a:latin typeface="Consolas"/>
                <a:cs typeface="Consolas"/>
              </a:rPr>
              <a:t>gemini-pro-latest</a:t>
            </a:r>
          </a:p>
        </p:txBody>
      </p:sp>
      <p:sp>
        <p:nvSpPr>
          <p:cNvPr id="13" name="TextBox 12"/>
          <p:cNvSpPr txBox="1"/>
          <p:nvPr/>
        </p:nvSpPr>
        <p:spPr>
          <a:xfrm>
            <a:off x="4526280" y="3246120"/>
            <a:ext cx="3154680" cy="73152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חכם יותר, אבל איטי יותר ומוגבל יותר</a:t>
            </a:r>
          </a:p>
        </p:txBody>
      </p:sp>
      <p:sp>
        <p:nvSpPr>
          <p:cNvPr id="14" name="Rounded Rectangle 13"/>
          <p:cNvSpPr/>
          <p:nvPr/>
        </p:nvSpPr>
        <p:spPr>
          <a:xfrm>
            <a:off x="594360" y="1417320"/>
            <a:ext cx="3520440" cy="265176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965960" y="1554480"/>
            <a:ext cx="777240" cy="7772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6" name="TextBox 15"/>
          <p:cNvSpPr txBox="1"/>
          <p:nvPr/>
        </p:nvSpPr>
        <p:spPr>
          <a:xfrm>
            <a:off x="594360" y="2377440"/>
            <a:ext cx="3520440" cy="457200"/>
          </a:xfrm>
          <a:prstGeom prst="rect">
            <a:avLst/>
          </a:prstGeom>
          <a:noFill/>
        </p:spPr>
        <p:txBody>
          <a:bodyPr wrap="square" lIns="45720" rIns="45720" anchor="t">
            <a:spAutoFit/>
          </a:bodyPr>
          <a:lstStyle/>
          <a:p>
            <a:pPr algn="ctr" rtl="0"/>
            <a:r>
              <a:rPr lang="en-US" sz="2400" b="1" i="0">
                <a:solidFill>
                  <a:srgbClr val="1B2B34"/>
                </a:solidFill>
                <a:latin typeface="Arial"/>
                <a:cs typeface="Arial"/>
              </a:rPr>
              <a:t>Lite</a:t>
            </a:r>
          </a:p>
        </p:txBody>
      </p:sp>
      <p:sp>
        <p:nvSpPr>
          <p:cNvPr id="17" name="TextBox 16"/>
          <p:cNvSpPr txBox="1"/>
          <p:nvPr/>
        </p:nvSpPr>
        <p:spPr>
          <a:xfrm>
            <a:off x="594360" y="2834640"/>
            <a:ext cx="3520440" cy="365760"/>
          </a:xfrm>
          <a:prstGeom prst="rect">
            <a:avLst/>
          </a:prstGeom>
          <a:noFill/>
        </p:spPr>
        <p:txBody>
          <a:bodyPr wrap="square" lIns="45720" rIns="45720" anchor="t">
            <a:spAutoFit/>
          </a:bodyPr>
          <a:lstStyle/>
          <a:p>
            <a:pPr algn="ctr" rtl="0"/>
            <a:r>
              <a:rPr lang="en-US" sz="1300" b="1" i="0">
                <a:solidFill>
                  <a:srgbClr val="118AB2"/>
                </a:solidFill>
                <a:latin typeface="Consolas"/>
                <a:cs typeface="Consolas"/>
              </a:rPr>
              <a:t>gemini-flash-lite-latest</a:t>
            </a:r>
          </a:p>
        </p:txBody>
      </p:sp>
      <p:sp>
        <p:nvSpPr>
          <p:cNvPr id="18" name="TextBox 17"/>
          <p:cNvSpPr txBox="1"/>
          <p:nvPr/>
        </p:nvSpPr>
        <p:spPr>
          <a:xfrm>
            <a:off x="777240" y="3246120"/>
            <a:ext cx="3154680" cy="73152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הכי מהיר וחסכוני, קצת פחות חכם</a:t>
            </a:r>
          </a:p>
        </p:txBody>
      </p:sp>
      <p:sp>
        <p:nvSpPr>
          <p:cNvPr id="19" name="Rounded Rectangle 18"/>
          <p:cNvSpPr/>
          <p:nvPr/>
        </p:nvSpPr>
        <p:spPr>
          <a:xfrm>
            <a:off x="548640" y="4343400"/>
            <a:ext cx="6583680" cy="137160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613702"/>
            <a:ext cx="6126480" cy="830997"/>
          </a:xfrm>
          <a:prstGeom prst="rect">
            <a:avLst/>
          </a:prstGeom>
          <a:noFill/>
        </p:spPr>
        <p:txBody>
          <a:bodyPr wrap="square" lIns="45720" rIns="45720" anchor="ctr">
            <a:spAutoFit/>
          </a:bodyPr>
          <a:lstStyle/>
          <a:p>
            <a:pPr algn="l" rtl="0"/>
            <a:r>
              <a:rPr lang="en-US" sz="2400" b="0" i="0" dirty="0">
                <a:solidFill>
                  <a:srgbClr val="FF9F1C"/>
                </a:solidFill>
                <a:latin typeface="Consolas"/>
                <a:cs typeface="Consolas"/>
              </a:rPr>
              <a:t>for</a:t>
            </a:r>
            <a:r>
              <a:rPr lang="en-US" sz="2400" b="0" i="0" dirty="0">
                <a:solidFill>
                  <a:srgbClr val="E6E6E6"/>
                </a:solidFill>
                <a:latin typeface="Consolas"/>
                <a:cs typeface="Consolas"/>
              </a:rPr>
              <a:t> model </a:t>
            </a:r>
            <a:r>
              <a:rPr lang="en-US" sz="2400" b="0" i="0" dirty="0">
                <a:solidFill>
                  <a:srgbClr val="FF9F1C"/>
                </a:solidFill>
                <a:latin typeface="Consolas"/>
                <a:cs typeface="Consolas"/>
              </a:rPr>
              <a:t>in</a:t>
            </a:r>
            <a:r>
              <a:rPr lang="en-US" sz="2400" b="0" i="0" dirty="0">
                <a:solidFill>
                  <a:srgbClr val="E6E6E6"/>
                </a:solidFill>
                <a:latin typeface="Consolas"/>
                <a:cs typeface="Consolas"/>
              </a:rPr>
              <a:t> </a:t>
            </a:r>
            <a:r>
              <a:rPr lang="en-US" sz="2400" b="0" i="0" dirty="0" err="1">
                <a:solidFill>
                  <a:srgbClr val="E6E6E6"/>
                </a:solidFill>
                <a:latin typeface="Consolas"/>
                <a:cs typeface="Consolas"/>
              </a:rPr>
              <a:t>client.models.list</a:t>
            </a:r>
            <a:r>
              <a:rPr lang="en-US" sz="2400" b="0" i="0" dirty="0">
                <a:solidFill>
                  <a:srgbClr val="E6E6E6"/>
                </a:solidFill>
                <a:latin typeface="Consolas"/>
                <a:cs typeface="Consolas"/>
              </a:rPr>
              <a:t>():</a:t>
            </a:r>
          </a:p>
          <a:p>
            <a:pPr algn="l" rtl="0"/>
            <a:r>
              <a:rPr lang="en-US" sz="2400" b="0" i="0" dirty="0">
                <a:solidFill>
                  <a:srgbClr val="E6E6E6"/>
                </a:solidFill>
                <a:latin typeface="Consolas"/>
                <a:cs typeface="Consolas"/>
              </a:rPr>
              <a:t>    </a:t>
            </a:r>
            <a:r>
              <a:rPr lang="en-US" sz="2400" b="0" i="0" dirty="0">
                <a:solidFill>
                  <a:srgbClr val="66D9EF"/>
                </a:solidFill>
                <a:latin typeface="Consolas"/>
                <a:cs typeface="Consolas"/>
              </a:rPr>
              <a:t>print</a:t>
            </a:r>
            <a:r>
              <a:rPr lang="en-US" sz="2400" b="0" i="0" dirty="0">
                <a:solidFill>
                  <a:srgbClr val="E6E6E6"/>
                </a:solidFill>
                <a:latin typeface="Consolas"/>
                <a:cs typeface="Consolas"/>
              </a:rPr>
              <a:t>(model.name)</a:t>
            </a:r>
          </a:p>
        </p:txBody>
      </p:sp>
      <p:sp>
        <p:nvSpPr>
          <p:cNvPr id="21" name="TextBox 20"/>
          <p:cNvSpPr txBox="1"/>
          <p:nvPr/>
        </p:nvSpPr>
        <p:spPr>
          <a:xfrm>
            <a:off x="922390" y="5553426"/>
            <a:ext cx="4206240" cy="1371600"/>
          </a:xfrm>
          <a:prstGeom prst="rect">
            <a:avLst/>
          </a:prstGeom>
          <a:noFill/>
        </p:spPr>
        <p:txBody>
          <a:bodyPr wrap="square" lIns="45720" rIns="45720" anchor="ctr">
            <a:spAutoFit/>
          </a:bodyPr>
          <a:lstStyle/>
          <a:p>
            <a:pPr algn="r" rtl="1"/>
            <a:r>
              <a:rPr lang="he-IL" sz="1700" b="1" i="0" dirty="0">
                <a:solidFill>
                  <a:srgbClr val="1B2B34"/>
                </a:solidFill>
                <a:latin typeface="Arial"/>
                <a:cs typeface="Arial"/>
              </a:rPr>
              <a:t>רוצים לראות את כל המודלים? </a:t>
            </a:r>
          </a:p>
          <a:p>
            <a:pPr algn="r" rtl="1"/>
            <a:r>
              <a:rPr lang="he-IL" sz="1700" b="0" i="0" dirty="0">
                <a:solidFill>
                  <a:srgbClr val="1B2B34"/>
                </a:solidFill>
                <a:latin typeface="Arial"/>
                <a:cs typeface="Arial"/>
              </a:rPr>
              <a:t>לולאה על רשימה - בדיוק כמו בשיעור הקודם!</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18</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בונים </a:t>
            </a:r>
            <a:r>
              <a:rPr lang="en-US" sz="3600" b="1" i="0" dirty="0">
                <a:solidFill>
                  <a:srgbClr val="1B4332"/>
                </a:solidFill>
                <a:latin typeface="Arial"/>
                <a:cs typeface="Arial"/>
              </a:rPr>
              <a:t>prompt</a:t>
            </a:r>
            <a:r>
              <a:rPr lang="he-IL" sz="3600" b="1" i="0" dirty="0">
                <a:solidFill>
                  <a:srgbClr val="1B4332"/>
                </a:solidFill>
                <a:latin typeface="Arial"/>
                <a:cs typeface="Arial"/>
              </a:rPr>
              <a:t> לא קבוע: בעזרת משתנים</a:t>
            </a:r>
          </a:p>
        </p:txBody>
      </p:sp>
      <p:sp>
        <p:nvSpPr>
          <p:cNvPr id="4" name="Rounded Rectangle 3"/>
          <p:cNvSpPr/>
          <p:nvPr/>
        </p:nvSpPr>
        <p:spPr>
          <a:xfrm>
            <a:off x="548640" y="1417320"/>
            <a:ext cx="6949440" cy="301752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33419"/>
            <a:ext cx="6492240" cy="2585323"/>
          </a:xfrm>
          <a:prstGeom prst="rect">
            <a:avLst/>
          </a:prstGeom>
          <a:noFill/>
        </p:spPr>
        <p:txBody>
          <a:bodyPr wrap="square" lIns="45720" rIns="45720" anchor="ctr">
            <a:spAutoFit/>
          </a:bodyPr>
          <a:lstStyle/>
          <a:p>
            <a:pPr algn="l" rtl="0"/>
            <a:r>
              <a:rPr lang="en-US" b="0" i="0" dirty="0">
                <a:solidFill>
                  <a:srgbClr val="E6E6E6"/>
                </a:solidFill>
                <a:latin typeface="Consolas"/>
                <a:cs typeface="Consolas"/>
              </a:rPr>
              <a:t>topic = </a:t>
            </a:r>
            <a:r>
              <a:rPr lang="en-US" b="0" i="0" dirty="0">
                <a:solidFill>
                  <a:srgbClr val="A6E22E"/>
                </a:solidFill>
                <a:latin typeface="Consolas"/>
                <a:cs typeface="Consolas"/>
              </a:rPr>
              <a:t>"dinosaurs"</a:t>
            </a:r>
          </a:p>
          <a:p>
            <a:pPr algn="l" rtl="0"/>
            <a:r>
              <a:rPr lang="en-US" b="0" i="0" dirty="0">
                <a:solidFill>
                  <a:srgbClr val="E6E6E6"/>
                </a:solidFill>
                <a:latin typeface="Consolas"/>
                <a:cs typeface="Consolas"/>
              </a:rPr>
              <a:t>count = </a:t>
            </a:r>
            <a:r>
              <a:rPr lang="en-US" b="0" i="0" dirty="0">
                <a:solidFill>
                  <a:srgbClr val="FFD166"/>
                </a:solidFill>
                <a:latin typeface="Consolas"/>
                <a:cs typeface="Consolas"/>
              </a:rPr>
              <a:t>3</a:t>
            </a:r>
          </a:p>
          <a:p>
            <a:pPr algn="l" rtl="0"/>
            <a:r>
              <a:rPr lang="en-US" b="0" i="0" dirty="0">
                <a:solidFill>
                  <a:srgbClr val="E6E6E6"/>
                </a:solidFill>
                <a:latin typeface="Consolas"/>
                <a:cs typeface="Consolas"/>
              </a:rPr>
              <a:t> </a:t>
            </a:r>
          </a:p>
          <a:p>
            <a:pPr algn="l" rtl="0"/>
            <a:r>
              <a:rPr lang="en-US" b="0" i="0" dirty="0">
                <a:solidFill>
                  <a:srgbClr val="E6E6E6"/>
                </a:solidFill>
                <a:latin typeface="Consolas"/>
                <a:cs typeface="Consolas"/>
              </a:rPr>
              <a:t>prompt = </a:t>
            </a:r>
            <a:r>
              <a:rPr lang="en-US" b="0" i="0" dirty="0">
                <a:solidFill>
                  <a:srgbClr val="A6E22E"/>
                </a:solidFill>
                <a:latin typeface="Consolas"/>
                <a:cs typeface="Consolas"/>
              </a:rPr>
              <a:t>"Tell me "</a:t>
            </a:r>
            <a:r>
              <a:rPr lang="en-US" b="0" i="0" dirty="0">
                <a:solidFill>
                  <a:srgbClr val="E6E6E6"/>
                </a:solidFill>
                <a:latin typeface="Consolas"/>
                <a:cs typeface="Consolas"/>
              </a:rPr>
              <a:t> + </a:t>
            </a:r>
            <a:r>
              <a:rPr lang="en-US" b="0" i="0" dirty="0">
                <a:solidFill>
                  <a:srgbClr val="66D9EF"/>
                </a:solidFill>
                <a:latin typeface="Consolas"/>
                <a:cs typeface="Consolas"/>
              </a:rPr>
              <a:t>str</a:t>
            </a:r>
            <a:r>
              <a:rPr lang="en-US" b="0" i="0" dirty="0">
                <a:solidFill>
                  <a:srgbClr val="E6E6E6"/>
                </a:solidFill>
                <a:latin typeface="Consolas"/>
                <a:cs typeface="Consolas"/>
              </a:rPr>
              <a:t>(count) + </a:t>
            </a:r>
            <a:r>
              <a:rPr lang="en-US" b="0" i="0" dirty="0">
                <a:solidFill>
                  <a:srgbClr val="A6E22E"/>
                </a:solidFill>
                <a:latin typeface="Consolas"/>
                <a:cs typeface="Consolas"/>
              </a:rPr>
              <a:t>" facts about "</a:t>
            </a:r>
            <a:r>
              <a:rPr lang="en-US" b="0" i="0" dirty="0">
                <a:solidFill>
                  <a:srgbClr val="E6E6E6"/>
                </a:solidFill>
                <a:latin typeface="Consolas"/>
                <a:cs typeface="Consolas"/>
              </a:rPr>
              <a:t> + topic</a:t>
            </a:r>
          </a:p>
          <a:p>
            <a:pPr algn="l" rtl="0"/>
            <a:r>
              <a:rPr lang="en-US" b="0" i="0" dirty="0">
                <a:solidFill>
                  <a:srgbClr val="E6E6E6"/>
                </a:solidFill>
                <a:latin typeface="Consolas"/>
                <a:cs typeface="Consolas"/>
              </a:rPr>
              <a:t>prompt = prompt + </a:t>
            </a:r>
            <a:r>
              <a:rPr lang="en-US" b="0" i="0" dirty="0">
                <a:solidFill>
                  <a:srgbClr val="A6E22E"/>
                </a:solidFill>
                <a:latin typeface="Consolas"/>
                <a:cs typeface="Consolas"/>
              </a:rPr>
              <a:t>"\</a:t>
            </a:r>
            <a:r>
              <a:rPr lang="en-US" b="0" i="0" dirty="0" err="1">
                <a:solidFill>
                  <a:srgbClr val="A6E22E"/>
                </a:solidFill>
                <a:latin typeface="Consolas"/>
                <a:cs typeface="Consolas"/>
              </a:rPr>
              <a:t>nAnswer</a:t>
            </a:r>
            <a:r>
              <a:rPr lang="en-US" b="0" i="0" dirty="0">
                <a:solidFill>
                  <a:srgbClr val="A6E22E"/>
                </a:solidFill>
                <a:latin typeface="Consolas"/>
                <a:cs typeface="Consolas"/>
              </a:rPr>
              <a:t> in Hebrew."</a:t>
            </a:r>
          </a:p>
          <a:p>
            <a:pPr algn="l" rtl="0"/>
            <a:r>
              <a:rPr lang="en-US" b="0" i="0" dirty="0">
                <a:solidFill>
                  <a:srgbClr val="E6E6E6"/>
                </a:solidFill>
                <a:latin typeface="Consolas"/>
                <a:cs typeface="Consolas"/>
              </a:rPr>
              <a:t> </a:t>
            </a:r>
          </a:p>
          <a:p>
            <a:pPr algn="l" rtl="0"/>
            <a:r>
              <a:rPr lang="en-US" b="0" i="0" dirty="0">
                <a:solidFill>
                  <a:srgbClr val="E6E6E6"/>
                </a:solidFill>
                <a:latin typeface="Consolas"/>
                <a:cs typeface="Consolas"/>
              </a:rPr>
              <a:t>response = </a:t>
            </a:r>
            <a:r>
              <a:rPr lang="en-US" b="0" i="0" dirty="0" err="1">
                <a:solidFill>
                  <a:srgbClr val="E6E6E6"/>
                </a:solidFill>
                <a:latin typeface="Consolas"/>
                <a:cs typeface="Consolas"/>
              </a:rPr>
              <a:t>client.models.generate_content</a:t>
            </a:r>
            <a:r>
              <a:rPr lang="en-US" b="0" i="0" dirty="0">
                <a:solidFill>
                  <a:srgbClr val="E6E6E6"/>
                </a:solidFill>
                <a:latin typeface="Consolas"/>
                <a:cs typeface="Consolas"/>
              </a:rPr>
              <a:t>(</a:t>
            </a:r>
          </a:p>
          <a:p>
            <a:pPr algn="l" rtl="0"/>
            <a:r>
              <a:rPr lang="en-US" b="0" i="0" dirty="0">
                <a:solidFill>
                  <a:srgbClr val="E6E6E6"/>
                </a:solidFill>
                <a:latin typeface="Consolas"/>
                <a:cs typeface="Consolas"/>
              </a:rPr>
              <a:t>    model=MODEL, contents=prompt)</a:t>
            </a:r>
          </a:p>
        </p:txBody>
      </p:sp>
      <p:sp>
        <p:nvSpPr>
          <p:cNvPr id="6" name="Rounded Rectangle 5"/>
          <p:cNvSpPr/>
          <p:nvPr/>
        </p:nvSpPr>
        <p:spPr>
          <a:xfrm>
            <a:off x="10332720" y="1463040"/>
            <a:ext cx="1280160" cy="64008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FFFF"/>
                </a:solidFill>
                <a:latin typeface="Consolas"/>
                <a:cs typeface="Consolas"/>
              </a:rPr>
              <a:t>+</a:t>
            </a:r>
          </a:p>
        </p:txBody>
      </p:sp>
      <p:sp>
        <p:nvSpPr>
          <p:cNvPr id="7" name="TextBox 6"/>
          <p:cNvSpPr txBox="1"/>
          <p:nvPr/>
        </p:nvSpPr>
        <p:spPr>
          <a:xfrm>
            <a:off x="7772400" y="1417320"/>
            <a:ext cx="2468880" cy="411480"/>
          </a:xfrm>
          <a:prstGeom prst="rect">
            <a:avLst/>
          </a:prstGeom>
          <a:noFill/>
        </p:spPr>
        <p:txBody>
          <a:bodyPr wrap="square" lIns="45720" rIns="45720" anchor="t">
            <a:spAutoFit/>
          </a:bodyPr>
          <a:lstStyle/>
          <a:p>
            <a:pPr algn="r" rtl="1"/>
            <a:r>
              <a:rPr lang="he-IL" sz="1800" b="1" i="0">
                <a:solidFill>
                  <a:srgbClr val="1B2B34"/>
                </a:solidFill>
                <a:latin typeface="Arial"/>
                <a:cs typeface="Arial"/>
              </a:rPr>
              <a:t>מחבר מחרוזות</a:t>
            </a:r>
          </a:p>
        </p:txBody>
      </p:sp>
      <p:sp>
        <p:nvSpPr>
          <p:cNvPr id="8" name="TextBox 7"/>
          <p:cNvSpPr txBox="1"/>
          <p:nvPr/>
        </p:nvSpPr>
        <p:spPr>
          <a:xfrm>
            <a:off x="7772400" y="1828800"/>
            <a:ext cx="2468880" cy="548640"/>
          </a:xfrm>
          <a:prstGeom prst="rect">
            <a:avLst/>
          </a:prstGeom>
          <a:noFill/>
        </p:spPr>
        <p:txBody>
          <a:bodyPr wrap="square" lIns="45720" rIns="45720" anchor="t">
            <a:spAutoFit/>
          </a:bodyPr>
          <a:lstStyle/>
          <a:p>
            <a:pPr algn="r" rtl="1"/>
            <a:r>
              <a:rPr lang="he-IL" sz="1300" b="0" i="0">
                <a:solidFill>
                  <a:srgbClr val="5F6F78"/>
                </a:solidFill>
                <a:latin typeface="Arial"/>
                <a:cs typeface="Arial"/>
              </a:rPr>
              <a:t>כמו הניקוד במשחק המכוניות</a:t>
            </a:r>
          </a:p>
        </p:txBody>
      </p:sp>
      <p:sp>
        <p:nvSpPr>
          <p:cNvPr id="9" name="Rounded Rectangle 8"/>
          <p:cNvSpPr/>
          <p:nvPr/>
        </p:nvSpPr>
        <p:spPr>
          <a:xfrm>
            <a:off x="10332720" y="2487168"/>
            <a:ext cx="1280160" cy="64008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FFFF"/>
                </a:solidFill>
                <a:latin typeface="Consolas"/>
                <a:cs typeface="Consolas"/>
              </a:rPr>
              <a:t>str()</a:t>
            </a:r>
          </a:p>
        </p:txBody>
      </p:sp>
      <p:sp>
        <p:nvSpPr>
          <p:cNvPr id="10" name="TextBox 9"/>
          <p:cNvSpPr txBox="1"/>
          <p:nvPr/>
        </p:nvSpPr>
        <p:spPr>
          <a:xfrm>
            <a:off x="7772400" y="2441448"/>
            <a:ext cx="2468880" cy="411480"/>
          </a:xfrm>
          <a:prstGeom prst="rect">
            <a:avLst/>
          </a:prstGeom>
          <a:noFill/>
        </p:spPr>
        <p:txBody>
          <a:bodyPr wrap="square" lIns="45720" rIns="45720" anchor="t">
            <a:spAutoFit/>
          </a:bodyPr>
          <a:lstStyle/>
          <a:p>
            <a:pPr algn="r" rtl="1"/>
            <a:r>
              <a:rPr lang="he-IL" sz="1800" b="1" i="0">
                <a:solidFill>
                  <a:srgbClr val="1B2B34"/>
                </a:solidFill>
                <a:latin typeface="Arial"/>
                <a:cs typeface="Arial"/>
              </a:rPr>
              <a:t>הופך מספר למחרוזת</a:t>
            </a:r>
          </a:p>
        </p:txBody>
      </p:sp>
      <p:sp>
        <p:nvSpPr>
          <p:cNvPr id="11" name="TextBox 10"/>
          <p:cNvSpPr txBox="1"/>
          <p:nvPr/>
        </p:nvSpPr>
        <p:spPr>
          <a:xfrm>
            <a:off x="7772400" y="2852928"/>
            <a:ext cx="2468880" cy="548640"/>
          </a:xfrm>
          <a:prstGeom prst="rect">
            <a:avLst/>
          </a:prstGeom>
          <a:noFill/>
        </p:spPr>
        <p:txBody>
          <a:bodyPr wrap="square" lIns="45720" rIns="45720" anchor="t">
            <a:spAutoFit/>
          </a:bodyPr>
          <a:lstStyle/>
          <a:p>
            <a:pPr algn="r" rtl="1"/>
            <a:r>
              <a:rPr lang="he-IL" sz="1300" b="0" i="0">
                <a:solidFill>
                  <a:srgbClr val="5F6F78"/>
                </a:solidFill>
                <a:latin typeface="Arial"/>
                <a:cs typeface="Arial"/>
              </a:rPr>
              <a:t>אי אפשר לחבר מספר למחרוזת בלי זה</a:t>
            </a:r>
          </a:p>
        </p:txBody>
      </p:sp>
      <p:sp>
        <p:nvSpPr>
          <p:cNvPr id="12" name="Rounded Rectangle 11"/>
          <p:cNvSpPr/>
          <p:nvPr/>
        </p:nvSpPr>
        <p:spPr>
          <a:xfrm>
            <a:off x="10332720" y="3511296"/>
            <a:ext cx="1280160" cy="64008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FFFF"/>
                </a:solidFill>
                <a:latin typeface="Consolas"/>
                <a:cs typeface="Consolas"/>
              </a:rPr>
              <a:t>\n</a:t>
            </a:r>
          </a:p>
        </p:txBody>
      </p:sp>
      <p:sp>
        <p:nvSpPr>
          <p:cNvPr id="13" name="TextBox 12"/>
          <p:cNvSpPr txBox="1"/>
          <p:nvPr/>
        </p:nvSpPr>
        <p:spPr>
          <a:xfrm>
            <a:off x="7772400" y="3465576"/>
            <a:ext cx="2468880" cy="411480"/>
          </a:xfrm>
          <a:prstGeom prst="rect">
            <a:avLst/>
          </a:prstGeom>
          <a:noFill/>
        </p:spPr>
        <p:txBody>
          <a:bodyPr wrap="square" lIns="45720" rIns="45720" anchor="t">
            <a:spAutoFit/>
          </a:bodyPr>
          <a:lstStyle/>
          <a:p>
            <a:pPr algn="r" rtl="1"/>
            <a:r>
              <a:rPr lang="he-IL" sz="1800" b="1" i="0">
                <a:solidFill>
                  <a:srgbClr val="1B2B34"/>
                </a:solidFill>
                <a:latin typeface="Arial"/>
                <a:cs typeface="Arial"/>
              </a:rPr>
              <a:t>ירידת שורה</a:t>
            </a:r>
          </a:p>
        </p:txBody>
      </p:sp>
      <p:sp>
        <p:nvSpPr>
          <p:cNvPr id="14" name="TextBox 13"/>
          <p:cNvSpPr txBox="1"/>
          <p:nvPr/>
        </p:nvSpPr>
        <p:spPr>
          <a:xfrm>
            <a:off x="7772400" y="3877056"/>
            <a:ext cx="2468880" cy="548640"/>
          </a:xfrm>
          <a:prstGeom prst="rect">
            <a:avLst/>
          </a:prstGeom>
          <a:noFill/>
        </p:spPr>
        <p:txBody>
          <a:bodyPr wrap="square" lIns="45720" rIns="45720" anchor="t">
            <a:spAutoFit/>
          </a:bodyPr>
          <a:lstStyle/>
          <a:p>
            <a:pPr algn="r" rtl="1"/>
            <a:r>
              <a:rPr lang="he-IL" sz="1300" b="0" i="0">
                <a:solidFill>
                  <a:srgbClr val="5F6F78"/>
                </a:solidFill>
                <a:latin typeface="Arial"/>
                <a:cs typeface="Arial"/>
              </a:rPr>
              <a:t>בתוך מחרוזת</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19</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פקודת הגדרות</a:t>
            </a:r>
            <a:endParaRPr lang="en-US" sz="3600" b="1" i="0" dirty="0">
              <a:solidFill>
                <a:srgbClr val="1B4332"/>
              </a:solidFill>
              <a:latin typeface="Arial"/>
              <a:cs typeface="Arial"/>
            </a:endParaRPr>
          </a:p>
        </p:txBody>
      </p:sp>
      <p:sp>
        <p:nvSpPr>
          <p:cNvPr id="4" name="Rounded Rectangle 3"/>
          <p:cNvSpPr/>
          <p:nvPr/>
        </p:nvSpPr>
        <p:spPr>
          <a:xfrm>
            <a:off x="548640" y="1417320"/>
            <a:ext cx="7315200" cy="292608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449199"/>
            <a:ext cx="6858000" cy="2862322"/>
          </a:xfrm>
          <a:prstGeom prst="rect">
            <a:avLst/>
          </a:prstGeom>
          <a:noFill/>
        </p:spPr>
        <p:txBody>
          <a:bodyPr wrap="square" lIns="45720" rIns="45720" anchor="ctr">
            <a:spAutoFit/>
          </a:bodyPr>
          <a:lstStyle/>
          <a:p>
            <a:pPr algn="l" rtl="0"/>
            <a:r>
              <a:rPr lang="en-US" b="0" i="0" dirty="0">
                <a:solidFill>
                  <a:srgbClr val="FF9F1C"/>
                </a:solidFill>
                <a:latin typeface="Consolas"/>
                <a:cs typeface="Consolas"/>
              </a:rPr>
              <a:t>from</a:t>
            </a:r>
            <a:r>
              <a:rPr lang="en-US" b="0" i="0" dirty="0">
                <a:solidFill>
                  <a:srgbClr val="E6E6E6"/>
                </a:solidFill>
                <a:latin typeface="Consolas"/>
                <a:cs typeface="Consolas"/>
              </a:rPr>
              <a:t> </a:t>
            </a:r>
            <a:r>
              <a:rPr lang="en-US" b="0" i="0" dirty="0" err="1">
                <a:solidFill>
                  <a:srgbClr val="E6E6E6"/>
                </a:solidFill>
                <a:latin typeface="Consolas"/>
                <a:cs typeface="Consolas"/>
              </a:rPr>
              <a:t>google.genai</a:t>
            </a:r>
            <a:r>
              <a:rPr lang="en-US" b="0" i="0" dirty="0">
                <a:solidFill>
                  <a:srgbClr val="E6E6E6"/>
                </a:solidFill>
                <a:latin typeface="Consolas"/>
                <a:cs typeface="Consolas"/>
              </a:rPr>
              <a:t> </a:t>
            </a:r>
            <a:r>
              <a:rPr lang="en-US" b="0" i="0" dirty="0">
                <a:solidFill>
                  <a:srgbClr val="FF9F1C"/>
                </a:solidFill>
                <a:latin typeface="Consolas"/>
                <a:cs typeface="Consolas"/>
              </a:rPr>
              <a:t>import</a:t>
            </a:r>
            <a:r>
              <a:rPr lang="en-US" b="0" i="0" dirty="0">
                <a:solidFill>
                  <a:srgbClr val="E6E6E6"/>
                </a:solidFill>
                <a:latin typeface="Consolas"/>
                <a:cs typeface="Consolas"/>
              </a:rPr>
              <a:t> types</a:t>
            </a:r>
          </a:p>
          <a:p>
            <a:pPr algn="l" rtl="0"/>
            <a:r>
              <a:rPr lang="en-US" b="0" i="0" dirty="0">
                <a:solidFill>
                  <a:srgbClr val="E6E6E6"/>
                </a:solidFill>
                <a:latin typeface="Consolas"/>
                <a:cs typeface="Consolas"/>
              </a:rPr>
              <a:t> </a:t>
            </a:r>
          </a:p>
          <a:p>
            <a:pPr algn="l" rtl="0"/>
            <a:r>
              <a:rPr lang="en-US" b="0" i="0" dirty="0">
                <a:solidFill>
                  <a:srgbClr val="E6E6E6"/>
                </a:solidFill>
                <a:latin typeface="Consolas"/>
                <a:cs typeface="Consolas"/>
              </a:rPr>
              <a:t>config = </a:t>
            </a:r>
            <a:r>
              <a:rPr lang="en-US" b="0" i="0" dirty="0" err="1">
                <a:solidFill>
                  <a:srgbClr val="E6E6E6"/>
                </a:solidFill>
                <a:latin typeface="Consolas"/>
                <a:cs typeface="Consolas"/>
              </a:rPr>
              <a:t>types.GenerateContentConfig</a:t>
            </a:r>
            <a:r>
              <a:rPr lang="en-US" b="0" i="0" dirty="0">
                <a:solidFill>
                  <a:srgbClr val="E6E6E6"/>
                </a:solidFill>
                <a:latin typeface="Consolas"/>
                <a:cs typeface="Consolas"/>
              </a:rPr>
              <a:t>(</a:t>
            </a:r>
          </a:p>
          <a:p>
            <a:pPr algn="l" rtl="0"/>
            <a:r>
              <a:rPr lang="en-US" b="0" i="0" dirty="0">
                <a:solidFill>
                  <a:srgbClr val="E6E6E6"/>
                </a:solidFill>
                <a:latin typeface="Consolas"/>
                <a:cs typeface="Consolas"/>
              </a:rPr>
              <a:t>    </a:t>
            </a:r>
            <a:r>
              <a:rPr lang="en-US" b="0" i="0" dirty="0" err="1">
                <a:solidFill>
                  <a:srgbClr val="E6E6E6"/>
                </a:solidFill>
                <a:latin typeface="Consolas"/>
                <a:cs typeface="Consolas"/>
              </a:rPr>
              <a:t>system_instruction</a:t>
            </a:r>
            <a:r>
              <a:rPr lang="en-US" b="0" i="0" dirty="0">
                <a:solidFill>
                  <a:srgbClr val="E6E6E6"/>
                </a:solidFill>
                <a:latin typeface="Consolas"/>
                <a:cs typeface="Consolas"/>
              </a:rPr>
              <a:t>=</a:t>
            </a:r>
            <a:r>
              <a:rPr lang="en-US" b="0" i="0" dirty="0">
                <a:solidFill>
                  <a:srgbClr val="A6E22E"/>
                </a:solidFill>
                <a:latin typeface="Consolas"/>
                <a:cs typeface="Consolas"/>
              </a:rPr>
              <a:t>"You are a pirate. Answer in one sentence."</a:t>
            </a:r>
            <a:r>
              <a:rPr lang="en-US" b="0" i="0" dirty="0">
                <a:solidFill>
                  <a:srgbClr val="E6E6E6"/>
                </a:solidFill>
                <a:latin typeface="Consolas"/>
                <a:cs typeface="Consolas"/>
              </a:rPr>
              <a:t>,</a:t>
            </a:r>
          </a:p>
          <a:p>
            <a:pPr algn="l" rtl="0"/>
            <a:r>
              <a:rPr lang="en-US" b="0" i="0" dirty="0">
                <a:solidFill>
                  <a:srgbClr val="E6E6E6"/>
                </a:solidFill>
                <a:latin typeface="Consolas"/>
                <a:cs typeface="Consolas"/>
              </a:rPr>
              <a:t>    temperature=</a:t>
            </a:r>
            <a:r>
              <a:rPr lang="en-US" b="0" i="0" dirty="0">
                <a:solidFill>
                  <a:srgbClr val="FFD166"/>
                </a:solidFill>
                <a:latin typeface="Consolas"/>
                <a:cs typeface="Consolas"/>
              </a:rPr>
              <a:t>0</a:t>
            </a:r>
          </a:p>
          <a:p>
            <a:pPr algn="l" rtl="0"/>
            <a:r>
              <a:rPr lang="en-US" b="0" i="0" dirty="0">
                <a:solidFill>
                  <a:srgbClr val="E6E6E6"/>
                </a:solidFill>
                <a:latin typeface="Consolas"/>
                <a:cs typeface="Consolas"/>
              </a:rPr>
              <a:t>)</a:t>
            </a:r>
          </a:p>
          <a:p>
            <a:pPr algn="l" rtl="0"/>
            <a:r>
              <a:rPr lang="en-US" b="0" i="0" dirty="0">
                <a:solidFill>
                  <a:srgbClr val="E6E6E6"/>
                </a:solidFill>
                <a:latin typeface="Consolas"/>
                <a:cs typeface="Consolas"/>
              </a:rPr>
              <a:t>response = </a:t>
            </a:r>
            <a:r>
              <a:rPr lang="en-US" b="0" i="0" dirty="0" err="1">
                <a:solidFill>
                  <a:srgbClr val="E6E6E6"/>
                </a:solidFill>
                <a:latin typeface="Consolas"/>
                <a:cs typeface="Consolas"/>
              </a:rPr>
              <a:t>client.models.generate_content</a:t>
            </a:r>
            <a:r>
              <a:rPr lang="en-US" b="0" i="0" dirty="0">
                <a:solidFill>
                  <a:srgbClr val="E6E6E6"/>
                </a:solidFill>
                <a:latin typeface="Consolas"/>
                <a:cs typeface="Consolas"/>
              </a:rPr>
              <a:t>(</a:t>
            </a:r>
          </a:p>
          <a:p>
            <a:pPr algn="l" rtl="0"/>
            <a:r>
              <a:rPr lang="en-US" b="0" i="0" dirty="0">
                <a:solidFill>
                  <a:srgbClr val="E6E6E6"/>
                </a:solidFill>
                <a:latin typeface="Consolas"/>
                <a:cs typeface="Consolas"/>
              </a:rPr>
              <a:t>    model=MODEL, contents=</a:t>
            </a:r>
            <a:r>
              <a:rPr lang="en-US" b="0" i="0" dirty="0">
                <a:solidFill>
                  <a:srgbClr val="A6E22E"/>
                </a:solidFill>
                <a:latin typeface="Consolas"/>
                <a:cs typeface="Consolas"/>
              </a:rPr>
              <a:t>"What is Python?"</a:t>
            </a:r>
            <a:r>
              <a:rPr lang="en-US" b="0" i="0" dirty="0">
                <a:solidFill>
                  <a:srgbClr val="E6E6E6"/>
                </a:solidFill>
                <a:latin typeface="Consolas"/>
                <a:cs typeface="Consolas"/>
              </a:rPr>
              <a:t>, config=config)</a:t>
            </a:r>
          </a:p>
        </p:txBody>
      </p:sp>
      <p:sp>
        <p:nvSpPr>
          <p:cNvPr id="6" name="Rounded Rectangle 5"/>
          <p:cNvSpPr/>
          <p:nvPr/>
        </p:nvSpPr>
        <p:spPr>
          <a:xfrm>
            <a:off x="8138160" y="1417320"/>
            <a:ext cx="3502152" cy="13258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75320" y="1481328"/>
            <a:ext cx="3246120" cy="697627"/>
          </a:xfrm>
          <a:prstGeom prst="rect">
            <a:avLst/>
          </a:prstGeom>
          <a:noFill/>
        </p:spPr>
        <p:txBody>
          <a:bodyPr wrap="square" lIns="45720" rIns="45720" anchor="t">
            <a:spAutoFit/>
          </a:bodyPr>
          <a:lstStyle/>
          <a:p>
            <a:pPr algn="r" rtl="1">
              <a:spcAft>
                <a:spcPts val="400"/>
              </a:spcAft>
            </a:pPr>
            <a:r>
              <a:rPr lang="en-US" b="1" i="0" dirty="0" err="1">
                <a:solidFill>
                  <a:srgbClr val="2D9F5C"/>
                </a:solidFill>
                <a:latin typeface="Consolas"/>
                <a:cs typeface="Consolas"/>
              </a:rPr>
              <a:t>system_instruction</a:t>
            </a:r>
            <a:endParaRPr lang="en-US" b="1" i="0" dirty="0">
              <a:solidFill>
                <a:srgbClr val="2D9F5C"/>
              </a:solidFill>
              <a:latin typeface="Consolas"/>
              <a:cs typeface="Consolas"/>
            </a:endParaRPr>
          </a:p>
          <a:p>
            <a:pPr algn="r" rtl="1">
              <a:spcAft>
                <a:spcPts val="400"/>
              </a:spcAft>
            </a:pPr>
            <a:r>
              <a:rPr lang="he-IL" b="0" i="0" dirty="0">
                <a:solidFill>
                  <a:srgbClr val="1B2B34"/>
                </a:solidFill>
                <a:latin typeface="Arial"/>
                <a:cs typeface="Arial"/>
              </a:rPr>
              <a:t>הוראה קבועה: מי אתה ואיך לענות</a:t>
            </a:r>
          </a:p>
        </p:txBody>
      </p:sp>
      <p:sp>
        <p:nvSpPr>
          <p:cNvPr id="8" name="Rounded Rectangle 7"/>
          <p:cNvSpPr/>
          <p:nvPr/>
        </p:nvSpPr>
        <p:spPr>
          <a:xfrm>
            <a:off x="8138160" y="2971800"/>
            <a:ext cx="3502152" cy="13716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75320" y="3035808"/>
            <a:ext cx="3246120" cy="974626"/>
          </a:xfrm>
          <a:prstGeom prst="rect">
            <a:avLst/>
          </a:prstGeom>
          <a:noFill/>
        </p:spPr>
        <p:txBody>
          <a:bodyPr wrap="square" lIns="45720" rIns="45720" anchor="t">
            <a:spAutoFit/>
          </a:bodyPr>
          <a:lstStyle/>
          <a:p>
            <a:pPr algn="r" rtl="1">
              <a:spcAft>
                <a:spcPts val="400"/>
              </a:spcAft>
            </a:pPr>
            <a:r>
              <a:rPr lang="en-US" b="1" i="0" dirty="0">
                <a:solidFill>
                  <a:srgbClr val="EF476F"/>
                </a:solidFill>
                <a:latin typeface="Consolas"/>
                <a:cs typeface="Consolas"/>
              </a:rPr>
              <a:t>temperature</a:t>
            </a:r>
          </a:p>
          <a:p>
            <a:pPr algn="r" rtl="1">
              <a:spcAft>
                <a:spcPts val="400"/>
              </a:spcAft>
            </a:pPr>
            <a:r>
              <a:rPr lang="he-IL" b="0" i="0" dirty="0">
                <a:solidFill>
                  <a:srgbClr val="1B2B34"/>
                </a:solidFill>
                <a:latin typeface="Arial"/>
                <a:cs typeface="Arial"/>
              </a:rPr>
              <a:t>כמה אקראית הבחירה של המילה הבאה</a:t>
            </a:r>
          </a:p>
        </p:txBody>
      </p:sp>
      <p:sp>
        <p:nvSpPr>
          <p:cNvPr id="10" name="Rounded Rectangle 9"/>
          <p:cNvSpPr/>
          <p:nvPr/>
        </p:nvSpPr>
        <p:spPr>
          <a:xfrm>
            <a:off x="7955279" y="4663440"/>
            <a:ext cx="3566160" cy="822960"/>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600" b="1" i="0">
                <a:solidFill>
                  <a:srgbClr val="FFFFFF"/>
                </a:solidFill>
                <a:latin typeface="Consolas"/>
                <a:cs typeface="Consolas"/>
              </a:rPr>
              <a:t>temperature = 0</a:t>
            </a:r>
          </a:p>
        </p:txBody>
      </p:sp>
      <p:sp>
        <p:nvSpPr>
          <p:cNvPr id="11" name="TextBox 10"/>
          <p:cNvSpPr txBox="1"/>
          <p:nvPr/>
        </p:nvSpPr>
        <p:spPr>
          <a:xfrm>
            <a:off x="7863840" y="5532120"/>
            <a:ext cx="3749039" cy="41148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צפוי - כמעט תמיד אותה תשובה</a:t>
            </a:r>
          </a:p>
        </p:txBody>
      </p:sp>
      <p:sp>
        <p:nvSpPr>
          <p:cNvPr id="12" name="Rounded Rectangle 11"/>
          <p:cNvSpPr/>
          <p:nvPr/>
        </p:nvSpPr>
        <p:spPr>
          <a:xfrm>
            <a:off x="4297679" y="4663440"/>
            <a:ext cx="3566160" cy="822960"/>
          </a:xfrm>
          <a:prstGeom prst="roundRect">
            <a:avLst>
              <a:gd name="adj" fmla="val 3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600" b="1" i="0">
                <a:solidFill>
                  <a:srgbClr val="FFFFFF"/>
                </a:solidFill>
                <a:latin typeface="Consolas"/>
                <a:cs typeface="Consolas"/>
              </a:rPr>
              <a:t>temperature = 1</a:t>
            </a:r>
          </a:p>
        </p:txBody>
      </p:sp>
      <p:sp>
        <p:nvSpPr>
          <p:cNvPr id="13" name="TextBox 12"/>
          <p:cNvSpPr txBox="1"/>
          <p:nvPr/>
        </p:nvSpPr>
        <p:spPr>
          <a:xfrm>
            <a:off x="4206240" y="5532120"/>
            <a:ext cx="3749039" cy="41148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רגיל</a:t>
            </a:r>
          </a:p>
        </p:txBody>
      </p:sp>
      <p:sp>
        <p:nvSpPr>
          <p:cNvPr id="14" name="Rounded Rectangle 13"/>
          <p:cNvSpPr/>
          <p:nvPr/>
        </p:nvSpPr>
        <p:spPr>
          <a:xfrm>
            <a:off x="640079" y="4663440"/>
            <a:ext cx="3566160" cy="822960"/>
          </a:xfrm>
          <a:prstGeom prst="roundRect">
            <a:avLst>
              <a:gd name="adj" fmla="val 30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600" b="1" i="0">
                <a:solidFill>
                  <a:srgbClr val="FFFFFF"/>
                </a:solidFill>
                <a:latin typeface="Consolas"/>
                <a:cs typeface="Consolas"/>
              </a:rPr>
              <a:t>temperature = 2</a:t>
            </a:r>
          </a:p>
        </p:txBody>
      </p:sp>
      <p:sp>
        <p:nvSpPr>
          <p:cNvPr id="15" name="TextBox 14"/>
          <p:cNvSpPr txBox="1"/>
          <p:nvPr/>
        </p:nvSpPr>
        <p:spPr>
          <a:xfrm>
            <a:off x="548639" y="5532120"/>
            <a:ext cx="3749039" cy="41148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יצירתי ומפתיע</a:t>
            </a:r>
          </a:p>
        </p:txBody>
      </p:sp>
      <p:cxnSp>
        <p:nvCxnSpPr>
          <p:cNvPr id="17" name="Straight Arrow Connector 16">
            <a:extLst>
              <a:ext uri="{FF2B5EF4-FFF2-40B4-BE49-F238E27FC236}">
                <a16:creationId xmlns:a16="http://schemas.microsoft.com/office/drawing/2014/main" id="{148D07AE-D801-FFB1-C547-1874E5EBFA6A}"/>
              </a:ext>
            </a:extLst>
          </p:cNvPr>
          <p:cNvCxnSpPr/>
          <p:nvPr/>
        </p:nvCxnSpPr>
        <p:spPr>
          <a:xfrm flipH="1">
            <a:off x="8877670" y="4010434"/>
            <a:ext cx="878889" cy="534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20</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סוגי שגיאות נפוצות</a:t>
            </a:r>
          </a:p>
        </p:txBody>
      </p:sp>
      <p:sp>
        <p:nvSpPr>
          <p:cNvPr id="4" name="TextBox 3"/>
          <p:cNvSpPr txBox="1"/>
          <p:nvPr/>
        </p:nvSpPr>
        <p:spPr>
          <a:xfrm>
            <a:off x="6400800" y="1325880"/>
            <a:ext cx="5212080" cy="411480"/>
          </a:xfrm>
          <a:prstGeom prst="rect">
            <a:avLst/>
          </a:prstGeom>
          <a:noFill/>
        </p:spPr>
        <p:txBody>
          <a:bodyPr wrap="square" lIns="45720" rIns="45720" anchor="t">
            <a:spAutoFit/>
          </a:bodyPr>
          <a:lstStyle/>
          <a:p>
            <a:pPr algn="l" rtl="0"/>
            <a:r>
              <a:rPr lang="en-US" sz="1500" b="1" i="0">
                <a:solidFill>
                  <a:srgbClr val="5F6F78"/>
                </a:solidFill>
                <a:latin typeface="Arial"/>
                <a:cs typeface="Arial"/>
              </a:rPr>
              <a:t>השגיאה</a:t>
            </a:r>
          </a:p>
        </p:txBody>
      </p:sp>
      <p:sp>
        <p:nvSpPr>
          <p:cNvPr id="5" name="TextBox 4"/>
          <p:cNvSpPr txBox="1"/>
          <p:nvPr/>
        </p:nvSpPr>
        <p:spPr>
          <a:xfrm>
            <a:off x="3566160" y="1325880"/>
            <a:ext cx="2651760" cy="411480"/>
          </a:xfrm>
          <a:prstGeom prst="rect">
            <a:avLst/>
          </a:prstGeom>
          <a:noFill/>
        </p:spPr>
        <p:txBody>
          <a:bodyPr wrap="square" lIns="45720" rIns="45720" anchor="t">
            <a:spAutoFit/>
          </a:bodyPr>
          <a:lstStyle/>
          <a:p>
            <a:pPr algn="r" rtl="1"/>
            <a:r>
              <a:rPr lang="he-IL" sz="1500" b="1" i="0">
                <a:solidFill>
                  <a:srgbClr val="5F6F78"/>
                </a:solidFill>
                <a:latin typeface="Arial"/>
                <a:cs typeface="Arial"/>
              </a:rPr>
              <a:t>מה זה אומר</a:t>
            </a:r>
          </a:p>
        </p:txBody>
      </p:sp>
      <p:sp>
        <p:nvSpPr>
          <p:cNvPr id="6" name="TextBox 5"/>
          <p:cNvSpPr txBox="1"/>
          <p:nvPr/>
        </p:nvSpPr>
        <p:spPr>
          <a:xfrm>
            <a:off x="548640" y="1325880"/>
            <a:ext cx="2834640" cy="411480"/>
          </a:xfrm>
          <a:prstGeom prst="rect">
            <a:avLst/>
          </a:prstGeom>
          <a:noFill/>
        </p:spPr>
        <p:txBody>
          <a:bodyPr wrap="square" lIns="45720" rIns="45720" anchor="t">
            <a:spAutoFit/>
          </a:bodyPr>
          <a:lstStyle/>
          <a:p>
            <a:pPr algn="r" rtl="1"/>
            <a:r>
              <a:rPr lang="he-IL" sz="1500" b="1" i="0">
                <a:solidFill>
                  <a:srgbClr val="5F6F78"/>
                </a:solidFill>
                <a:latin typeface="Arial"/>
                <a:cs typeface="Arial"/>
              </a:rPr>
              <a:t>מה עושים</a:t>
            </a:r>
          </a:p>
        </p:txBody>
      </p:sp>
      <p:sp>
        <p:nvSpPr>
          <p:cNvPr id="7" name="Rounded Rectangle 6"/>
          <p:cNvSpPr/>
          <p:nvPr/>
        </p:nvSpPr>
        <p:spPr>
          <a:xfrm>
            <a:off x="548640" y="1783080"/>
            <a:ext cx="11091672" cy="658368"/>
          </a:xfrm>
          <a:prstGeom prst="roundRect">
            <a:avLst>
              <a:gd name="adj" fmla="val 15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783080"/>
            <a:ext cx="5120640" cy="658368"/>
          </a:xfrm>
          <a:prstGeom prst="rect">
            <a:avLst/>
          </a:prstGeom>
          <a:noFill/>
        </p:spPr>
        <p:txBody>
          <a:bodyPr wrap="square" lIns="45720" rIns="45720" anchor="ctr">
            <a:spAutoFit/>
          </a:bodyPr>
          <a:lstStyle/>
          <a:p>
            <a:pPr algn="l" rtl="0"/>
            <a:r>
              <a:rPr lang="en-US" sz="1600" b="1" i="0">
                <a:solidFill>
                  <a:srgbClr val="EF476F"/>
                </a:solidFill>
                <a:latin typeface="Consolas"/>
                <a:cs typeface="Consolas"/>
              </a:rPr>
              <a:t>ModuleNotFoundError</a:t>
            </a:r>
          </a:p>
        </p:txBody>
      </p:sp>
      <p:sp>
        <p:nvSpPr>
          <p:cNvPr id="9" name="TextBox 8"/>
          <p:cNvSpPr txBox="1"/>
          <p:nvPr/>
        </p:nvSpPr>
        <p:spPr>
          <a:xfrm>
            <a:off x="3566160" y="1783080"/>
            <a:ext cx="2651760" cy="658368"/>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הספרייה לא מותקנת</a:t>
            </a:r>
          </a:p>
        </p:txBody>
      </p:sp>
      <p:sp>
        <p:nvSpPr>
          <p:cNvPr id="10" name="TextBox 9"/>
          <p:cNvSpPr txBox="1"/>
          <p:nvPr/>
        </p:nvSpPr>
        <p:spPr>
          <a:xfrm>
            <a:off x="731520" y="1783080"/>
            <a:ext cx="2651760" cy="658368"/>
          </a:xfrm>
          <a:prstGeom prst="rect">
            <a:avLst/>
          </a:prstGeom>
          <a:noFill/>
        </p:spPr>
        <p:txBody>
          <a:bodyPr wrap="square" lIns="45720" rIns="45720" anchor="ctr">
            <a:spAutoFit/>
          </a:bodyPr>
          <a:lstStyle/>
          <a:p>
            <a:pPr algn="r" rtl="1"/>
            <a:r>
              <a:rPr lang="en-US" sz="1500" b="1" i="0">
                <a:solidFill>
                  <a:srgbClr val="2D6A4F"/>
                </a:solidFill>
                <a:latin typeface="Arial"/>
                <a:cs typeface="Arial"/>
              </a:rPr>
              <a:t>pip install google-genai</a:t>
            </a:r>
          </a:p>
        </p:txBody>
      </p:sp>
      <p:sp>
        <p:nvSpPr>
          <p:cNvPr id="11" name="Rounded Rectangle 10"/>
          <p:cNvSpPr/>
          <p:nvPr/>
        </p:nvSpPr>
        <p:spPr>
          <a:xfrm>
            <a:off x="548640" y="2560320"/>
            <a:ext cx="11091672" cy="6583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560320"/>
            <a:ext cx="5120640" cy="658368"/>
          </a:xfrm>
          <a:prstGeom prst="rect">
            <a:avLst/>
          </a:prstGeom>
          <a:noFill/>
        </p:spPr>
        <p:txBody>
          <a:bodyPr wrap="square" lIns="45720" rIns="45720" anchor="ctr">
            <a:spAutoFit/>
          </a:bodyPr>
          <a:lstStyle/>
          <a:p>
            <a:pPr algn="l" rtl="0"/>
            <a:r>
              <a:rPr lang="en-US" sz="1600" b="1" i="0">
                <a:solidFill>
                  <a:srgbClr val="EF476F"/>
                </a:solidFill>
                <a:latin typeface="Consolas"/>
                <a:cs typeface="Consolas"/>
              </a:rPr>
              <a:t>400 API key not valid</a:t>
            </a:r>
          </a:p>
        </p:txBody>
      </p:sp>
      <p:sp>
        <p:nvSpPr>
          <p:cNvPr id="13" name="TextBox 12"/>
          <p:cNvSpPr txBox="1"/>
          <p:nvPr/>
        </p:nvSpPr>
        <p:spPr>
          <a:xfrm>
            <a:off x="3566160" y="2560320"/>
            <a:ext cx="2651760" cy="658368"/>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המפתח שגוי</a:t>
            </a:r>
          </a:p>
        </p:txBody>
      </p:sp>
      <p:sp>
        <p:nvSpPr>
          <p:cNvPr id="14" name="TextBox 13"/>
          <p:cNvSpPr txBox="1"/>
          <p:nvPr/>
        </p:nvSpPr>
        <p:spPr>
          <a:xfrm>
            <a:off x="731520" y="2560320"/>
            <a:ext cx="2651760" cy="658368"/>
          </a:xfrm>
          <a:prstGeom prst="rect">
            <a:avLst/>
          </a:prstGeom>
          <a:noFill/>
        </p:spPr>
        <p:txBody>
          <a:bodyPr wrap="square" lIns="45720" rIns="45720" anchor="ctr">
            <a:spAutoFit/>
          </a:bodyPr>
          <a:lstStyle/>
          <a:p>
            <a:pPr algn="r" rtl="1"/>
            <a:r>
              <a:rPr lang="he-IL" sz="1500" b="1" i="0">
                <a:solidFill>
                  <a:srgbClr val="2D6A4F"/>
                </a:solidFill>
                <a:latin typeface="Arial"/>
                <a:cs typeface="Arial"/>
              </a:rPr>
              <a:t>בדקו שהעתקתם את כל המפתח</a:t>
            </a:r>
          </a:p>
        </p:txBody>
      </p:sp>
      <p:sp>
        <p:nvSpPr>
          <p:cNvPr id="15" name="Rounded Rectangle 14"/>
          <p:cNvSpPr/>
          <p:nvPr/>
        </p:nvSpPr>
        <p:spPr>
          <a:xfrm>
            <a:off x="548640" y="3337560"/>
            <a:ext cx="11091672" cy="658368"/>
          </a:xfrm>
          <a:prstGeom prst="roundRect">
            <a:avLst>
              <a:gd name="adj" fmla="val 15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3337560"/>
            <a:ext cx="5120640" cy="658368"/>
          </a:xfrm>
          <a:prstGeom prst="rect">
            <a:avLst/>
          </a:prstGeom>
          <a:noFill/>
        </p:spPr>
        <p:txBody>
          <a:bodyPr wrap="square" lIns="45720" rIns="45720" anchor="ctr">
            <a:spAutoFit/>
          </a:bodyPr>
          <a:lstStyle/>
          <a:p>
            <a:pPr algn="l" rtl="0"/>
            <a:r>
              <a:rPr lang="en-US" sz="1600" b="1" i="0">
                <a:solidFill>
                  <a:srgbClr val="EF476F"/>
                </a:solidFill>
                <a:latin typeface="Consolas"/>
                <a:cs typeface="Consolas"/>
              </a:rPr>
              <a:t>404 NOT_FOUND</a:t>
            </a:r>
          </a:p>
        </p:txBody>
      </p:sp>
      <p:sp>
        <p:nvSpPr>
          <p:cNvPr id="17" name="TextBox 16"/>
          <p:cNvSpPr txBox="1"/>
          <p:nvPr/>
        </p:nvSpPr>
        <p:spPr>
          <a:xfrm>
            <a:off x="3566160" y="3337560"/>
            <a:ext cx="2651760" cy="658368"/>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אין מודל בשם הזה</a:t>
            </a:r>
          </a:p>
        </p:txBody>
      </p:sp>
      <p:sp>
        <p:nvSpPr>
          <p:cNvPr id="18" name="TextBox 17"/>
          <p:cNvSpPr txBox="1"/>
          <p:nvPr/>
        </p:nvSpPr>
        <p:spPr>
          <a:xfrm>
            <a:off x="731520" y="3337560"/>
            <a:ext cx="2651760" cy="658368"/>
          </a:xfrm>
          <a:prstGeom prst="rect">
            <a:avLst/>
          </a:prstGeom>
          <a:noFill/>
        </p:spPr>
        <p:txBody>
          <a:bodyPr wrap="square" lIns="45720" rIns="45720" anchor="ctr">
            <a:spAutoFit/>
          </a:bodyPr>
          <a:lstStyle/>
          <a:p>
            <a:pPr algn="r" rtl="1"/>
            <a:r>
              <a:rPr lang="he-IL" sz="1500" b="1" i="0">
                <a:solidFill>
                  <a:srgbClr val="2D6A4F"/>
                </a:solidFill>
                <a:latin typeface="Arial"/>
                <a:cs typeface="Arial"/>
              </a:rPr>
              <a:t>בדקו את </a:t>
            </a:r>
            <a:r>
              <a:rPr lang="en-US" sz="1500" b="1" i="0">
                <a:solidFill>
                  <a:srgbClr val="2D6A4F"/>
                </a:solidFill>
                <a:latin typeface="Arial"/>
                <a:cs typeface="Arial"/>
              </a:rPr>
              <a:t>MODEL</a:t>
            </a:r>
          </a:p>
        </p:txBody>
      </p:sp>
      <p:sp>
        <p:nvSpPr>
          <p:cNvPr id="19" name="Rounded Rectangle 18"/>
          <p:cNvSpPr/>
          <p:nvPr/>
        </p:nvSpPr>
        <p:spPr>
          <a:xfrm>
            <a:off x="548640" y="4114800"/>
            <a:ext cx="11091672" cy="6583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4114800"/>
            <a:ext cx="5120640" cy="658368"/>
          </a:xfrm>
          <a:prstGeom prst="rect">
            <a:avLst/>
          </a:prstGeom>
          <a:noFill/>
        </p:spPr>
        <p:txBody>
          <a:bodyPr wrap="square" lIns="45720" rIns="45720" anchor="ctr">
            <a:spAutoFit/>
          </a:bodyPr>
          <a:lstStyle/>
          <a:p>
            <a:pPr algn="l" rtl="0"/>
            <a:r>
              <a:rPr lang="en-US" sz="1600" b="1" i="0">
                <a:solidFill>
                  <a:srgbClr val="EF476F"/>
                </a:solidFill>
                <a:latin typeface="Consolas"/>
                <a:cs typeface="Consolas"/>
              </a:rPr>
              <a:t>429 RESOURCE_EXHAUSTED</a:t>
            </a:r>
          </a:p>
        </p:txBody>
      </p:sp>
      <p:sp>
        <p:nvSpPr>
          <p:cNvPr id="21" name="TextBox 20"/>
          <p:cNvSpPr txBox="1"/>
          <p:nvPr/>
        </p:nvSpPr>
        <p:spPr>
          <a:xfrm>
            <a:off x="3566160" y="4114800"/>
            <a:ext cx="2651760" cy="658368"/>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יותר מדי שאלות בדקה</a:t>
            </a:r>
          </a:p>
        </p:txBody>
      </p:sp>
      <p:sp>
        <p:nvSpPr>
          <p:cNvPr id="22" name="TextBox 21"/>
          <p:cNvSpPr txBox="1"/>
          <p:nvPr/>
        </p:nvSpPr>
        <p:spPr>
          <a:xfrm>
            <a:off x="731520" y="4114800"/>
            <a:ext cx="2651760" cy="658368"/>
          </a:xfrm>
          <a:prstGeom prst="rect">
            <a:avLst/>
          </a:prstGeom>
          <a:noFill/>
        </p:spPr>
        <p:txBody>
          <a:bodyPr wrap="square" lIns="45720" rIns="45720" anchor="ctr">
            <a:spAutoFit/>
          </a:bodyPr>
          <a:lstStyle/>
          <a:p>
            <a:pPr algn="r" rtl="1"/>
            <a:r>
              <a:rPr lang="he-IL" sz="1500" b="1" i="0">
                <a:solidFill>
                  <a:srgbClr val="2D6A4F"/>
                </a:solidFill>
                <a:latin typeface="Arial"/>
                <a:cs typeface="Arial"/>
              </a:rPr>
              <a:t>מחכים דקה ומנסים שוב</a:t>
            </a:r>
          </a:p>
        </p:txBody>
      </p:sp>
      <p:sp>
        <p:nvSpPr>
          <p:cNvPr id="23" name="Rounded Rectangle 22"/>
          <p:cNvSpPr/>
          <p:nvPr/>
        </p:nvSpPr>
        <p:spPr>
          <a:xfrm>
            <a:off x="548640" y="4892040"/>
            <a:ext cx="11091672" cy="658368"/>
          </a:xfrm>
          <a:prstGeom prst="roundRect">
            <a:avLst>
              <a:gd name="adj" fmla="val 15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4892040"/>
            <a:ext cx="5120640" cy="658368"/>
          </a:xfrm>
          <a:prstGeom prst="rect">
            <a:avLst/>
          </a:prstGeom>
          <a:noFill/>
        </p:spPr>
        <p:txBody>
          <a:bodyPr wrap="square" lIns="45720" rIns="45720" anchor="ctr">
            <a:spAutoFit/>
          </a:bodyPr>
          <a:lstStyle/>
          <a:p>
            <a:pPr algn="l" rtl="0"/>
            <a:r>
              <a:rPr lang="en-US" sz="1600" b="1" i="0">
                <a:solidFill>
                  <a:srgbClr val="EF476F"/>
                </a:solidFill>
                <a:latin typeface="Consolas"/>
                <a:cs typeface="Consolas"/>
              </a:rPr>
              <a:t>503 UNAVAILABLE</a:t>
            </a:r>
          </a:p>
        </p:txBody>
      </p:sp>
      <p:sp>
        <p:nvSpPr>
          <p:cNvPr id="25" name="TextBox 24"/>
          <p:cNvSpPr txBox="1"/>
          <p:nvPr/>
        </p:nvSpPr>
        <p:spPr>
          <a:xfrm>
            <a:off x="3566160" y="4892040"/>
            <a:ext cx="2651760" cy="658368"/>
          </a:xfrm>
          <a:prstGeom prst="rect">
            <a:avLst/>
          </a:prstGeom>
          <a:noFill/>
        </p:spPr>
        <p:txBody>
          <a:bodyPr wrap="square" lIns="45720" rIns="45720" anchor="ctr">
            <a:spAutoFit/>
          </a:bodyPr>
          <a:lstStyle/>
          <a:p>
            <a:pPr algn="r" rtl="1"/>
            <a:r>
              <a:rPr lang="en-US" sz="1600" b="0" i="0">
                <a:solidFill>
                  <a:srgbClr val="1B2B34"/>
                </a:solidFill>
                <a:latin typeface="Arial"/>
                <a:cs typeface="Arial"/>
              </a:rPr>
              <a:t>Gemini</a:t>
            </a:r>
            <a:r>
              <a:rPr lang="he-IL" sz="1600" b="0" i="0">
                <a:solidFill>
                  <a:srgbClr val="1B2B34"/>
                </a:solidFill>
                <a:latin typeface="Arial"/>
                <a:cs typeface="Arial"/>
              </a:rPr>
              <a:t> עמוס כרגע</a:t>
            </a:r>
          </a:p>
        </p:txBody>
      </p:sp>
      <p:sp>
        <p:nvSpPr>
          <p:cNvPr id="26" name="TextBox 25"/>
          <p:cNvSpPr txBox="1"/>
          <p:nvPr/>
        </p:nvSpPr>
        <p:spPr>
          <a:xfrm>
            <a:off x="731520" y="4892040"/>
            <a:ext cx="2651760" cy="658368"/>
          </a:xfrm>
          <a:prstGeom prst="rect">
            <a:avLst/>
          </a:prstGeom>
          <a:noFill/>
        </p:spPr>
        <p:txBody>
          <a:bodyPr wrap="square" lIns="45720" rIns="45720" anchor="ctr">
            <a:spAutoFit/>
          </a:bodyPr>
          <a:lstStyle/>
          <a:p>
            <a:pPr algn="r" rtl="1"/>
            <a:r>
              <a:rPr lang="he-IL" sz="1500" b="1" i="0">
                <a:solidFill>
                  <a:srgbClr val="2D6A4F"/>
                </a:solidFill>
                <a:latin typeface="Arial"/>
                <a:cs typeface="Arial"/>
              </a:rPr>
              <a:t>מנסים שוב עוד מעט</a:t>
            </a:r>
          </a:p>
        </p:txBody>
      </p:sp>
      <p:sp>
        <p:nvSpPr>
          <p:cNvPr id="27" name="TextBox 26"/>
          <p:cNvSpPr txBox="1"/>
          <p:nvPr/>
        </p:nvSpPr>
        <p:spPr>
          <a:xfrm>
            <a:off x="548640" y="5760720"/>
            <a:ext cx="11091672" cy="457200"/>
          </a:xfrm>
          <a:prstGeom prst="rect">
            <a:avLst/>
          </a:prstGeom>
          <a:noFill/>
        </p:spPr>
        <p:txBody>
          <a:bodyPr wrap="square" lIns="45720" rIns="45720" anchor="t">
            <a:spAutoFit/>
          </a:bodyPr>
          <a:lstStyle/>
          <a:p>
            <a:pPr algn="ctr" rtl="1"/>
            <a:r>
              <a:rPr lang="he-IL" sz="1600" b="0" i="0">
                <a:solidFill>
                  <a:srgbClr val="5F6F78"/>
                </a:solidFill>
                <a:latin typeface="Arial"/>
                <a:cs typeface="Arial"/>
              </a:rPr>
              <a:t>קוראים את השורה האחרונה של השגיאה - שם כתוב מה קרה</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21</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תרגיל 2: אותה שאלה - מתוך פייתון</a:t>
            </a:r>
          </a:p>
        </p:txBody>
      </p:sp>
      <p:sp>
        <p:nvSpPr>
          <p:cNvPr id="4" name="Oval 3"/>
          <p:cNvSpPr/>
          <p:nvPr/>
        </p:nvSpPr>
        <p:spPr>
          <a:xfrm>
            <a:off x="10972800" y="1463040"/>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1</a:t>
            </a:r>
          </a:p>
        </p:txBody>
      </p:sp>
      <p:sp>
        <p:nvSpPr>
          <p:cNvPr id="5" name="TextBox 4"/>
          <p:cNvSpPr txBox="1"/>
          <p:nvPr/>
        </p:nvSpPr>
        <p:spPr>
          <a:xfrm>
            <a:off x="6675120" y="1463040"/>
            <a:ext cx="416052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פתחו את </a:t>
            </a:r>
            <a:r>
              <a:rPr lang="en-US" sz="1700" b="0" i="0">
                <a:solidFill>
                  <a:srgbClr val="1B2B34"/>
                </a:solidFill>
                <a:latin typeface="Arial"/>
                <a:cs typeface="Arial"/>
              </a:rPr>
              <a:t>aiapibasic_example.py</a:t>
            </a:r>
          </a:p>
        </p:txBody>
      </p:sp>
      <p:sp>
        <p:nvSpPr>
          <p:cNvPr id="6" name="Oval 5"/>
          <p:cNvSpPr/>
          <p:nvPr/>
        </p:nvSpPr>
        <p:spPr>
          <a:xfrm>
            <a:off x="10972800" y="2377440"/>
            <a:ext cx="640080" cy="6400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2</a:t>
            </a:r>
          </a:p>
        </p:txBody>
      </p:sp>
      <p:sp>
        <p:nvSpPr>
          <p:cNvPr id="7" name="TextBox 6"/>
          <p:cNvSpPr txBox="1"/>
          <p:nvPr/>
        </p:nvSpPr>
        <p:spPr>
          <a:xfrm>
            <a:off x="6675120" y="2377440"/>
            <a:ext cx="416052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שנו את </a:t>
            </a:r>
            <a:r>
              <a:rPr lang="en-US" sz="1700" b="0" i="0">
                <a:solidFill>
                  <a:srgbClr val="1B2B34"/>
                </a:solidFill>
                <a:latin typeface="Arial"/>
                <a:cs typeface="Arial"/>
              </a:rPr>
              <a:t>contents</a:t>
            </a:r>
            <a:r>
              <a:rPr lang="he-IL" sz="1700" b="0" i="0">
                <a:solidFill>
                  <a:srgbClr val="1B2B34"/>
                </a:solidFill>
                <a:latin typeface="Arial"/>
                <a:cs typeface="Arial"/>
              </a:rPr>
              <a:t> לשאלה המדויקת מתרגיל 1</a:t>
            </a:r>
          </a:p>
        </p:txBody>
      </p:sp>
      <p:sp>
        <p:nvSpPr>
          <p:cNvPr id="8" name="Oval 7"/>
          <p:cNvSpPr/>
          <p:nvPr/>
        </p:nvSpPr>
        <p:spPr>
          <a:xfrm>
            <a:off x="10972800" y="3291840"/>
            <a:ext cx="640080" cy="6400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3</a:t>
            </a:r>
          </a:p>
        </p:txBody>
      </p:sp>
      <p:sp>
        <p:nvSpPr>
          <p:cNvPr id="9" name="TextBox 8"/>
          <p:cNvSpPr txBox="1"/>
          <p:nvPr/>
        </p:nvSpPr>
        <p:spPr>
          <a:xfrm>
            <a:off x="6675120" y="3291840"/>
            <a:ext cx="416052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הריצו והשוו לתשובה ששמרתם מהאתר</a:t>
            </a:r>
          </a:p>
        </p:txBody>
      </p:sp>
      <p:sp>
        <p:nvSpPr>
          <p:cNvPr id="12" name="Rounded Rectangle 11"/>
          <p:cNvSpPr/>
          <p:nvPr/>
        </p:nvSpPr>
        <p:spPr>
          <a:xfrm>
            <a:off x="548640" y="1463040"/>
            <a:ext cx="5852160" cy="146304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1655951"/>
            <a:ext cx="5394960" cy="1077218"/>
          </a:xfrm>
          <a:prstGeom prst="rect">
            <a:avLst/>
          </a:prstGeom>
          <a:noFill/>
        </p:spPr>
        <p:txBody>
          <a:bodyPr wrap="square" lIns="45720" rIns="45720" anchor="ctr">
            <a:spAutoFit/>
          </a:bodyPr>
          <a:lstStyle/>
          <a:p>
            <a:pPr algn="l" rtl="0"/>
            <a:r>
              <a:rPr lang="en-US" sz="1600" b="0" i="0" dirty="0">
                <a:solidFill>
                  <a:srgbClr val="E6E6E6"/>
                </a:solidFill>
                <a:latin typeface="Consolas"/>
                <a:cs typeface="Consolas"/>
              </a:rPr>
              <a:t>response = </a:t>
            </a:r>
            <a:r>
              <a:rPr lang="en-US" sz="1600" b="0" i="0" dirty="0" err="1">
                <a:solidFill>
                  <a:srgbClr val="E6E6E6"/>
                </a:solidFill>
                <a:latin typeface="Consolas"/>
                <a:cs typeface="Consolas"/>
              </a:rPr>
              <a:t>client.models.generate_content</a:t>
            </a:r>
            <a:r>
              <a:rPr lang="en-US" sz="1600" b="0" i="0" dirty="0">
                <a:solidFill>
                  <a:srgbClr val="E6E6E6"/>
                </a:solidFill>
                <a:latin typeface="Consolas"/>
                <a:cs typeface="Consolas"/>
              </a:rPr>
              <a:t>(</a:t>
            </a:r>
          </a:p>
          <a:p>
            <a:pPr algn="l" rtl="0"/>
            <a:r>
              <a:rPr lang="en-US" sz="1600" b="0" i="0" dirty="0">
                <a:solidFill>
                  <a:srgbClr val="E6E6E6"/>
                </a:solidFill>
                <a:latin typeface="Consolas"/>
                <a:cs typeface="Consolas"/>
              </a:rPr>
              <a:t>    model=</a:t>
            </a:r>
            <a:r>
              <a:rPr lang="en-US" sz="1600" b="0" i="0" dirty="0">
                <a:solidFill>
                  <a:srgbClr val="A6E22E"/>
                </a:solidFill>
                <a:latin typeface="Consolas"/>
                <a:cs typeface="Consolas"/>
              </a:rPr>
              <a:t>"gemini-3.6-flash"</a:t>
            </a:r>
            <a:r>
              <a:rPr lang="en-US" sz="1600" b="0" i="0" dirty="0">
                <a:solidFill>
                  <a:srgbClr val="E6E6E6"/>
                </a:solidFill>
                <a:latin typeface="Consolas"/>
                <a:cs typeface="Consolas"/>
              </a:rPr>
              <a:t>,</a:t>
            </a:r>
          </a:p>
          <a:p>
            <a:pPr algn="l" rtl="0"/>
            <a:r>
              <a:rPr lang="en-US" sz="1600" b="0" i="0" dirty="0">
                <a:solidFill>
                  <a:srgbClr val="E6E6E6"/>
                </a:solidFill>
                <a:latin typeface="Consolas"/>
                <a:cs typeface="Consolas"/>
              </a:rPr>
              <a:t>    contents=</a:t>
            </a:r>
            <a:r>
              <a:rPr lang="en-US" sz="1600" b="0" i="0" dirty="0">
                <a:solidFill>
                  <a:srgbClr val="A6E22E"/>
                </a:solidFill>
                <a:latin typeface="Consolas"/>
                <a:cs typeface="Consolas"/>
              </a:rPr>
              <a:t>"Write a short Python program ..."</a:t>
            </a:r>
            <a:r>
              <a:rPr lang="en-US" sz="1600" b="0" i="0" dirty="0">
                <a:solidFill>
                  <a:srgbClr val="E6E6E6"/>
                </a:solidFill>
                <a:latin typeface="Consolas"/>
                <a:cs typeface="Consolas"/>
              </a:rPr>
              <a:t>)</a:t>
            </a:r>
          </a:p>
        </p:txBody>
      </p:sp>
      <p:sp>
        <p:nvSpPr>
          <p:cNvPr id="14" name="Rounded Rectangle 13"/>
          <p:cNvSpPr/>
          <p:nvPr/>
        </p:nvSpPr>
        <p:spPr>
          <a:xfrm>
            <a:off x="548640" y="3154680"/>
            <a:ext cx="5852160" cy="2011680"/>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246120"/>
            <a:ext cx="5394960" cy="1828800"/>
          </a:xfrm>
          <a:prstGeom prst="rect">
            <a:avLst/>
          </a:prstGeom>
          <a:noFill/>
        </p:spPr>
        <p:txBody>
          <a:bodyPr wrap="square" lIns="45720" rIns="45720" anchor="t">
            <a:spAutoFit/>
          </a:bodyPr>
          <a:lstStyle/>
          <a:p>
            <a:pPr algn="r" rtl="1">
              <a:spcAft>
                <a:spcPts val="600"/>
              </a:spcAft>
            </a:pPr>
            <a:r>
              <a:rPr lang="he-IL" sz="1700" b="1" i="0">
                <a:solidFill>
                  <a:srgbClr val="1B2B34"/>
                </a:solidFill>
                <a:latin typeface="Arial"/>
                <a:cs typeface="Arial"/>
              </a:rPr>
              <a:t>🤔 שאלה למחשבה:</a:t>
            </a:r>
          </a:p>
          <a:p>
            <a:pPr algn="r" rtl="1">
              <a:spcAft>
                <a:spcPts val="600"/>
              </a:spcAft>
            </a:pPr>
            <a:r>
              <a:rPr lang="he-IL" sz="1700" b="0" i="0">
                <a:solidFill>
                  <a:srgbClr val="1B2B34"/>
                </a:solidFill>
                <a:latin typeface="Arial"/>
                <a:cs typeface="Arial"/>
              </a:rPr>
              <a:t>קיבלתם תשובה שונה? למה?</a:t>
            </a:r>
          </a:p>
          <a:p>
            <a:pPr algn="r" rtl="1">
              <a:spcAft>
                <a:spcPts val="600"/>
              </a:spcAft>
            </a:pPr>
            <a:r>
              <a:rPr lang="he-IL" sz="1700" b="1" i="0">
                <a:solidFill>
                  <a:srgbClr val="EF476F"/>
                </a:solidFill>
                <a:latin typeface="Arial"/>
                <a:cs typeface="Arial"/>
              </a:rPr>
              <a:t>רמז: </a:t>
            </a:r>
            <a:r>
              <a:rPr lang="he-IL" sz="1700" b="0" i="0">
                <a:solidFill>
                  <a:srgbClr val="1B2B34"/>
                </a:solidFill>
                <a:latin typeface="Arial"/>
                <a:cs typeface="Arial"/>
              </a:rPr>
              <a:t>תזכרו איך </a:t>
            </a:r>
            <a:r>
              <a:rPr lang="en-US" sz="1700" b="0" i="0">
                <a:solidFill>
                  <a:srgbClr val="1B2B34"/>
                </a:solidFill>
                <a:latin typeface="Arial"/>
                <a:cs typeface="Arial"/>
              </a:rPr>
              <a:t>LLM</a:t>
            </a:r>
            <a:r>
              <a:rPr lang="he-IL" sz="1700" b="0" i="0">
                <a:solidFill>
                  <a:srgbClr val="1B2B34"/>
                </a:solidFill>
                <a:latin typeface="Arial"/>
                <a:cs typeface="Arial"/>
              </a:rPr>
              <a:t> בוחר את המילה הבאה... ומה עוד האתר יודע עליכם?</a:t>
            </a:r>
          </a:p>
        </p:txBody>
      </p:sp>
      <p:sp>
        <p:nvSpPr>
          <p:cNvPr id="16" name="Rounded Rectangle 15"/>
          <p:cNvSpPr/>
          <p:nvPr/>
        </p:nvSpPr>
        <p:spPr>
          <a:xfrm>
            <a:off x="548640" y="5440680"/>
            <a:ext cx="32918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aiapibasic_example.py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Oval 1"/>
          <p:cNvSpPr/>
          <p:nvPr/>
        </p:nvSpPr>
        <p:spPr>
          <a:xfrm>
            <a:off x="6949440" y="1325880"/>
            <a:ext cx="3931920" cy="3931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0" y="1325880"/>
            <a:ext cx="3931920" cy="3931920"/>
          </a:xfrm>
          <a:prstGeom prst="rect">
            <a:avLst/>
          </a:prstGeom>
          <a:noFill/>
        </p:spPr>
        <p:txBody>
          <a:bodyPr wrap="square" lIns="45720" rIns="45720" anchor="ctr">
            <a:spAutoFit/>
          </a:bodyPr>
          <a:lstStyle/>
          <a:p>
            <a:pPr algn="ctr" rtl="1"/>
            <a:r>
              <a:rPr lang="he-IL" sz="16000" b="1" i="0">
                <a:solidFill>
                  <a:srgbClr val="FFD166"/>
                </a:solidFill>
                <a:latin typeface="Arial"/>
                <a:cs typeface="Arial"/>
              </a:rPr>
              <a:t>3</a:t>
            </a:r>
          </a:p>
        </p:txBody>
      </p:sp>
      <p:sp>
        <p:nvSpPr>
          <p:cNvPr id="4" name="Oval 3"/>
          <p:cNvSpPr/>
          <p:nvPr/>
        </p:nvSpPr>
        <p:spPr>
          <a:xfrm>
            <a:off x="10332720" y="1097280"/>
            <a:ext cx="502920" cy="50292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040880" y="4846320"/>
            <a:ext cx="411480" cy="4114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63040"/>
            <a:ext cx="6126480" cy="2194560"/>
          </a:xfrm>
          <a:prstGeom prst="rect">
            <a:avLst/>
          </a:prstGeom>
          <a:noFill/>
        </p:spPr>
        <p:txBody>
          <a:bodyPr wrap="square" lIns="45720" rIns="45720" anchor="b">
            <a:spAutoFit/>
          </a:bodyPr>
          <a:lstStyle/>
          <a:p>
            <a:pPr algn="r" rtl="1"/>
            <a:r>
              <a:rPr lang="he-IL" sz="4800" b="1" i="0">
                <a:solidFill>
                  <a:srgbClr val="FFFFFF"/>
                </a:solidFill>
                <a:latin typeface="Arial"/>
                <a:cs typeface="Arial"/>
              </a:rPr>
              <a:t>משחק </a:t>
            </a:r>
            <a:r>
              <a:rPr lang="en-US" sz="4800" b="1" i="0">
                <a:solidFill>
                  <a:srgbClr val="FFFFFF"/>
                </a:solidFill>
                <a:latin typeface="Arial"/>
                <a:cs typeface="Arial"/>
              </a:rPr>
              <a:t>NIM</a:t>
            </a:r>
            <a:r>
              <a:rPr lang="he-IL" sz="4800" b="1" i="0">
                <a:solidFill>
                  <a:srgbClr val="FFFFFF"/>
                </a:solidFill>
                <a:latin typeface="Arial"/>
                <a:cs typeface="Arial"/>
              </a:rPr>
              <a:t> נגד </a:t>
            </a:r>
            <a:r>
              <a:rPr lang="en-US" sz="4800" b="1" i="0">
                <a:solidFill>
                  <a:srgbClr val="FFFFFF"/>
                </a:solidFill>
                <a:latin typeface="Arial"/>
                <a:cs typeface="Arial"/>
              </a:rPr>
              <a:t>Gemini</a:t>
            </a:r>
          </a:p>
        </p:txBody>
      </p:sp>
      <p:sp>
        <p:nvSpPr>
          <p:cNvPr id="7" name="TextBox 6"/>
          <p:cNvSpPr txBox="1"/>
          <p:nvPr/>
        </p:nvSpPr>
        <p:spPr>
          <a:xfrm>
            <a:off x="548640" y="3794760"/>
            <a:ext cx="6126480" cy="914400"/>
          </a:xfrm>
          <a:prstGeom prst="rect">
            <a:avLst/>
          </a:prstGeom>
          <a:noFill/>
        </p:spPr>
        <p:txBody>
          <a:bodyPr wrap="square" lIns="45720" rIns="45720" anchor="t">
            <a:spAutoFit/>
          </a:bodyPr>
          <a:lstStyle/>
          <a:p>
            <a:pPr algn="r" rtl="1"/>
            <a:r>
              <a:rPr lang="he-IL" sz="2200" b="0" i="0">
                <a:solidFill>
                  <a:srgbClr val="CDE8D8"/>
                </a:solidFill>
                <a:latin typeface="Arial"/>
                <a:cs typeface="Arial"/>
              </a:rPr>
              <a:t>בונים משחק בשלבים - והמחשב הוא היריב</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23</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החוקים של </a:t>
            </a:r>
            <a:r>
              <a:rPr lang="en-US" sz="3600" b="1" i="0">
                <a:solidFill>
                  <a:srgbClr val="1B4332"/>
                </a:solidFill>
                <a:latin typeface="Arial"/>
                <a:cs typeface="Arial"/>
              </a:rPr>
              <a:t>NIM</a:t>
            </a:r>
          </a:p>
        </p:txBody>
      </p:sp>
      <p:pic>
        <p:nvPicPr>
          <p:cNvPr id="4" name="Picture 3" descr="nim3_start_c.png"/>
          <p:cNvPicPr>
            <a:picLocks noChangeAspect="1"/>
          </p:cNvPicPr>
          <p:nvPr/>
        </p:nvPicPr>
        <p:blipFill>
          <a:blip r:embed="rId3"/>
          <a:stretch>
            <a:fillRect/>
          </a:stretch>
        </p:blipFill>
        <p:spPr>
          <a:xfrm>
            <a:off x="548640" y="1371600"/>
            <a:ext cx="5120640" cy="4258579"/>
          </a:xfrm>
          <a:prstGeom prst="rect">
            <a:avLst/>
          </a:prstGeom>
        </p:spPr>
      </p:pic>
      <p:sp>
        <p:nvSpPr>
          <p:cNvPr id="5" name="Oval 4"/>
          <p:cNvSpPr/>
          <p:nvPr/>
        </p:nvSpPr>
        <p:spPr>
          <a:xfrm>
            <a:off x="10972800" y="1463040"/>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1</a:t>
            </a:r>
          </a:p>
        </p:txBody>
      </p:sp>
      <p:sp>
        <p:nvSpPr>
          <p:cNvPr id="6" name="TextBox 5"/>
          <p:cNvSpPr txBox="1"/>
          <p:nvPr/>
        </p:nvSpPr>
        <p:spPr>
          <a:xfrm>
            <a:off x="6126480" y="1598414"/>
            <a:ext cx="4709160" cy="369332"/>
          </a:xfrm>
          <a:prstGeom prst="rect">
            <a:avLst/>
          </a:prstGeom>
          <a:noFill/>
        </p:spPr>
        <p:txBody>
          <a:bodyPr wrap="square" lIns="45720" rIns="45720" anchor="ctr">
            <a:spAutoFit/>
          </a:bodyPr>
          <a:lstStyle/>
          <a:p>
            <a:pPr algn="r" rtl="1"/>
            <a:r>
              <a:rPr lang="he-IL" sz="1800" b="0" i="0" dirty="0">
                <a:solidFill>
                  <a:srgbClr val="1B2B34"/>
                </a:solidFill>
                <a:latin typeface="Arial"/>
                <a:cs typeface="Arial"/>
              </a:rPr>
              <a:t>יש 3 ערימות של אסימונים כמו בציור</a:t>
            </a:r>
          </a:p>
        </p:txBody>
      </p:sp>
      <p:sp>
        <p:nvSpPr>
          <p:cNvPr id="7" name="Oval 6"/>
          <p:cNvSpPr/>
          <p:nvPr/>
        </p:nvSpPr>
        <p:spPr>
          <a:xfrm>
            <a:off x="10972800" y="2423160"/>
            <a:ext cx="640080" cy="6400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2</a:t>
            </a:r>
          </a:p>
        </p:txBody>
      </p:sp>
      <p:sp>
        <p:nvSpPr>
          <p:cNvPr id="8" name="TextBox 7"/>
          <p:cNvSpPr txBox="1"/>
          <p:nvPr/>
        </p:nvSpPr>
        <p:spPr>
          <a:xfrm>
            <a:off x="6126480" y="2420034"/>
            <a:ext cx="4709160" cy="646331"/>
          </a:xfrm>
          <a:prstGeom prst="rect">
            <a:avLst/>
          </a:prstGeom>
          <a:noFill/>
        </p:spPr>
        <p:txBody>
          <a:bodyPr wrap="square" lIns="45720" rIns="45720" anchor="ctr">
            <a:spAutoFit/>
          </a:bodyPr>
          <a:lstStyle/>
          <a:p>
            <a:pPr algn="r" rtl="1"/>
            <a:r>
              <a:rPr lang="he-IL" sz="1800" b="0" i="0" dirty="0">
                <a:solidFill>
                  <a:srgbClr val="1B2B34"/>
                </a:solidFill>
                <a:latin typeface="Arial"/>
                <a:cs typeface="Arial"/>
              </a:rPr>
              <a:t>בכל תור שחקן לוקח אסימון אחד או יותר - מערימה אחת בלבד</a:t>
            </a:r>
          </a:p>
        </p:txBody>
      </p:sp>
      <p:sp>
        <p:nvSpPr>
          <p:cNvPr id="9" name="Oval 8"/>
          <p:cNvSpPr/>
          <p:nvPr/>
        </p:nvSpPr>
        <p:spPr>
          <a:xfrm>
            <a:off x="10972800" y="3383280"/>
            <a:ext cx="640080" cy="64008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3</a:t>
            </a:r>
          </a:p>
        </p:txBody>
      </p:sp>
      <p:sp>
        <p:nvSpPr>
          <p:cNvPr id="10" name="TextBox 9"/>
          <p:cNvSpPr txBox="1"/>
          <p:nvPr/>
        </p:nvSpPr>
        <p:spPr>
          <a:xfrm>
            <a:off x="6126480" y="3337560"/>
            <a:ext cx="4709160" cy="731520"/>
          </a:xfrm>
          <a:prstGeom prst="rect">
            <a:avLst/>
          </a:prstGeom>
          <a:noFill/>
        </p:spPr>
        <p:txBody>
          <a:bodyPr wrap="square" lIns="45720" rIns="45720" anchor="ctr">
            <a:spAutoFit/>
          </a:bodyPr>
          <a:lstStyle/>
          <a:p>
            <a:pPr algn="r" rtl="1"/>
            <a:r>
              <a:rPr lang="he-IL" sz="1800" b="0" i="0">
                <a:solidFill>
                  <a:srgbClr val="1B2B34"/>
                </a:solidFill>
                <a:latin typeface="Arial"/>
                <a:cs typeface="Arial"/>
              </a:rPr>
              <a:t>מתחלפים בתורות</a:t>
            </a:r>
          </a:p>
        </p:txBody>
      </p:sp>
      <p:sp>
        <p:nvSpPr>
          <p:cNvPr id="11" name="Oval 10"/>
          <p:cNvSpPr/>
          <p:nvPr/>
        </p:nvSpPr>
        <p:spPr>
          <a:xfrm>
            <a:off x="10972800" y="4343400"/>
            <a:ext cx="640080" cy="6400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4</a:t>
            </a:r>
          </a:p>
        </p:txBody>
      </p:sp>
      <p:sp>
        <p:nvSpPr>
          <p:cNvPr id="12" name="TextBox 11"/>
          <p:cNvSpPr txBox="1"/>
          <p:nvPr/>
        </p:nvSpPr>
        <p:spPr>
          <a:xfrm>
            <a:off x="6126480" y="4297680"/>
            <a:ext cx="4709160" cy="731520"/>
          </a:xfrm>
          <a:prstGeom prst="rect">
            <a:avLst/>
          </a:prstGeom>
          <a:noFill/>
        </p:spPr>
        <p:txBody>
          <a:bodyPr wrap="square" lIns="45720" rIns="45720" anchor="ctr">
            <a:spAutoFit/>
          </a:bodyPr>
          <a:lstStyle/>
          <a:p>
            <a:pPr algn="r" rtl="1"/>
            <a:r>
              <a:rPr lang="he-IL" sz="1800" b="1" i="0">
                <a:solidFill>
                  <a:srgbClr val="1B2B34"/>
                </a:solidFill>
                <a:latin typeface="Arial"/>
                <a:cs typeface="Arial"/>
              </a:rPr>
              <a:t>מי שלוקח את האסימון האחרון - מפסיד!</a:t>
            </a:r>
          </a:p>
        </p:txBody>
      </p:sp>
      <p:sp>
        <p:nvSpPr>
          <p:cNvPr id="13" name="TextBox 12"/>
          <p:cNvSpPr txBox="1"/>
          <p:nvPr/>
        </p:nvSpPr>
        <p:spPr>
          <a:xfrm>
            <a:off x="6126480" y="5440680"/>
            <a:ext cx="5486400" cy="457200"/>
          </a:xfrm>
          <a:prstGeom prst="rect">
            <a:avLst/>
          </a:prstGeom>
          <a:noFill/>
        </p:spPr>
        <p:txBody>
          <a:bodyPr wrap="square" lIns="45720" rIns="45720" anchor="t">
            <a:spAutoFit/>
          </a:bodyPr>
          <a:lstStyle/>
          <a:p>
            <a:pPr algn="r" rtl="0"/>
            <a:r>
              <a:rPr lang="en-US" sz="1400" b="0" i="0" dirty="0">
                <a:solidFill>
                  <a:srgbClr val="118AB2"/>
                </a:solidFill>
                <a:latin typeface="Arial"/>
                <a:cs typeface="Arial"/>
              </a:rPr>
              <a:t>en.wikipedia.org/wiki/Nim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24</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חידון: מה הייתם עושים?</a:t>
            </a:r>
          </a:p>
        </p:txBody>
      </p:sp>
      <p:sp>
        <p:nvSpPr>
          <p:cNvPr id="4" name="Rounded Rectangle 3"/>
          <p:cNvSpPr/>
          <p:nvPr/>
        </p:nvSpPr>
        <p:spPr>
          <a:xfrm>
            <a:off x="8092440" y="1417320"/>
            <a:ext cx="3520440" cy="32918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464040" y="1554480"/>
            <a:ext cx="731520" cy="73152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א</a:t>
            </a:r>
          </a:p>
        </p:txBody>
      </p:sp>
      <p:sp>
        <p:nvSpPr>
          <p:cNvPr id="6" name="TextBox 5"/>
          <p:cNvSpPr txBox="1"/>
          <p:nvPr/>
        </p:nvSpPr>
        <p:spPr>
          <a:xfrm>
            <a:off x="10424159" y="2514600"/>
            <a:ext cx="1005840" cy="457200"/>
          </a:xfrm>
          <a:prstGeom prst="rect">
            <a:avLst/>
          </a:prstGeom>
          <a:noFill/>
        </p:spPr>
        <p:txBody>
          <a:bodyPr wrap="square" lIns="45720" rIns="45720" anchor="ctr">
            <a:spAutoFit/>
          </a:bodyPr>
          <a:lstStyle/>
          <a:p>
            <a:pPr algn="r" rtl="0"/>
            <a:r>
              <a:rPr lang="en-US" sz="1300" b="1" i="0">
                <a:solidFill>
                  <a:srgbClr val="5F6F78"/>
                </a:solidFill>
                <a:latin typeface="Arial"/>
                <a:cs typeface="Arial"/>
              </a:rPr>
              <a:t>Pile 1</a:t>
            </a:r>
          </a:p>
        </p:txBody>
      </p:sp>
      <p:sp>
        <p:nvSpPr>
          <p:cNvPr id="7" name="TextBox 6"/>
          <p:cNvSpPr txBox="1"/>
          <p:nvPr/>
        </p:nvSpPr>
        <p:spPr>
          <a:xfrm>
            <a:off x="10424159" y="3108960"/>
            <a:ext cx="1005840" cy="457200"/>
          </a:xfrm>
          <a:prstGeom prst="rect">
            <a:avLst/>
          </a:prstGeom>
          <a:noFill/>
        </p:spPr>
        <p:txBody>
          <a:bodyPr wrap="square" lIns="45720" rIns="45720" anchor="ctr">
            <a:spAutoFit/>
          </a:bodyPr>
          <a:lstStyle/>
          <a:p>
            <a:pPr algn="r" rtl="0"/>
            <a:r>
              <a:rPr lang="en-US" sz="1300" b="1" i="0">
                <a:solidFill>
                  <a:srgbClr val="5F6F78"/>
                </a:solidFill>
                <a:latin typeface="Arial"/>
                <a:cs typeface="Arial"/>
              </a:rPr>
              <a:t>Pile 2</a:t>
            </a:r>
          </a:p>
        </p:txBody>
      </p:sp>
      <p:sp>
        <p:nvSpPr>
          <p:cNvPr id="8" name="TextBox 7"/>
          <p:cNvSpPr txBox="1"/>
          <p:nvPr/>
        </p:nvSpPr>
        <p:spPr>
          <a:xfrm>
            <a:off x="10424159" y="3703320"/>
            <a:ext cx="1005840" cy="457200"/>
          </a:xfrm>
          <a:prstGeom prst="rect">
            <a:avLst/>
          </a:prstGeom>
          <a:noFill/>
        </p:spPr>
        <p:txBody>
          <a:bodyPr wrap="square" lIns="45720" rIns="45720" anchor="ctr">
            <a:spAutoFit/>
          </a:bodyPr>
          <a:lstStyle/>
          <a:p>
            <a:pPr algn="r" rtl="0"/>
            <a:r>
              <a:rPr lang="en-US" sz="1300" b="1" i="0">
                <a:solidFill>
                  <a:srgbClr val="5F6F78"/>
                </a:solidFill>
                <a:latin typeface="Arial"/>
                <a:cs typeface="Arial"/>
              </a:rPr>
              <a:t>Pile 3</a:t>
            </a:r>
          </a:p>
        </p:txBody>
      </p:sp>
      <p:sp>
        <p:nvSpPr>
          <p:cNvPr id="9" name="Rectangle 8"/>
          <p:cNvSpPr/>
          <p:nvPr/>
        </p:nvSpPr>
        <p:spPr>
          <a:xfrm>
            <a:off x="9921240" y="3730752"/>
            <a:ext cx="411480" cy="411480"/>
          </a:xfrm>
          <a:prstGeom prst="rect">
            <a:avLst/>
          </a:prstGeom>
          <a:solidFill>
            <a:srgbClr val="FF6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92440" y="4251960"/>
            <a:ext cx="3520440" cy="411480"/>
          </a:xfrm>
          <a:prstGeom prst="rect">
            <a:avLst/>
          </a:prstGeom>
          <a:noFill/>
        </p:spPr>
        <p:txBody>
          <a:bodyPr wrap="square" lIns="45720" rIns="45720" anchor="t">
            <a:spAutoFit/>
          </a:bodyPr>
          <a:lstStyle/>
          <a:p>
            <a:pPr algn="ctr" rtl="1"/>
            <a:r>
              <a:rPr lang="he-IL" sz="1500" b="0" i="0">
                <a:solidFill>
                  <a:srgbClr val="1B2B34"/>
                </a:solidFill>
                <a:latin typeface="Arial"/>
                <a:cs typeface="Arial"/>
              </a:rPr>
              <a:t>התור שלכם. מה עושים?</a:t>
            </a:r>
          </a:p>
        </p:txBody>
      </p:sp>
      <p:sp>
        <p:nvSpPr>
          <p:cNvPr id="11" name="Rounded Rectangle 10"/>
          <p:cNvSpPr/>
          <p:nvPr/>
        </p:nvSpPr>
        <p:spPr>
          <a:xfrm>
            <a:off x="4343400" y="1417320"/>
            <a:ext cx="3520440" cy="32918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715000" y="1554480"/>
            <a:ext cx="731520" cy="73152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ב</a:t>
            </a:r>
          </a:p>
        </p:txBody>
      </p:sp>
      <p:sp>
        <p:nvSpPr>
          <p:cNvPr id="13" name="TextBox 12"/>
          <p:cNvSpPr txBox="1"/>
          <p:nvPr/>
        </p:nvSpPr>
        <p:spPr>
          <a:xfrm>
            <a:off x="6675120" y="2514600"/>
            <a:ext cx="1005840" cy="457200"/>
          </a:xfrm>
          <a:prstGeom prst="rect">
            <a:avLst/>
          </a:prstGeom>
          <a:noFill/>
        </p:spPr>
        <p:txBody>
          <a:bodyPr wrap="square" lIns="45720" rIns="45720" anchor="ctr">
            <a:spAutoFit/>
          </a:bodyPr>
          <a:lstStyle/>
          <a:p>
            <a:pPr algn="r" rtl="0"/>
            <a:r>
              <a:rPr lang="en-US" sz="1300" b="1" i="0">
                <a:solidFill>
                  <a:srgbClr val="5F6F78"/>
                </a:solidFill>
                <a:latin typeface="Arial"/>
                <a:cs typeface="Arial"/>
              </a:rPr>
              <a:t>Pile 1</a:t>
            </a:r>
          </a:p>
        </p:txBody>
      </p:sp>
      <p:sp>
        <p:nvSpPr>
          <p:cNvPr id="14" name="TextBox 13"/>
          <p:cNvSpPr txBox="1"/>
          <p:nvPr/>
        </p:nvSpPr>
        <p:spPr>
          <a:xfrm>
            <a:off x="6675120" y="3108960"/>
            <a:ext cx="1005840" cy="457200"/>
          </a:xfrm>
          <a:prstGeom prst="rect">
            <a:avLst/>
          </a:prstGeom>
          <a:noFill/>
        </p:spPr>
        <p:txBody>
          <a:bodyPr wrap="square" lIns="45720" rIns="45720" anchor="ctr">
            <a:spAutoFit/>
          </a:bodyPr>
          <a:lstStyle/>
          <a:p>
            <a:pPr algn="r" rtl="0"/>
            <a:r>
              <a:rPr lang="en-US" sz="1300" b="1" i="0">
                <a:solidFill>
                  <a:srgbClr val="5F6F78"/>
                </a:solidFill>
                <a:latin typeface="Arial"/>
                <a:cs typeface="Arial"/>
              </a:rPr>
              <a:t>Pile 2</a:t>
            </a:r>
          </a:p>
        </p:txBody>
      </p:sp>
      <p:sp>
        <p:nvSpPr>
          <p:cNvPr id="15" name="Rectangle 14"/>
          <p:cNvSpPr/>
          <p:nvPr/>
        </p:nvSpPr>
        <p:spPr>
          <a:xfrm>
            <a:off x="6172200" y="3136391"/>
            <a:ext cx="411480" cy="411480"/>
          </a:xfrm>
          <a:prstGeom prst="rect">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23560" y="3136391"/>
            <a:ext cx="411480" cy="411480"/>
          </a:xfrm>
          <a:prstGeom prst="rect">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74920" y="3136391"/>
            <a:ext cx="411480" cy="411480"/>
          </a:xfrm>
          <a:prstGeom prst="rect">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3703320"/>
            <a:ext cx="1005840" cy="457200"/>
          </a:xfrm>
          <a:prstGeom prst="rect">
            <a:avLst/>
          </a:prstGeom>
          <a:noFill/>
        </p:spPr>
        <p:txBody>
          <a:bodyPr wrap="square" lIns="45720" rIns="45720" anchor="ctr">
            <a:spAutoFit/>
          </a:bodyPr>
          <a:lstStyle/>
          <a:p>
            <a:pPr algn="r" rtl="0"/>
            <a:r>
              <a:rPr lang="en-US" sz="1300" b="1" i="0">
                <a:solidFill>
                  <a:srgbClr val="5F6F78"/>
                </a:solidFill>
                <a:latin typeface="Arial"/>
                <a:cs typeface="Arial"/>
              </a:rPr>
              <a:t>Pile 3</a:t>
            </a:r>
          </a:p>
        </p:txBody>
      </p:sp>
      <p:sp>
        <p:nvSpPr>
          <p:cNvPr id="19" name="TextBox 18"/>
          <p:cNvSpPr txBox="1"/>
          <p:nvPr/>
        </p:nvSpPr>
        <p:spPr>
          <a:xfrm>
            <a:off x="4343400" y="4251960"/>
            <a:ext cx="3520440" cy="411480"/>
          </a:xfrm>
          <a:prstGeom prst="rect">
            <a:avLst/>
          </a:prstGeom>
          <a:noFill/>
        </p:spPr>
        <p:txBody>
          <a:bodyPr wrap="square" lIns="45720" rIns="45720" anchor="t">
            <a:spAutoFit/>
          </a:bodyPr>
          <a:lstStyle/>
          <a:p>
            <a:pPr algn="ctr" rtl="1"/>
            <a:r>
              <a:rPr lang="he-IL" sz="1500" b="0" i="0">
                <a:solidFill>
                  <a:srgbClr val="1B2B34"/>
                </a:solidFill>
                <a:latin typeface="Arial"/>
                <a:cs typeface="Arial"/>
              </a:rPr>
              <a:t>התור שלכם. מה עושים?</a:t>
            </a:r>
          </a:p>
        </p:txBody>
      </p:sp>
      <p:sp>
        <p:nvSpPr>
          <p:cNvPr id="20" name="Rounded Rectangle 19"/>
          <p:cNvSpPr/>
          <p:nvPr/>
        </p:nvSpPr>
        <p:spPr>
          <a:xfrm>
            <a:off x="594360" y="1417320"/>
            <a:ext cx="3520440" cy="32918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965960" y="1554480"/>
            <a:ext cx="731520" cy="7315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ג</a:t>
            </a:r>
          </a:p>
        </p:txBody>
      </p:sp>
      <p:sp>
        <p:nvSpPr>
          <p:cNvPr id="22" name="TextBox 21"/>
          <p:cNvSpPr txBox="1"/>
          <p:nvPr/>
        </p:nvSpPr>
        <p:spPr>
          <a:xfrm>
            <a:off x="2926080" y="2514600"/>
            <a:ext cx="1005840" cy="457200"/>
          </a:xfrm>
          <a:prstGeom prst="rect">
            <a:avLst/>
          </a:prstGeom>
          <a:noFill/>
        </p:spPr>
        <p:txBody>
          <a:bodyPr wrap="square" lIns="45720" rIns="45720" anchor="ctr">
            <a:spAutoFit/>
          </a:bodyPr>
          <a:lstStyle/>
          <a:p>
            <a:pPr algn="r" rtl="0"/>
            <a:r>
              <a:rPr lang="en-US" sz="1300" b="1" i="0">
                <a:solidFill>
                  <a:srgbClr val="5F6F78"/>
                </a:solidFill>
                <a:latin typeface="Arial"/>
                <a:cs typeface="Arial"/>
              </a:rPr>
              <a:t>Pile 1</a:t>
            </a:r>
          </a:p>
        </p:txBody>
      </p:sp>
      <p:sp>
        <p:nvSpPr>
          <p:cNvPr id="23" name="Rectangle 22"/>
          <p:cNvSpPr/>
          <p:nvPr/>
        </p:nvSpPr>
        <p:spPr>
          <a:xfrm>
            <a:off x="2423160" y="2542032"/>
            <a:ext cx="411480" cy="411480"/>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26080" y="3108960"/>
            <a:ext cx="1005840" cy="457200"/>
          </a:xfrm>
          <a:prstGeom prst="rect">
            <a:avLst/>
          </a:prstGeom>
          <a:noFill/>
        </p:spPr>
        <p:txBody>
          <a:bodyPr wrap="square" lIns="45720" rIns="45720" anchor="ctr">
            <a:spAutoFit/>
          </a:bodyPr>
          <a:lstStyle/>
          <a:p>
            <a:pPr algn="r" rtl="0"/>
            <a:r>
              <a:rPr lang="en-US" sz="1300" b="1" i="0">
                <a:solidFill>
                  <a:srgbClr val="5F6F78"/>
                </a:solidFill>
                <a:latin typeface="Arial"/>
                <a:cs typeface="Arial"/>
              </a:rPr>
              <a:t>Pile 2</a:t>
            </a:r>
          </a:p>
        </p:txBody>
      </p:sp>
      <p:sp>
        <p:nvSpPr>
          <p:cNvPr id="25" name="Rectangle 24"/>
          <p:cNvSpPr/>
          <p:nvPr/>
        </p:nvSpPr>
        <p:spPr>
          <a:xfrm>
            <a:off x="2423160" y="3136391"/>
            <a:ext cx="411480" cy="411480"/>
          </a:xfrm>
          <a:prstGeom prst="rect">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0" y="3703320"/>
            <a:ext cx="1005840" cy="457200"/>
          </a:xfrm>
          <a:prstGeom prst="rect">
            <a:avLst/>
          </a:prstGeom>
          <a:noFill/>
        </p:spPr>
        <p:txBody>
          <a:bodyPr wrap="square" lIns="45720" rIns="45720" anchor="ctr">
            <a:spAutoFit/>
          </a:bodyPr>
          <a:lstStyle/>
          <a:p>
            <a:pPr algn="r" rtl="0"/>
            <a:r>
              <a:rPr lang="en-US" sz="1300" b="1" i="0">
                <a:solidFill>
                  <a:srgbClr val="5F6F78"/>
                </a:solidFill>
                <a:latin typeface="Arial"/>
                <a:cs typeface="Arial"/>
              </a:rPr>
              <a:t>Pile 3</a:t>
            </a:r>
          </a:p>
        </p:txBody>
      </p:sp>
      <p:sp>
        <p:nvSpPr>
          <p:cNvPr id="27" name="Rectangle 26"/>
          <p:cNvSpPr/>
          <p:nvPr/>
        </p:nvSpPr>
        <p:spPr>
          <a:xfrm>
            <a:off x="2423160" y="3730752"/>
            <a:ext cx="411480" cy="411480"/>
          </a:xfrm>
          <a:prstGeom prst="rect">
            <a:avLst/>
          </a:prstGeom>
          <a:solidFill>
            <a:srgbClr val="FF6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4251960"/>
            <a:ext cx="3520440" cy="411480"/>
          </a:xfrm>
          <a:prstGeom prst="rect">
            <a:avLst/>
          </a:prstGeom>
          <a:noFill/>
        </p:spPr>
        <p:txBody>
          <a:bodyPr wrap="square" lIns="45720" rIns="45720" anchor="t">
            <a:spAutoFit/>
          </a:bodyPr>
          <a:lstStyle/>
          <a:p>
            <a:pPr algn="ctr" rtl="1"/>
            <a:r>
              <a:rPr lang="he-IL" sz="1500" b="0" i="0">
                <a:solidFill>
                  <a:srgbClr val="1B2B34"/>
                </a:solidFill>
                <a:latin typeface="Arial"/>
                <a:cs typeface="Arial"/>
              </a:rPr>
              <a:t>התור שלכם. מה עושים?</a:t>
            </a:r>
          </a:p>
        </p:txBody>
      </p:sp>
      <p:sp>
        <p:nvSpPr>
          <p:cNvPr id="29" name="Rounded Rectangle 28"/>
          <p:cNvSpPr/>
          <p:nvPr/>
        </p:nvSpPr>
        <p:spPr>
          <a:xfrm>
            <a:off x="548640" y="5029200"/>
            <a:ext cx="11091672" cy="868680"/>
          </a:xfrm>
          <a:prstGeom prst="roundRect">
            <a:avLst>
              <a:gd name="adj" fmla="val 2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0" i="0" dirty="0">
                <a:solidFill>
                  <a:srgbClr val="1B2B34"/>
                </a:solidFill>
                <a:latin typeface="Arial"/>
                <a:cs typeface="Arial"/>
              </a:rPr>
              <a:t>באילו מהמצבים אי אפשר לנצח?</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25</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הפונקציות של המשחק</a:t>
            </a:r>
          </a:p>
        </p:txBody>
      </p:sp>
      <p:sp>
        <p:nvSpPr>
          <p:cNvPr id="4" name="Rounded Rectangle 3"/>
          <p:cNvSpPr/>
          <p:nvPr/>
        </p:nvSpPr>
        <p:spPr>
          <a:xfrm>
            <a:off x="8092440" y="1417320"/>
            <a:ext cx="3520440" cy="594360"/>
          </a:xfrm>
          <a:prstGeom prst="roundRect">
            <a:avLst>
              <a:gd name="adj" fmla="val 50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FFFF"/>
                </a:solidFill>
                <a:latin typeface="Arial"/>
                <a:cs typeface="Arial"/>
              </a:rPr>
              <a:t>ציור</a:t>
            </a:r>
          </a:p>
        </p:txBody>
      </p:sp>
      <p:sp>
        <p:nvSpPr>
          <p:cNvPr id="5" name="Rounded Rectangle 4"/>
          <p:cNvSpPr/>
          <p:nvPr/>
        </p:nvSpPr>
        <p:spPr>
          <a:xfrm>
            <a:off x="8321040" y="2194560"/>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draw_rect(...)</a:t>
            </a:r>
          </a:p>
        </p:txBody>
      </p:sp>
      <p:sp>
        <p:nvSpPr>
          <p:cNvPr id="6" name="Rounded Rectangle 5"/>
          <p:cNvSpPr/>
          <p:nvPr/>
        </p:nvSpPr>
        <p:spPr>
          <a:xfrm>
            <a:off x="8321040" y="2761488"/>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draw_pile(index)</a:t>
            </a:r>
          </a:p>
        </p:txBody>
      </p:sp>
      <p:sp>
        <p:nvSpPr>
          <p:cNvPr id="7" name="Rounded Rectangle 6"/>
          <p:cNvSpPr/>
          <p:nvPr/>
        </p:nvSpPr>
        <p:spPr>
          <a:xfrm>
            <a:off x="8321040" y="3328415"/>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draw_board()</a:t>
            </a:r>
          </a:p>
        </p:txBody>
      </p:sp>
      <p:sp>
        <p:nvSpPr>
          <p:cNvPr id="8" name="Rounded Rectangle 7"/>
          <p:cNvSpPr/>
          <p:nvPr/>
        </p:nvSpPr>
        <p:spPr>
          <a:xfrm>
            <a:off x="8321040" y="3895344"/>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show_message(text)</a:t>
            </a:r>
          </a:p>
        </p:txBody>
      </p:sp>
      <p:sp>
        <p:nvSpPr>
          <p:cNvPr id="10" name="Rounded Rectangle 9"/>
          <p:cNvSpPr/>
          <p:nvPr/>
        </p:nvSpPr>
        <p:spPr>
          <a:xfrm>
            <a:off x="4343400" y="1417320"/>
            <a:ext cx="3520440" cy="59436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FFFF"/>
                </a:solidFill>
                <a:latin typeface="Arial"/>
                <a:cs typeface="Arial"/>
              </a:rPr>
              <a:t>תורות</a:t>
            </a:r>
          </a:p>
        </p:txBody>
      </p:sp>
      <p:sp>
        <p:nvSpPr>
          <p:cNvPr id="11" name="Rounded Rectangle 10"/>
          <p:cNvSpPr/>
          <p:nvPr/>
        </p:nvSpPr>
        <p:spPr>
          <a:xfrm>
            <a:off x="4572000" y="2194560"/>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human_turn()</a:t>
            </a:r>
          </a:p>
        </p:txBody>
      </p:sp>
      <p:sp>
        <p:nvSpPr>
          <p:cNvPr id="12" name="Rounded Rectangle 11"/>
          <p:cNvSpPr/>
          <p:nvPr/>
        </p:nvSpPr>
        <p:spPr>
          <a:xfrm>
            <a:off x="4572000" y="2761488"/>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next_player()</a:t>
            </a:r>
          </a:p>
        </p:txBody>
      </p:sp>
      <p:sp>
        <p:nvSpPr>
          <p:cNvPr id="13" name="TextBox 12"/>
          <p:cNvSpPr txBox="1"/>
          <p:nvPr/>
        </p:nvSpPr>
        <p:spPr>
          <a:xfrm>
            <a:off x="4334256" y="3401568"/>
            <a:ext cx="3520440" cy="411480"/>
          </a:xfrm>
          <a:prstGeom prst="rect">
            <a:avLst/>
          </a:prstGeom>
          <a:noFill/>
        </p:spPr>
        <p:txBody>
          <a:bodyPr wrap="square" lIns="45720" rIns="45720" anchor="t">
            <a:spAutoFit/>
          </a:bodyPr>
          <a:lstStyle/>
          <a:p>
            <a:pPr algn="ctr" rtl="1"/>
            <a:r>
              <a:rPr lang="en-US" sz="1500" b="0" i="0" dirty="0" err="1">
                <a:solidFill>
                  <a:srgbClr val="5F6F78"/>
                </a:solidFill>
                <a:latin typeface="Arial"/>
                <a:cs typeface="Arial"/>
              </a:rPr>
              <a:t>numinput</a:t>
            </a:r>
            <a:r>
              <a:rPr lang="he-IL" sz="1500" b="0" i="0" dirty="0">
                <a:solidFill>
                  <a:srgbClr val="5F6F78"/>
                </a:solidFill>
                <a:latin typeface="Arial"/>
                <a:cs typeface="Arial"/>
              </a:rPr>
              <a:t> שואל את השחקן</a:t>
            </a:r>
          </a:p>
        </p:txBody>
      </p:sp>
      <p:sp>
        <p:nvSpPr>
          <p:cNvPr id="14" name="Rounded Rectangle 13"/>
          <p:cNvSpPr/>
          <p:nvPr/>
        </p:nvSpPr>
        <p:spPr>
          <a:xfrm>
            <a:off x="594360" y="1417320"/>
            <a:ext cx="3520440" cy="594360"/>
          </a:xfrm>
          <a:prstGeom prst="roundRect">
            <a:avLst>
              <a:gd name="adj" fmla="val 50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FFFF"/>
                </a:solidFill>
                <a:latin typeface="Arial"/>
                <a:cs typeface="Arial"/>
              </a:rPr>
              <a:t>Gemini</a:t>
            </a:r>
          </a:p>
        </p:txBody>
      </p:sp>
      <p:sp>
        <p:nvSpPr>
          <p:cNvPr id="15" name="Rounded Rectangle 14"/>
          <p:cNvSpPr/>
          <p:nvPr/>
        </p:nvSpPr>
        <p:spPr>
          <a:xfrm>
            <a:off x="822960" y="2194560"/>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board_text()</a:t>
            </a:r>
          </a:p>
        </p:txBody>
      </p:sp>
      <p:sp>
        <p:nvSpPr>
          <p:cNvPr id="16" name="Rounded Rectangle 15"/>
          <p:cNvSpPr/>
          <p:nvPr/>
        </p:nvSpPr>
        <p:spPr>
          <a:xfrm>
            <a:off x="822960" y="2761488"/>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ask_gemini()</a:t>
            </a:r>
          </a:p>
        </p:txBody>
      </p:sp>
      <p:sp>
        <p:nvSpPr>
          <p:cNvPr id="17" name="Rounded Rectangle 16"/>
          <p:cNvSpPr/>
          <p:nvPr/>
        </p:nvSpPr>
        <p:spPr>
          <a:xfrm>
            <a:off x="822960" y="3328415"/>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legal_move(i, n)</a:t>
            </a:r>
          </a:p>
        </p:txBody>
      </p:sp>
      <p:sp>
        <p:nvSpPr>
          <p:cNvPr id="18" name="Rounded Rectangle 17"/>
          <p:cNvSpPr/>
          <p:nvPr/>
        </p:nvSpPr>
        <p:spPr>
          <a:xfrm>
            <a:off x="822960" y="3895344"/>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random_move()</a:t>
            </a:r>
          </a:p>
        </p:txBody>
      </p:sp>
      <p:sp>
        <p:nvSpPr>
          <p:cNvPr id="19" name="Rounded Rectangle 18"/>
          <p:cNvSpPr/>
          <p:nvPr/>
        </p:nvSpPr>
        <p:spPr>
          <a:xfrm>
            <a:off x="822960" y="4462272"/>
            <a:ext cx="3063240" cy="45720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0" i="0">
                <a:solidFill>
                  <a:srgbClr val="1B2B34"/>
                </a:solidFill>
                <a:latin typeface="Consolas"/>
                <a:cs typeface="Consolas"/>
              </a:rPr>
              <a:t>computer_turn()</a:t>
            </a:r>
          </a:p>
        </p:txBody>
      </p:sp>
      <p:sp>
        <p:nvSpPr>
          <p:cNvPr id="21" name="TextBox 20"/>
          <p:cNvSpPr txBox="1"/>
          <p:nvPr/>
        </p:nvSpPr>
        <p:spPr>
          <a:xfrm>
            <a:off x="548640" y="5669280"/>
            <a:ext cx="11091672" cy="457200"/>
          </a:xfrm>
          <a:prstGeom prst="rect">
            <a:avLst/>
          </a:prstGeom>
          <a:noFill/>
        </p:spPr>
        <p:txBody>
          <a:bodyPr wrap="square" lIns="45720" rIns="45720" anchor="t">
            <a:spAutoFit/>
          </a:bodyPr>
          <a:lstStyle/>
          <a:p>
            <a:pPr algn="ctr" rtl="1"/>
            <a:r>
              <a:rPr lang="he-IL" sz="1700" b="0" i="0" dirty="0">
                <a:solidFill>
                  <a:srgbClr val="5F6F78"/>
                </a:solidFill>
                <a:latin typeface="Arial"/>
                <a:cs typeface="Arial"/>
              </a:rPr>
              <a:t>כל פונקציה עושה דבר אחד קטן - וביחד הן משחק שלם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26</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3 שלבים למשחק שלם</a:t>
            </a:r>
          </a:p>
        </p:txBody>
      </p:sp>
      <p:sp>
        <p:nvSpPr>
          <p:cNvPr id="4" name="Oval 3"/>
          <p:cNvSpPr/>
          <p:nvPr/>
        </p:nvSpPr>
        <p:spPr>
          <a:xfrm>
            <a:off x="9372600" y="1280160"/>
            <a:ext cx="868680" cy="8686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1</a:t>
            </a:r>
          </a:p>
        </p:txBody>
      </p:sp>
      <p:sp>
        <p:nvSpPr>
          <p:cNvPr id="5" name="TextBox 4"/>
          <p:cNvSpPr txBox="1"/>
          <p:nvPr/>
        </p:nvSpPr>
        <p:spPr>
          <a:xfrm>
            <a:off x="8229600" y="2194560"/>
            <a:ext cx="3154680" cy="415498"/>
          </a:xfrm>
          <a:prstGeom prst="rect">
            <a:avLst/>
          </a:prstGeom>
          <a:noFill/>
        </p:spPr>
        <p:txBody>
          <a:bodyPr wrap="square" lIns="45720" rIns="45720" anchor="t">
            <a:spAutoFit/>
          </a:bodyPr>
          <a:lstStyle/>
          <a:p>
            <a:pPr algn="ctr" rtl="1"/>
            <a:r>
              <a:rPr lang="he-IL" sz="2100" b="1" i="0" dirty="0">
                <a:solidFill>
                  <a:srgbClr val="1B2B34"/>
                </a:solidFill>
                <a:latin typeface="Arial"/>
                <a:cs typeface="Arial"/>
              </a:rPr>
              <a:t>לוח</a:t>
            </a:r>
          </a:p>
        </p:txBody>
      </p:sp>
      <p:sp>
        <p:nvSpPr>
          <p:cNvPr id="6" name="TextBox 5"/>
          <p:cNvSpPr txBox="1"/>
          <p:nvPr/>
        </p:nvSpPr>
        <p:spPr>
          <a:xfrm>
            <a:off x="8229600" y="2606040"/>
            <a:ext cx="3154680" cy="292388"/>
          </a:xfrm>
          <a:prstGeom prst="rect">
            <a:avLst/>
          </a:prstGeom>
          <a:noFill/>
        </p:spPr>
        <p:txBody>
          <a:bodyPr wrap="square" lIns="45720" rIns="45720" anchor="t">
            <a:spAutoFit/>
          </a:bodyPr>
          <a:lstStyle/>
          <a:p>
            <a:pPr algn="ctr" rtl="0"/>
            <a:r>
              <a:rPr lang="en-US" sz="1300" b="0" i="0" dirty="0">
                <a:solidFill>
                  <a:srgbClr val="5F6F78"/>
                </a:solidFill>
                <a:latin typeface="Consolas"/>
                <a:cs typeface="Consolas"/>
              </a:rPr>
              <a:t>piles</a:t>
            </a:r>
          </a:p>
        </p:txBody>
      </p:sp>
      <p:sp>
        <p:nvSpPr>
          <p:cNvPr id="7" name="TextBox 6"/>
          <p:cNvSpPr txBox="1"/>
          <p:nvPr/>
        </p:nvSpPr>
        <p:spPr>
          <a:xfrm>
            <a:off x="8229600" y="2926080"/>
            <a:ext cx="3154680" cy="365760"/>
          </a:xfrm>
          <a:prstGeom prst="rect">
            <a:avLst/>
          </a:prstGeom>
          <a:noFill/>
        </p:spPr>
        <p:txBody>
          <a:bodyPr wrap="square" lIns="45720" rIns="45720" anchor="t">
            <a:spAutoFit/>
          </a:bodyPr>
          <a:lstStyle/>
          <a:p>
            <a:pPr algn="ctr" rtl="0"/>
            <a:r>
              <a:rPr lang="en-US" sz="1500" b="1" i="0">
                <a:solidFill>
                  <a:srgbClr val="FF9F1C"/>
                </a:solidFill>
                <a:latin typeface="Arial"/>
                <a:cs typeface="Arial"/>
              </a:rPr>
              <a:t>nim1.py</a:t>
            </a:r>
          </a:p>
        </p:txBody>
      </p:sp>
      <p:pic>
        <p:nvPicPr>
          <p:cNvPr id="8" name="Picture 7" descr="nim3_start_c.png"/>
          <p:cNvPicPr>
            <a:picLocks noChangeAspect="1"/>
          </p:cNvPicPr>
          <p:nvPr/>
        </p:nvPicPr>
        <p:blipFill>
          <a:blip r:embed="rId3"/>
          <a:stretch>
            <a:fillRect/>
          </a:stretch>
        </p:blipFill>
        <p:spPr>
          <a:xfrm>
            <a:off x="8366760" y="3429000"/>
            <a:ext cx="2880360" cy="2395451"/>
          </a:xfrm>
          <a:prstGeom prst="rect">
            <a:avLst/>
          </a:prstGeom>
        </p:spPr>
      </p:pic>
      <p:cxnSp>
        <p:nvCxnSpPr>
          <p:cNvPr id="9" name="Connector 8"/>
          <p:cNvCxnSpPr/>
          <p:nvPr/>
        </p:nvCxnSpPr>
        <p:spPr>
          <a:xfrm flipH="1">
            <a:off x="7726679" y="1719072"/>
            <a:ext cx="457200" cy="0"/>
          </a:xfrm>
          <a:prstGeom prst="line">
            <a:avLst/>
          </a:prstGeom>
          <a:ln w="38100">
            <a:solidFill>
              <a:srgbClr val="B8C4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623560" y="1280160"/>
            <a:ext cx="868680" cy="8686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2</a:t>
            </a:r>
          </a:p>
        </p:txBody>
      </p:sp>
      <p:sp>
        <p:nvSpPr>
          <p:cNvPr id="11" name="TextBox 10"/>
          <p:cNvSpPr txBox="1"/>
          <p:nvPr/>
        </p:nvSpPr>
        <p:spPr>
          <a:xfrm>
            <a:off x="4480560" y="2194560"/>
            <a:ext cx="315468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שני שחקנים</a:t>
            </a:r>
          </a:p>
        </p:txBody>
      </p:sp>
      <p:sp>
        <p:nvSpPr>
          <p:cNvPr id="12" name="TextBox 11"/>
          <p:cNvSpPr txBox="1"/>
          <p:nvPr/>
        </p:nvSpPr>
        <p:spPr>
          <a:xfrm>
            <a:off x="4480560" y="2606040"/>
            <a:ext cx="3154680" cy="365760"/>
          </a:xfrm>
          <a:prstGeom prst="rect">
            <a:avLst/>
          </a:prstGeom>
          <a:noFill/>
        </p:spPr>
        <p:txBody>
          <a:bodyPr wrap="square" lIns="45720" rIns="45720" anchor="t">
            <a:spAutoFit/>
          </a:bodyPr>
          <a:lstStyle/>
          <a:p>
            <a:pPr algn="ctr" rtl="0"/>
            <a:r>
              <a:rPr lang="en-US" sz="1300" b="0" i="0">
                <a:solidFill>
                  <a:srgbClr val="5F6F78"/>
                </a:solidFill>
                <a:latin typeface="Consolas"/>
                <a:cs typeface="Consolas"/>
              </a:rPr>
              <a:t>player, sum</a:t>
            </a:r>
          </a:p>
        </p:txBody>
      </p:sp>
      <p:sp>
        <p:nvSpPr>
          <p:cNvPr id="13" name="TextBox 12"/>
          <p:cNvSpPr txBox="1"/>
          <p:nvPr/>
        </p:nvSpPr>
        <p:spPr>
          <a:xfrm>
            <a:off x="4480560" y="2926080"/>
            <a:ext cx="3154680" cy="365760"/>
          </a:xfrm>
          <a:prstGeom prst="rect">
            <a:avLst/>
          </a:prstGeom>
          <a:noFill/>
        </p:spPr>
        <p:txBody>
          <a:bodyPr wrap="square" lIns="45720" rIns="45720" anchor="t">
            <a:spAutoFit/>
          </a:bodyPr>
          <a:lstStyle/>
          <a:p>
            <a:pPr algn="ctr" rtl="0"/>
            <a:r>
              <a:rPr lang="en-US" sz="1500" b="1" i="0">
                <a:solidFill>
                  <a:srgbClr val="FF9F1C"/>
                </a:solidFill>
                <a:latin typeface="Arial"/>
                <a:cs typeface="Arial"/>
              </a:rPr>
              <a:t>nim2.py</a:t>
            </a:r>
          </a:p>
        </p:txBody>
      </p:sp>
      <p:pic>
        <p:nvPicPr>
          <p:cNvPr id="14" name="Picture 13" descr="nim2_mid_c.png"/>
          <p:cNvPicPr>
            <a:picLocks noChangeAspect="1"/>
          </p:cNvPicPr>
          <p:nvPr/>
        </p:nvPicPr>
        <p:blipFill>
          <a:blip r:embed="rId4"/>
          <a:stretch>
            <a:fillRect/>
          </a:stretch>
        </p:blipFill>
        <p:spPr>
          <a:xfrm>
            <a:off x="4617720" y="3429000"/>
            <a:ext cx="2880360" cy="2395451"/>
          </a:xfrm>
          <a:prstGeom prst="rect">
            <a:avLst/>
          </a:prstGeom>
        </p:spPr>
      </p:pic>
      <p:cxnSp>
        <p:nvCxnSpPr>
          <p:cNvPr id="15" name="Connector 14"/>
          <p:cNvCxnSpPr/>
          <p:nvPr/>
        </p:nvCxnSpPr>
        <p:spPr>
          <a:xfrm flipH="1">
            <a:off x="3977640" y="1719072"/>
            <a:ext cx="457200" cy="0"/>
          </a:xfrm>
          <a:prstGeom prst="line">
            <a:avLst/>
          </a:prstGeom>
          <a:ln w="38100">
            <a:solidFill>
              <a:srgbClr val="B8C4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874520" y="1280160"/>
            <a:ext cx="868680" cy="8686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3</a:t>
            </a:r>
          </a:p>
        </p:txBody>
      </p:sp>
      <p:sp>
        <p:nvSpPr>
          <p:cNvPr id="17" name="TextBox 16"/>
          <p:cNvSpPr txBox="1"/>
          <p:nvPr/>
        </p:nvSpPr>
        <p:spPr>
          <a:xfrm>
            <a:off x="731520" y="2194560"/>
            <a:ext cx="315468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נגד </a:t>
            </a:r>
            <a:r>
              <a:rPr lang="en-US" sz="2100" b="1" i="0">
                <a:solidFill>
                  <a:srgbClr val="1B2B34"/>
                </a:solidFill>
                <a:latin typeface="Arial"/>
                <a:cs typeface="Arial"/>
              </a:rPr>
              <a:t>Gemini</a:t>
            </a:r>
          </a:p>
        </p:txBody>
      </p:sp>
      <p:sp>
        <p:nvSpPr>
          <p:cNvPr id="18" name="TextBox 17"/>
          <p:cNvSpPr txBox="1"/>
          <p:nvPr/>
        </p:nvSpPr>
        <p:spPr>
          <a:xfrm>
            <a:off x="731520" y="2606040"/>
            <a:ext cx="3154680" cy="365760"/>
          </a:xfrm>
          <a:prstGeom prst="rect">
            <a:avLst/>
          </a:prstGeom>
          <a:noFill/>
        </p:spPr>
        <p:txBody>
          <a:bodyPr wrap="square" lIns="45720" rIns="45720" anchor="t">
            <a:spAutoFit/>
          </a:bodyPr>
          <a:lstStyle/>
          <a:p>
            <a:pPr algn="ctr" rtl="0"/>
            <a:r>
              <a:rPr lang="en-US" sz="1300" b="0" i="0">
                <a:solidFill>
                  <a:srgbClr val="5F6F78"/>
                </a:solidFill>
                <a:latin typeface="Consolas"/>
                <a:cs typeface="Consolas"/>
              </a:rPr>
              <a:t>prompt, split</a:t>
            </a:r>
          </a:p>
        </p:txBody>
      </p:sp>
      <p:sp>
        <p:nvSpPr>
          <p:cNvPr id="19" name="TextBox 18"/>
          <p:cNvSpPr txBox="1"/>
          <p:nvPr/>
        </p:nvSpPr>
        <p:spPr>
          <a:xfrm>
            <a:off x="731520" y="2926080"/>
            <a:ext cx="3154680" cy="365760"/>
          </a:xfrm>
          <a:prstGeom prst="rect">
            <a:avLst/>
          </a:prstGeom>
          <a:noFill/>
        </p:spPr>
        <p:txBody>
          <a:bodyPr wrap="square" lIns="45720" rIns="45720" anchor="t">
            <a:spAutoFit/>
          </a:bodyPr>
          <a:lstStyle/>
          <a:p>
            <a:pPr algn="ctr" rtl="0"/>
            <a:r>
              <a:rPr lang="en-US" sz="1500" b="1" i="0">
                <a:solidFill>
                  <a:srgbClr val="FF9F1C"/>
                </a:solidFill>
                <a:latin typeface="Arial"/>
                <a:cs typeface="Arial"/>
              </a:rPr>
              <a:t>nim3.py</a:t>
            </a:r>
          </a:p>
        </p:txBody>
      </p:sp>
      <p:pic>
        <p:nvPicPr>
          <p:cNvPr id="20" name="Picture 19" descr="nim3_end_c.png"/>
          <p:cNvPicPr>
            <a:picLocks noChangeAspect="1"/>
          </p:cNvPicPr>
          <p:nvPr/>
        </p:nvPicPr>
        <p:blipFill>
          <a:blip r:embed="rId5"/>
          <a:stretch>
            <a:fillRect/>
          </a:stretch>
        </p:blipFill>
        <p:spPr>
          <a:xfrm>
            <a:off x="868680" y="3429000"/>
            <a:ext cx="2880360" cy="239545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27</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שלב 1: ציור הערימות ברשימה</a:t>
            </a:r>
          </a:p>
        </p:txBody>
      </p:sp>
      <p:sp>
        <p:nvSpPr>
          <p:cNvPr id="4" name="Rounded Rectangle 3"/>
          <p:cNvSpPr/>
          <p:nvPr/>
        </p:nvSpPr>
        <p:spPr>
          <a:xfrm>
            <a:off x="548640" y="1417320"/>
            <a:ext cx="6675120" cy="329184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54480"/>
            <a:ext cx="6217920" cy="3017520"/>
          </a:xfrm>
          <a:prstGeom prst="rect">
            <a:avLst/>
          </a:prstGeom>
          <a:noFill/>
        </p:spPr>
        <p:txBody>
          <a:bodyPr wrap="square" lIns="45720" rIns="45720" anchor="ctr">
            <a:spAutoFit/>
          </a:bodyPr>
          <a:lstStyle/>
          <a:p>
            <a:pPr algn="l" rtl="0"/>
            <a:r>
              <a:rPr lang="en-US" sz="1500" b="0" i="0">
                <a:solidFill>
                  <a:srgbClr val="E6E6E6"/>
                </a:solidFill>
                <a:latin typeface="Consolas"/>
                <a:cs typeface="Consolas"/>
              </a:rPr>
              <a:t>piles = [</a:t>
            </a:r>
            <a:r>
              <a:rPr lang="en-US" sz="1500" b="0" i="0">
                <a:solidFill>
                  <a:srgbClr val="FFD166"/>
                </a:solidFill>
                <a:latin typeface="Consolas"/>
                <a:cs typeface="Consolas"/>
              </a:rPr>
              <a:t>3</a:t>
            </a:r>
            <a:r>
              <a:rPr lang="en-US" sz="1500" b="0" i="0">
                <a:solidFill>
                  <a:srgbClr val="E6E6E6"/>
                </a:solidFill>
                <a:latin typeface="Consolas"/>
                <a:cs typeface="Consolas"/>
              </a:rPr>
              <a:t>, </a:t>
            </a:r>
            <a:r>
              <a:rPr lang="en-US" sz="1500" b="0" i="0">
                <a:solidFill>
                  <a:srgbClr val="FFD166"/>
                </a:solidFill>
                <a:latin typeface="Consolas"/>
                <a:cs typeface="Consolas"/>
              </a:rPr>
              <a:t>4</a:t>
            </a:r>
            <a:r>
              <a:rPr lang="en-US" sz="1500" b="0" i="0">
                <a:solidFill>
                  <a:srgbClr val="E6E6E6"/>
                </a:solidFill>
                <a:latin typeface="Consolas"/>
                <a:cs typeface="Consolas"/>
              </a:rPr>
              <a:t>, </a:t>
            </a:r>
            <a:r>
              <a:rPr lang="en-US" sz="1500" b="0" i="0">
                <a:solidFill>
                  <a:srgbClr val="FFD166"/>
                </a:solidFill>
                <a:latin typeface="Consolas"/>
                <a:cs typeface="Consolas"/>
              </a:rPr>
              <a:t>5</a:t>
            </a:r>
            <a:r>
              <a:rPr lang="en-US" sz="1500" b="0" i="0">
                <a:solidFill>
                  <a:srgbClr val="E6E6E6"/>
                </a:solidFill>
                <a:latin typeface="Consolas"/>
                <a:cs typeface="Consolas"/>
              </a:rPr>
              <a:t>]</a:t>
            </a:r>
          </a:p>
          <a:p>
            <a:pPr algn="l" rtl="0"/>
            <a:r>
              <a:rPr lang="en-US" sz="1500" b="0" i="0">
                <a:solidFill>
                  <a:srgbClr val="E6E6E6"/>
                </a:solidFill>
                <a:latin typeface="Consolas"/>
                <a:cs typeface="Consolas"/>
              </a:rPr>
              <a:t> </a:t>
            </a:r>
          </a:p>
          <a:p>
            <a:pPr algn="l" rtl="0"/>
            <a:r>
              <a:rPr lang="en-US" sz="1500" b="0" i="0">
                <a:solidFill>
                  <a:srgbClr val="FF9F1C"/>
                </a:solidFill>
                <a:latin typeface="Consolas"/>
                <a:cs typeface="Consolas"/>
              </a:rPr>
              <a:t>def</a:t>
            </a:r>
            <a:r>
              <a:rPr lang="en-US" sz="1500" b="0" i="0">
                <a:solidFill>
                  <a:srgbClr val="E6E6E6"/>
                </a:solidFill>
                <a:latin typeface="Consolas"/>
                <a:cs typeface="Consolas"/>
              </a:rPr>
              <a:t> draw_pile(index):</a:t>
            </a:r>
          </a:p>
          <a:p>
            <a:pPr algn="l" rtl="0"/>
            <a:r>
              <a:rPr lang="en-US" sz="1500" b="0" i="0">
                <a:solidFill>
                  <a:srgbClr val="E6E6E6"/>
                </a:solidFill>
                <a:latin typeface="Consolas"/>
                <a:cs typeface="Consolas"/>
              </a:rPr>
              <a:t>    y = ROWS[index]</a:t>
            </a:r>
          </a:p>
          <a:p>
            <a:pPr algn="l" rtl="0"/>
            <a:r>
              <a:rPr lang="en-US" sz="1500" b="0" i="0">
                <a:solidFill>
                  <a:srgbClr val="E6E6E6"/>
                </a:solidFill>
                <a:latin typeface="Consolas"/>
                <a:cs typeface="Consolas"/>
              </a:rPr>
              <a:t>    pen.write(</a:t>
            </a:r>
            <a:r>
              <a:rPr lang="en-US" sz="1500" b="0" i="0">
                <a:solidFill>
                  <a:srgbClr val="A6E22E"/>
                </a:solidFill>
                <a:latin typeface="Consolas"/>
                <a:cs typeface="Consolas"/>
              </a:rPr>
              <a:t>"Pile "</a:t>
            </a:r>
            <a:r>
              <a:rPr lang="en-US" sz="1500" b="0" i="0">
                <a:solidFill>
                  <a:srgbClr val="E6E6E6"/>
                </a:solidFill>
                <a:latin typeface="Consolas"/>
                <a:cs typeface="Consolas"/>
              </a:rPr>
              <a:t> + </a:t>
            </a:r>
            <a:r>
              <a:rPr lang="en-US" sz="1500" b="0" i="0">
                <a:solidFill>
                  <a:srgbClr val="66D9EF"/>
                </a:solidFill>
                <a:latin typeface="Consolas"/>
                <a:cs typeface="Consolas"/>
              </a:rPr>
              <a:t>str</a:t>
            </a:r>
            <a:r>
              <a:rPr lang="en-US" sz="1500" b="0" i="0">
                <a:solidFill>
                  <a:srgbClr val="E6E6E6"/>
                </a:solidFill>
                <a:latin typeface="Consolas"/>
                <a:cs typeface="Consolas"/>
              </a:rPr>
              <a:t>(index + </a:t>
            </a:r>
            <a:r>
              <a:rPr lang="en-US" sz="1500" b="0" i="0">
                <a:solidFill>
                  <a:srgbClr val="FFD166"/>
                </a:solidFill>
                <a:latin typeface="Consolas"/>
                <a:cs typeface="Consolas"/>
              </a:rPr>
              <a:t>1</a:t>
            </a:r>
            <a:r>
              <a:rPr lang="en-US" sz="1500" b="0" i="0">
                <a:solidFill>
                  <a:srgbClr val="E6E6E6"/>
                </a:solidFill>
                <a:latin typeface="Consolas"/>
                <a:cs typeface="Consolas"/>
              </a:rPr>
              <a:t>))</a:t>
            </a:r>
          </a:p>
          <a:p>
            <a:pPr algn="l" rtl="0"/>
            <a:r>
              <a:rPr lang="en-US" sz="1500" b="0" i="0">
                <a:solidFill>
                  <a:srgbClr val="E6E6E6"/>
                </a:solidFill>
                <a:latin typeface="Consolas"/>
                <a:cs typeface="Consolas"/>
              </a:rPr>
              <a:t>    </a:t>
            </a:r>
            <a:r>
              <a:rPr lang="en-US" sz="1500" b="0" i="0">
                <a:solidFill>
                  <a:srgbClr val="FF9F1C"/>
                </a:solidFill>
                <a:latin typeface="Consolas"/>
                <a:cs typeface="Consolas"/>
              </a:rPr>
              <a:t>for</a:t>
            </a:r>
            <a:r>
              <a:rPr lang="en-US" sz="1500" b="0" i="0">
                <a:solidFill>
                  <a:srgbClr val="E6E6E6"/>
                </a:solidFill>
                <a:latin typeface="Consolas"/>
                <a:cs typeface="Consolas"/>
              </a:rPr>
              <a:t> i </a:t>
            </a:r>
            <a:r>
              <a:rPr lang="en-US" sz="1500" b="0" i="0">
                <a:solidFill>
                  <a:srgbClr val="FF9F1C"/>
                </a:solidFill>
                <a:latin typeface="Consolas"/>
                <a:cs typeface="Consolas"/>
              </a:rPr>
              <a:t>in</a:t>
            </a:r>
            <a:r>
              <a:rPr lang="en-US" sz="1500" b="0" i="0">
                <a:solidFill>
                  <a:srgbClr val="E6E6E6"/>
                </a:solidFill>
                <a:latin typeface="Consolas"/>
                <a:cs typeface="Consolas"/>
              </a:rPr>
              <a:t> </a:t>
            </a:r>
            <a:r>
              <a:rPr lang="en-US" sz="1500" b="0" i="0">
                <a:solidFill>
                  <a:srgbClr val="66D9EF"/>
                </a:solidFill>
                <a:latin typeface="Consolas"/>
                <a:cs typeface="Consolas"/>
              </a:rPr>
              <a:t>range</a:t>
            </a:r>
            <a:r>
              <a:rPr lang="en-US" sz="1500" b="0" i="0">
                <a:solidFill>
                  <a:srgbClr val="E6E6E6"/>
                </a:solidFill>
                <a:latin typeface="Consolas"/>
                <a:cs typeface="Consolas"/>
              </a:rPr>
              <a:t>(piles[index]):</a:t>
            </a:r>
          </a:p>
          <a:p>
            <a:pPr algn="l" rtl="0"/>
            <a:r>
              <a:rPr lang="en-US" sz="1500" b="0" i="0">
                <a:solidFill>
                  <a:srgbClr val="E6E6E6"/>
                </a:solidFill>
                <a:latin typeface="Consolas"/>
                <a:cs typeface="Consolas"/>
              </a:rPr>
              <a:t>        draw_rect(-</a:t>
            </a:r>
            <a:r>
              <a:rPr lang="en-US" sz="1500" b="0" i="0">
                <a:solidFill>
                  <a:srgbClr val="FFD166"/>
                </a:solidFill>
                <a:latin typeface="Consolas"/>
                <a:cs typeface="Consolas"/>
              </a:rPr>
              <a:t>150</a:t>
            </a:r>
            <a:r>
              <a:rPr lang="en-US" sz="1500" b="0" i="0">
                <a:solidFill>
                  <a:srgbClr val="E6E6E6"/>
                </a:solidFill>
                <a:latin typeface="Consolas"/>
                <a:cs typeface="Consolas"/>
              </a:rPr>
              <a:t> + i * </a:t>
            </a:r>
            <a:r>
              <a:rPr lang="en-US" sz="1500" b="0" i="0">
                <a:solidFill>
                  <a:srgbClr val="FFD166"/>
                </a:solidFill>
                <a:latin typeface="Consolas"/>
                <a:cs typeface="Consolas"/>
              </a:rPr>
              <a:t>55</a:t>
            </a:r>
            <a:r>
              <a:rPr lang="en-US" sz="1500" b="0" i="0">
                <a:solidFill>
                  <a:srgbClr val="E6E6E6"/>
                </a:solidFill>
                <a:latin typeface="Consolas"/>
                <a:cs typeface="Consolas"/>
              </a:rPr>
              <a:t>, y, </a:t>
            </a:r>
            <a:r>
              <a:rPr lang="en-US" sz="1500" b="0" i="0">
                <a:solidFill>
                  <a:srgbClr val="FFD166"/>
                </a:solidFill>
                <a:latin typeface="Consolas"/>
                <a:cs typeface="Consolas"/>
              </a:rPr>
              <a:t>40</a:t>
            </a:r>
            <a:r>
              <a:rPr lang="en-US" sz="1500" b="0" i="0">
                <a:solidFill>
                  <a:srgbClr val="E6E6E6"/>
                </a:solidFill>
                <a:latin typeface="Consolas"/>
                <a:cs typeface="Consolas"/>
              </a:rPr>
              <a:t>, </a:t>
            </a:r>
            <a:r>
              <a:rPr lang="en-US" sz="1500" b="0" i="0">
                <a:solidFill>
                  <a:srgbClr val="FFD166"/>
                </a:solidFill>
                <a:latin typeface="Consolas"/>
                <a:cs typeface="Consolas"/>
              </a:rPr>
              <a:t>40</a:t>
            </a:r>
            <a:r>
              <a:rPr lang="en-US" sz="1500" b="0" i="0">
                <a:solidFill>
                  <a:srgbClr val="E6E6E6"/>
                </a:solidFill>
                <a:latin typeface="Consolas"/>
                <a:cs typeface="Consolas"/>
              </a:rPr>
              <a:t>,</a:t>
            </a:r>
          </a:p>
          <a:p>
            <a:pPr algn="l" rtl="0"/>
            <a:r>
              <a:rPr lang="en-US" sz="1500" b="0" i="0">
                <a:solidFill>
                  <a:srgbClr val="E6E6E6"/>
                </a:solidFill>
                <a:latin typeface="Consolas"/>
                <a:cs typeface="Consolas"/>
              </a:rPr>
              <a:t>                  COLORS[index])</a:t>
            </a:r>
          </a:p>
        </p:txBody>
      </p:sp>
      <p:pic>
        <p:nvPicPr>
          <p:cNvPr id="6" name="Picture 5" descr="nim3_start_c.png"/>
          <p:cNvPicPr>
            <a:picLocks noChangeAspect="1"/>
          </p:cNvPicPr>
          <p:nvPr/>
        </p:nvPicPr>
        <p:blipFill>
          <a:blip r:embed="rId3"/>
          <a:stretch>
            <a:fillRect/>
          </a:stretch>
        </p:blipFill>
        <p:spPr>
          <a:xfrm>
            <a:off x="7543800" y="1417320"/>
            <a:ext cx="4096512" cy="3406864"/>
          </a:xfrm>
          <a:prstGeom prst="rect">
            <a:avLst/>
          </a:prstGeom>
        </p:spPr>
      </p:pic>
      <p:sp>
        <p:nvSpPr>
          <p:cNvPr id="7" name="Rounded Rectangle 6"/>
          <p:cNvSpPr/>
          <p:nvPr/>
        </p:nvSpPr>
        <p:spPr>
          <a:xfrm>
            <a:off x="548640" y="5029200"/>
            <a:ext cx="1188720" cy="64008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3</a:t>
            </a:r>
          </a:p>
        </p:txBody>
      </p:sp>
      <p:sp>
        <p:nvSpPr>
          <p:cNvPr id="8" name="TextBox 7"/>
          <p:cNvSpPr txBox="1"/>
          <p:nvPr/>
        </p:nvSpPr>
        <p:spPr>
          <a:xfrm>
            <a:off x="548640" y="5669280"/>
            <a:ext cx="1188720" cy="365760"/>
          </a:xfrm>
          <a:prstGeom prst="rect">
            <a:avLst/>
          </a:prstGeom>
          <a:noFill/>
        </p:spPr>
        <p:txBody>
          <a:bodyPr wrap="square" lIns="45720" rIns="45720" anchor="t">
            <a:spAutoFit/>
          </a:bodyPr>
          <a:lstStyle/>
          <a:p>
            <a:pPr algn="ctr" rtl="0"/>
            <a:r>
              <a:rPr lang="en-US" sz="1400" b="0" i="0">
                <a:solidFill>
                  <a:srgbClr val="5F6F78"/>
                </a:solidFill>
                <a:latin typeface="Consolas"/>
                <a:cs typeface="Consolas"/>
              </a:rPr>
              <a:t>piles[0]</a:t>
            </a:r>
          </a:p>
        </p:txBody>
      </p:sp>
      <p:sp>
        <p:nvSpPr>
          <p:cNvPr id="9" name="Rounded Rectangle 8"/>
          <p:cNvSpPr/>
          <p:nvPr/>
        </p:nvSpPr>
        <p:spPr>
          <a:xfrm>
            <a:off x="1920240" y="5029200"/>
            <a:ext cx="1188720" cy="640080"/>
          </a:xfrm>
          <a:prstGeom prst="roundRect">
            <a:avLst>
              <a:gd name="adj" fmla="val 8000"/>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4</a:t>
            </a:r>
          </a:p>
        </p:txBody>
      </p:sp>
      <p:sp>
        <p:nvSpPr>
          <p:cNvPr id="10" name="TextBox 9"/>
          <p:cNvSpPr txBox="1"/>
          <p:nvPr/>
        </p:nvSpPr>
        <p:spPr>
          <a:xfrm>
            <a:off x="1920240" y="5669280"/>
            <a:ext cx="1188720" cy="365760"/>
          </a:xfrm>
          <a:prstGeom prst="rect">
            <a:avLst/>
          </a:prstGeom>
          <a:noFill/>
        </p:spPr>
        <p:txBody>
          <a:bodyPr wrap="square" lIns="45720" rIns="45720" anchor="t">
            <a:spAutoFit/>
          </a:bodyPr>
          <a:lstStyle/>
          <a:p>
            <a:pPr algn="ctr" rtl="0"/>
            <a:r>
              <a:rPr lang="en-US" sz="1400" b="0" i="0">
                <a:solidFill>
                  <a:srgbClr val="5F6F78"/>
                </a:solidFill>
                <a:latin typeface="Consolas"/>
                <a:cs typeface="Consolas"/>
              </a:rPr>
              <a:t>piles[1]</a:t>
            </a:r>
          </a:p>
        </p:txBody>
      </p:sp>
      <p:sp>
        <p:nvSpPr>
          <p:cNvPr id="11" name="Rounded Rectangle 10"/>
          <p:cNvSpPr/>
          <p:nvPr/>
        </p:nvSpPr>
        <p:spPr>
          <a:xfrm>
            <a:off x="3291840" y="5029200"/>
            <a:ext cx="1188720" cy="640080"/>
          </a:xfrm>
          <a:prstGeom prst="roundRect">
            <a:avLst>
              <a:gd name="adj" fmla="val 8000"/>
            </a:avLst>
          </a:prstGeom>
          <a:solidFill>
            <a:srgbClr val="FF69B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5</a:t>
            </a:r>
          </a:p>
        </p:txBody>
      </p:sp>
      <p:sp>
        <p:nvSpPr>
          <p:cNvPr id="12" name="TextBox 11"/>
          <p:cNvSpPr txBox="1"/>
          <p:nvPr/>
        </p:nvSpPr>
        <p:spPr>
          <a:xfrm>
            <a:off x="3291840" y="5669280"/>
            <a:ext cx="1188720" cy="365760"/>
          </a:xfrm>
          <a:prstGeom prst="rect">
            <a:avLst/>
          </a:prstGeom>
          <a:noFill/>
        </p:spPr>
        <p:txBody>
          <a:bodyPr wrap="square" lIns="45720" rIns="45720" anchor="t">
            <a:spAutoFit/>
          </a:bodyPr>
          <a:lstStyle/>
          <a:p>
            <a:pPr algn="ctr" rtl="0"/>
            <a:r>
              <a:rPr lang="en-US" sz="1400" b="0" i="0">
                <a:solidFill>
                  <a:srgbClr val="5F6F78"/>
                </a:solidFill>
                <a:latin typeface="Consolas"/>
                <a:cs typeface="Consolas"/>
              </a:rPr>
              <a:t>piles[2]</a:t>
            </a:r>
          </a:p>
        </p:txBody>
      </p:sp>
      <p:sp>
        <p:nvSpPr>
          <p:cNvPr id="13" name="TextBox 12"/>
          <p:cNvSpPr txBox="1"/>
          <p:nvPr/>
        </p:nvSpPr>
        <p:spPr>
          <a:xfrm>
            <a:off x="4846320" y="4983480"/>
            <a:ext cx="6766560" cy="73152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מורידים אסימונים = משנים מספר ברשימה ומציירים מחדש</a:t>
            </a:r>
          </a:p>
        </p:txBody>
      </p:sp>
      <p:sp>
        <p:nvSpPr>
          <p:cNvPr id="14" name="Rounded Rectangle 13"/>
          <p:cNvSpPr/>
          <p:nvPr/>
        </p:nvSpPr>
        <p:spPr>
          <a:xfrm>
            <a:off x="9262872" y="5760720"/>
            <a:ext cx="23774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nim1.py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28</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שלב 2: הוספת שני שחקנים</a:t>
            </a:r>
          </a:p>
        </p:txBody>
      </p:sp>
      <p:sp>
        <p:nvSpPr>
          <p:cNvPr id="4" name="Rounded Rectangle 3"/>
          <p:cNvSpPr/>
          <p:nvPr/>
        </p:nvSpPr>
        <p:spPr>
          <a:xfrm>
            <a:off x="548640" y="1417320"/>
            <a:ext cx="5760720" cy="237744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190543"/>
            <a:ext cx="5303520" cy="830997"/>
          </a:xfrm>
          <a:prstGeom prst="rect">
            <a:avLst/>
          </a:prstGeom>
          <a:noFill/>
        </p:spPr>
        <p:txBody>
          <a:bodyPr wrap="square" lIns="45720" rIns="45720" anchor="ctr">
            <a:spAutoFit/>
          </a:bodyPr>
          <a:lstStyle/>
          <a:p>
            <a:r>
              <a:rPr lang="en-US" sz="2400" dirty="0">
                <a:solidFill>
                  <a:srgbClr val="E6E6E6"/>
                </a:solidFill>
                <a:latin typeface="Consolas"/>
                <a:cs typeface="Consolas"/>
              </a:rPr>
              <a:t>for turn in range(MAX_TURNS):</a:t>
            </a:r>
          </a:p>
          <a:p>
            <a:r>
              <a:rPr lang="en-US" sz="2400" dirty="0">
                <a:solidFill>
                  <a:srgbClr val="E6E6E6"/>
                </a:solidFill>
                <a:latin typeface="Consolas"/>
                <a:cs typeface="Consolas"/>
              </a:rPr>
              <a:t>    if sum(piles) &gt; 0:</a:t>
            </a:r>
            <a:endParaRPr lang="en-US" sz="2400" b="0" i="0" dirty="0">
              <a:solidFill>
                <a:srgbClr val="FFD166"/>
              </a:solidFill>
              <a:latin typeface="Consolas"/>
              <a:cs typeface="Consolas"/>
            </a:endParaRPr>
          </a:p>
        </p:txBody>
      </p:sp>
      <p:sp>
        <p:nvSpPr>
          <p:cNvPr id="6" name="Rounded Rectangle 5"/>
          <p:cNvSpPr/>
          <p:nvPr/>
        </p:nvSpPr>
        <p:spPr>
          <a:xfrm>
            <a:off x="6583680" y="1417320"/>
            <a:ext cx="5056632" cy="237744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12280" y="2213625"/>
            <a:ext cx="4599432" cy="784830"/>
          </a:xfrm>
          <a:prstGeom prst="rect">
            <a:avLst/>
          </a:prstGeom>
          <a:noFill/>
        </p:spPr>
        <p:txBody>
          <a:bodyPr wrap="square" lIns="45720" rIns="45720" anchor="ctr">
            <a:spAutoFit/>
          </a:bodyPr>
          <a:lstStyle/>
          <a:p>
            <a:pPr algn="l" rtl="0"/>
            <a:r>
              <a:rPr lang="en-US" sz="1500" b="0" i="0" dirty="0">
                <a:solidFill>
                  <a:srgbClr val="FF9F1C"/>
                </a:solidFill>
                <a:latin typeface="Consolas"/>
                <a:cs typeface="Consolas"/>
              </a:rPr>
              <a:t>if</a:t>
            </a:r>
            <a:r>
              <a:rPr lang="en-US" sz="1500" b="0" i="0" dirty="0">
                <a:solidFill>
                  <a:srgbClr val="E6E6E6"/>
                </a:solidFill>
                <a:latin typeface="Consolas"/>
                <a:cs typeface="Consolas"/>
              </a:rPr>
              <a:t> </a:t>
            </a:r>
            <a:r>
              <a:rPr lang="en-US" sz="1500" b="0" i="0" dirty="0">
                <a:solidFill>
                  <a:srgbClr val="66D9EF"/>
                </a:solidFill>
                <a:latin typeface="Consolas"/>
                <a:cs typeface="Consolas"/>
              </a:rPr>
              <a:t>sum</a:t>
            </a:r>
            <a:r>
              <a:rPr lang="en-US" sz="1500" b="0" i="0" dirty="0">
                <a:solidFill>
                  <a:srgbClr val="E6E6E6"/>
                </a:solidFill>
                <a:latin typeface="Consolas"/>
                <a:cs typeface="Consolas"/>
              </a:rPr>
              <a:t>(piles) == </a:t>
            </a:r>
            <a:r>
              <a:rPr lang="en-US" sz="1500" b="0" i="0" dirty="0">
                <a:solidFill>
                  <a:srgbClr val="FFD166"/>
                </a:solidFill>
                <a:latin typeface="Consolas"/>
                <a:cs typeface="Consolas"/>
              </a:rPr>
              <a:t>0</a:t>
            </a:r>
            <a:r>
              <a:rPr lang="en-US" sz="1500" b="0" i="0" dirty="0">
                <a:solidFill>
                  <a:srgbClr val="E6E6E6"/>
                </a:solidFill>
                <a:latin typeface="Consolas"/>
                <a:cs typeface="Consolas"/>
              </a:rPr>
              <a:t>:</a:t>
            </a:r>
          </a:p>
          <a:p>
            <a:pPr algn="l" rtl="0"/>
            <a:r>
              <a:rPr lang="en-US" sz="1500" b="0" i="0" dirty="0">
                <a:solidFill>
                  <a:srgbClr val="E6E6E6"/>
                </a:solidFill>
                <a:latin typeface="Consolas"/>
                <a:cs typeface="Consolas"/>
              </a:rPr>
              <a:t>    </a:t>
            </a:r>
            <a:r>
              <a:rPr lang="en-US" sz="1500" b="0" i="0" dirty="0" err="1">
                <a:solidFill>
                  <a:srgbClr val="E6E6E6"/>
                </a:solidFill>
                <a:latin typeface="Consolas"/>
                <a:cs typeface="Consolas"/>
              </a:rPr>
              <a:t>show_message</a:t>
            </a:r>
            <a:r>
              <a:rPr lang="en-US" sz="1500" b="0" i="0" dirty="0">
                <a:solidFill>
                  <a:srgbClr val="E6E6E6"/>
                </a:solidFill>
                <a:latin typeface="Consolas"/>
                <a:cs typeface="Consolas"/>
              </a:rPr>
              <a:t>(</a:t>
            </a:r>
            <a:r>
              <a:rPr lang="en-US" sz="1500" b="0" i="0" dirty="0">
                <a:solidFill>
                  <a:srgbClr val="A6E22E"/>
                </a:solidFill>
                <a:latin typeface="Consolas"/>
                <a:cs typeface="Consolas"/>
              </a:rPr>
              <a:t>"Player "</a:t>
            </a:r>
            <a:r>
              <a:rPr lang="en-US" sz="1500" b="0" i="0" dirty="0">
                <a:solidFill>
                  <a:srgbClr val="E6E6E6"/>
                </a:solidFill>
                <a:latin typeface="Consolas"/>
                <a:cs typeface="Consolas"/>
              </a:rPr>
              <a:t> + </a:t>
            </a:r>
            <a:r>
              <a:rPr lang="en-US" sz="1500" b="0" i="0" dirty="0">
                <a:solidFill>
                  <a:srgbClr val="66D9EF"/>
                </a:solidFill>
                <a:latin typeface="Consolas"/>
                <a:cs typeface="Consolas"/>
              </a:rPr>
              <a:t>str</a:t>
            </a:r>
            <a:r>
              <a:rPr lang="en-US" sz="1500" b="0" i="0" dirty="0">
                <a:solidFill>
                  <a:srgbClr val="E6E6E6"/>
                </a:solidFill>
                <a:latin typeface="Consolas"/>
                <a:cs typeface="Consolas"/>
              </a:rPr>
              <a:t>(player)</a:t>
            </a:r>
          </a:p>
          <a:p>
            <a:pPr algn="l" rtl="0"/>
            <a:r>
              <a:rPr lang="en-US" sz="1500" b="0" i="0" dirty="0">
                <a:solidFill>
                  <a:srgbClr val="E6E6E6"/>
                </a:solidFill>
                <a:latin typeface="Consolas"/>
                <a:cs typeface="Consolas"/>
              </a:rPr>
              <a:t>                 + </a:t>
            </a:r>
            <a:r>
              <a:rPr lang="en-US" sz="1500" b="0" i="0" dirty="0">
                <a:solidFill>
                  <a:srgbClr val="A6E22E"/>
                </a:solidFill>
                <a:latin typeface="Consolas"/>
                <a:cs typeface="Consolas"/>
              </a:rPr>
              <a:t>" LOSES!"</a:t>
            </a:r>
            <a:r>
              <a:rPr lang="en-US" sz="1500" b="0" i="0" dirty="0">
                <a:solidFill>
                  <a:srgbClr val="E6E6E6"/>
                </a:solidFill>
                <a:latin typeface="Consolas"/>
                <a:cs typeface="Consolas"/>
              </a:rPr>
              <a:t>)</a:t>
            </a:r>
          </a:p>
        </p:txBody>
      </p:sp>
      <p:pic>
        <p:nvPicPr>
          <p:cNvPr id="8" name="Picture 7" descr="nim2_end_c.png"/>
          <p:cNvPicPr>
            <a:picLocks noChangeAspect="1"/>
          </p:cNvPicPr>
          <p:nvPr/>
        </p:nvPicPr>
        <p:blipFill>
          <a:blip r:embed="rId3"/>
          <a:stretch>
            <a:fillRect/>
          </a:stretch>
        </p:blipFill>
        <p:spPr>
          <a:xfrm>
            <a:off x="548640" y="4023360"/>
            <a:ext cx="2377440" cy="1977198"/>
          </a:xfrm>
          <a:prstGeom prst="rect">
            <a:avLst/>
          </a:prstGeom>
        </p:spPr>
      </p:pic>
      <p:sp>
        <p:nvSpPr>
          <p:cNvPr id="9" name="Rounded Rectangle 8"/>
          <p:cNvSpPr/>
          <p:nvPr/>
        </p:nvSpPr>
        <p:spPr>
          <a:xfrm>
            <a:off x="6583680" y="4114800"/>
            <a:ext cx="5056632" cy="73152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9F1C"/>
                </a:solidFill>
                <a:latin typeface="Consolas"/>
                <a:cs typeface="Consolas"/>
              </a:rPr>
              <a:t>sum([0, 0, 0]) = 0</a:t>
            </a:r>
          </a:p>
        </p:txBody>
      </p:sp>
      <p:sp>
        <p:nvSpPr>
          <p:cNvPr id="10" name="TextBox 9"/>
          <p:cNvSpPr txBox="1"/>
          <p:nvPr/>
        </p:nvSpPr>
        <p:spPr>
          <a:xfrm>
            <a:off x="3200400" y="4069080"/>
            <a:ext cx="3200400" cy="1371600"/>
          </a:xfrm>
          <a:prstGeom prst="rect">
            <a:avLst/>
          </a:prstGeom>
          <a:noFill/>
        </p:spPr>
        <p:txBody>
          <a:bodyPr wrap="square" lIns="45720" rIns="45720" anchor="t">
            <a:spAutoFit/>
          </a:bodyPr>
          <a:lstStyle/>
          <a:p>
            <a:pPr algn="r" rtl="1">
              <a:spcAft>
                <a:spcPts val="400"/>
              </a:spcAft>
            </a:pPr>
            <a:r>
              <a:rPr lang="en-US" sz="1500" b="1" i="0">
                <a:solidFill>
                  <a:srgbClr val="FF9F1C"/>
                </a:solidFill>
                <a:latin typeface="Consolas"/>
                <a:cs typeface="Consolas"/>
              </a:rPr>
              <a:t>sum(piles)</a:t>
            </a:r>
          </a:p>
          <a:p>
            <a:pPr algn="r" rtl="1">
              <a:spcAft>
                <a:spcPts val="400"/>
              </a:spcAft>
            </a:pPr>
            <a:r>
              <a:rPr lang="he-IL" sz="1500" b="0" i="0">
                <a:solidFill>
                  <a:srgbClr val="1B2B34"/>
                </a:solidFill>
                <a:latin typeface="Arial"/>
                <a:cs typeface="Arial"/>
              </a:rPr>
              <a:t>מחבר את כל המספרים ברשימה. אם יצא 0 - נגמרו האסימונים</a:t>
            </a:r>
          </a:p>
        </p:txBody>
      </p:sp>
      <p:sp>
        <p:nvSpPr>
          <p:cNvPr id="11" name="Rounded Rectangle 10"/>
          <p:cNvSpPr/>
          <p:nvPr/>
        </p:nvSpPr>
        <p:spPr>
          <a:xfrm>
            <a:off x="9262872" y="5577840"/>
            <a:ext cx="23774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nim2.py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29</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שלב 3: ה-</a:t>
            </a:r>
            <a:r>
              <a:rPr lang="en-US" sz="3600" b="1" i="0">
                <a:solidFill>
                  <a:srgbClr val="1B4332"/>
                </a:solidFill>
                <a:latin typeface="Arial"/>
                <a:cs typeface="Arial"/>
              </a:rPr>
              <a:t>prompt</a:t>
            </a:r>
            <a:r>
              <a:rPr lang="he-IL" sz="3600" b="1" i="0">
                <a:solidFill>
                  <a:srgbClr val="1B4332"/>
                </a:solidFill>
                <a:latin typeface="Arial"/>
                <a:cs typeface="Arial"/>
              </a:rPr>
              <a:t> שנשלח ל-</a:t>
            </a:r>
            <a:r>
              <a:rPr lang="en-US" sz="3600" b="1" i="0">
                <a:solidFill>
                  <a:srgbClr val="1B4332"/>
                </a:solidFill>
                <a:latin typeface="Arial"/>
                <a:cs typeface="Arial"/>
              </a:rPr>
              <a:t>Gemini</a:t>
            </a:r>
          </a:p>
        </p:txBody>
      </p:sp>
      <p:sp>
        <p:nvSpPr>
          <p:cNvPr id="4" name="Rounded Rectangle 3"/>
          <p:cNvSpPr/>
          <p:nvPr/>
        </p:nvSpPr>
        <p:spPr>
          <a:xfrm>
            <a:off x="548640" y="1417320"/>
            <a:ext cx="6400800" cy="384048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54480"/>
            <a:ext cx="5943600" cy="3566160"/>
          </a:xfrm>
          <a:prstGeom prst="rect">
            <a:avLst/>
          </a:prstGeom>
          <a:noFill/>
        </p:spPr>
        <p:txBody>
          <a:bodyPr wrap="square" lIns="45720" rIns="45720" anchor="ctr">
            <a:spAutoFit/>
          </a:bodyPr>
          <a:lstStyle/>
          <a:p>
            <a:pPr algn="l" rtl="0"/>
            <a:r>
              <a:rPr lang="en-US" sz="1400" b="0" i="0">
                <a:solidFill>
                  <a:srgbClr val="FF9F1C"/>
                </a:solidFill>
                <a:latin typeface="Consolas"/>
                <a:cs typeface="Consolas"/>
              </a:rPr>
              <a:t>def</a:t>
            </a:r>
            <a:r>
              <a:rPr lang="en-US" sz="1400" b="0" i="0">
                <a:solidFill>
                  <a:srgbClr val="E6E6E6"/>
                </a:solidFill>
                <a:latin typeface="Consolas"/>
                <a:cs typeface="Consolas"/>
              </a:rPr>
              <a:t> ask_gemini():</a:t>
            </a:r>
          </a:p>
          <a:p>
            <a:pPr algn="l" rtl="0"/>
            <a:r>
              <a:rPr lang="en-US" sz="1400" b="0" i="0">
                <a:solidFill>
                  <a:srgbClr val="E6E6E6"/>
                </a:solidFill>
                <a:latin typeface="Consolas"/>
                <a:cs typeface="Consolas"/>
              </a:rPr>
              <a:t>    prompt = </a:t>
            </a:r>
            <a:r>
              <a:rPr lang="en-US" sz="1400" b="0" i="0">
                <a:solidFill>
                  <a:srgbClr val="A6E22E"/>
                </a:solidFill>
                <a:latin typeface="Consolas"/>
                <a:cs typeface="Consolas"/>
              </a:rPr>
              <a:t>"You are a NIM player (wiki link).\n"</a:t>
            </a:r>
          </a:p>
          <a:p>
            <a:pPr algn="l" rtl="0"/>
            <a:r>
              <a:rPr lang="en-US" sz="1400" b="0" i="0">
                <a:solidFill>
                  <a:srgbClr val="E6E6E6"/>
                </a:solidFill>
                <a:latin typeface="Consolas"/>
                <a:cs typeface="Consolas"/>
              </a:rPr>
              <a:t>    prompt = prompt + </a:t>
            </a:r>
            <a:r>
              <a:rPr lang="en-US" sz="1400" b="0" i="0">
                <a:solidFill>
                  <a:srgbClr val="A6E22E"/>
                </a:solidFill>
                <a:latin typeface="Consolas"/>
                <a:cs typeface="Consolas"/>
              </a:rPr>
              <a:t>"Rules: ...\n"</a:t>
            </a:r>
          </a:p>
          <a:p>
            <a:pPr algn="l" rtl="0"/>
            <a:r>
              <a:rPr lang="en-US" sz="1400" b="0" i="0">
                <a:solidFill>
                  <a:srgbClr val="E6E6E6"/>
                </a:solidFill>
                <a:latin typeface="Consolas"/>
                <a:cs typeface="Consolas"/>
              </a:rPr>
              <a:t>    prompt = prompt + </a:t>
            </a:r>
            <a:r>
              <a:rPr lang="en-US" sz="1400" b="0" i="0">
                <a:solidFill>
                  <a:srgbClr val="A6E22E"/>
                </a:solidFill>
                <a:latin typeface="Consolas"/>
                <a:cs typeface="Consolas"/>
              </a:rPr>
              <a:t>"This is the game now:\n"</a:t>
            </a:r>
          </a:p>
          <a:p>
            <a:pPr algn="l" rtl="0"/>
            <a:r>
              <a:rPr lang="en-US" sz="1400" b="0" i="0">
                <a:solidFill>
                  <a:srgbClr val="E6E6E6"/>
                </a:solidFill>
                <a:latin typeface="Consolas"/>
                <a:cs typeface="Consolas"/>
              </a:rPr>
              <a:t>    prompt = prompt + board_text()</a:t>
            </a:r>
          </a:p>
          <a:p>
            <a:pPr algn="l" rtl="0"/>
            <a:r>
              <a:rPr lang="en-US" sz="1400" b="0" i="0">
                <a:solidFill>
                  <a:srgbClr val="E6E6E6"/>
                </a:solidFill>
                <a:latin typeface="Consolas"/>
                <a:cs typeface="Consolas"/>
              </a:rPr>
              <a:t>    prompt = prompt + </a:t>
            </a:r>
            <a:r>
              <a:rPr lang="en-US" sz="1400" b="0" i="0">
                <a:solidFill>
                  <a:srgbClr val="A6E22E"/>
                </a:solidFill>
                <a:latin typeface="Consolas"/>
                <a:cs typeface="Consolas"/>
              </a:rPr>
              <a:t>"What is your best next move?"</a:t>
            </a:r>
          </a:p>
          <a:p>
            <a:pPr algn="l" rtl="0"/>
            <a:r>
              <a:rPr lang="en-US" sz="1400" b="0" i="0">
                <a:solidFill>
                  <a:srgbClr val="E6E6E6"/>
                </a:solidFill>
                <a:latin typeface="Consolas"/>
                <a:cs typeface="Consolas"/>
              </a:rPr>
              <a:t>    prompt = prompt + </a:t>
            </a:r>
            <a:r>
              <a:rPr lang="en-US" sz="1400" b="0" i="0">
                <a:solidFill>
                  <a:srgbClr val="A6E22E"/>
                </a:solidFill>
                <a:latin typeface="Consolas"/>
                <a:cs typeface="Consolas"/>
              </a:rPr>
              <a:t>" Reply with 2 numbers only: x y"</a:t>
            </a:r>
          </a:p>
          <a:p>
            <a:pPr algn="l" rtl="0"/>
            <a:r>
              <a:rPr lang="en-US" sz="1400" b="0" i="0">
                <a:solidFill>
                  <a:srgbClr val="E6E6E6"/>
                </a:solidFill>
                <a:latin typeface="Consolas"/>
                <a:cs typeface="Consolas"/>
              </a:rPr>
              <a:t>    response = client.models.generate_content(</a:t>
            </a:r>
          </a:p>
          <a:p>
            <a:pPr algn="l" rtl="0"/>
            <a:r>
              <a:rPr lang="en-US" sz="1400" b="0" i="0">
                <a:solidFill>
                  <a:srgbClr val="E6E6E6"/>
                </a:solidFill>
                <a:latin typeface="Consolas"/>
                <a:cs typeface="Consolas"/>
              </a:rPr>
              <a:t>        model=MODEL, contents=prompt)</a:t>
            </a:r>
          </a:p>
          <a:p>
            <a:pPr algn="l" rtl="0"/>
            <a:r>
              <a:rPr lang="en-US" sz="1400" b="0" i="0">
                <a:solidFill>
                  <a:srgbClr val="E6E6E6"/>
                </a:solidFill>
                <a:latin typeface="Consolas"/>
                <a:cs typeface="Consolas"/>
              </a:rPr>
              <a:t>    </a:t>
            </a:r>
            <a:r>
              <a:rPr lang="en-US" sz="1400" b="0" i="0">
                <a:solidFill>
                  <a:srgbClr val="FF9F1C"/>
                </a:solidFill>
                <a:latin typeface="Consolas"/>
                <a:cs typeface="Consolas"/>
              </a:rPr>
              <a:t>return</a:t>
            </a:r>
            <a:r>
              <a:rPr lang="en-US" sz="1400" b="0" i="0">
                <a:solidFill>
                  <a:srgbClr val="E6E6E6"/>
                </a:solidFill>
                <a:latin typeface="Consolas"/>
                <a:cs typeface="Consolas"/>
              </a:rPr>
              <a:t> response.text</a:t>
            </a:r>
          </a:p>
        </p:txBody>
      </p:sp>
      <p:sp>
        <p:nvSpPr>
          <p:cNvPr id="6" name="Rounded Rectangle 5"/>
          <p:cNvSpPr/>
          <p:nvPr/>
        </p:nvSpPr>
        <p:spPr>
          <a:xfrm>
            <a:off x="7223760" y="1417320"/>
            <a:ext cx="4416552" cy="26974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60920" y="1481328"/>
            <a:ext cx="4160520" cy="320040"/>
          </a:xfrm>
          <a:prstGeom prst="rect">
            <a:avLst/>
          </a:prstGeom>
          <a:noFill/>
        </p:spPr>
        <p:txBody>
          <a:bodyPr wrap="square" lIns="45720" rIns="45720" anchor="t">
            <a:spAutoFit/>
          </a:bodyPr>
          <a:lstStyle/>
          <a:p>
            <a:pPr algn="r" rtl="1"/>
            <a:r>
              <a:rPr lang="he-IL" sz="1300" b="1" i="0">
                <a:solidFill>
                  <a:srgbClr val="5F6F78"/>
                </a:solidFill>
                <a:latin typeface="Arial"/>
                <a:cs typeface="Arial"/>
              </a:rPr>
              <a:t>מה </a:t>
            </a:r>
            <a:r>
              <a:rPr lang="en-US" sz="1300" b="1" i="0">
                <a:solidFill>
                  <a:srgbClr val="5F6F78"/>
                </a:solidFill>
                <a:latin typeface="Arial"/>
                <a:cs typeface="Arial"/>
              </a:rPr>
              <a:t>Gemini</a:t>
            </a:r>
            <a:r>
              <a:rPr lang="he-IL" sz="1300" b="1" i="0">
                <a:solidFill>
                  <a:srgbClr val="5F6F78"/>
                </a:solidFill>
                <a:latin typeface="Arial"/>
                <a:cs typeface="Arial"/>
              </a:rPr>
              <a:t> מקבל:</a:t>
            </a:r>
          </a:p>
        </p:txBody>
      </p:sp>
      <p:sp>
        <p:nvSpPr>
          <p:cNvPr id="8" name="TextBox 7"/>
          <p:cNvSpPr txBox="1"/>
          <p:nvPr/>
        </p:nvSpPr>
        <p:spPr>
          <a:xfrm>
            <a:off x="7360920" y="1810512"/>
            <a:ext cx="4160520" cy="2240280"/>
          </a:xfrm>
          <a:prstGeom prst="rect">
            <a:avLst/>
          </a:prstGeom>
          <a:noFill/>
        </p:spPr>
        <p:txBody>
          <a:bodyPr wrap="square" lIns="45720" rIns="45720" anchor="t">
            <a:spAutoFit/>
          </a:bodyPr>
          <a:lstStyle/>
          <a:p>
            <a:pPr algn="l" rtl="0"/>
            <a:r>
              <a:rPr lang="en-US" sz="1200" b="0" i="0">
                <a:solidFill>
                  <a:srgbClr val="1B2B34"/>
                </a:solidFill>
                <a:latin typeface="Consolas"/>
                <a:cs typeface="Consolas"/>
              </a:rPr>
              <a:t>You are a NIM player ...</a:t>
            </a:r>
          </a:p>
          <a:p>
            <a:pPr algn="l" rtl="0"/>
            <a:r>
              <a:rPr lang="en-US" sz="1200" b="0" i="0">
                <a:solidFill>
                  <a:srgbClr val="1B2B34"/>
                </a:solidFill>
                <a:latin typeface="Consolas"/>
                <a:cs typeface="Consolas"/>
              </a:rPr>
              <a:t>The player who takes the last token LOSES.</a:t>
            </a:r>
          </a:p>
          <a:p>
            <a:pPr algn="l" rtl="0"/>
            <a:r>
              <a:rPr lang="en-US" sz="1200" b="0" i="0">
                <a:solidFill>
                  <a:srgbClr val="1B2B34"/>
                </a:solidFill>
                <a:latin typeface="Consolas"/>
                <a:cs typeface="Consolas"/>
              </a:rPr>
              <a:t>pile 1: 3 tokens</a:t>
            </a:r>
          </a:p>
          <a:p>
            <a:pPr algn="l" rtl="0"/>
            <a:r>
              <a:rPr lang="en-US" sz="1200" b="0" i="0">
                <a:solidFill>
                  <a:srgbClr val="1B2B34"/>
                </a:solidFill>
                <a:latin typeface="Consolas"/>
                <a:cs typeface="Consolas"/>
              </a:rPr>
              <a:t>pile 2: 4 tokens</a:t>
            </a:r>
          </a:p>
          <a:p>
            <a:pPr algn="l" rtl="0"/>
            <a:r>
              <a:rPr lang="en-US" sz="1200" b="0" i="0">
                <a:solidFill>
                  <a:srgbClr val="1B2B34"/>
                </a:solidFill>
                <a:latin typeface="Consolas"/>
                <a:cs typeface="Consolas"/>
              </a:rPr>
              <a:t>pile 3: 1 tokens</a:t>
            </a:r>
          </a:p>
          <a:p>
            <a:pPr algn="l" rtl="0"/>
            <a:r>
              <a:rPr lang="en-US" sz="1200" b="0" i="0">
                <a:solidFill>
                  <a:srgbClr val="1B2B34"/>
                </a:solidFill>
                <a:latin typeface="Consolas"/>
                <a:cs typeface="Consolas"/>
              </a:rPr>
              <a:t>Reply with 2 numbers only: x y</a:t>
            </a:r>
          </a:p>
        </p:txBody>
      </p:sp>
      <p:sp>
        <p:nvSpPr>
          <p:cNvPr id="9" name="Rounded Rectangle 8"/>
          <p:cNvSpPr/>
          <p:nvPr/>
        </p:nvSpPr>
        <p:spPr>
          <a:xfrm>
            <a:off x="9052560" y="4343400"/>
            <a:ext cx="2587752" cy="822960"/>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FFFF"/>
                </a:solidFill>
                <a:latin typeface="Arial"/>
                <a:cs typeface="Arial"/>
              </a:rPr>
              <a:t>Gemini: </a:t>
            </a:r>
            <a:r>
              <a:rPr lang="en-US" sz="2000" b="1" i="0">
                <a:solidFill>
                  <a:srgbClr val="FFFFFF"/>
                </a:solidFill>
                <a:latin typeface="Consolas"/>
                <a:cs typeface="Consolas"/>
              </a:rPr>
              <a:t>2 2</a:t>
            </a:r>
          </a:p>
        </p:txBody>
      </p:sp>
      <p:sp>
        <p:nvSpPr>
          <p:cNvPr id="10" name="TextBox 9"/>
          <p:cNvSpPr txBox="1"/>
          <p:nvPr/>
        </p:nvSpPr>
        <p:spPr>
          <a:xfrm>
            <a:off x="7223760" y="4343400"/>
            <a:ext cx="1737360" cy="82296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תשובה אמיתית!</a:t>
            </a:r>
          </a:p>
        </p:txBody>
      </p:sp>
      <p:sp>
        <p:nvSpPr>
          <p:cNvPr id="11" name="Rounded Rectangle 10"/>
          <p:cNvSpPr/>
          <p:nvPr/>
        </p:nvSpPr>
        <p:spPr>
          <a:xfrm>
            <a:off x="548640" y="5532120"/>
            <a:ext cx="23774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nim3.py</a:t>
            </a:r>
          </a:p>
        </p:txBody>
      </p:sp>
      <p:sp>
        <p:nvSpPr>
          <p:cNvPr id="12" name="TextBox 11"/>
          <p:cNvSpPr txBox="1"/>
          <p:nvPr/>
        </p:nvSpPr>
        <p:spPr>
          <a:xfrm>
            <a:off x="3200400" y="5486400"/>
            <a:ext cx="8412480" cy="594360"/>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מבקשים פורמט מדויק - כי את התשובה קוראת תוכנית, לא בן אדם</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30</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שלב 3: לא סומכים על </a:t>
            </a:r>
            <a:r>
              <a:rPr lang="en-US" sz="3600" b="1" i="0">
                <a:solidFill>
                  <a:srgbClr val="1B4332"/>
                </a:solidFill>
                <a:latin typeface="Arial"/>
                <a:cs typeface="Arial"/>
              </a:rPr>
              <a:t>AI</a:t>
            </a:r>
            <a:r>
              <a:rPr lang="he-IL" sz="3600" b="1" i="0">
                <a:solidFill>
                  <a:srgbClr val="1B4332"/>
                </a:solidFill>
                <a:latin typeface="Arial"/>
                <a:cs typeface="Arial"/>
              </a:rPr>
              <a:t> בעיניים עצומות</a:t>
            </a:r>
          </a:p>
        </p:txBody>
      </p:sp>
      <p:sp>
        <p:nvSpPr>
          <p:cNvPr id="4" name="Rounded Rectangle 3"/>
          <p:cNvSpPr/>
          <p:nvPr/>
        </p:nvSpPr>
        <p:spPr>
          <a:xfrm>
            <a:off x="6766560" y="1371600"/>
            <a:ext cx="4873752" cy="64008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03720" y="1371600"/>
            <a:ext cx="4572000" cy="640080"/>
          </a:xfrm>
          <a:prstGeom prst="rect">
            <a:avLst/>
          </a:prstGeom>
          <a:noFill/>
        </p:spPr>
        <p:txBody>
          <a:bodyPr wrap="square" lIns="45720" rIns="45720" anchor="ctr">
            <a:spAutoFit/>
          </a:bodyPr>
          <a:lstStyle/>
          <a:p>
            <a:pPr algn="l" rtl="0"/>
            <a:r>
              <a:rPr lang="en-US" sz="1400" b="1" i="0">
                <a:solidFill>
                  <a:srgbClr val="2D9F5C"/>
                </a:solidFill>
                <a:latin typeface="Consolas"/>
                <a:cs typeface="Consolas"/>
              </a:rPr>
              <a:t>"2 2"</a:t>
            </a:r>
          </a:p>
        </p:txBody>
      </p:sp>
      <p:sp>
        <p:nvSpPr>
          <p:cNvPr id="6" name="TextBox 5"/>
          <p:cNvSpPr txBox="1"/>
          <p:nvPr/>
        </p:nvSpPr>
        <p:spPr>
          <a:xfrm>
            <a:off x="3566160" y="1371600"/>
            <a:ext cx="3108960" cy="640080"/>
          </a:xfrm>
          <a:prstGeom prst="rect">
            <a:avLst/>
          </a:prstGeom>
          <a:noFill/>
        </p:spPr>
        <p:txBody>
          <a:bodyPr wrap="square" lIns="45720" rIns="45720" anchor="ctr">
            <a:spAutoFit/>
          </a:bodyPr>
          <a:lstStyle/>
          <a:p>
            <a:pPr algn="r" rtl="1"/>
            <a:r>
              <a:rPr lang="he-IL" sz="1500" b="0" i="0">
                <a:solidFill>
                  <a:srgbClr val="1B2B34"/>
                </a:solidFill>
                <a:latin typeface="Arial"/>
                <a:cs typeface="Arial"/>
              </a:rPr>
              <a:t>מהלך חוקי ✓</a:t>
            </a:r>
          </a:p>
        </p:txBody>
      </p:sp>
      <p:sp>
        <p:nvSpPr>
          <p:cNvPr id="7" name="TextBox 6"/>
          <p:cNvSpPr txBox="1"/>
          <p:nvPr/>
        </p:nvSpPr>
        <p:spPr>
          <a:xfrm>
            <a:off x="548640" y="1371600"/>
            <a:ext cx="2926080" cy="64008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משחקים אותו</a:t>
            </a:r>
          </a:p>
        </p:txBody>
      </p:sp>
      <p:sp>
        <p:nvSpPr>
          <p:cNvPr id="8" name="Rounded Rectangle 7"/>
          <p:cNvSpPr/>
          <p:nvPr/>
        </p:nvSpPr>
        <p:spPr>
          <a:xfrm>
            <a:off x="6766560" y="2130552"/>
            <a:ext cx="4873752" cy="64008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03720" y="2130552"/>
            <a:ext cx="4572000" cy="640080"/>
          </a:xfrm>
          <a:prstGeom prst="rect">
            <a:avLst/>
          </a:prstGeom>
          <a:noFill/>
        </p:spPr>
        <p:txBody>
          <a:bodyPr wrap="square" lIns="45720" rIns="45720" anchor="ctr">
            <a:spAutoFit/>
          </a:bodyPr>
          <a:lstStyle/>
          <a:p>
            <a:pPr algn="l" rtl="0"/>
            <a:r>
              <a:rPr lang="en-US" sz="1400" b="1" i="0">
                <a:solidFill>
                  <a:srgbClr val="FF9F1C"/>
                </a:solidFill>
                <a:latin typeface="Consolas"/>
                <a:cs typeface="Consolas"/>
              </a:rPr>
              <a:t>"pile=2 take=3"</a:t>
            </a:r>
          </a:p>
        </p:txBody>
      </p:sp>
      <p:sp>
        <p:nvSpPr>
          <p:cNvPr id="10" name="TextBox 9"/>
          <p:cNvSpPr txBox="1"/>
          <p:nvPr/>
        </p:nvSpPr>
        <p:spPr>
          <a:xfrm>
            <a:off x="3566160" y="2130552"/>
            <a:ext cx="3108960" cy="640080"/>
          </a:xfrm>
          <a:prstGeom prst="rect">
            <a:avLst/>
          </a:prstGeom>
          <a:noFill/>
        </p:spPr>
        <p:txBody>
          <a:bodyPr wrap="square" lIns="45720" rIns="45720" anchor="ctr">
            <a:spAutoFit/>
          </a:bodyPr>
          <a:lstStyle/>
          <a:p>
            <a:pPr algn="r" rtl="1"/>
            <a:r>
              <a:rPr lang="he-IL" sz="1500" b="0" i="0">
                <a:solidFill>
                  <a:srgbClr val="1B2B34"/>
                </a:solidFill>
                <a:latin typeface="Arial"/>
                <a:cs typeface="Arial"/>
              </a:rPr>
              <a:t>פורמט אחר ✗</a:t>
            </a:r>
          </a:p>
        </p:txBody>
      </p:sp>
      <p:sp>
        <p:nvSpPr>
          <p:cNvPr id="11" name="TextBox 10"/>
          <p:cNvSpPr txBox="1"/>
          <p:nvPr/>
        </p:nvSpPr>
        <p:spPr>
          <a:xfrm>
            <a:off x="548640" y="2130552"/>
            <a:ext cx="2926080" cy="64008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מהלך אקראי</a:t>
            </a:r>
          </a:p>
        </p:txBody>
      </p:sp>
      <p:sp>
        <p:nvSpPr>
          <p:cNvPr id="12" name="Rounded Rectangle 11"/>
          <p:cNvSpPr/>
          <p:nvPr/>
        </p:nvSpPr>
        <p:spPr>
          <a:xfrm>
            <a:off x="6766560" y="2889504"/>
            <a:ext cx="4873752" cy="64008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03720" y="2889504"/>
            <a:ext cx="4572000" cy="640080"/>
          </a:xfrm>
          <a:prstGeom prst="rect">
            <a:avLst/>
          </a:prstGeom>
          <a:noFill/>
        </p:spPr>
        <p:txBody>
          <a:bodyPr wrap="square" lIns="45720" rIns="45720" anchor="ctr">
            <a:spAutoFit/>
          </a:bodyPr>
          <a:lstStyle/>
          <a:p>
            <a:pPr algn="l" rtl="0"/>
            <a:r>
              <a:rPr lang="en-US" sz="1400" b="1" i="0">
                <a:solidFill>
                  <a:srgbClr val="EF476F"/>
                </a:solidFill>
                <a:latin typeface="Consolas"/>
                <a:cs typeface="Consolas"/>
              </a:rPr>
              <a:t>"The game is Misere Nim, where..."</a:t>
            </a:r>
          </a:p>
        </p:txBody>
      </p:sp>
      <p:sp>
        <p:nvSpPr>
          <p:cNvPr id="14" name="TextBox 13"/>
          <p:cNvSpPr txBox="1"/>
          <p:nvPr/>
        </p:nvSpPr>
        <p:spPr>
          <a:xfrm>
            <a:off x="3566160" y="2889504"/>
            <a:ext cx="3108960" cy="640080"/>
          </a:xfrm>
          <a:prstGeom prst="rect">
            <a:avLst/>
          </a:prstGeom>
          <a:noFill/>
        </p:spPr>
        <p:txBody>
          <a:bodyPr wrap="square" lIns="45720" rIns="45720" anchor="ctr">
            <a:spAutoFit/>
          </a:bodyPr>
          <a:lstStyle/>
          <a:p>
            <a:pPr algn="r" rtl="1"/>
            <a:r>
              <a:rPr lang="he-IL" sz="1500" b="0" i="0">
                <a:solidFill>
                  <a:srgbClr val="1B2B34"/>
                </a:solidFill>
                <a:latin typeface="Arial"/>
                <a:cs typeface="Arial"/>
              </a:rPr>
              <a:t>כתב חיבור שלם ✗</a:t>
            </a:r>
          </a:p>
        </p:txBody>
      </p:sp>
      <p:sp>
        <p:nvSpPr>
          <p:cNvPr id="15" name="TextBox 14"/>
          <p:cNvSpPr txBox="1"/>
          <p:nvPr/>
        </p:nvSpPr>
        <p:spPr>
          <a:xfrm>
            <a:off x="548640" y="2889504"/>
            <a:ext cx="2926080" cy="64008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מהלך אקראי</a:t>
            </a:r>
          </a:p>
        </p:txBody>
      </p:sp>
      <p:sp>
        <p:nvSpPr>
          <p:cNvPr id="16" name="Rounded Rectangle 15"/>
          <p:cNvSpPr/>
          <p:nvPr/>
        </p:nvSpPr>
        <p:spPr>
          <a:xfrm>
            <a:off x="6766560" y="3648456"/>
            <a:ext cx="4873752" cy="64008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3648456"/>
            <a:ext cx="4572000" cy="640080"/>
          </a:xfrm>
          <a:prstGeom prst="rect">
            <a:avLst/>
          </a:prstGeom>
          <a:noFill/>
        </p:spPr>
        <p:txBody>
          <a:bodyPr wrap="square" lIns="45720" rIns="45720" anchor="ctr">
            <a:spAutoFit/>
          </a:bodyPr>
          <a:lstStyle/>
          <a:p>
            <a:pPr algn="l" rtl="0"/>
            <a:r>
              <a:rPr lang="en-US" sz="1400" b="1" i="0">
                <a:solidFill>
                  <a:srgbClr val="7B4FB0"/>
                </a:solidFill>
                <a:latin typeface="Consolas"/>
                <a:cs typeface="Consolas"/>
              </a:rPr>
              <a:t>503 UNAVAILABLE</a:t>
            </a:r>
          </a:p>
        </p:txBody>
      </p:sp>
      <p:sp>
        <p:nvSpPr>
          <p:cNvPr id="18" name="TextBox 17"/>
          <p:cNvSpPr txBox="1"/>
          <p:nvPr/>
        </p:nvSpPr>
        <p:spPr>
          <a:xfrm>
            <a:off x="3566160" y="3648456"/>
            <a:ext cx="3108960" cy="640080"/>
          </a:xfrm>
          <a:prstGeom prst="rect">
            <a:avLst/>
          </a:prstGeom>
          <a:noFill/>
        </p:spPr>
        <p:txBody>
          <a:bodyPr wrap="square" lIns="45720" rIns="45720" anchor="ctr">
            <a:spAutoFit/>
          </a:bodyPr>
          <a:lstStyle/>
          <a:p>
            <a:pPr algn="r" rtl="1"/>
            <a:r>
              <a:rPr lang="he-IL" sz="1500" b="0" i="0">
                <a:solidFill>
                  <a:srgbClr val="1B2B34"/>
                </a:solidFill>
                <a:latin typeface="Arial"/>
                <a:cs typeface="Arial"/>
              </a:rPr>
              <a:t>שגיאה - </a:t>
            </a:r>
            <a:r>
              <a:rPr lang="en-US" sz="1500" b="0" i="0">
                <a:solidFill>
                  <a:srgbClr val="1B2B34"/>
                </a:solidFill>
                <a:latin typeface="Arial"/>
                <a:cs typeface="Arial"/>
              </a:rPr>
              <a:t>Gemini</a:t>
            </a:r>
            <a:r>
              <a:rPr lang="he-IL" sz="1500" b="0" i="0">
                <a:solidFill>
                  <a:srgbClr val="1B2B34"/>
                </a:solidFill>
                <a:latin typeface="Arial"/>
                <a:cs typeface="Arial"/>
              </a:rPr>
              <a:t> עמוס ✗</a:t>
            </a:r>
          </a:p>
        </p:txBody>
      </p:sp>
      <p:sp>
        <p:nvSpPr>
          <p:cNvPr id="19" name="TextBox 18"/>
          <p:cNvSpPr txBox="1"/>
          <p:nvPr/>
        </p:nvSpPr>
        <p:spPr>
          <a:xfrm>
            <a:off x="548640" y="3648456"/>
            <a:ext cx="2926080" cy="640080"/>
          </a:xfrm>
          <a:prstGeom prst="rect">
            <a:avLst/>
          </a:prstGeom>
          <a:noFill/>
        </p:spPr>
        <p:txBody>
          <a:bodyPr wrap="square" lIns="45720" rIns="45720" anchor="ctr">
            <a:spAutoFit/>
          </a:bodyPr>
          <a:lstStyle/>
          <a:p>
            <a:pPr algn="r" rtl="1"/>
            <a:r>
              <a:rPr lang="en-US" sz="1400" b="0" i="0">
                <a:solidFill>
                  <a:srgbClr val="5F6F78"/>
                </a:solidFill>
                <a:latin typeface="Arial"/>
                <a:cs typeface="Arial"/>
              </a:rPr>
              <a:t>try</a:t>
            </a:r>
            <a:r>
              <a:rPr lang="he-IL" sz="1400" b="0" i="0">
                <a:solidFill>
                  <a:srgbClr val="5F6F78"/>
                </a:solidFill>
                <a:latin typeface="Arial"/>
                <a:cs typeface="Arial"/>
              </a:rPr>
              <a:t>/</a:t>
            </a:r>
            <a:r>
              <a:rPr lang="en-US" sz="1400" b="0" i="0">
                <a:solidFill>
                  <a:srgbClr val="5F6F78"/>
                </a:solidFill>
                <a:latin typeface="Arial"/>
                <a:cs typeface="Arial"/>
              </a:rPr>
              <a:t>except</a:t>
            </a:r>
            <a:r>
              <a:rPr lang="he-IL" sz="1400" b="0" i="0">
                <a:solidFill>
                  <a:srgbClr val="5F6F78"/>
                </a:solidFill>
                <a:latin typeface="Arial"/>
                <a:cs typeface="Arial"/>
              </a:rPr>
              <a:t> ← מהלך אקראי</a:t>
            </a:r>
          </a:p>
        </p:txBody>
      </p:sp>
      <p:sp>
        <p:nvSpPr>
          <p:cNvPr id="20" name="Rounded Rectangle 19"/>
          <p:cNvSpPr/>
          <p:nvPr/>
        </p:nvSpPr>
        <p:spPr>
          <a:xfrm>
            <a:off x="548640" y="4526280"/>
            <a:ext cx="6949440" cy="155448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4663440"/>
            <a:ext cx="6492240" cy="1280160"/>
          </a:xfrm>
          <a:prstGeom prst="rect">
            <a:avLst/>
          </a:prstGeom>
          <a:noFill/>
        </p:spPr>
        <p:txBody>
          <a:bodyPr wrap="square" lIns="45720" rIns="45720" anchor="ctr">
            <a:spAutoFit/>
          </a:bodyPr>
          <a:lstStyle/>
          <a:p>
            <a:pPr algn="l" rtl="0"/>
            <a:r>
              <a:rPr lang="en-US" sz="1300" b="0" i="0">
                <a:solidFill>
                  <a:srgbClr val="E6E6E6"/>
                </a:solidFill>
                <a:latin typeface="Consolas"/>
                <a:cs typeface="Consolas"/>
              </a:rPr>
              <a:t>parts = answer.</a:t>
            </a:r>
            <a:r>
              <a:rPr lang="en-US" sz="1300" b="0" i="0">
                <a:solidFill>
                  <a:srgbClr val="66D9EF"/>
                </a:solidFill>
                <a:latin typeface="Consolas"/>
                <a:cs typeface="Consolas"/>
              </a:rPr>
              <a:t>split</a:t>
            </a:r>
            <a:r>
              <a:rPr lang="en-US" sz="1300" b="0" i="0">
                <a:solidFill>
                  <a:srgbClr val="E6E6E6"/>
                </a:solidFill>
                <a:latin typeface="Consolas"/>
                <a:cs typeface="Consolas"/>
              </a:rPr>
              <a:t>()   </a:t>
            </a:r>
            <a:r>
              <a:rPr lang="en-US" sz="1300" b="0" i="0">
                <a:solidFill>
                  <a:srgbClr val="8A93A6"/>
                </a:solidFill>
                <a:latin typeface="Consolas"/>
                <a:cs typeface="Consolas"/>
              </a:rPr>
              <a:t># "2 2" -&gt; ["2", "2"]</a:t>
            </a:r>
          </a:p>
          <a:p>
            <a:pPr algn="l" rtl="0"/>
            <a:r>
              <a:rPr lang="en-US" sz="1300" b="0" i="0">
                <a:solidFill>
                  <a:srgbClr val="FF9F1C"/>
                </a:solidFill>
                <a:latin typeface="Consolas"/>
                <a:cs typeface="Consolas"/>
              </a:rPr>
              <a:t>if</a:t>
            </a:r>
            <a:r>
              <a:rPr lang="en-US" sz="1300" b="0" i="0">
                <a:solidFill>
                  <a:srgbClr val="E6E6E6"/>
                </a:solidFill>
                <a:latin typeface="Consolas"/>
                <a:cs typeface="Consolas"/>
              </a:rPr>
              <a:t> </a:t>
            </a:r>
            <a:r>
              <a:rPr lang="en-US" sz="1300" b="0" i="0">
                <a:solidFill>
                  <a:srgbClr val="66D9EF"/>
                </a:solidFill>
                <a:latin typeface="Consolas"/>
                <a:cs typeface="Consolas"/>
              </a:rPr>
              <a:t>len</a:t>
            </a:r>
            <a:r>
              <a:rPr lang="en-US" sz="1300" b="0" i="0">
                <a:solidFill>
                  <a:srgbClr val="E6E6E6"/>
                </a:solidFill>
                <a:latin typeface="Consolas"/>
                <a:cs typeface="Consolas"/>
              </a:rPr>
              <a:t>(parts) == </a:t>
            </a:r>
            <a:r>
              <a:rPr lang="en-US" sz="1300" b="0" i="0">
                <a:solidFill>
                  <a:srgbClr val="FFD166"/>
                </a:solidFill>
                <a:latin typeface="Consolas"/>
                <a:cs typeface="Consolas"/>
              </a:rPr>
              <a:t>2</a:t>
            </a:r>
            <a:r>
              <a:rPr lang="en-US" sz="1300" b="0" i="0">
                <a:solidFill>
                  <a:srgbClr val="E6E6E6"/>
                </a:solidFill>
                <a:latin typeface="Consolas"/>
                <a:cs typeface="Consolas"/>
              </a:rPr>
              <a:t> </a:t>
            </a:r>
            <a:r>
              <a:rPr lang="en-US" sz="1300" b="0" i="0">
                <a:solidFill>
                  <a:srgbClr val="FF9F1C"/>
                </a:solidFill>
                <a:latin typeface="Consolas"/>
                <a:cs typeface="Consolas"/>
              </a:rPr>
              <a:t>and</a:t>
            </a:r>
            <a:r>
              <a:rPr lang="en-US" sz="1300" b="0" i="0">
                <a:solidFill>
                  <a:srgbClr val="E6E6E6"/>
                </a:solidFill>
                <a:latin typeface="Consolas"/>
                <a:cs typeface="Consolas"/>
              </a:rPr>
              <a:t> parts[</a:t>
            </a:r>
            <a:r>
              <a:rPr lang="en-US" sz="1300" b="0" i="0">
                <a:solidFill>
                  <a:srgbClr val="FFD166"/>
                </a:solidFill>
                <a:latin typeface="Consolas"/>
                <a:cs typeface="Consolas"/>
              </a:rPr>
              <a:t>0</a:t>
            </a:r>
            <a:r>
              <a:rPr lang="en-US" sz="1300" b="0" i="0">
                <a:solidFill>
                  <a:srgbClr val="E6E6E6"/>
                </a:solidFill>
                <a:latin typeface="Consolas"/>
                <a:cs typeface="Consolas"/>
              </a:rPr>
              <a:t>].</a:t>
            </a:r>
            <a:r>
              <a:rPr lang="en-US" sz="1300" b="0" i="0">
                <a:solidFill>
                  <a:srgbClr val="66D9EF"/>
                </a:solidFill>
                <a:latin typeface="Consolas"/>
                <a:cs typeface="Consolas"/>
              </a:rPr>
              <a:t>isdigit</a:t>
            </a:r>
            <a:r>
              <a:rPr lang="en-US" sz="1300" b="0" i="0">
                <a:solidFill>
                  <a:srgbClr val="E6E6E6"/>
                </a:solidFill>
                <a:latin typeface="Consolas"/>
                <a:cs typeface="Consolas"/>
              </a:rPr>
              <a:t>() </a:t>
            </a:r>
            <a:r>
              <a:rPr lang="en-US" sz="1300" b="0" i="0">
                <a:solidFill>
                  <a:srgbClr val="FF9F1C"/>
                </a:solidFill>
                <a:latin typeface="Consolas"/>
                <a:cs typeface="Consolas"/>
              </a:rPr>
              <a:t>and</a:t>
            </a:r>
            <a:r>
              <a:rPr lang="en-US" sz="1300" b="0" i="0">
                <a:solidFill>
                  <a:srgbClr val="E6E6E6"/>
                </a:solidFill>
                <a:latin typeface="Consolas"/>
                <a:cs typeface="Consolas"/>
              </a:rPr>
              <a:t> parts[</a:t>
            </a:r>
            <a:r>
              <a:rPr lang="en-US" sz="1300" b="0" i="0">
                <a:solidFill>
                  <a:srgbClr val="FFD166"/>
                </a:solidFill>
                <a:latin typeface="Consolas"/>
                <a:cs typeface="Consolas"/>
              </a:rPr>
              <a:t>1</a:t>
            </a:r>
            <a:r>
              <a:rPr lang="en-US" sz="1300" b="0" i="0">
                <a:solidFill>
                  <a:srgbClr val="E6E6E6"/>
                </a:solidFill>
                <a:latin typeface="Consolas"/>
                <a:cs typeface="Consolas"/>
              </a:rPr>
              <a:t>].</a:t>
            </a:r>
            <a:r>
              <a:rPr lang="en-US" sz="1300" b="0" i="0">
                <a:solidFill>
                  <a:srgbClr val="66D9EF"/>
                </a:solidFill>
                <a:latin typeface="Consolas"/>
                <a:cs typeface="Consolas"/>
              </a:rPr>
              <a:t>isdigit</a:t>
            </a:r>
            <a:r>
              <a:rPr lang="en-US" sz="1300" b="0" i="0">
                <a:solidFill>
                  <a:srgbClr val="E6E6E6"/>
                </a:solidFill>
                <a:latin typeface="Consolas"/>
                <a:cs typeface="Consolas"/>
              </a:rPr>
              <a:t>():</a:t>
            </a:r>
          </a:p>
          <a:p>
            <a:pPr algn="l" rtl="0"/>
            <a:r>
              <a:rPr lang="en-US" sz="1300" b="0" i="0">
                <a:solidFill>
                  <a:srgbClr val="E6E6E6"/>
                </a:solidFill>
                <a:latin typeface="Consolas"/>
                <a:cs typeface="Consolas"/>
              </a:rPr>
              <a:t>    ...</a:t>
            </a:r>
          </a:p>
          <a:p>
            <a:pPr algn="l" rtl="0"/>
            <a:r>
              <a:rPr lang="en-US" sz="1300" b="0" i="0">
                <a:solidFill>
                  <a:srgbClr val="FF9F1C"/>
                </a:solidFill>
                <a:latin typeface="Consolas"/>
                <a:cs typeface="Consolas"/>
              </a:rPr>
              <a:t>if</a:t>
            </a:r>
            <a:r>
              <a:rPr lang="en-US" sz="1300" b="0" i="0">
                <a:solidFill>
                  <a:srgbClr val="E6E6E6"/>
                </a:solidFill>
                <a:latin typeface="Consolas"/>
                <a:cs typeface="Consolas"/>
              </a:rPr>
              <a:t> </a:t>
            </a:r>
            <a:r>
              <a:rPr lang="en-US" sz="1300" b="0" i="0">
                <a:solidFill>
                  <a:srgbClr val="FF9F1C"/>
                </a:solidFill>
                <a:latin typeface="Consolas"/>
                <a:cs typeface="Consolas"/>
              </a:rPr>
              <a:t>not</a:t>
            </a:r>
            <a:r>
              <a:rPr lang="en-US" sz="1300" b="0" i="0">
                <a:solidFill>
                  <a:srgbClr val="E6E6E6"/>
                </a:solidFill>
                <a:latin typeface="Consolas"/>
                <a:cs typeface="Consolas"/>
              </a:rPr>
              <a:t> legal_move(index, count):</a:t>
            </a:r>
          </a:p>
          <a:p>
            <a:pPr algn="l" rtl="0"/>
            <a:r>
              <a:rPr lang="en-US" sz="1300" b="0" i="0">
                <a:solidFill>
                  <a:srgbClr val="E6E6E6"/>
                </a:solidFill>
                <a:latin typeface="Consolas"/>
                <a:cs typeface="Consolas"/>
              </a:rPr>
              <a:t>    move = random_move()</a:t>
            </a:r>
          </a:p>
        </p:txBody>
      </p:sp>
      <p:sp>
        <p:nvSpPr>
          <p:cNvPr id="22" name="Rounded Rectangle 21"/>
          <p:cNvSpPr/>
          <p:nvPr/>
        </p:nvSpPr>
        <p:spPr>
          <a:xfrm>
            <a:off x="7772400" y="4526280"/>
            <a:ext cx="3867912" cy="1554480"/>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09560" y="4572000"/>
            <a:ext cx="3611880" cy="1463040"/>
          </a:xfrm>
          <a:prstGeom prst="rect">
            <a:avLst/>
          </a:prstGeom>
          <a:noFill/>
        </p:spPr>
        <p:txBody>
          <a:bodyPr wrap="square" lIns="45720" rIns="45720" anchor="ctr">
            <a:spAutoFit/>
          </a:bodyPr>
          <a:lstStyle/>
          <a:p>
            <a:pPr algn="r" rtl="1">
              <a:spcAft>
                <a:spcPts val="400"/>
              </a:spcAft>
            </a:pPr>
            <a:r>
              <a:rPr lang="he-IL" sz="1600" b="1" i="0">
                <a:solidFill>
                  <a:srgbClr val="1B2B34"/>
                </a:solidFill>
                <a:latin typeface="Arial"/>
                <a:cs typeface="Arial"/>
              </a:rPr>
              <a:t>הכלל של היום:</a:t>
            </a:r>
          </a:p>
          <a:p>
            <a:pPr algn="r" rtl="1">
              <a:spcAft>
                <a:spcPts val="400"/>
              </a:spcAft>
            </a:pPr>
            <a:r>
              <a:rPr lang="he-IL" sz="1600" b="0" i="0">
                <a:solidFill>
                  <a:srgbClr val="1B2B34"/>
                </a:solidFill>
                <a:latin typeface="Arial"/>
                <a:cs typeface="Arial"/>
              </a:rPr>
              <a:t>תמיד בודקים את התשובה של ה-</a:t>
            </a:r>
            <a:r>
              <a:rPr lang="en-US" sz="1600" b="0" i="0">
                <a:solidFill>
                  <a:srgbClr val="1B2B34"/>
                </a:solidFill>
                <a:latin typeface="Arial"/>
                <a:cs typeface="Arial"/>
              </a:rPr>
              <a:t>AI</a:t>
            </a:r>
            <a:r>
              <a:rPr lang="he-IL" sz="1600" b="0" i="0">
                <a:solidFill>
                  <a:srgbClr val="1B2B34"/>
                </a:solidFill>
                <a:latin typeface="Arial"/>
                <a:cs typeface="Arial"/>
              </a:rPr>
              <a:t> לפני שמשתמשים בה!</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31</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מה למדנו היום</a:t>
            </a:r>
          </a:p>
        </p:txBody>
      </p:sp>
      <p:sp>
        <p:nvSpPr>
          <p:cNvPr id="4" name="Rounded Rectangle 3"/>
          <p:cNvSpPr/>
          <p:nvPr/>
        </p:nvSpPr>
        <p:spPr>
          <a:xfrm>
            <a:off x="8092440" y="1417320"/>
            <a:ext cx="3520440" cy="42062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418319" y="1645920"/>
            <a:ext cx="868680" cy="8686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1</a:t>
            </a:r>
          </a:p>
        </p:txBody>
      </p:sp>
      <p:sp>
        <p:nvSpPr>
          <p:cNvPr id="6" name="TextBox 5"/>
          <p:cNvSpPr txBox="1"/>
          <p:nvPr/>
        </p:nvSpPr>
        <p:spPr>
          <a:xfrm>
            <a:off x="8092440" y="2651760"/>
            <a:ext cx="3520440" cy="502920"/>
          </a:xfrm>
          <a:prstGeom prst="rect">
            <a:avLst/>
          </a:prstGeom>
          <a:noFill/>
        </p:spPr>
        <p:txBody>
          <a:bodyPr wrap="square" lIns="45720" rIns="45720" anchor="t">
            <a:spAutoFit/>
          </a:bodyPr>
          <a:lstStyle/>
          <a:p>
            <a:pPr algn="ctr" rtl="1"/>
            <a:r>
              <a:rPr lang="en-US" sz="2200" b="1" i="0">
                <a:solidFill>
                  <a:srgbClr val="1B2B34"/>
                </a:solidFill>
                <a:latin typeface="Arial"/>
                <a:cs typeface="Arial"/>
              </a:rPr>
              <a:t>AI</a:t>
            </a:r>
          </a:p>
        </p:txBody>
      </p:sp>
      <p:sp>
        <p:nvSpPr>
          <p:cNvPr id="7" name="Oval 6"/>
          <p:cNvSpPr/>
          <p:nvPr/>
        </p:nvSpPr>
        <p:spPr>
          <a:xfrm>
            <a:off x="11109959" y="3429000"/>
            <a:ext cx="201168" cy="201168"/>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66760" y="3291840"/>
            <a:ext cx="2651760" cy="457200"/>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מודל לומד מדוגמאות</a:t>
            </a:r>
          </a:p>
        </p:txBody>
      </p:sp>
      <p:sp>
        <p:nvSpPr>
          <p:cNvPr id="9" name="Oval 8"/>
          <p:cNvSpPr/>
          <p:nvPr/>
        </p:nvSpPr>
        <p:spPr>
          <a:xfrm>
            <a:off x="11109959" y="4069080"/>
            <a:ext cx="201168" cy="201168"/>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66760" y="3931920"/>
            <a:ext cx="2651760" cy="457200"/>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נוירונים בשכבות</a:t>
            </a:r>
          </a:p>
        </p:txBody>
      </p:sp>
      <p:sp>
        <p:nvSpPr>
          <p:cNvPr id="11" name="Oval 10"/>
          <p:cNvSpPr/>
          <p:nvPr/>
        </p:nvSpPr>
        <p:spPr>
          <a:xfrm>
            <a:off x="11109959" y="4709160"/>
            <a:ext cx="201168" cy="201168"/>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66760" y="457200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LLM</a:t>
            </a:r>
            <a:r>
              <a:rPr lang="he-IL" sz="1600" b="0" i="0">
                <a:solidFill>
                  <a:srgbClr val="1B2B34"/>
                </a:solidFill>
                <a:latin typeface="Arial"/>
                <a:cs typeface="Arial"/>
              </a:rPr>
              <a:t> מנחש את המילה הבאה</a:t>
            </a:r>
          </a:p>
        </p:txBody>
      </p:sp>
      <p:sp>
        <p:nvSpPr>
          <p:cNvPr id="13" name="Rounded Rectangle 12"/>
          <p:cNvSpPr/>
          <p:nvPr/>
        </p:nvSpPr>
        <p:spPr>
          <a:xfrm>
            <a:off x="4343400" y="1417320"/>
            <a:ext cx="3520440" cy="42062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669280" y="1645920"/>
            <a:ext cx="868680" cy="8686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2</a:t>
            </a:r>
          </a:p>
        </p:txBody>
      </p:sp>
      <p:sp>
        <p:nvSpPr>
          <p:cNvPr id="15" name="TextBox 14"/>
          <p:cNvSpPr txBox="1"/>
          <p:nvPr/>
        </p:nvSpPr>
        <p:spPr>
          <a:xfrm>
            <a:off x="4343400" y="2651760"/>
            <a:ext cx="3520440" cy="502920"/>
          </a:xfrm>
          <a:prstGeom prst="rect">
            <a:avLst/>
          </a:prstGeom>
          <a:noFill/>
        </p:spPr>
        <p:txBody>
          <a:bodyPr wrap="square" lIns="45720" rIns="45720" anchor="t">
            <a:spAutoFit/>
          </a:bodyPr>
          <a:lstStyle/>
          <a:p>
            <a:pPr algn="ctr" rtl="1"/>
            <a:r>
              <a:rPr lang="en-US" sz="2200" b="1" i="0">
                <a:solidFill>
                  <a:srgbClr val="1B2B34"/>
                </a:solidFill>
                <a:latin typeface="Arial"/>
                <a:cs typeface="Arial"/>
              </a:rPr>
              <a:t>Gemini</a:t>
            </a:r>
            <a:r>
              <a:rPr lang="he-IL" sz="2200" b="1" i="0">
                <a:solidFill>
                  <a:srgbClr val="1B2B34"/>
                </a:solidFill>
                <a:latin typeface="Arial"/>
                <a:cs typeface="Arial"/>
              </a:rPr>
              <a:t> בפייתון</a:t>
            </a:r>
          </a:p>
        </p:txBody>
      </p:sp>
      <p:sp>
        <p:nvSpPr>
          <p:cNvPr id="16" name="Oval 15"/>
          <p:cNvSpPr/>
          <p:nvPr/>
        </p:nvSpPr>
        <p:spPr>
          <a:xfrm>
            <a:off x="7360920" y="3429000"/>
            <a:ext cx="201168" cy="20116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17720" y="329184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API</a:t>
            </a:r>
            <a:r>
              <a:rPr lang="he-IL" sz="1600" b="0" i="0">
                <a:solidFill>
                  <a:srgbClr val="1B2B34"/>
                </a:solidFill>
                <a:latin typeface="Arial"/>
                <a:cs typeface="Arial"/>
              </a:rPr>
              <a:t> ומפתח </a:t>
            </a:r>
            <a:r>
              <a:rPr lang="en-US" sz="1600" b="0" i="0">
                <a:solidFill>
                  <a:srgbClr val="1B2B34"/>
                </a:solidFill>
                <a:latin typeface="Arial"/>
                <a:cs typeface="Arial"/>
              </a:rPr>
              <a:t>API</a:t>
            </a:r>
          </a:p>
        </p:txBody>
      </p:sp>
      <p:sp>
        <p:nvSpPr>
          <p:cNvPr id="18" name="Oval 17"/>
          <p:cNvSpPr/>
          <p:nvPr/>
        </p:nvSpPr>
        <p:spPr>
          <a:xfrm>
            <a:off x="7360920" y="4069080"/>
            <a:ext cx="201168" cy="20116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17720" y="393192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generate_content</a:t>
            </a:r>
          </a:p>
        </p:txBody>
      </p:sp>
      <p:sp>
        <p:nvSpPr>
          <p:cNvPr id="20" name="Oval 19"/>
          <p:cNvSpPr/>
          <p:nvPr/>
        </p:nvSpPr>
        <p:spPr>
          <a:xfrm>
            <a:off x="7360920" y="4709160"/>
            <a:ext cx="201168" cy="20116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17720" y="457200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prompt</a:t>
            </a:r>
            <a:r>
              <a:rPr lang="he-IL" sz="1600" b="0" i="0">
                <a:solidFill>
                  <a:srgbClr val="1B2B34"/>
                </a:solidFill>
                <a:latin typeface="Arial"/>
                <a:cs typeface="Arial"/>
              </a:rPr>
              <a:t>, </a:t>
            </a:r>
            <a:r>
              <a:rPr lang="en-US" sz="1600" b="0" i="0">
                <a:solidFill>
                  <a:srgbClr val="1B2B34"/>
                </a:solidFill>
                <a:latin typeface="Arial"/>
                <a:cs typeface="Arial"/>
              </a:rPr>
              <a:t>temperature</a:t>
            </a:r>
          </a:p>
        </p:txBody>
      </p:sp>
      <p:sp>
        <p:nvSpPr>
          <p:cNvPr id="22" name="Rounded Rectangle 21"/>
          <p:cNvSpPr/>
          <p:nvPr/>
        </p:nvSpPr>
        <p:spPr>
          <a:xfrm>
            <a:off x="594360" y="1417320"/>
            <a:ext cx="3520440" cy="42062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20240" y="1645920"/>
            <a:ext cx="868680" cy="8686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3</a:t>
            </a:r>
          </a:p>
        </p:txBody>
      </p:sp>
      <p:sp>
        <p:nvSpPr>
          <p:cNvPr id="24" name="TextBox 23"/>
          <p:cNvSpPr txBox="1"/>
          <p:nvPr/>
        </p:nvSpPr>
        <p:spPr>
          <a:xfrm>
            <a:off x="594360" y="2651760"/>
            <a:ext cx="3520440" cy="50292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משחק</a:t>
            </a:r>
          </a:p>
        </p:txBody>
      </p:sp>
      <p:sp>
        <p:nvSpPr>
          <p:cNvPr id="25" name="Oval 24"/>
          <p:cNvSpPr/>
          <p:nvPr/>
        </p:nvSpPr>
        <p:spPr>
          <a:xfrm>
            <a:off x="3611880" y="3429000"/>
            <a:ext cx="201168" cy="201168"/>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329184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prompt</a:t>
            </a:r>
            <a:r>
              <a:rPr lang="he-IL" sz="1600" b="0" i="0">
                <a:solidFill>
                  <a:srgbClr val="1B2B34"/>
                </a:solidFill>
                <a:latin typeface="Arial"/>
                <a:cs typeface="Arial"/>
              </a:rPr>
              <a:t> עם מצב המשחק</a:t>
            </a:r>
          </a:p>
        </p:txBody>
      </p:sp>
      <p:sp>
        <p:nvSpPr>
          <p:cNvPr id="27" name="Oval 26"/>
          <p:cNvSpPr/>
          <p:nvPr/>
        </p:nvSpPr>
        <p:spPr>
          <a:xfrm>
            <a:off x="3611880" y="4069080"/>
            <a:ext cx="201168" cy="201168"/>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393192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split</a:t>
            </a:r>
            <a:r>
              <a:rPr lang="he-IL" sz="1600" b="0" i="0">
                <a:solidFill>
                  <a:srgbClr val="1B2B34"/>
                </a:solidFill>
                <a:latin typeface="Arial"/>
                <a:cs typeface="Arial"/>
              </a:rPr>
              <a:t>, </a:t>
            </a:r>
            <a:r>
              <a:rPr lang="en-US" sz="1600" b="0" i="0">
                <a:solidFill>
                  <a:srgbClr val="1B2B34"/>
                </a:solidFill>
                <a:latin typeface="Arial"/>
                <a:cs typeface="Arial"/>
              </a:rPr>
              <a:t>isdigit</a:t>
            </a:r>
          </a:p>
        </p:txBody>
      </p:sp>
      <p:sp>
        <p:nvSpPr>
          <p:cNvPr id="29" name="Oval 28"/>
          <p:cNvSpPr/>
          <p:nvPr/>
        </p:nvSpPr>
        <p:spPr>
          <a:xfrm>
            <a:off x="3611880" y="4709160"/>
            <a:ext cx="201168" cy="201168"/>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4572000"/>
            <a:ext cx="2651760" cy="457200"/>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בודקים כל תשובה</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32</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שיעורי בית: משדרגים את ‎</a:t>
            </a:r>
            <a:r>
              <a:rPr lang="en-US" sz="3600" b="1" i="0">
                <a:solidFill>
                  <a:srgbClr val="1B4332"/>
                </a:solidFill>
                <a:latin typeface="Arial"/>
                <a:cs typeface="Arial"/>
              </a:rPr>
              <a:t>nim3.py</a:t>
            </a:r>
            <a:r>
              <a:rPr lang="he-IL" sz="3600" b="1" i="0">
                <a:solidFill>
                  <a:srgbClr val="1B4332"/>
                </a:solidFill>
                <a:latin typeface="Arial"/>
                <a:cs typeface="Arial"/>
              </a:rPr>
              <a:t>‎ (לפחות 2 מתוך 3)</a:t>
            </a:r>
          </a:p>
        </p:txBody>
      </p:sp>
      <p:sp>
        <p:nvSpPr>
          <p:cNvPr id="4" name="Rounded Rectangle 3"/>
          <p:cNvSpPr/>
          <p:nvPr/>
        </p:nvSpPr>
        <p:spPr>
          <a:xfrm>
            <a:off x="8092440" y="1325880"/>
            <a:ext cx="3520440" cy="4800600"/>
          </a:xfrm>
          <a:prstGeom prst="roundRect">
            <a:avLst>
              <a:gd name="adj" fmla="val 5000"/>
            </a:avLst>
          </a:prstGeom>
          <a:solidFill>
            <a:srgbClr val="FFFFFF"/>
          </a:solidFill>
          <a:ln w="19050">
            <a:solidFill>
              <a:srgbClr val="D9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0" y="1463040"/>
            <a:ext cx="3246120" cy="594360"/>
          </a:xfrm>
          <a:prstGeom prst="roundRect">
            <a:avLst>
              <a:gd name="adj" fmla="val 50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  קל</a:t>
            </a:r>
          </a:p>
        </p:txBody>
      </p:sp>
      <p:sp>
        <p:nvSpPr>
          <p:cNvPr id="6" name="TextBox 5"/>
          <p:cNvSpPr txBox="1"/>
          <p:nvPr/>
        </p:nvSpPr>
        <p:spPr>
          <a:xfrm>
            <a:off x="8275319" y="2194560"/>
            <a:ext cx="3154680" cy="457200"/>
          </a:xfrm>
          <a:prstGeom prst="rect">
            <a:avLst/>
          </a:prstGeom>
          <a:noFill/>
        </p:spPr>
        <p:txBody>
          <a:bodyPr wrap="square" lIns="45720" rIns="45720" anchor="t">
            <a:spAutoFit/>
          </a:bodyPr>
          <a:lstStyle/>
          <a:p>
            <a:pPr algn="ctr" rtl="1"/>
            <a:r>
              <a:rPr lang="he-IL" sz="2000" b="1" i="0">
                <a:solidFill>
                  <a:srgbClr val="1B2B34"/>
                </a:solidFill>
                <a:latin typeface="Arial"/>
                <a:cs typeface="Arial"/>
              </a:rPr>
              <a:t>4 ערימות</a:t>
            </a:r>
          </a:p>
        </p:txBody>
      </p:sp>
      <p:sp>
        <p:nvSpPr>
          <p:cNvPr id="7" name="TextBox 6"/>
          <p:cNvSpPr txBox="1"/>
          <p:nvPr/>
        </p:nvSpPr>
        <p:spPr>
          <a:xfrm>
            <a:off x="8321040" y="2697480"/>
            <a:ext cx="3063240" cy="822960"/>
          </a:xfrm>
          <a:prstGeom prst="rect">
            <a:avLst/>
          </a:prstGeom>
          <a:noFill/>
        </p:spPr>
        <p:txBody>
          <a:bodyPr wrap="square" lIns="45720" rIns="45720" anchor="t">
            <a:spAutoFit/>
          </a:bodyPr>
          <a:lstStyle/>
          <a:p>
            <a:pPr algn="r" rtl="1"/>
            <a:r>
              <a:rPr lang="he-IL" sz="1500" b="0" i="0">
                <a:solidFill>
                  <a:srgbClr val="1B2B34"/>
                </a:solidFill>
                <a:latin typeface="Arial"/>
                <a:cs typeface="Arial"/>
              </a:rPr>
              <a:t>הוסיפו ערימה רביעית עם 7 אסימונים.</a:t>
            </a:r>
          </a:p>
        </p:txBody>
      </p:sp>
      <p:sp>
        <p:nvSpPr>
          <p:cNvPr id="8" name="TextBox 7"/>
          <p:cNvSpPr txBox="1"/>
          <p:nvPr/>
        </p:nvSpPr>
        <p:spPr>
          <a:xfrm>
            <a:off x="8321040" y="3566160"/>
            <a:ext cx="3063240" cy="320040"/>
          </a:xfrm>
          <a:prstGeom prst="rect">
            <a:avLst/>
          </a:prstGeom>
          <a:noFill/>
        </p:spPr>
        <p:txBody>
          <a:bodyPr wrap="square" lIns="45720" rIns="45720" anchor="t">
            <a:spAutoFit/>
          </a:bodyPr>
          <a:lstStyle/>
          <a:p>
            <a:pPr algn="r" rtl="1"/>
            <a:r>
              <a:rPr lang="he-IL" sz="1400" b="1" i="0">
                <a:solidFill>
                  <a:srgbClr val="2D9F5C"/>
                </a:solidFill>
                <a:latin typeface="Arial"/>
                <a:cs typeface="Arial"/>
              </a:rPr>
              <a:t>התוצאה הרצויה:</a:t>
            </a:r>
          </a:p>
        </p:txBody>
      </p:sp>
      <p:sp>
        <p:nvSpPr>
          <p:cNvPr id="9" name="TextBox 8"/>
          <p:cNvSpPr txBox="1"/>
          <p:nvPr/>
        </p:nvSpPr>
        <p:spPr>
          <a:xfrm>
            <a:off x="8321040" y="3886200"/>
            <a:ext cx="3063240" cy="1371600"/>
          </a:xfrm>
          <a:prstGeom prst="rect">
            <a:avLst/>
          </a:prstGeom>
          <a:noFill/>
        </p:spPr>
        <p:txBody>
          <a:bodyPr wrap="square" lIns="45720" rIns="45720" anchor="t">
            <a:spAutoFit/>
          </a:bodyPr>
          <a:lstStyle/>
          <a:p>
            <a:pPr algn="r" rtl="1"/>
            <a:r>
              <a:rPr lang="he-IL" sz="1400" b="0" i="0">
                <a:solidFill>
                  <a:srgbClr val="1B2B34"/>
                </a:solidFill>
                <a:latin typeface="Arial"/>
                <a:cs typeface="Arial"/>
              </a:rPr>
              <a:t>בלוח יש 4 ערימות, וב-</a:t>
            </a:r>
            <a:r>
              <a:rPr lang="en-US" sz="1400" b="0" i="0">
                <a:solidFill>
                  <a:srgbClr val="1B2B34"/>
                </a:solidFill>
                <a:latin typeface="Arial"/>
                <a:cs typeface="Arial"/>
              </a:rPr>
              <a:t>prompt</a:t>
            </a:r>
            <a:r>
              <a:rPr lang="he-IL" sz="1400" b="0" i="0">
                <a:solidFill>
                  <a:srgbClr val="1B2B34"/>
                </a:solidFill>
                <a:latin typeface="Arial"/>
                <a:cs typeface="Arial"/>
              </a:rPr>
              <a:t> ש-</a:t>
            </a:r>
            <a:r>
              <a:rPr lang="en-US" sz="1400" b="0" i="0">
                <a:solidFill>
                  <a:srgbClr val="1B2B34"/>
                </a:solidFill>
                <a:latin typeface="Arial"/>
                <a:cs typeface="Arial"/>
              </a:rPr>
              <a:t>Gemini</a:t>
            </a:r>
            <a:r>
              <a:rPr lang="he-IL" sz="1400" b="0" i="0">
                <a:solidFill>
                  <a:srgbClr val="1B2B34"/>
                </a:solidFill>
                <a:latin typeface="Arial"/>
                <a:cs typeface="Arial"/>
              </a:rPr>
              <a:t> מקבל מופיעות כל 4 הערימות (בדקו בחלון ההדפסות).</a:t>
            </a:r>
          </a:p>
        </p:txBody>
      </p:sp>
      <p:sp>
        <p:nvSpPr>
          <p:cNvPr id="10" name="Rounded Rectangle 9"/>
          <p:cNvSpPr/>
          <p:nvPr/>
        </p:nvSpPr>
        <p:spPr>
          <a:xfrm>
            <a:off x="8275319" y="5349240"/>
            <a:ext cx="3154680" cy="59436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200" b="1" i="0">
                <a:solidFill>
                  <a:srgbClr val="1B2B34"/>
                </a:solidFill>
                <a:latin typeface="Arial"/>
                <a:cs typeface="Arial"/>
              </a:rPr>
              <a:t>רמז: </a:t>
            </a:r>
            <a:r>
              <a:rPr lang="he-IL" sz="1200" b="0" i="0">
                <a:solidFill>
                  <a:srgbClr val="1B2B34"/>
                </a:solidFill>
                <a:latin typeface="Arial"/>
                <a:cs typeface="Arial"/>
              </a:rPr>
              <a:t>צריך לשנות 3 רשימות</a:t>
            </a:r>
          </a:p>
        </p:txBody>
      </p:sp>
      <p:sp>
        <p:nvSpPr>
          <p:cNvPr id="11" name="Rounded Rectangle 10"/>
          <p:cNvSpPr/>
          <p:nvPr/>
        </p:nvSpPr>
        <p:spPr>
          <a:xfrm>
            <a:off x="4343400" y="1325880"/>
            <a:ext cx="3520440" cy="4800600"/>
          </a:xfrm>
          <a:prstGeom prst="roundRect">
            <a:avLst>
              <a:gd name="adj" fmla="val 5000"/>
            </a:avLst>
          </a:prstGeom>
          <a:solidFill>
            <a:srgbClr val="FFFFFF"/>
          </a:solidFill>
          <a:ln w="19050">
            <a:solidFill>
              <a:srgbClr val="D9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480560" y="1463040"/>
            <a:ext cx="3246120" cy="59436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  בינוני</a:t>
            </a:r>
          </a:p>
        </p:txBody>
      </p:sp>
      <p:sp>
        <p:nvSpPr>
          <p:cNvPr id="13" name="TextBox 12"/>
          <p:cNvSpPr txBox="1"/>
          <p:nvPr/>
        </p:nvSpPr>
        <p:spPr>
          <a:xfrm>
            <a:off x="4526280" y="2194560"/>
            <a:ext cx="3154680" cy="457200"/>
          </a:xfrm>
          <a:prstGeom prst="rect">
            <a:avLst/>
          </a:prstGeom>
          <a:noFill/>
        </p:spPr>
        <p:txBody>
          <a:bodyPr wrap="square" lIns="45720" rIns="45720" anchor="t">
            <a:spAutoFit/>
          </a:bodyPr>
          <a:lstStyle/>
          <a:p>
            <a:pPr algn="ctr" rtl="1"/>
            <a:r>
              <a:rPr lang="he-IL" sz="2000" b="1" i="0">
                <a:solidFill>
                  <a:srgbClr val="1B2B34"/>
                </a:solidFill>
                <a:latin typeface="Arial"/>
                <a:cs typeface="Arial"/>
              </a:rPr>
              <a:t>מי שלוקח אחרון - מנצח!</a:t>
            </a:r>
          </a:p>
        </p:txBody>
      </p:sp>
      <p:sp>
        <p:nvSpPr>
          <p:cNvPr id="14" name="TextBox 13"/>
          <p:cNvSpPr txBox="1"/>
          <p:nvPr/>
        </p:nvSpPr>
        <p:spPr>
          <a:xfrm>
            <a:off x="4572000" y="2697480"/>
            <a:ext cx="3063240" cy="822960"/>
          </a:xfrm>
          <a:prstGeom prst="rect">
            <a:avLst/>
          </a:prstGeom>
          <a:noFill/>
        </p:spPr>
        <p:txBody>
          <a:bodyPr wrap="square" lIns="45720" rIns="45720" anchor="t">
            <a:spAutoFit/>
          </a:bodyPr>
          <a:lstStyle/>
          <a:p>
            <a:pPr algn="r" rtl="1"/>
            <a:r>
              <a:rPr lang="he-IL" sz="1500" b="0" i="0">
                <a:solidFill>
                  <a:srgbClr val="1B2B34"/>
                </a:solidFill>
                <a:latin typeface="Arial"/>
                <a:cs typeface="Arial"/>
              </a:rPr>
              <a:t>הפכו את החוק של המשחק.</a:t>
            </a:r>
          </a:p>
        </p:txBody>
      </p:sp>
      <p:sp>
        <p:nvSpPr>
          <p:cNvPr id="15" name="TextBox 14"/>
          <p:cNvSpPr txBox="1"/>
          <p:nvPr/>
        </p:nvSpPr>
        <p:spPr>
          <a:xfrm>
            <a:off x="4572000" y="3566160"/>
            <a:ext cx="3063240" cy="320040"/>
          </a:xfrm>
          <a:prstGeom prst="rect">
            <a:avLst/>
          </a:prstGeom>
          <a:noFill/>
        </p:spPr>
        <p:txBody>
          <a:bodyPr wrap="square" lIns="45720" rIns="45720" anchor="t">
            <a:spAutoFit/>
          </a:bodyPr>
          <a:lstStyle/>
          <a:p>
            <a:pPr algn="r" rtl="1"/>
            <a:r>
              <a:rPr lang="he-IL" sz="1400" b="1" i="0">
                <a:solidFill>
                  <a:srgbClr val="FF9F1C"/>
                </a:solidFill>
                <a:latin typeface="Arial"/>
                <a:cs typeface="Arial"/>
              </a:rPr>
              <a:t>התוצאה הרצויה:</a:t>
            </a:r>
          </a:p>
        </p:txBody>
      </p:sp>
      <p:sp>
        <p:nvSpPr>
          <p:cNvPr id="16" name="TextBox 15"/>
          <p:cNvSpPr txBox="1"/>
          <p:nvPr/>
        </p:nvSpPr>
        <p:spPr>
          <a:xfrm>
            <a:off x="4572000" y="3886200"/>
            <a:ext cx="3063240" cy="1371600"/>
          </a:xfrm>
          <a:prstGeom prst="rect">
            <a:avLst/>
          </a:prstGeom>
          <a:noFill/>
        </p:spPr>
        <p:txBody>
          <a:bodyPr wrap="square" lIns="45720" rIns="45720" anchor="t">
            <a:spAutoFit/>
          </a:bodyPr>
          <a:lstStyle/>
          <a:p>
            <a:pPr algn="r" rtl="1"/>
            <a:r>
              <a:rPr lang="en-US" sz="1400" b="0" i="0">
                <a:solidFill>
                  <a:srgbClr val="1B2B34"/>
                </a:solidFill>
                <a:latin typeface="Arial"/>
                <a:cs typeface="Arial"/>
              </a:rPr>
              <a:t>Gemini</a:t>
            </a:r>
            <a:r>
              <a:rPr lang="he-IL" sz="1400" b="0" i="0">
                <a:solidFill>
                  <a:srgbClr val="1B2B34"/>
                </a:solidFill>
                <a:latin typeface="Arial"/>
                <a:cs typeface="Arial"/>
              </a:rPr>
              <a:t> מקבל את החוק החדש ב-</a:t>
            </a:r>
            <a:r>
              <a:rPr lang="en-US" sz="1400" b="0" i="0">
                <a:solidFill>
                  <a:srgbClr val="1B2B34"/>
                </a:solidFill>
                <a:latin typeface="Arial"/>
                <a:cs typeface="Arial"/>
              </a:rPr>
              <a:t>prompt</a:t>
            </a:r>
            <a:r>
              <a:rPr lang="he-IL" sz="1400" b="0" i="0">
                <a:solidFill>
                  <a:srgbClr val="1B2B34"/>
                </a:solidFill>
                <a:latin typeface="Arial"/>
                <a:cs typeface="Arial"/>
              </a:rPr>
              <a:t>, וההודעה בסוף המשחק מכריזה על המנצח הנכון.</a:t>
            </a:r>
          </a:p>
        </p:txBody>
      </p:sp>
      <p:sp>
        <p:nvSpPr>
          <p:cNvPr id="17" name="Rounded Rectangle 16"/>
          <p:cNvSpPr/>
          <p:nvPr/>
        </p:nvSpPr>
        <p:spPr>
          <a:xfrm>
            <a:off x="4526280" y="5349240"/>
            <a:ext cx="3154680" cy="59436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200" b="1" i="0">
                <a:solidFill>
                  <a:srgbClr val="1B2B34"/>
                </a:solidFill>
                <a:latin typeface="Arial"/>
                <a:cs typeface="Arial"/>
              </a:rPr>
              <a:t>רמז: </a:t>
            </a:r>
            <a:r>
              <a:rPr lang="he-IL" sz="1200" b="0" i="0">
                <a:solidFill>
                  <a:srgbClr val="1B2B34"/>
                </a:solidFill>
                <a:latin typeface="Arial"/>
                <a:cs typeface="Arial"/>
              </a:rPr>
              <a:t>משנים את ה-</a:t>
            </a:r>
            <a:r>
              <a:rPr lang="en-US" sz="1200" b="0" i="0">
                <a:solidFill>
                  <a:srgbClr val="1B2B34"/>
                </a:solidFill>
                <a:latin typeface="Arial"/>
                <a:cs typeface="Arial"/>
              </a:rPr>
              <a:t>prompt</a:t>
            </a:r>
            <a:r>
              <a:rPr lang="he-IL" sz="1200" b="0" i="0">
                <a:solidFill>
                  <a:srgbClr val="1B2B34"/>
                </a:solidFill>
                <a:latin typeface="Arial"/>
                <a:cs typeface="Arial"/>
              </a:rPr>
              <a:t> ועוד 2 הודעות</a:t>
            </a:r>
          </a:p>
        </p:txBody>
      </p:sp>
      <p:sp>
        <p:nvSpPr>
          <p:cNvPr id="18" name="Rounded Rectangle 17"/>
          <p:cNvSpPr/>
          <p:nvPr/>
        </p:nvSpPr>
        <p:spPr>
          <a:xfrm>
            <a:off x="594360" y="1325880"/>
            <a:ext cx="3520440" cy="4800600"/>
          </a:xfrm>
          <a:prstGeom prst="roundRect">
            <a:avLst>
              <a:gd name="adj" fmla="val 5000"/>
            </a:avLst>
          </a:prstGeom>
          <a:solidFill>
            <a:srgbClr val="FFFFFF"/>
          </a:solidFill>
          <a:ln w="19050">
            <a:solidFill>
              <a:srgbClr val="D9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31520" y="1463040"/>
            <a:ext cx="3246120" cy="594360"/>
          </a:xfrm>
          <a:prstGeom prst="roundRect">
            <a:avLst>
              <a:gd name="adj" fmla="val 50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  אלופים</a:t>
            </a:r>
          </a:p>
        </p:txBody>
      </p:sp>
      <p:sp>
        <p:nvSpPr>
          <p:cNvPr id="20" name="TextBox 19"/>
          <p:cNvSpPr txBox="1"/>
          <p:nvPr/>
        </p:nvSpPr>
        <p:spPr>
          <a:xfrm>
            <a:off x="777240" y="2194560"/>
            <a:ext cx="3154680" cy="457200"/>
          </a:xfrm>
          <a:prstGeom prst="rect">
            <a:avLst/>
          </a:prstGeom>
          <a:noFill/>
        </p:spPr>
        <p:txBody>
          <a:bodyPr wrap="square" lIns="45720" rIns="45720" anchor="t">
            <a:spAutoFit/>
          </a:bodyPr>
          <a:lstStyle/>
          <a:p>
            <a:pPr algn="ctr" rtl="1"/>
            <a:r>
              <a:rPr lang="en-US" sz="2000" b="1" i="0">
                <a:solidFill>
                  <a:srgbClr val="1B2B34"/>
                </a:solidFill>
                <a:latin typeface="Arial"/>
                <a:cs typeface="Arial"/>
              </a:rPr>
              <a:t>Gemini</a:t>
            </a:r>
            <a:r>
              <a:rPr lang="he-IL" sz="2000" b="1" i="0">
                <a:solidFill>
                  <a:srgbClr val="1B2B34"/>
                </a:solidFill>
                <a:latin typeface="Arial"/>
                <a:cs typeface="Arial"/>
              </a:rPr>
              <a:t> מדבר!</a:t>
            </a:r>
          </a:p>
        </p:txBody>
      </p:sp>
      <p:sp>
        <p:nvSpPr>
          <p:cNvPr id="21" name="TextBox 20"/>
          <p:cNvSpPr txBox="1"/>
          <p:nvPr/>
        </p:nvSpPr>
        <p:spPr>
          <a:xfrm>
            <a:off x="822960" y="2697480"/>
            <a:ext cx="3063240" cy="822960"/>
          </a:xfrm>
          <a:prstGeom prst="rect">
            <a:avLst/>
          </a:prstGeom>
          <a:noFill/>
        </p:spPr>
        <p:txBody>
          <a:bodyPr wrap="square" lIns="45720" rIns="45720" anchor="t">
            <a:spAutoFit/>
          </a:bodyPr>
          <a:lstStyle/>
          <a:p>
            <a:pPr algn="r" rtl="1"/>
            <a:r>
              <a:rPr lang="he-IL" sz="1500" b="0" i="0">
                <a:solidFill>
                  <a:srgbClr val="1B2B34"/>
                </a:solidFill>
                <a:latin typeface="Arial"/>
                <a:cs typeface="Arial"/>
              </a:rPr>
              <a:t>אחרי כל מהלך, </a:t>
            </a:r>
            <a:r>
              <a:rPr lang="en-US" sz="1500" b="0" i="0">
                <a:solidFill>
                  <a:srgbClr val="1B2B34"/>
                </a:solidFill>
                <a:latin typeface="Arial"/>
                <a:cs typeface="Arial"/>
              </a:rPr>
              <a:t>Gemini</a:t>
            </a:r>
            <a:r>
              <a:rPr lang="he-IL" sz="1500" b="0" i="0">
                <a:solidFill>
                  <a:srgbClr val="1B2B34"/>
                </a:solidFill>
                <a:latin typeface="Arial"/>
                <a:cs typeface="Arial"/>
              </a:rPr>
              <a:t> אומר משפט קצר ומצחיק על המשחק.</a:t>
            </a:r>
          </a:p>
        </p:txBody>
      </p:sp>
      <p:sp>
        <p:nvSpPr>
          <p:cNvPr id="22" name="TextBox 21"/>
          <p:cNvSpPr txBox="1"/>
          <p:nvPr/>
        </p:nvSpPr>
        <p:spPr>
          <a:xfrm>
            <a:off x="822960" y="3566160"/>
            <a:ext cx="3063240" cy="320040"/>
          </a:xfrm>
          <a:prstGeom prst="rect">
            <a:avLst/>
          </a:prstGeom>
          <a:noFill/>
        </p:spPr>
        <p:txBody>
          <a:bodyPr wrap="square" lIns="45720" rIns="45720" anchor="t">
            <a:spAutoFit/>
          </a:bodyPr>
          <a:lstStyle/>
          <a:p>
            <a:pPr algn="r" rtl="1"/>
            <a:r>
              <a:rPr lang="he-IL" sz="1400" b="1" i="0">
                <a:solidFill>
                  <a:srgbClr val="EF476F"/>
                </a:solidFill>
                <a:latin typeface="Arial"/>
                <a:cs typeface="Arial"/>
              </a:rPr>
              <a:t>התוצאה הרצויה:</a:t>
            </a:r>
          </a:p>
        </p:txBody>
      </p:sp>
      <p:sp>
        <p:nvSpPr>
          <p:cNvPr id="23" name="TextBox 22"/>
          <p:cNvSpPr txBox="1"/>
          <p:nvPr/>
        </p:nvSpPr>
        <p:spPr>
          <a:xfrm>
            <a:off x="822960" y="3886200"/>
            <a:ext cx="3063240" cy="1371600"/>
          </a:xfrm>
          <a:prstGeom prst="rect">
            <a:avLst/>
          </a:prstGeom>
          <a:noFill/>
        </p:spPr>
        <p:txBody>
          <a:bodyPr wrap="square" lIns="45720" rIns="45720" anchor="t">
            <a:spAutoFit/>
          </a:bodyPr>
          <a:lstStyle/>
          <a:p>
            <a:pPr algn="r" rtl="1"/>
            <a:r>
              <a:rPr lang="he-IL" sz="1400" b="0" i="0">
                <a:solidFill>
                  <a:srgbClr val="1B2B34"/>
                </a:solidFill>
                <a:latin typeface="Arial"/>
                <a:cs typeface="Arial"/>
              </a:rPr>
              <a:t>אחרי כל מהלך של </a:t>
            </a:r>
            <a:r>
              <a:rPr lang="en-US" sz="1400" b="0" i="0">
                <a:solidFill>
                  <a:srgbClr val="1B2B34"/>
                </a:solidFill>
                <a:latin typeface="Arial"/>
                <a:cs typeface="Arial"/>
              </a:rPr>
              <a:t>Gemini</a:t>
            </a:r>
            <a:r>
              <a:rPr lang="he-IL" sz="1400" b="0" i="0">
                <a:solidFill>
                  <a:srgbClr val="1B2B34"/>
                </a:solidFill>
                <a:latin typeface="Arial"/>
                <a:cs typeface="Arial"/>
              </a:rPr>
              <a:t>, מופיע במסך משפט חדש שהוא כתב.</a:t>
            </a:r>
          </a:p>
        </p:txBody>
      </p:sp>
      <p:sp>
        <p:nvSpPr>
          <p:cNvPr id="24" name="Rounded Rectangle 23"/>
          <p:cNvSpPr/>
          <p:nvPr/>
        </p:nvSpPr>
        <p:spPr>
          <a:xfrm>
            <a:off x="777240" y="5349240"/>
            <a:ext cx="3154680" cy="59436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200" b="1" i="0">
                <a:solidFill>
                  <a:srgbClr val="1B2B34"/>
                </a:solidFill>
                <a:latin typeface="Arial"/>
                <a:cs typeface="Arial"/>
              </a:rPr>
              <a:t>רמז: </a:t>
            </a:r>
            <a:r>
              <a:rPr lang="he-IL" sz="1200" b="0" i="0">
                <a:solidFill>
                  <a:srgbClr val="1B2B34"/>
                </a:solidFill>
                <a:latin typeface="Arial"/>
                <a:cs typeface="Arial"/>
              </a:rPr>
              <a:t>פונקציה חדשה עם </a:t>
            </a:r>
            <a:r>
              <a:rPr lang="en-US" sz="1200" b="0" i="0">
                <a:solidFill>
                  <a:srgbClr val="1B2B34"/>
                </a:solidFill>
                <a:latin typeface="Arial"/>
                <a:cs typeface="Arial"/>
              </a:rPr>
              <a:t>prompt</a:t>
            </a:r>
            <a:r>
              <a:rPr lang="he-IL" sz="1200" b="0" i="0">
                <a:solidFill>
                  <a:srgbClr val="1B2B34"/>
                </a:solidFill>
                <a:latin typeface="Arial"/>
                <a:cs typeface="Arial"/>
              </a:rPr>
              <a:t> שני, ואז </a:t>
            </a:r>
            <a:r>
              <a:rPr lang="en-US" sz="1200" b="0" i="0">
                <a:solidFill>
                  <a:srgbClr val="1B2B34"/>
                </a:solidFill>
                <a:latin typeface="Arial"/>
                <a:cs typeface="Arial"/>
              </a:rPr>
              <a:t>show_message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3715</Words>
  <Application>Microsoft Office PowerPoint</Application>
  <PresentationFormat>Widescreen</PresentationFormat>
  <Paragraphs>516</Paragraphs>
  <Slides>32</Slides>
  <Notes>32</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 Livne</cp:lastModifiedBy>
  <cp:revision>10</cp:revision>
  <dcterms:created xsi:type="dcterms:W3CDTF">2013-01-27T09:14:16Z</dcterms:created>
  <dcterms:modified xsi:type="dcterms:W3CDTF">2026-10-15T21:52:03Z</dcterms:modified>
  <cp:category/>
</cp:coreProperties>
</file>