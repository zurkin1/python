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90"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91" r:id="rId24"/>
    <p:sldId id="292" r:id="rId25"/>
    <p:sldId id="293" r:id="rId26"/>
    <p:sldId id="294" r:id="rId27"/>
    <p:sldId id="295" r:id="rId28"/>
    <p:sldId id="296" r:id="rId29"/>
    <p:sldId id="297" r:id="rId30"/>
    <p:sldId id="298" r:id="rId31"/>
    <p:sldId id="299" r:id="rId32"/>
    <p:sldId id="288" r:id="rId33"/>
    <p:sldId id="30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3" d="100"/>
          <a:sy n="73" d="100"/>
        </p:scale>
        <p:origin x="3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51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ברוכים הבאים לשיעור 4. היום יש שלושה חלקים: מבינים מה זה AI, מדברים עם Gemini מתוך פייתון, ובונים משחק NIM שבו Gemini הוא היריב.</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סקירה של השיעור. כל חלק נגמר בתרגיל. הכלל של היום חשוב במיוחד בחלק 3: אנחנו בודקים כל תשובה של Gemini לפני שמשתמשים בה.</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1: מבוא קצר ל-AI. המטרה היא אינטואיציה, לא מתמטיקה.</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בתכנות רגיל (כמו משחק המכוניות) אנחנו כותבים את החוקים: אם המכוניות קרובות - התנגשות. בלמידת מכונה אנחנו לא יודעים לכתוב את החוקים (למשל: איך מזהים חתול בתמונה?), אז נותנים למחשב המון דוגמאות עם התשובות - והוא מוצא את החוקים לבד. התוצאה נקראת מודל.</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אימון = לולאה: המודל מנחש, בודקים כמה הוא טעה, ומתקנים אותו קצת. חוזרים על זה מיליוני פעמים. כמו ללמוד לרכב על אופניים או לזרוק לסל. אפשר לשאול את הילדים: איך אתם למדתם לזרוק לסל?</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בסוף האימון יש לנו מודל - בעצם קובץ ענק של מספרים. עכשיו אפשר להשתמש בו שוב ושוב, בלי לאמן מחדש. אותו רעיון עובד למשימות שונות מאוד: לחזות מספר, לצייר תמונה, לענות על שאלה.</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משחק: הילדים הם המודל. הדוגמאות: 1→3, 2→5, 3→7, 4→9. מה יוצא עבור 10? התשובה: 21 (החוק: כפול 2 ועוד 1). זה בדיוק מה שמודל עושה: מוצא חוק מתוך דוגמאות ואז חוזה תשובה לקלט חדש שלא ראה. שאלו: כמה דוגמאות הייתם צריכים כדי להיות בטוחים?</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רשת נוירונים היא מודל שבנוי מהרבה יחידות קטנות שנקראות נוירונים מלאכותיים. הרעיון לקוח מהמוח: גם במוח יש מיליארדי תאי עצב שמחוברים זה לזה ומעבירים אותות. ברשת, כל נוירון מקבל מספרים מהנוירונים שלפניו ומעביר מספר הלאה. הנוירונים מסודרים בשכבות, וכל שכבה מחוברת לשכבה הבאה. באימון, הרשת משנה את החוזק של החיבורים - כך היא "לומדת". רשת עם הרבה שכבות נקראת רשת עמוקה (Deep Learning).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LLM = Large Language Model, מודל שפה גדול. המשימה שלו פשוטה: לנחש את המילה הבאה. הוא נותן הסתברות לכל מילה, בוחר אחת, מוסיף אותה לטקסט - ושוב. כך נבנית תשובה שלמה, מילה אחרי מילה. בגלל שיש בחירה, אותה שאלה יכולה לתת תשובות שונות! (זה יחזור בתרגיל 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מה מיוחד ב-LLM לעומת רשת רגילה? (1) כמות נתונים עצומה - כמעט כל הטקסט הציבורי באינטרנט. (2) גודל - מאות מיליארדי משקלים. (3) טריק בשם תשומת לב (Transformer): כל מילה "מסתכלת" על כל שאר המילים כדי להבין הקשר. (4) אימון נוסף עם משוב מבני אדם שמלמד אותו להיות עוזר מועיל. חשוב: הוא לא באמת יודע - הוא מנחש, ולפעמים טועה בביטחון מלא (הזיה).</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תרגיל 1: כל אחד פותח את gemini.google.com ושולח את השאלה בדיוק כפי שכתובה (באנגלית). שומרים את התשובה - נשתמש בה בתרגיל 2. אחר כך פותחים צ'אט חדש ושולחים שוב את אותה שאלה בדיוק: האם התשובה זהה? (רמז ל-LLM מהשקף הקודם: הוא בוחר מילים עם הסתברות.)</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2: במקום להקליד באתר, התוכנית שלנו שולחת את השאלה. כך אפשר לשלב AI בכל תוכנית - למשל במשחק.</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API = Application Programming Interface. הדרך שבה תוכנית אחת מבקשת שירות מתוכנית אחרת. אנלוגיה: מסעדה. אנחנו (התוכנית) לא נכנסים למטבח (השרתים של Google). המלצר (ה-API) לוקח את ההזמנה (השאלה) ומביא את המנה (התשובה).</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כדי ש-Google תדע מי שואל (ותספור כמה שאלות נשלחו), כל בקשה כוללת מפתח API - סוג של סיסמה. מי שיש לו את המפתח יכול להשתמש בחשבון שלנו! לכן לא מפרסמים אותו ב-GitHub, לא שולחים בקבוצות. בשיעור משתמשים במפתח של המורה. מי שרוצה מפתח משלו - יש מדריך (בעזרת הורה: Google דורשת גיל 18+ ליצירת מפתח).</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מתקינים את הספרייה פעם אחת בכל מחשב. ב-VS Code: Terminal ← New Terminal, ומקלידים את הפקודה. אם יש כמה גרסאות של פייתון, אפשר גם: python -m pip install google-genai. בדיקה: אם השורה from google import genai רצה בלי שגיאה - הכול מוכן.</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עוברים על הקוד שורה אחרי שורה: 1) מייבאים את הספרייה. 2) יוצרים client - החיבור ל-Google, עם המפתח. 3) generate_content שולח את השאלה: model = איזה מודל, contents = השאלה עצמה. 4) response.text = התשובה כמחרוזת, ומדפיסים אותה.</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יש כמה מודלים. flash מהיר ומספיק לרוב הדברים - בו נשתמש. pro חכם יותר אבל איטי יותר ויש לו פחות שאלות בחינם. lite הכי מהיר וזול. את רשימת השמות אפשר לקבל בקוד - לולאה על רשימה, כמו בשיעור הקודם! השמות מתעדכנים כל כמה חודשים.</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ה-prompt הוא מחרוזת רגילה. אפשר לבנות אותו מחלקים עם + (כמו "Score: " + str(score) במשחק המכוניות). \n בתוך מחרוזת = ירידת שורה. כך נבנה את ה-prompt של משחק NIM: נכניס לתוכו את מצב הערימות.</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אפשר לשלוט בהתנהגות: system_instruction = הוראה קבועה (תפקיד, סגנון). temperature = כמה "אקראי" לבחור את המילה הבאה. 0 = כמעט תמיד אותה תשובה. גבוה = יצירתי ומשתנה. גם עם 0 התשובה לא מובטחת זהה ב-100%.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שגיאות נפוצות. 429 ו-503 יקרו בכיתה כשכולם שולחים בבת אחת עם אותו מפתח - מחכים קצת ומנסים שוב. במשחק NIM נטפל בזה עם try/except.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תרגיל 2: משנים את contents ל-שאלה המדויקת מתרגיל 1. מריצים ומשווים. כמעט תמיד התשובה תהיה שונה. למה? (1) LLM בוחר מילים עם הסתברות (temperature) - גם באתר עצמו קיבלנו תשובות שונות. (2) האתר משתמש בהוראות מערכת נסתרות (system instruction) ולפעמים בחיפוש באינטרנט ובהיסטוריית הצ'אט. (3) ייתכן שהאתר משתמש במודל או גרסה אחרת. בונוס: הוסיפו temperature=0 והריצו פעמיים - האם עכשיו התשובות דומות יותר?</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חלק 3: בונים משחק בשלבים כמו במרוץ המכוניות. כל שלב = קובץ שעובד.</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NIM פשוט: ערימה אחת של 55 אסימונים. בכל תור לוקחים 1 עד 10. מי שלוקח את האסימון האחרון מפסיד. כדאי לשחק סיבוב אחד על הלוח: המורה נגד הכיתה. שימו לב לסידור בשורות של 11 - זה רמז לטריק המנצח (מי שמשאיר ליריב 1, 12, 23, 34 או 45 - מנצח).</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תשובות: (א) נשאר אסימון אחד - חייבים לקחת אותו ומפסידים. (ב) נשארו 5 - לוקחים 4 ומשאירים 1, היריב חייב לקחת אותו ומפסיד. (ג) נשארו 12 - כל מה שתיקחו (1 עד 10) משאיר ליריב 2 עד 11, והוא יכול להשאיר לכם 1. כלומר 12 הוא מצב מפסיד! הטריק: להשאיר ליריב 1, 12, 23, 34, 45. האם Gemini יודע את זה?</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input מציג שאלה במסוף ומחכה שהמשתמש יקליד ויקיש Enter. מה שהוקלד חוזר תמיד כמחרוזת, לכן int הופך אותו למספר. אין ל-input בדיקת טווח (כמו minval/maxval ב-numinput) - אנחנו בודקים בעצמנו. ו-"*" * pile היא מחרוזת של כוכביות - כוכבית לכל אסימון.</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שלושה שלבים. כל שלב הוא קובץ שעובד. שלב 1 - המשחק הכי בסיסי. שלב 2 - מוסיפים פונקציות, בדיקות וסוף משחק. שלב 3 - Gemini מחליף את שחקן 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שלב 1: שלושה משתנים ולולאה. בכל סיבוב מדפיסים את הערימה, שואלים כמה לקחת, ומורידים מהערימה. אין עדיין שום בדיקה - נסו לקחת 50, או 0, או להקליד מילה. מה קורה? זה מה שנתקן בשלב 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שלב 2: legal_move בודקת שהמהלך חוקי ומחזירה True או False (כמו crashed במשחק המכוניות). player_turn היא התור של שחקן אחד - מקבלת את השם שלו כפרמטר. אם הערימה הגיעה ל-0, השחקן הזה לקח את האחרון והפסיד. בלולאה הראשית: תור של שחקן 1, ואז תור של שחקן 2 - רק אם המשחק עוד לא נגמר.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הלולאה הראשית: בכל סיבוב תור של שחקן 1 ואז תור של שחקן 2 - רק אם המשחק עוד לא נגמר (pile &gt; 0). בצד: מה רואים במסוף כששחקן מנסה לקחת 15, ואז מישהו לוקח את האחרון.</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הלב של שלב 3: בונים prompt ממחרוזות ומכניסים לתוכו את מספר האסימונים שנשארו. מבקשים מספר אחד בלבד - כי את התשובה קוראת תוכנית, לא בן אדם. ההדפסות Sending / Received מראות בדיוק מה נשלח ומה חזר.</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Gemini לא תמיד עונה כמו שביקשנו: לפעמים הוא כותב משפט במקום מספר, לפעמים מספר לא חוקי, ולפעמים השרת עמוס (503). לכן: strip מוחק רווחים וירידות שורה, isdigit בודק שזה מספר, legal_move בודקת שהמהלך חוקי - ואם לא, Gemini לוקח מספר אקראי. try/except תופס שגיאות במקום שהתוכנית תקרוס.</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סיכום. שאלו: מה הפתיע אתכם היום?</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שיעורי בית: לבחור לפחות 2 מתוך 3, מתחילים מ-nim3.py. תרגיל 1: משנים 2 משתנים - ה-prompt מתעדכן לבד כי הוא בנוי מהמשתנים. תרגיל 2: משנים את שורת החוק ב-prompt ואת שתי ההודעות בסוף המשחק. תרגיל 3: פונקציה חדשה שבונה prompt שני ומחזירה משפט, וקוראים לה ב-gemini_turn אחרי המהלך.</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i.google.dev/gemini-api/docs/models"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85800" y="868680"/>
            <a:ext cx="5120640" cy="51206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074920" y="731520"/>
            <a:ext cx="502920" cy="5029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5257800"/>
            <a:ext cx="457200" cy="45720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0" y="4937760"/>
            <a:ext cx="347472" cy="347472"/>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737360"/>
            <a:ext cx="5349240" cy="1014984"/>
          </a:xfrm>
          <a:prstGeom prst="rect">
            <a:avLst/>
          </a:prstGeom>
          <a:noFill/>
        </p:spPr>
        <p:txBody>
          <a:bodyPr wrap="square" lIns="45720" rIns="45720" anchor="t">
            <a:spAutoFit/>
          </a:bodyPr>
          <a:lstStyle/>
          <a:p>
            <a:pPr algn="r" rtl="1"/>
            <a:r>
              <a:rPr lang="he-IL" sz="6000" b="1" i="0">
                <a:solidFill>
                  <a:srgbClr val="FFFFFF"/>
                </a:solidFill>
                <a:latin typeface="Arial"/>
                <a:cs typeface="Arial"/>
              </a:rPr>
              <a:t>שיעור 4</a:t>
            </a:r>
          </a:p>
        </p:txBody>
      </p:sp>
      <p:sp>
        <p:nvSpPr>
          <p:cNvPr id="8" name="TextBox 7"/>
          <p:cNvSpPr txBox="1"/>
          <p:nvPr/>
        </p:nvSpPr>
        <p:spPr>
          <a:xfrm>
            <a:off x="6309360" y="2834640"/>
            <a:ext cx="5349240" cy="548640"/>
          </a:xfrm>
          <a:prstGeom prst="rect">
            <a:avLst/>
          </a:prstGeom>
          <a:noFill/>
        </p:spPr>
        <p:txBody>
          <a:bodyPr wrap="square" lIns="45720" rIns="45720" anchor="t">
            <a:spAutoFit/>
          </a:bodyPr>
          <a:lstStyle/>
          <a:p>
            <a:pPr algn="r" rtl="1"/>
            <a:r>
              <a:rPr lang="he-IL" sz="2600" b="0" i="0">
                <a:solidFill>
                  <a:srgbClr val="FFD166"/>
                </a:solidFill>
                <a:latin typeface="Arial"/>
                <a:cs typeface="Arial"/>
              </a:rPr>
              <a:t>בינה מלאכותית ומשחק נגד </a:t>
            </a:r>
            <a:r>
              <a:rPr lang="en-US" sz="2600" b="0" i="0">
                <a:solidFill>
                  <a:srgbClr val="FFD166"/>
                </a:solidFill>
                <a:latin typeface="Arial"/>
                <a:cs typeface="Arial"/>
              </a:rPr>
              <a:t>Gemini</a:t>
            </a:r>
          </a:p>
        </p:txBody>
      </p:sp>
      <p:sp>
        <p:nvSpPr>
          <p:cNvPr id="9" name="TextBox 8"/>
          <p:cNvSpPr txBox="1"/>
          <p:nvPr/>
        </p:nvSpPr>
        <p:spPr>
          <a:xfrm>
            <a:off x="6309360" y="3657600"/>
            <a:ext cx="5349240" cy="1280160"/>
          </a:xfrm>
          <a:prstGeom prst="rect">
            <a:avLst/>
          </a:prstGeom>
          <a:noFill/>
        </p:spPr>
        <p:txBody>
          <a:bodyPr wrap="square" lIns="45720" rIns="45720" anchor="t">
            <a:spAutoFit/>
          </a:bodyPr>
          <a:lstStyle/>
          <a:p>
            <a:pPr algn="r" rtl="1"/>
            <a:r>
              <a:rPr lang="he-IL" sz="2000" b="0" i="0">
                <a:solidFill>
                  <a:srgbClr val="CDE8D8"/>
                </a:solidFill>
                <a:latin typeface="Arial"/>
                <a:cs typeface="Arial"/>
              </a:rPr>
              <a:t>היום נבין איך מחשב "לומד", נשלח שאלות ל-</a:t>
            </a:r>
            <a:r>
              <a:rPr lang="en-US" sz="2000" b="0" i="0">
                <a:solidFill>
                  <a:srgbClr val="CDE8D8"/>
                </a:solidFill>
                <a:latin typeface="Arial"/>
                <a:cs typeface="Arial"/>
              </a:rPr>
              <a:t>Gemini</a:t>
            </a:r>
            <a:r>
              <a:rPr lang="he-IL" sz="2000" b="0" i="0">
                <a:solidFill>
                  <a:srgbClr val="CDE8D8"/>
                </a:solidFill>
                <a:latin typeface="Arial"/>
                <a:cs typeface="Arial"/>
              </a:rPr>
              <a:t> מתוך פייתון - ונבנה משחק שבו </a:t>
            </a:r>
            <a:r>
              <a:rPr lang="en-US" sz="2000" b="0" i="0">
                <a:solidFill>
                  <a:srgbClr val="CDE8D8"/>
                </a:solidFill>
                <a:latin typeface="Arial"/>
                <a:cs typeface="Arial"/>
              </a:rPr>
              <a:t>Gemini</a:t>
            </a:r>
            <a:r>
              <a:rPr lang="he-IL" sz="2000" b="0" i="0">
                <a:solidFill>
                  <a:srgbClr val="CDE8D8"/>
                </a:solidFill>
                <a:latin typeface="Arial"/>
                <a:cs typeface="Arial"/>
              </a:rPr>
              <a:t> הוא היריב שלנו!</a:t>
            </a:r>
          </a:p>
        </p:txBody>
      </p:sp>
      <p:sp>
        <p:nvSpPr>
          <p:cNvPr id="10" name="Rounded Rectangle 9"/>
          <p:cNvSpPr/>
          <p:nvPr/>
        </p:nvSpPr>
        <p:spPr>
          <a:xfrm>
            <a:off x="1143000" y="2011680"/>
            <a:ext cx="4206240" cy="274320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25880" y="2084832"/>
            <a:ext cx="3840479"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12" name="TextBox 11"/>
          <p:cNvSpPr txBox="1"/>
          <p:nvPr/>
        </p:nvSpPr>
        <p:spPr>
          <a:xfrm>
            <a:off x="1325880" y="2377440"/>
            <a:ext cx="3840479" cy="2286000"/>
          </a:xfrm>
          <a:prstGeom prst="rect">
            <a:avLst/>
          </a:prstGeom>
          <a:noFill/>
        </p:spPr>
        <p:txBody>
          <a:bodyPr wrap="square" lIns="45720" rIns="45720" anchor="t">
            <a:spAutoFit/>
          </a:bodyPr>
          <a:lstStyle/>
          <a:p>
            <a:pPr algn="l" rtl="0"/>
            <a:r>
              <a:rPr lang="en-US" sz="1500" b="0" i="0">
                <a:solidFill>
                  <a:srgbClr val="E6E6E6"/>
                </a:solidFill>
                <a:latin typeface="Consolas"/>
                <a:cs typeface="Consolas"/>
              </a:rPr>
              <a:t>Tokens left: 45</a:t>
            </a:r>
          </a:p>
          <a:p>
            <a:pPr algn="l" rtl="0"/>
            <a:r>
              <a:rPr lang="en-US" sz="1500" b="0" i="0">
                <a:solidFill>
                  <a:srgbClr val="E6E6E6"/>
                </a:solidFill>
                <a:latin typeface="Consolas"/>
                <a:cs typeface="Consolas"/>
              </a:rPr>
              <a:t>You, how many tokens do you take? </a:t>
            </a:r>
            <a:r>
              <a:rPr lang="en-US" sz="1500" b="1" i="0">
                <a:solidFill>
                  <a:srgbClr val="FFD166"/>
                </a:solidFill>
                <a:latin typeface="Consolas"/>
                <a:cs typeface="Consolas"/>
              </a:rPr>
              <a:t>1</a:t>
            </a:r>
          </a:p>
          <a:p>
            <a:pPr algn="l" rtl="0"/>
            <a:r>
              <a:rPr lang="en-US" sz="1500" b="0" i="0">
                <a:solidFill>
                  <a:srgbClr val="E6E6E6"/>
                </a:solidFill>
                <a:latin typeface="Consolas"/>
                <a:cs typeface="Consolas"/>
              </a:rPr>
              <a:t> </a:t>
            </a:r>
          </a:p>
          <a:p>
            <a:pPr algn="l" rtl="0"/>
            <a:r>
              <a:rPr lang="en-US" sz="1500" b="0" i="0">
                <a:solidFill>
                  <a:srgbClr val="E6E6E6"/>
                </a:solidFill>
                <a:latin typeface="Consolas"/>
                <a:cs typeface="Consolas"/>
              </a:rPr>
              <a:t>Gemini is thinking...</a:t>
            </a:r>
          </a:p>
          <a:p>
            <a:pPr algn="l" rtl="0"/>
            <a:r>
              <a:rPr lang="en-US" sz="1500" b="0" i="0">
                <a:solidFill>
                  <a:srgbClr val="66D9EF"/>
                </a:solidFill>
                <a:latin typeface="Consolas"/>
                <a:cs typeface="Consolas"/>
              </a:rPr>
              <a:t>Received from Gemini: 4</a:t>
            </a:r>
          </a:p>
          <a:p>
            <a:pPr algn="l" rtl="0"/>
            <a:r>
              <a:rPr lang="en-US" sz="1500" b="0" i="0">
                <a:solidFill>
                  <a:srgbClr val="E6E6E6"/>
                </a:solidFill>
                <a:latin typeface="Consolas"/>
                <a:cs typeface="Consolas"/>
              </a:rPr>
              <a:t>Gemini took 4 tokens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השיעור של היום</a:t>
            </a:r>
          </a:p>
        </p:txBody>
      </p:sp>
      <p:sp>
        <p:nvSpPr>
          <p:cNvPr id="4" name="Oval 3"/>
          <p:cNvSpPr/>
          <p:nvPr/>
        </p:nvSpPr>
        <p:spPr>
          <a:xfrm>
            <a:off x="10195560" y="1554480"/>
            <a:ext cx="1188720" cy="11887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1</a:t>
            </a:r>
          </a:p>
        </p:txBody>
      </p:sp>
      <p:sp>
        <p:nvSpPr>
          <p:cNvPr id="5" name="TextBox 4"/>
          <p:cNvSpPr txBox="1"/>
          <p:nvPr/>
        </p:nvSpPr>
        <p:spPr>
          <a:xfrm>
            <a:off x="9372600" y="2926080"/>
            <a:ext cx="283464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מה זה </a:t>
            </a:r>
            <a:r>
              <a:rPr lang="en-US" sz="2200" b="1" i="0">
                <a:solidFill>
                  <a:srgbClr val="1B2B34"/>
                </a:solidFill>
                <a:latin typeface="Arial"/>
                <a:cs typeface="Arial"/>
              </a:rPr>
              <a:t>AI</a:t>
            </a:r>
            <a:r>
              <a:rPr lang="he-IL" sz="2200" b="1" i="0">
                <a:solidFill>
                  <a:srgbClr val="1B2B34"/>
                </a:solidFill>
                <a:latin typeface="Arial"/>
                <a:cs typeface="Arial"/>
              </a:rPr>
              <a:t>?</a:t>
            </a:r>
          </a:p>
        </p:txBody>
      </p:sp>
      <p:sp>
        <p:nvSpPr>
          <p:cNvPr id="6" name="TextBox 5"/>
          <p:cNvSpPr txBox="1"/>
          <p:nvPr/>
        </p:nvSpPr>
        <p:spPr>
          <a:xfrm>
            <a:off x="9372600" y="3429000"/>
            <a:ext cx="2834640" cy="3657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למידת מכונה, נוירונים, </a:t>
            </a:r>
            <a:r>
              <a:rPr lang="en-US" sz="1500" b="0" i="0">
                <a:solidFill>
                  <a:srgbClr val="5F6F78"/>
                </a:solidFill>
                <a:latin typeface="Arial"/>
                <a:cs typeface="Arial"/>
              </a:rPr>
              <a:t>LLM</a:t>
            </a:r>
          </a:p>
        </p:txBody>
      </p:sp>
      <p:sp>
        <p:nvSpPr>
          <p:cNvPr id="7" name="TextBox 6"/>
          <p:cNvSpPr txBox="1"/>
          <p:nvPr/>
        </p:nvSpPr>
        <p:spPr>
          <a:xfrm>
            <a:off x="937260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gemini.google.com</a:t>
            </a:r>
          </a:p>
        </p:txBody>
      </p:sp>
      <p:cxnSp>
        <p:nvCxnSpPr>
          <p:cNvPr id="8" name="Connector 7"/>
          <p:cNvCxnSpPr/>
          <p:nvPr/>
        </p:nvCxnSpPr>
        <p:spPr>
          <a:xfrm flipH="1">
            <a:off x="8823960" y="2148840"/>
            <a:ext cx="73152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446520" y="1554480"/>
            <a:ext cx="1188720" cy="11887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2</a:t>
            </a:r>
          </a:p>
        </p:txBody>
      </p:sp>
      <p:sp>
        <p:nvSpPr>
          <p:cNvPr id="10" name="TextBox 9"/>
          <p:cNvSpPr txBox="1"/>
          <p:nvPr/>
        </p:nvSpPr>
        <p:spPr>
          <a:xfrm>
            <a:off x="5623560" y="2926080"/>
            <a:ext cx="2834640" cy="45720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Gemini</a:t>
            </a:r>
            <a:r>
              <a:rPr lang="he-IL" sz="2200" b="1" i="0">
                <a:solidFill>
                  <a:srgbClr val="1B2B34"/>
                </a:solidFill>
                <a:latin typeface="Arial"/>
                <a:cs typeface="Arial"/>
              </a:rPr>
              <a:t> בפייתון</a:t>
            </a:r>
          </a:p>
        </p:txBody>
      </p:sp>
      <p:sp>
        <p:nvSpPr>
          <p:cNvPr id="11" name="TextBox 10"/>
          <p:cNvSpPr txBox="1"/>
          <p:nvPr/>
        </p:nvSpPr>
        <p:spPr>
          <a:xfrm>
            <a:off x="5623560" y="3429000"/>
            <a:ext cx="2834640" cy="365760"/>
          </a:xfrm>
          <a:prstGeom prst="rect">
            <a:avLst/>
          </a:prstGeom>
          <a:noFill/>
        </p:spPr>
        <p:txBody>
          <a:bodyPr wrap="square" lIns="45720" rIns="45720" anchor="t">
            <a:spAutoFit/>
          </a:bodyPr>
          <a:lstStyle/>
          <a:p>
            <a:pPr algn="ctr" rtl="1"/>
            <a:r>
              <a:rPr lang="en-US" sz="1500" b="0" i="0">
                <a:solidFill>
                  <a:srgbClr val="5F6F78"/>
                </a:solidFill>
                <a:latin typeface="Arial"/>
                <a:cs typeface="Arial"/>
              </a:rPr>
              <a:t>API</a:t>
            </a:r>
            <a:r>
              <a:rPr lang="he-IL" sz="1500" b="0" i="0">
                <a:solidFill>
                  <a:srgbClr val="5F6F78"/>
                </a:solidFill>
                <a:latin typeface="Arial"/>
                <a:cs typeface="Arial"/>
              </a:rPr>
              <a:t>, </a:t>
            </a:r>
            <a:r>
              <a:rPr lang="en-US" sz="1500" b="0" i="0">
                <a:solidFill>
                  <a:srgbClr val="5F6F78"/>
                </a:solidFill>
                <a:latin typeface="Arial"/>
                <a:cs typeface="Arial"/>
              </a:rPr>
              <a:t>google-genai</a:t>
            </a:r>
          </a:p>
        </p:txBody>
      </p:sp>
      <p:sp>
        <p:nvSpPr>
          <p:cNvPr id="12" name="TextBox 11"/>
          <p:cNvSpPr txBox="1"/>
          <p:nvPr/>
        </p:nvSpPr>
        <p:spPr>
          <a:xfrm>
            <a:off x="562356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aiapibasic_example.py</a:t>
            </a:r>
          </a:p>
        </p:txBody>
      </p:sp>
      <p:cxnSp>
        <p:nvCxnSpPr>
          <p:cNvPr id="13" name="Connector 12"/>
          <p:cNvCxnSpPr/>
          <p:nvPr/>
        </p:nvCxnSpPr>
        <p:spPr>
          <a:xfrm flipH="1">
            <a:off x="5074920" y="2148840"/>
            <a:ext cx="73152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697480" y="1554480"/>
            <a:ext cx="1188720" cy="11887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600" b="1" i="0">
                <a:solidFill>
                  <a:srgbClr val="FFFFFF"/>
                </a:solidFill>
                <a:latin typeface="Arial"/>
                <a:cs typeface="Arial"/>
              </a:rPr>
              <a:t>3</a:t>
            </a:r>
          </a:p>
        </p:txBody>
      </p:sp>
      <p:sp>
        <p:nvSpPr>
          <p:cNvPr id="15" name="TextBox 14"/>
          <p:cNvSpPr txBox="1"/>
          <p:nvPr/>
        </p:nvSpPr>
        <p:spPr>
          <a:xfrm>
            <a:off x="1874520" y="2926080"/>
            <a:ext cx="283464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משחק </a:t>
            </a:r>
            <a:r>
              <a:rPr lang="en-US" sz="2200" b="1" i="0">
                <a:solidFill>
                  <a:srgbClr val="1B2B34"/>
                </a:solidFill>
                <a:latin typeface="Arial"/>
                <a:cs typeface="Arial"/>
              </a:rPr>
              <a:t>NIM</a:t>
            </a:r>
          </a:p>
        </p:txBody>
      </p:sp>
      <p:sp>
        <p:nvSpPr>
          <p:cNvPr id="16" name="TextBox 15"/>
          <p:cNvSpPr txBox="1"/>
          <p:nvPr/>
        </p:nvSpPr>
        <p:spPr>
          <a:xfrm>
            <a:off x="1874520" y="3429000"/>
            <a:ext cx="2834640" cy="3657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3 שלבים, משחק נגד </a:t>
            </a:r>
            <a:r>
              <a:rPr lang="en-US" sz="1500" b="0" i="0">
                <a:solidFill>
                  <a:srgbClr val="5F6F78"/>
                </a:solidFill>
                <a:latin typeface="Arial"/>
                <a:cs typeface="Arial"/>
              </a:rPr>
              <a:t>Gemini</a:t>
            </a:r>
          </a:p>
        </p:txBody>
      </p:sp>
      <p:sp>
        <p:nvSpPr>
          <p:cNvPr id="17" name="TextBox 16"/>
          <p:cNvSpPr txBox="1"/>
          <p:nvPr/>
        </p:nvSpPr>
        <p:spPr>
          <a:xfrm>
            <a:off x="1874520" y="3840480"/>
            <a:ext cx="2834640" cy="365760"/>
          </a:xfrm>
          <a:prstGeom prst="rect">
            <a:avLst/>
          </a:prstGeom>
          <a:noFill/>
        </p:spPr>
        <p:txBody>
          <a:bodyPr wrap="square" lIns="45720" rIns="45720" anchor="t">
            <a:spAutoFit/>
          </a:bodyPr>
          <a:lstStyle/>
          <a:p>
            <a:pPr algn="ctr" rtl="0"/>
            <a:r>
              <a:rPr lang="en-US" sz="1600" b="1" i="0">
                <a:solidFill>
                  <a:srgbClr val="FF9F1C"/>
                </a:solidFill>
                <a:latin typeface="Arial"/>
                <a:cs typeface="Arial"/>
              </a:rPr>
              <a:t>nim1.py ... nim3.py</a:t>
            </a:r>
          </a:p>
        </p:txBody>
      </p:sp>
      <p:sp>
        <p:nvSpPr>
          <p:cNvPr id="18" name="Rounded Rectangle 17"/>
          <p:cNvSpPr/>
          <p:nvPr/>
        </p:nvSpPr>
        <p:spPr>
          <a:xfrm>
            <a:off x="548640" y="4800600"/>
            <a:ext cx="11091672" cy="91440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81360" y="5001768"/>
            <a:ext cx="512064" cy="512064"/>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20" name="TextBox 19"/>
          <p:cNvSpPr txBox="1"/>
          <p:nvPr/>
        </p:nvSpPr>
        <p:spPr>
          <a:xfrm>
            <a:off x="822960" y="4846320"/>
            <a:ext cx="9875520" cy="822960"/>
          </a:xfrm>
          <a:prstGeom prst="rect">
            <a:avLst/>
          </a:prstGeom>
          <a:noFill/>
        </p:spPr>
        <p:txBody>
          <a:bodyPr wrap="square" lIns="45720" rIns="45720" anchor="ctr">
            <a:spAutoFit/>
          </a:bodyPr>
          <a:lstStyle/>
          <a:p>
            <a:pPr algn="r" rtl="1"/>
            <a:r>
              <a:rPr lang="he-IL" sz="1700" b="1" i="0">
                <a:solidFill>
                  <a:srgbClr val="1B2B34"/>
                </a:solidFill>
                <a:latin typeface="Arial"/>
                <a:cs typeface="Arial"/>
              </a:rPr>
              <a:t>הכלל של היום: </a:t>
            </a:r>
          </a:p>
          <a:p>
            <a:pPr algn="r" rtl="1"/>
            <a:r>
              <a:rPr lang="en-US" sz="1700" b="0" i="0">
                <a:solidFill>
                  <a:srgbClr val="1B2B34"/>
                </a:solidFill>
                <a:latin typeface="Arial"/>
                <a:cs typeface="Arial"/>
              </a:rPr>
              <a:t>Gemini</a:t>
            </a:r>
            <a:r>
              <a:rPr lang="he-IL" sz="1700" b="0" i="0">
                <a:solidFill>
                  <a:srgbClr val="1B2B34"/>
                </a:solidFill>
                <a:latin typeface="Arial"/>
                <a:cs typeface="Arial"/>
              </a:rPr>
              <a:t> הוא כלי חזק - אבל הוא יכול לטעות. תמיד בודקים את התשובה שלו!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1</a:t>
            </a:r>
          </a:p>
        </p:txBody>
      </p:sp>
      <p:sp>
        <p:nvSpPr>
          <p:cNvPr id="4" name="Oval 3"/>
          <p:cNvSpPr/>
          <p:nvPr/>
        </p:nvSpPr>
        <p:spPr>
          <a:xfrm>
            <a:off x="10332720" y="1097280"/>
            <a:ext cx="502920" cy="5029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he-IL" sz="4800" b="1" i="0">
                <a:solidFill>
                  <a:srgbClr val="FFFFFF"/>
                </a:solidFill>
                <a:latin typeface="Arial"/>
                <a:cs typeface="Arial"/>
              </a:rPr>
              <a:t>מה זה בינה מלאכותית?</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איך מחשב לומד מדוגמאות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4</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תכנות רגיל מול למידת מכונה</a:t>
            </a:r>
          </a:p>
        </p:txBody>
      </p:sp>
      <p:sp>
        <p:nvSpPr>
          <p:cNvPr id="4" name="Rounded Rectangle 3"/>
          <p:cNvSpPr/>
          <p:nvPr/>
        </p:nvSpPr>
        <p:spPr>
          <a:xfrm>
            <a:off x="548640" y="1508760"/>
            <a:ext cx="11091672" cy="1737360"/>
          </a:xfrm>
          <a:prstGeom prst="roundRect">
            <a:avLst>
              <a:gd name="adj" fmla="val 10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0" y="1691639"/>
            <a:ext cx="2377440" cy="1371600"/>
          </a:xfrm>
          <a:prstGeom prst="rect">
            <a:avLst/>
          </a:prstGeom>
          <a:noFill/>
        </p:spPr>
        <p:txBody>
          <a:bodyPr wrap="square" lIns="45720" rIns="45720" anchor="ctr">
            <a:spAutoFit/>
          </a:bodyPr>
          <a:lstStyle/>
          <a:p>
            <a:pPr algn="r" rtl="1"/>
            <a:r>
              <a:rPr lang="he-IL" sz="2400" b="1" i="0">
                <a:solidFill>
                  <a:srgbClr val="118AB2"/>
                </a:solidFill>
                <a:latin typeface="Arial"/>
                <a:cs typeface="Arial"/>
              </a:rPr>
              <a:t>תכנות רגיל</a:t>
            </a:r>
          </a:p>
        </p:txBody>
      </p:sp>
      <p:sp>
        <p:nvSpPr>
          <p:cNvPr id="6" name="Rounded Rectangle 5"/>
          <p:cNvSpPr/>
          <p:nvPr/>
        </p:nvSpPr>
        <p:spPr>
          <a:xfrm>
            <a:off x="6858000" y="1737360"/>
            <a:ext cx="1920240" cy="548640"/>
          </a:xfrm>
          <a:prstGeom prst="roundRect">
            <a:avLst>
              <a:gd name="adj" fmla="val 8000"/>
            </a:avLst>
          </a:prstGeom>
          <a:solidFill>
            <a:srgbClr val="FFFFFF"/>
          </a:solidFill>
          <a:ln w="19050">
            <a:solidFill>
              <a:srgbClr val="118AB2"/>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חוקים</a:t>
            </a:r>
          </a:p>
        </p:txBody>
      </p:sp>
      <p:sp>
        <p:nvSpPr>
          <p:cNvPr id="7" name="Rounded Rectangle 6"/>
          <p:cNvSpPr/>
          <p:nvPr/>
        </p:nvSpPr>
        <p:spPr>
          <a:xfrm>
            <a:off x="6858000" y="2423160"/>
            <a:ext cx="1920240" cy="548640"/>
          </a:xfrm>
          <a:prstGeom prst="roundRect">
            <a:avLst>
              <a:gd name="adj" fmla="val 8000"/>
            </a:avLst>
          </a:prstGeom>
          <a:solidFill>
            <a:srgbClr val="FFFFFF"/>
          </a:solidFill>
          <a:ln w="19050">
            <a:solidFill>
              <a:srgbClr val="118AB2"/>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נתונים</a:t>
            </a:r>
          </a:p>
        </p:txBody>
      </p:sp>
      <p:cxnSp>
        <p:nvCxnSpPr>
          <p:cNvPr id="8" name="Connector 7"/>
          <p:cNvCxnSpPr/>
          <p:nvPr/>
        </p:nvCxnSpPr>
        <p:spPr>
          <a:xfrm flipH="1">
            <a:off x="5715000" y="2377439"/>
            <a:ext cx="100584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343400" y="1783080"/>
            <a:ext cx="1188720" cy="11887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000" b="1" i="0">
                <a:solidFill>
                  <a:srgbClr val="FFFFFF"/>
                </a:solidFill>
                <a:latin typeface="Arial"/>
                <a:cs typeface="Arial"/>
              </a:rPr>
              <a:t>💻</a:t>
            </a:r>
          </a:p>
        </p:txBody>
      </p:sp>
      <p:cxnSp>
        <p:nvCxnSpPr>
          <p:cNvPr id="10" name="Connector 9"/>
          <p:cNvCxnSpPr/>
          <p:nvPr/>
        </p:nvCxnSpPr>
        <p:spPr>
          <a:xfrm flipH="1">
            <a:off x="3200400" y="2377439"/>
            <a:ext cx="100584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2011680"/>
            <a:ext cx="2286000" cy="73152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תשובות</a:t>
            </a:r>
          </a:p>
        </p:txBody>
      </p:sp>
      <p:sp>
        <p:nvSpPr>
          <p:cNvPr id="12" name="Rounded Rectangle 11"/>
          <p:cNvSpPr/>
          <p:nvPr/>
        </p:nvSpPr>
        <p:spPr>
          <a:xfrm>
            <a:off x="548640" y="3611879"/>
            <a:ext cx="11091672" cy="1737360"/>
          </a:xfrm>
          <a:prstGeom prst="roundRect">
            <a:avLst>
              <a:gd name="adj" fmla="val 10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0" y="3794759"/>
            <a:ext cx="2377440" cy="1371600"/>
          </a:xfrm>
          <a:prstGeom prst="rect">
            <a:avLst/>
          </a:prstGeom>
          <a:noFill/>
        </p:spPr>
        <p:txBody>
          <a:bodyPr wrap="square" lIns="45720" rIns="45720" anchor="ctr">
            <a:spAutoFit/>
          </a:bodyPr>
          <a:lstStyle/>
          <a:p>
            <a:pPr algn="r" rtl="1"/>
            <a:r>
              <a:rPr lang="he-IL" sz="2400" b="1" i="0">
                <a:solidFill>
                  <a:srgbClr val="EF476F"/>
                </a:solidFill>
                <a:latin typeface="Arial"/>
                <a:cs typeface="Arial"/>
              </a:rPr>
              <a:t>למידת מכונה</a:t>
            </a:r>
          </a:p>
        </p:txBody>
      </p:sp>
      <p:sp>
        <p:nvSpPr>
          <p:cNvPr id="14" name="Rounded Rectangle 13"/>
          <p:cNvSpPr/>
          <p:nvPr/>
        </p:nvSpPr>
        <p:spPr>
          <a:xfrm>
            <a:off x="6858000" y="3840479"/>
            <a:ext cx="1920240" cy="548640"/>
          </a:xfrm>
          <a:prstGeom prst="roundRect">
            <a:avLst>
              <a:gd name="adj" fmla="val 8000"/>
            </a:avLst>
          </a:prstGeom>
          <a:solidFill>
            <a:srgbClr val="FFFFFF"/>
          </a:solidFill>
          <a:ln w="19050">
            <a:solidFill>
              <a:srgbClr val="EF476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דוגמאות</a:t>
            </a:r>
          </a:p>
        </p:txBody>
      </p:sp>
      <p:sp>
        <p:nvSpPr>
          <p:cNvPr id="15" name="Rounded Rectangle 14"/>
          <p:cNvSpPr/>
          <p:nvPr/>
        </p:nvSpPr>
        <p:spPr>
          <a:xfrm>
            <a:off x="6858000" y="4526279"/>
            <a:ext cx="1920240" cy="548640"/>
          </a:xfrm>
          <a:prstGeom prst="roundRect">
            <a:avLst>
              <a:gd name="adj" fmla="val 8000"/>
            </a:avLst>
          </a:prstGeom>
          <a:solidFill>
            <a:srgbClr val="FFFFFF"/>
          </a:solidFill>
          <a:ln w="19050">
            <a:solidFill>
              <a:srgbClr val="EF476F"/>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1" i="0">
                <a:solidFill>
                  <a:srgbClr val="1B2B34"/>
                </a:solidFill>
                <a:latin typeface="Arial"/>
                <a:cs typeface="Arial"/>
              </a:rPr>
              <a:t>התשובות שלהן</a:t>
            </a:r>
          </a:p>
        </p:txBody>
      </p:sp>
      <p:cxnSp>
        <p:nvCxnSpPr>
          <p:cNvPr id="16" name="Connector 15"/>
          <p:cNvCxnSpPr/>
          <p:nvPr/>
        </p:nvCxnSpPr>
        <p:spPr>
          <a:xfrm flipH="1">
            <a:off x="5715000" y="4480559"/>
            <a:ext cx="100584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343400" y="3886200"/>
            <a:ext cx="1188720" cy="11887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000" b="1" i="0">
                <a:solidFill>
                  <a:srgbClr val="FFFFFF"/>
                </a:solidFill>
                <a:latin typeface="Arial"/>
                <a:cs typeface="Arial"/>
              </a:rPr>
              <a:t>💻</a:t>
            </a:r>
          </a:p>
        </p:txBody>
      </p:sp>
      <p:cxnSp>
        <p:nvCxnSpPr>
          <p:cNvPr id="18" name="Connector 17"/>
          <p:cNvCxnSpPr/>
          <p:nvPr/>
        </p:nvCxnSpPr>
        <p:spPr>
          <a:xfrm flipH="1">
            <a:off x="3200400" y="4480559"/>
            <a:ext cx="100584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2960" y="4114800"/>
            <a:ext cx="2286000" cy="73152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dirty="0">
                <a:solidFill>
                  <a:srgbClr val="FFFFFF"/>
                </a:solidFill>
                <a:latin typeface="Arial"/>
                <a:cs typeface="Arial"/>
              </a:rPr>
              <a:t>מודל!</a:t>
            </a:r>
          </a:p>
        </p:txBody>
      </p:sp>
      <p:sp>
        <p:nvSpPr>
          <p:cNvPr id="20" name="TextBox 19"/>
          <p:cNvSpPr txBox="1"/>
          <p:nvPr/>
        </p:nvSpPr>
        <p:spPr>
          <a:xfrm>
            <a:off x="548640" y="5760720"/>
            <a:ext cx="11091672" cy="54864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במקום לכתוב את החוקים בעצמנו - נותנים למחשב המון דוגמאות, והוא מוצא את החוקים לבד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אימון: לומדים מהמון דוגמאות</a:t>
            </a:r>
          </a:p>
        </p:txBody>
      </p:sp>
      <p:sp>
        <p:nvSpPr>
          <p:cNvPr id="4" name="Rounded Rectangle 3"/>
          <p:cNvSpPr/>
          <p:nvPr/>
        </p:nvSpPr>
        <p:spPr>
          <a:xfrm>
            <a:off x="850392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09760" y="1737360"/>
            <a:ext cx="731520" cy="7315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6" name="TextBox 5"/>
          <p:cNvSpPr txBox="1"/>
          <p:nvPr/>
        </p:nvSpPr>
        <p:spPr>
          <a:xfrm>
            <a:off x="850392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מנחשים</a:t>
            </a:r>
          </a:p>
        </p:txBody>
      </p:sp>
      <p:sp>
        <p:nvSpPr>
          <p:cNvPr id="7" name="TextBox 6"/>
          <p:cNvSpPr txBox="1"/>
          <p:nvPr/>
        </p:nvSpPr>
        <p:spPr>
          <a:xfrm>
            <a:off x="859536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המודל רואה תמונה</a:t>
            </a:r>
          </a:p>
          <a:p>
            <a:pPr algn="ctr" rtl="1"/>
            <a:r>
              <a:rPr lang="he-IL" sz="1500" b="0" i="0">
                <a:solidFill>
                  <a:srgbClr val="5F6F78"/>
                </a:solidFill>
                <a:latin typeface="Arial"/>
                <a:cs typeface="Arial"/>
              </a:rPr>
              <a:t>ואומר: "כלב"</a:t>
            </a:r>
          </a:p>
        </p:txBody>
      </p:sp>
      <p:cxnSp>
        <p:nvCxnSpPr>
          <p:cNvPr id="8" name="Connector 7"/>
          <p:cNvCxnSpPr/>
          <p:nvPr/>
        </p:nvCxnSpPr>
        <p:spPr>
          <a:xfrm flipH="1">
            <a:off x="8046720" y="2743200"/>
            <a:ext cx="36576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208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17920" y="1737360"/>
            <a:ext cx="731520" cy="7315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1" name="TextBox 10"/>
          <p:cNvSpPr txBox="1"/>
          <p:nvPr/>
        </p:nvSpPr>
        <p:spPr>
          <a:xfrm>
            <a:off x="521208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בודקים</a:t>
            </a:r>
          </a:p>
        </p:txBody>
      </p:sp>
      <p:sp>
        <p:nvSpPr>
          <p:cNvPr id="12" name="TextBox 11"/>
          <p:cNvSpPr txBox="1"/>
          <p:nvPr/>
        </p:nvSpPr>
        <p:spPr>
          <a:xfrm>
            <a:off x="530352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התשובה הנכונה:</a:t>
            </a:r>
          </a:p>
          <a:p>
            <a:pPr algn="ctr" rtl="1"/>
            <a:r>
              <a:rPr lang="he-IL" sz="1500" b="0" i="0">
                <a:solidFill>
                  <a:srgbClr val="5F6F78"/>
                </a:solidFill>
                <a:latin typeface="Arial"/>
                <a:cs typeface="Arial"/>
              </a:rPr>
              <a:t>"חתול" - טעות!</a:t>
            </a:r>
          </a:p>
        </p:txBody>
      </p:sp>
      <p:cxnSp>
        <p:nvCxnSpPr>
          <p:cNvPr id="13" name="Connector 12"/>
          <p:cNvCxnSpPr/>
          <p:nvPr/>
        </p:nvCxnSpPr>
        <p:spPr>
          <a:xfrm flipH="1">
            <a:off x="4754880" y="2743200"/>
            <a:ext cx="36576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20240" y="1554480"/>
            <a:ext cx="2743200" cy="2377440"/>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26080" y="1737360"/>
            <a:ext cx="731520" cy="7315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16" name="TextBox 15"/>
          <p:cNvSpPr txBox="1"/>
          <p:nvPr/>
        </p:nvSpPr>
        <p:spPr>
          <a:xfrm>
            <a:off x="1920240" y="2560320"/>
            <a:ext cx="2743200" cy="45720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מתקנים קצת</a:t>
            </a:r>
          </a:p>
        </p:txBody>
      </p:sp>
      <p:sp>
        <p:nvSpPr>
          <p:cNvPr id="17" name="TextBox 16"/>
          <p:cNvSpPr txBox="1"/>
          <p:nvPr/>
        </p:nvSpPr>
        <p:spPr>
          <a:xfrm>
            <a:off x="2011680" y="3017520"/>
            <a:ext cx="2560320" cy="82296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משנים את המודל</a:t>
            </a:r>
          </a:p>
          <a:p>
            <a:pPr algn="ctr" rtl="1"/>
            <a:r>
              <a:rPr lang="he-IL" sz="1500" b="0" i="0">
                <a:solidFill>
                  <a:srgbClr val="5F6F78"/>
                </a:solidFill>
                <a:latin typeface="Arial"/>
                <a:cs typeface="Arial"/>
              </a:rPr>
              <a:t>כדי לטעות פחות</a:t>
            </a:r>
          </a:p>
        </p:txBody>
      </p:sp>
      <p:sp>
        <p:nvSpPr>
          <p:cNvPr id="18" name="Rounded Rectangle 17"/>
          <p:cNvSpPr/>
          <p:nvPr/>
        </p:nvSpPr>
        <p:spPr>
          <a:xfrm>
            <a:off x="1920240" y="4297680"/>
            <a:ext cx="9326880" cy="731520"/>
          </a:xfrm>
          <a:prstGeom prst="roundRect">
            <a:avLst>
              <a:gd name="adj" fmla="val 3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dirty="0">
                <a:solidFill>
                  <a:srgbClr val="1B2B34"/>
                </a:solidFill>
                <a:latin typeface="Arial"/>
                <a:cs typeface="Arial"/>
              </a:rPr>
              <a:t>↻  חוזרים על זה הרבה פעמים - עד שהמודל כמעט לא טועה</a:t>
            </a:r>
          </a:p>
        </p:txBody>
      </p:sp>
      <p:sp>
        <p:nvSpPr>
          <p:cNvPr id="19" name="TextBox 18"/>
          <p:cNvSpPr txBox="1"/>
          <p:nvPr/>
        </p:nvSpPr>
        <p:spPr>
          <a:xfrm>
            <a:off x="548640" y="5303520"/>
            <a:ext cx="11091672" cy="82296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כמו שאתם לומדים לזרוק לסל: זורקים, רואים שפספסתם, מתקנים את התנועה קצת - ושוב.</a:t>
            </a:r>
          </a:p>
        </p:txBody>
      </p:sp>
      <p:sp>
        <p:nvSpPr>
          <p:cNvPr id="20" name="TextBox 19"/>
          <p:cNvSpPr txBox="1"/>
          <p:nvPr/>
        </p:nvSpPr>
        <p:spPr>
          <a:xfrm>
            <a:off x="548640" y="1645920"/>
            <a:ext cx="1828800" cy="2286000"/>
          </a:xfrm>
          <a:prstGeom prst="rect">
            <a:avLst/>
          </a:prstGeom>
          <a:noFill/>
        </p:spPr>
        <p:txBody>
          <a:bodyPr wrap="square" lIns="45720" rIns="45720" anchor="t">
            <a:spAutoFit/>
          </a:bodyPr>
          <a:lstStyle/>
          <a:p>
            <a:pPr algn="ctr" rtl="0"/>
            <a:r>
              <a:rPr lang="en-US" sz="6000" b="0" i="0">
                <a:solidFill>
                  <a:srgbClr val="1B2B34"/>
                </a:solidFill>
                <a:latin typeface="Arial"/>
                <a:cs typeface="Aria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6</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המודל יוצא מהאימון, מה הוא יכול לעשות?</a:t>
            </a:r>
          </a:p>
        </p:txBody>
      </p:sp>
      <p:sp>
        <p:nvSpPr>
          <p:cNvPr id="4" name="Rounded Rectangle 3"/>
          <p:cNvSpPr/>
          <p:nvPr/>
        </p:nvSpPr>
        <p:spPr>
          <a:xfrm>
            <a:off x="8595360" y="1417320"/>
            <a:ext cx="3017520" cy="1097280"/>
          </a:xfrm>
          <a:prstGeom prst="roundRect">
            <a:avLst>
              <a:gd name="adj" fmla="val 8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1B2B34"/>
                </a:solidFill>
                <a:latin typeface="Arial"/>
                <a:cs typeface="Arial"/>
              </a:rPr>
              <a:t>📚 המון נתונים</a:t>
            </a:r>
          </a:p>
        </p:txBody>
      </p:sp>
      <p:cxnSp>
        <p:nvCxnSpPr>
          <p:cNvPr id="5" name="Connector 4"/>
          <p:cNvCxnSpPr/>
          <p:nvPr/>
        </p:nvCxnSpPr>
        <p:spPr>
          <a:xfrm flipH="1">
            <a:off x="7589520" y="1965960"/>
            <a:ext cx="91440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303520" y="1417320"/>
            <a:ext cx="2194560" cy="10972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אימון</a:t>
            </a:r>
          </a:p>
        </p:txBody>
      </p:sp>
      <p:cxnSp>
        <p:nvCxnSpPr>
          <p:cNvPr id="7" name="Connector 6"/>
          <p:cNvCxnSpPr/>
          <p:nvPr/>
        </p:nvCxnSpPr>
        <p:spPr>
          <a:xfrm flipH="1">
            <a:off x="4297680" y="1965960"/>
            <a:ext cx="91440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463040" y="1417320"/>
            <a:ext cx="2743200" cy="1097280"/>
          </a:xfrm>
          <a:prstGeom prst="roundRect">
            <a:avLst>
              <a:gd name="adj" fmla="val 8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 מודל</a:t>
            </a:r>
          </a:p>
          <a:p>
            <a:pPr algn="ctr" rtl="1"/>
            <a:r>
              <a:rPr lang="he-IL" sz="1300" b="0" i="0">
                <a:solidFill>
                  <a:srgbClr val="FFFFFF"/>
                </a:solidFill>
                <a:latin typeface="Arial"/>
                <a:cs typeface="Arial"/>
              </a:rPr>
              <a:t>(קובץ של מספרים)</a:t>
            </a:r>
          </a:p>
        </p:txBody>
      </p:sp>
      <p:sp>
        <p:nvSpPr>
          <p:cNvPr id="9" name="TextBox 8"/>
          <p:cNvSpPr txBox="1"/>
          <p:nvPr/>
        </p:nvSpPr>
        <p:spPr>
          <a:xfrm>
            <a:off x="548640" y="2788920"/>
            <a:ext cx="11091672" cy="457200"/>
          </a:xfrm>
          <a:prstGeom prst="rect">
            <a:avLst/>
          </a:prstGeom>
          <a:noFill/>
        </p:spPr>
        <p:txBody>
          <a:bodyPr wrap="square" lIns="45720" rIns="45720" anchor="t">
            <a:spAutoFit/>
          </a:bodyPr>
          <a:lstStyle/>
          <a:p>
            <a:pPr algn="r" rtl="1"/>
            <a:r>
              <a:rPr lang="he-IL" sz="1800" b="0" i="0">
                <a:solidFill>
                  <a:srgbClr val="5F6F78"/>
                </a:solidFill>
                <a:latin typeface="Arial"/>
                <a:cs typeface="Arial"/>
              </a:rPr>
              <a:t>עכשיו משתמשים במודל - שוב ושוב - למשימות שונות:</a:t>
            </a:r>
          </a:p>
        </p:txBody>
      </p:sp>
      <p:sp>
        <p:nvSpPr>
          <p:cNvPr id="10" name="Rounded Rectangle 9"/>
          <p:cNvSpPr/>
          <p:nvPr/>
        </p:nvSpPr>
        <p:spPr>
          <a:xfrm>
            <a:off x="809244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464040" y="3474720"/>
            <a:ext cx="777240" cy="7772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2" name="TextBox 11"/>
          <p:cNvSpPr txBox="1"/>
          <p:nvPr/>
        </p:nvSpPr>
        <p:spPr>
          <a:xfrm>
            <a:off x="809244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לחזות מספר</a:t>
            </a:r>
          </a:p>
        </p:txBody>
      </p:sp>
      <p:sp>
        <p:nvSpPr>
          <p:cNvPr id="13" name="TextBox 12"/>
          <p:cNvSpPr txBox="1"/>
          <p:nvPr/>
        </p:nvSpPr>
        <p:spPr>
          <a:xfrm>
            <a:off x="822960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מה תהיה הטמפרטורה מחר?</a:t>
            </a:r>
          </a:p>
        </p:txBody>
      </p:sp>
      <p:sp>
        <p:nvSpPr>
          <p:cNvPr id="14" name="TextBox 13"/>
          <p:cNvSpPr txBox="1"/>
          <p:nvPr/>
        </p:nvSpPr>
        <p:spPr>
          <a:xfrm>
            <a:off x="8229600" y="5394960"/>
            <a:ext cx="3246120" cy="457200"/>
          </a:xfrm>
          <a:prstGeom prst="rect">
            <a:avLst/>
          </a:prstGeom>
          <a:noFill/>
        </p:spPr>
        <p:txBody>
          <a:bodyPr wrap="square" lIns="45720" rIns="45720" anchor="t">
            <a:spAutoFit/>
          </a:bodyPr>
          <a:lstStyle/>
          <a:p>
            <a:pPr algn="ctr" rtl="1"/>
            <a:r>
              <a:rPr lang="he-IL" sz="1700" b="1" i="0">
                <a:solidFill>
                  <a:srgbClr val="118AB2"/>
                </a:solidFill>
                <a:latin typeface="Arial"/>
                <a:cs typeface="Arial"/>
              </a:rPr>
              <a:t>24°</a:t>
            </a:r>
          </a:p>
        </p:txBody>
      </p:sp>
      <p:sp>
        <p:nvSpPr>
          <p:cNvPr id="15" name="Rounded Rectangle 14"/>
          <p:cNvSpPr/>
          <p:nvPr/>
        </p:nvSpPr>
        <p:spPr>
          <a:xfrm>
            <a:off x="434340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715000" y="3474720"/>
            <a:ext cx="777240" cy="7772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7" name="TextBox 16"/>
          <p:cNvSpPr txBox="1"/>
          <p:nvPr/>
        </p:nvSpPr>
        <p:spPr>
          <a:xfrm>
            <a:off x="434340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לצייר תמונה</a:t>
            </a:r>
          </a:p>
        </p:txBody>
      </p:sp>
      <p:sp>
        <p:nvSpPr>
          <p:cNvPr id="18" name="TextBox 17"/>
          <p:cNvSpPr txBox="1"/>
          <p:nvPr/>
        </p:nvSpPr>
        <p:spPr>
          <a:xfrm>
            <a:off x="448056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"צייר חתול עם כובע של פיראט"</a:t>
            </a:r>
          </a:p>
        </p:txBody>
      </p:sp>
      <p:sp>
        <p:nvSpPr>
          <p:cNvPr id="19" name="TextBox 18"/>
          <p:cNvSpPr txBox="1"/>
          <p:nvPr/>
        </p:nvSpPr>
        <p:spPr>
          <a:xfrm>
            <a:off x="4480560" y="5394960"/>
            <a:ext cx="3246120" cy="457200"/>
          </a:xfrm>
          <a:prstGeom prst="rect">
            <a:avLst/>
          </a:prstGeom>
          <a:noFill/>
        </p:spPr>
        <p:txBody>
          <a:bodyPr wrap="square" lIns="45720" rIns="45720" anchor="t">
            <a:spAutoFit/>
          </a:bodyPr>
          <a:lstStyle/>
          <a:p>
            <a:pPr algn="ctr" rtl="1"/>
            <a:r>
              <a:rPr lang="he-IL" sz="1700" b="1" i="0">
                <a:solidFill>
                  <a:srgbClr val="EF476F"/>
                </a:solidFill>
                <a:latin typeface="Arial"/>
                <a:cs typeface="Arial"/>
              </a:rPr>
              <a:t>🐱🎩</a:t>
            </a:r>
          </a:p>
        </p:txBody>
      </p:sp>
      <p:sp>
        <p:nvSpPr>
          <p:cNvPr id="20" name="Rounded Rectangle 19"/>
          <p:cNvSpPr/>
          <p:nvPr/>
        </p:nvSpPr>
        <p:spPr>
          <a:xfrm>
            <a:off x="594360" y="3337560"/>
            <a:ext cx="3520440" cy="2743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65960" y="3474720"/>
            <a:ext cx="777240" cy="7772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22" name="TextBox 21"/>
          <p:cNvSpPr txBox="1"/>
          <p:nvPr/>
        </p:nvSpPr>
        <p:spPr>
          <a:xfrm>
            <a:off x="594360" y="43434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לענות על שאלה</a:t>
            </a:r>
          </a:p>
        </p:txBody>
      </p:sp>
      <p:sp>
        <p:nvSpPr>
          <p:cNvPr id="23" name="TextBox 22"/>
          <p:cNvSpPr txBox="1"/>
          <p:nvPr/>
        </p:nvSpPr>
        <p:spPr>
          <a:xfrm>
            <a:off x="731520" y="4800600"/>
            <a:ext cx="3246120" cy="64008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"מה זה רשימה בפייתון?"</a:t>
            </a:r>
          </a:p>
        </p:txBody>
      </p:sp>
      <p:sp>
        <p:nvSpPr>
          <p:cNvPr id="24" name="TextBox 23"/>
          <p:cNvSpPr txBox="1"/>
          <p:nvPr/>
        </p:nvSpPr>
        <p:spPr>
          <a:xfrm>
            <a:off x="731520" y="5394960"/>
            <a:ext cx="3246120" cy="457200"/>
          </a:xfrm>
          <a:prstGeom prst="rect">
            <a:avLst/>
          </a:prstGeom>
          <a:noFill/>
        </p:spPr>
        <p:txBody>
          <a:bodyPr wrap="square" lIns="45720" rIns="45720" anchor="t">
            <a:spAutoFit/>
          </a:bodyPr>
          <a:lstStyle/>
          <a:p>
            <a:pPr algn="ctr" rtl="1"/>
            <a:r>
              <a:rPr lang="he-IL" sz="1700" b="1" i="0">
                <a:solidFill>
                  <a:srgbClr val="2D9F5C"/>
                </a:solidFill>
                <a:latin typeface="Arial"/>
                <a:cs typeface="Arial"/>
              </a:rPr>
              <a:t>רשימה היא...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תורכם להיות המודל!</a:t>
            </a:r>
          </a:p>
        </p:txBody>
      </p:sp>
      <p:sp>
        <p:nvSpPr>
          <p:cNvPr id="4" name="TextBox 3"/>
          <p:cNvSpPr txBox="1"/>
          <p:nvPr/>
        </p:nvSpPr>
        <p:spPr>
          <a:xfrm>
            <a:off x="8778240" y="1463040"/>
            <a:ext cx="2834640" cy="369332"/>
          </a:xfrm>
          <a:prstGeom prst="rect">
            <a:avLst/>
          </a:prstGeom>
          <a:noFill/>
        </p:spPr>
        <p:txBody>
          <a:bodyPr wrap="square" lIns="45720" rIns="45720" anchor="t">
            <a:spAutoFit/>
          </a:bodyPr>
          <a:lstStyle/>
          <a:p>
            <a:pPr algn="r" rtl="1"/>
            <a:r>
              <a:rPr lang="he-IL" sz="1800" b="1" i="0" dirty="0">
                <a:solidFill>
                  <a:srgbClr val="1B2B34"/>
                </a:solidFill>
                <a:latin typeface="Arial"/>
                <a:cs typeface="Arial"/>
              </a:rPr>
              <a:t>הדוגמאות (נתונים+תשובות):</a:t>
            </a:r>
          </a:p>
        </p:txBody>
      </p:sp>
      <p:sp>
        <p:nvSpPr>
          <p:cNvPr id="5" name="Rounded Rectangle 4"/>
          <p:cNvSpPr/>
          <p:nvPr/>
        </p:nvSpPr>
        <p:spPr>
          <a:xfrm>
            <a:off x="10241280" y="201168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1</a:t>
            </a:r>
          </a:p>
        </p:txBody>
      </p:sp>
      <p:cxnSp>
        <p:nvCxnSpPr>
          <p:cNvPr id="6" name="Connector 5"/>
          <p:cNvCxnSpPr/>
          <p:nvPr/>
        </p:nvCxnSpPr>
        <p:spPr>
          <a:xfrm flipH="1">
            <a:off x="9418320" y="231343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046720" y="201168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3</a:t>
            </a:r>
          </a:p>
        </p:txBody>
      </p:sp>
      <p:sp>
        <p:nvSpPr>
          <p:cNvPr id="8" name="Rounded Rectangle 7"/>
          <p:cNvSpPr/>
          <p:nvPr/>
        </p:nvSpPr>
        <p:spPr>
          <a:xfrm>
            <a:off x="10241280" y="274320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2</a:t>
            </a:r>
          </a:p>
        </p:txBody>
      </p:sp>
      <p:cxnSp>
        <p:nvCxnSpPr>
          <p:cNvPr id="9" name="Connector 8"/>
          <p:cNvCxnSpPr/>
          <p:nvPr/>
        </p:nvCxnSpPr>
        <p:spPr>
          <a:xfrm flipH="1">
            <a:off x="9418320" y="304495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46720" y="274320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5</a:t>
            </a:r>
          </a:p>
        </p:txBody>
      </p:sp>
      <p:sp>
        <p:nvSpPr>
          <p:cNvPr id="11" name="Rounded Rectangle 10"/>
          <p:cNvSpPr/>
          <p:nvPr/>
        </p:nvSpPr>
        <p:spPr>
          <a:xfrm>
            <a:off x="10241280" y="347472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3</a:t>
            </a:r>
          </a:p>
        </p:txBody>
      </p:sp>
      <p:cxnSp>
        <p:nvCxnSpPr>
          <p:cNvPr id="12" name="Connector 11"/>
          <p:cNvCxnSpPr/>
          <p:nvPr/>
        </p:nvCxnSpPr>
        <p:spPr>
          <a:xfrm flipH="1">
            <a:off x="9418320" y="377647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46720" y="347472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7</a:t>
            </a:r>
          </a:p>
        </p:txBody>
      </p:sp>
      <p:sp>
        <p:nvSpPr>
          <p:cNvPr id="14" name="Rounded Rectangle 13"/>
          <p:cNvSpPr/>
          <p:nvPr/>
        </p:nvSpPr>
        <p:spPr>
          <a:xfrm>
            <a:off x="10241280" y="4206240"/>
            <a:ext cx="1280160" cy="594360"/>
          </a:xfrm>
          <a:prstGeom prst="roundRect">
            <a:avLst>
              <a:gd name="adj" fmla="val 8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4</a:t>
            </a:r>
          </a:p>
        </p:txBody>
      </p:sp>
      <p:cxnSp>
        <p:nvCxnSpPr>
          <p:cNvPr id="15" name="Connector 14"/>
          <p:cNvCxnSpPr/>
          <p:nvPr/>
        </p:nvCxnSpPr>
        <p:spPr>
          <a:xfrm flipH="1">
            <a:off x="9418320" y="450799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46720" y="4206240"/>
            <a:ext cx="1280160" cy="594360"/>
          </a:xfrm>
          <a:prstGeom prst="roundRect">
            <a:avLst>
              <a:gd name="adj" fmla="val 8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9</a:t>
            </a:r>
          </a:p>
        </p:txBody>
      </p:sp>
      <p:sp>
        <p:nvSpPr>
          <p:cNvPr id="17" name="Rounded Rectangle 16"/>
          <p:cNvSpPr/>
          <p:nvPr/>
        </p:nvSpPr>
        <p:spPr>
          <a:xfrm>
            <a:off x="10241280" y="4937760"/>
            <a:ext cx="1280160" cy="59436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10</a:t>
            </a:r>
          </a:p>
        </p:txBody>
      </p:sp>
      <p:cxnSp>
        <p:nvCxnSpPr>
          <p:cNvPr id="18" name="Connector 17"/>
          <p:cNvCxnSpPr/>
          <p:nvPr/>
        </p:nvCxnSpPr>
        <p:spPr>
          <a:xfrm flipH="1">
            <a:off x="9418320" y="5239512"/>
            <a:ext cx="731520" cy="0"/>
          </a:xfrm>
          <a:prstGeom prst="line">
            <a:avLst/>
          </a:prstGeom>
          <a:ln w="38100">
            <a:solidFill>
              <a:srgbClr val="5F6F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46720" y="4937760"/>
            <a:ext cx="1280160" cy="594360"/>
          </a:xfrm>
          <a:prstGeom prst="roundRect">
            <a:avLst>
              <a:gd name="adj" fmla="val 8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400" b="1" i="0">
                <a:solidFill>
                  <a:srgbClr val="FFFFFF"/>
                </a:solidFill>
                <a:latin typeface="Arial"/>
                <a:cs typeface="Arial"/>
              </a:rPr>
              <a:t>?</a:t>
            </a:r>
          </a:p>
        </p:txBody>
      </p:sp>
      <p:sp>
        <p:nvSpPr>
          <p:cNvPr id="20" name="Rounded Rectangle 19"/>
          <p:cNvSpPr/>
          <p:nvPr/>
        </p:nvSpPr>
        <p:spPr>
          <a:xfrm>
            <a:off x="548640" y="1554480"/>
            <a:ext cx="6766560" cy="210312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1691640"/>
            <a:ext cx="6217920" cy="1828800"/>
          </a:xfrm>
          <a:prstGeom prst="rect">
            <a:avLst/>
          </a:prstGeom>
          <a:noFill/>
        </p:spPr>
        <p:txBody>
          <a:bodyPr wrap="square" lIns="45720" rIns="45720" anchor="t">
            <a:spAutoFit/>
          </a:bodyPr>
          <a:lstStyle/>
          <a:p>
            <a:pPr algn="r" rtl="1">
              <a:spcAft>
                <a:spcPts val="1000"/>
              </a:spcAft>
            </a:pPr>
            <a:r>
              <a:rPr lang="he-IL" sz="1900" b="1" i="0">
                <a:solidFill>
                  <a:srgbClr val="1B2B34"/>
                </a:solidFill>
                <a:latin typeface="Arial"/>
                <a:cs typeface="Arial"/>
              </a:rPr>
              <a:t>1. </a:t>
            </a:r>
            <a:r>
              <a:rPr lang="he-IL" sz="1900" b="0" i="0">
                <a:solidFill>
                  <a:srgbClr val="1B2B34"/>
                </a:solidFill>
                <a:latin typeface="Arial"/>
                <a:cs typeface="Arial"/>
              </a:rPr>
              <a:t>מה החוק שהופך את המספר הכחול לירוק?</a:t>
            </a:r>
          </a:p>
          <a:p>
            <a:pPr algn="r" rtl="1">
              <a:spcAft>
                <a:spcPts val="1000"/>
              </a:spcAft>
            </a:pPr>
            <a:r>
              <a:rPr lang="he-IL" sz="1900" b="1" i="0">
                <a:solidFill>
                  <a:srgbClr val="1B2B34"/>
                </a:solidFill>
                <a:latin typeface="Arial"/>
                <a:cs typeface="Arial"/>
              </a:rPr>
              <a:t>2. </a:t>
            </a:r>
            <a:r>
              <a:rPr lang="he-IL" sz="1900" b="0" i="0">
                <a:solidFill>
                  <a:srgbClr val="1B2B34"/>
                </a:solidFill>
                <a:latin typeface="Arial"/>
                <a:cs typeface="Arial"/>
              </a:rPr>
              <a:t>מה התשובה עבור 10?</a:t>
            </a:r>
          </a:p>
          <a:p>
            <a:pPr algn="r" rtl="1">
              <a:spcAft>
                <a:spcPts val="1000"/>
              </a:spcAft>
            </a:pPr>
            <a:r>
              <a:rPr lang="he-IL" sz="1900" b="1" i="0">
                <a:solidFill>
                  <a:srgbClr val="1B2B34"/>
                </a:solidFill>
                <a:latin typeface="Arial"/>
                <a:cs typeface="Arial"/>
              </a:rPr>
              <a:t>3. </a:t>
            </a:r>
            <a:r>
              <a:rPr lang="he-IL" sz="1900" b="0" i="0">
                <a:solidFill>
                  <a:srgbClr val="1B2B34"/>
                </a:solidFill>
                <a:latin typeface="Arial"/>
                <a:cs typeface="Arial"/>
              </a:rPr>
              <a:t>כמה דוגמאות הייתם צריכים כדי להיות בטוחים?</a:t>
            </a:r>
          </a:p>
        </p:txBody>
      </p:sp>
      <p:sp>
        <p:nvSpPr>
          <p:cNvPr id="22" name="Rounded Rectangle 21"/>
          <p:cNvSpPr/>
          <p:nvPr/>
        </p:nvSpPr>
        <p:spPr>
          <a:xfrm>
            <a:off x="548640" y="3931920"/>
            <a:ext cx="6766560" cy="19202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69080"/>
            <a:ext cx="6217920" cy="1645920"/>
          </a:xfrm>
          <a:prstGeom prst="rect">
            <a:avLst/>
          </a:prstGeom>
          <a:noFill/>
        </p:spPr>
        <p:txBody>
          <a:bodyPr wrap="square" lIns="45720" rIns="45720" anchor="t">
            <a:spAutoFit/>
          </a:bodyPr>
          <a:lstStyle/>
          <a:p>
            <a:pPr algn="r" rtl="1">
              <a:spcAft>
                <a:spcPts val="600"/>
              </a:spcAft>
            </a:pPr>
            <a:r>
              <a:rPr lang="he-IL" sz="1800" b="1" i="0">
                <a:solidFill>
                  <a:srgbClr val="1B4332"/>
                </a:solidFill>
                <a:latin typeface="Arial"/>
                <a:cs typeface="Arial"/>
              </a:rPr>
              <a:t>זה בדיוק מה שמודל עושה:</a:t>
            </a:r>
          </a:p>
          <a:p>
            <a:pPr algn="r" rtl="1">
              <a:spcAft>
                <a:spcPts val="600"/>
              </a:spcAft>
            </a:pPr>
            <a:r>
              <a:rPr lang="he-IL" sz="1800" b="0" i="0">
                <a:solidFill>
                  <a:srgbClr val="1B2B34"/>
                </a:solidFill>
                <a:latin typeface="Arial"/>
                <a:cs typeface="Arial"/>
              </a:rPr>
              <a:t>מוצא את החוק מתוך דוגמאות - ואז נותן תשובה גם לדוגמה חדשה שהוא לא ראה אף פעם.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למידת מכונה עם רשת נוירונים: מוח מלאכותי</a:t>
            </a:r>
          </a:p>
        </p:txBody>
      </p:sp>
      <p:sp>
        <p:nvSpPr>
          <p:cNvPr id="4" name="Rounded Rectangle 3"/>
          <p:cNvSpPr/>
          <p:nvPr/>
        </p:nvSpPr>
        <p:spPr>
          <a:xfrm>
            <a:off x="6675120" y="1417320"/>
            <a:ext cx="496519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52760" y="1801368"/>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6858000" y="1600200"/>
            <a:ext cx="36576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במוח</a:t>
            </a:r>
          </a:p>
        </p:txBody>
      </p:sp>
      <p:sp>
        <p:nvSpPr>
          <p:cNvPr id="7" name="TextBox 6"/>
          <p:cNvSpPr txBox="1"/>
          <p:nvPr/>
        </p:nvSpPr>
        <p:spPr>
          <a:xfrm>
            <a:off x="6858000" y="2075688"/>
            <a:ext cx="36576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מיליארדי תאי עצב (נוירונים) מחוברים זה לזה ומעבירים אותות</a:t>
            </a:r>
          </a:p>
        </p:txBody>
      </p:sp>
      <p:sp>
        <p:nvSpPr>
          <p:cNvPr id="8" name="Rounded Rectangle 7"/>
          <p:cNvSpPr/>
          <p:nvPr/>
        </p:nvSpPr>
        <p:spPr>
          <a:xfrm>
            <a:off x="6675120" y="3246120"/>
            <a:ext cx="496519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652760" y="3630168"/>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0" name="TextBox 9"/>
          <p:cNvSpPr txBox="1"/>
          <p:nvPr/>
        </p:nvSpPr>
        <p:spPr>
          <a:xfrm>
            <a:off x="6858000" y="3429000"/>
            <a:ext cx="36576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במחשב</a:t>
            </a:r>
          </a:p>
        </p:txBody>
      </p:sp>
      <p:sp>
        <p:nvSpPr>
          <p:cNvPr id="11" name="TextBox 10"/>
          <p:cNvSpPr txBox="1"/>
          <p:nvPr/>
        </p:nvSpPr>
        <p:spPr>
          <a:xfrm>
            <a:off x="6858000" y="3904487"/>
            <a:ext cx="36576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נוירונים מלאכותיים: יחידות קטנות שמקבלות מספרים ומעבירות מספר הלאה</a:t>
            </a:r>
          </a:p>
        </p:txBody>
      </p:sp>
      <p:cxnSp>
        <p:nvCxnSpPr>
          <p:cNvPr id="12" name="Connector 11"/>
          <p:cNvCxnSpPr/>
          <p:nvPr/>
        </p:nvCxnSpPr>
        <p:spPr>
          <a:xfrm flipH="1" flipV="1">
            <a:off x="3520439" y="178308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520439" y="219456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520439" y="219456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520439" y="2194560"/>
            <a:ext cx="1874520" cy="205740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520439" y="178308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520439" y="260604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520439" y="301752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520439" y="301752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3520439" y="1783080"/>
            <a:ext cx="1874520" cy="205740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520439" y="2606040"/>
            <a:ext cx="1874520" cy="123444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520439" y="342900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520439" y="3840480"/>
            <a:ext cx="1874520" cy="41148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645920" y="178308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645920" y="1783080"/>
            <a:ext cx="1874519" cy="164592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45920" y="2606040"/>
            <a:ext cx="1874519" cy="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45920" y="260604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645920" y="260604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645920" y="3429000"/>
            <a:ext cx="1874519" cy="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645920" y="2606040"/>
            <a:ext cx="1874519" cy="164592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645920" y="3429000"/>
            <a:ext cx="1874519" cy="822960"/>
          </a:xfrm>
          <a:prstGeom prst="line">
            <a:avLst/>
          </a:prstGeom>
          <a:ln w="19050">
            <a:solidFill>
              <a:srgbClr val="B8C4C9"/>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120640" y="192024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120640" y="274320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120640" y="3566160"/>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246120" y="150876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246120" y="233172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246120" y="315468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6120" y="397764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371600" y="233172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371600" y="315468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2000" y="4663440"/>
            <a:ext cx="1645920" cy="365760"/>
          </a:xfrm>
          <a:prstGeom prst="rect">
            <a:avLst/>
          </a:prstGeom>
          <a:noFill/>
        </p:spPr>
        <p:txBody>
          <a:bodyPr wrap="square" lIns="45720" rIns="45720" anchor="t">
            <a:spAutoFit/>
          </a:bodyPr>
          <a:lstStyle/>
          <a:p>
            <a:pPr algn="ctr" rtl="1"/>
            <a:r>
              <a:rPr lang="he-IL" sz="1500" b="1" i="0">
                <a:solidFill>
                  <a:srgbClr val="118AB2"/>
                </a:solidFill>
                <a:latin typeface="Arial"/>
                <a:cs typeface="Arial"/>
              </a:rPr>
              <a:t>קלט</a:t>
            </a:r>
          </a:p>
        </p:txBody>
      </p:sp>
      <p:sp>
        <p:nvSpPr>
          <p:cNvPr id="42" name="TextBox 41"/>
          <p:cNvSpPr txBox="1"/>
          <p:nvPr/>
        </p:nvSpPr>
        <p:spPr>
          <a:xfrm>
            <a:off x="2697480" y="4663440"/>
            <a:ext cx="1645920" cy="365760"/>
          </a:xfrm>
          <a:prstGeom prst="rect">
            <a:avLst/>
          </a:prstGeom>
          <a:noFill/>
        </p:spPr>
        <p:txBody>
          <a:bodyPr wrap="square" lIns="45720" rIns="45720" anchor="t">
            <a:spAutoFit/>
          </a:bodyPr>
          <a:lstStyle/>
          <a:p>
            <a:pPr algn="ctr" rtl="1"/>
            <a:r>
              <a:rPr lang="he-IL" sz="1500" b="1" i="0">
                <a:solidFill>
                  <a:srgbClr val="FF9F1C"/>
                </a:solidFill>
                <a:latin typeface="Arial"/>
                <a:cs typeface="Arial"/>
              </a:rPr>
              <a:t>שכבה נסתרת</a:t>
            </a:r>
          </a:p>
        </p:txBody>
      </p:sp>
      <p:sp>
        <p:nvSpPr>
          <p:cNvPr id="43" name="TextBox 42"/>
          <p:cNvSpPr txBox="1"/>
          <p:nvPr/>
        </p:nvSpPr>
        <p:spPr>
          <a:xfrm>
            <a:off x="822960" y="4663440"/>
            <a:ext cx="1645920" cy="365760"/>
          </a:xfrm>
          <a:prstGeom prst="rect">
            <a:avLst/>
          </a:prstGeom>
          <a:noFill/>
        </p:spPr>
        <p:txBody>
          <a:bodyPr wrap="square" lIns="45720" rIns="45720" anchor="t">
            <a:spAutoFit/>
          </a:bodyPr>
          <a:lstStyle/>
          <a:p>
            <a:pPr algn="ctr" rtl="1"/>
            <a:r>
              <a:rPr lang="he-IL" sz="1500" b="1" i="0">
                <a:solidFill>
                  <a:srgbClr val="EF476F"/>
                </a:solidFill>
                <a:latin typeface="Arial"/>
                <a:cs typeface="Arial"/>
              </a:rPr>
              <a:t>פלט</a:t>
            </a:r>
          </a:p>
        </p:txBody>
      </p:sp>
      <p:sp>
        <p:nvSpPr>
          <p:cNvPr id="44" name="Rounded Rectangle 43"/>
          <p:cNvSpPr/>
          <p:nvPr/>
        </p:nvSpPr>
        <p:spPr>
          <a:xfrm>
            <a:off x="548640" y="5166360"/>
            <a:ext cx="11091672" cy="91440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5212080"/>
            <a:ext cx="10607040" cy="822960"/>
          </a:xfrm>
          <a:prstGeom prst="rect">
            <a:avLst/>
          </a:prstGeom>
          <a:noFill/>
        </p:spPr>
        <p:txBody>
          <a:bodyPr wrap="square" lIns="45720" rIns="45720" anchor="ctr">
            <a:spAutoFit/>
          </a:bodyPr>
          <a:lstStyle/>
          <a:p>
            <a:pPr algn="r" rtl="1"/>
            <a:r>
              <a:rPr lang="he-IL" sz="1700" b="1" i="0">
                <a:solidFill>
                  <a:srgbClr val="1B2B34"/>
                </a:solidFill>
                <a:latin typeface="Arial"/>
                <a:cs typeface="Arial"/>
              </a:rPr>
              <a:t>רשת נוירונים </a:t>
            </a:r>
            <a:r>
              <a:rPr lang="he-IL" sz="1700" b="0" i="0">
                <a:solidFill>
                  <a:srgbClr val="1B2B34"/>
                </a:solidFill>
                <a:latin typeface="Arial"/>
                <a:cs typeface="Arial"/>
              </a:rPr>
              <a:t>= הרבה נוירונים מלאכותיים שמחוברים בשכבות. באימון היא מחזקת או מחלישה את החיבורים - וכך לומדת.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9</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en-US" sz="3600" b="1" i="0" dirty="0">
                <a:solidFill>
                  <a:srgbClr val="1B4332"/>
                </a:solidFill>
                <a:latin typeface="Arial"/>
                <a:cs typeface="Arial"/>
              </a:rPr>
              <a:t>LLM</a:t>
            </a:r>
            <a:r>
              <a:rPr lang="he-IL" sz="3600" b="1" i="0" dirty="0">
                <a:solidFill>
                  <a:srgbClr val="1B4332"/>
                </a:solidFill>
                <a:latin typeface="Arial"/>
                <a:cs typeface="Arial"/>
              </a:rPr>
              <a:t>: מודל שמאומן לנחש את המילה הבאה</a:t>
            </a:r>
          </a:p>
        </p:txBody>
      </p:sp>
      <p:sp>
        <p:nvSpPr>
          <p:cNvPr id="4" name="Rounded Rectangle 3"/>
          <p:cNvSpPr/>
          <p:nvPr/>
        </p:nvSpPr>
        <p:spPr>
          <a:xfrm>
            <a:off x="4754880" y="1463040"/>
            <a:ext cx="6858000" cy="914400"/>
          </a:xfrm>
          <a:prstGeom prst="roundRect">
            <a:avLst>
              <a:gd name="adj" fmla="val 20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1B2B34"/>
                </a:solidFill>
                <a:latin typeface="Arial"/>
                <a:cs typeface="Arial"/>
              </a:rPr>
              <a:t>החתול ישב על ה</a:t>
            </a:r>
            <a:r>
              <a:rPr lang="he-IL" sz="2800" b="1" i="0">
                <a:solidFill>
                  <a:srgbClr val="EF476F"/>
                </a:solidFill>
                <a:latin typeface="Arial"/>
                <a:cs typeface="Arial"/>
              </a:rPr>
              <a:t>_____</a:t>
            </a:r>
          </a:p>
        </p:txBody>
      </p:sp>
      <p:sp>
        <p:nvSpPr>
          <p:cNvPr id="5" name="TextBox 4"/>
          <p:cNvSpPr txBox="1"/>
          <p:nvPr/>
        </p:nvSpPr>
        <p:spPr>
          <a:xfrm>
            <a:off x="10058400" y="2743200"/>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שטיח</a:t>
            </a:r>
          </a:p>
        </p:txBody>
      </p:sp>
      <p:sp>
        <p:nvSpPr>
          <p:cNvPr id="6" name="Rounded Rectangle 5"/>
          <p:cNvSpPr/>
          <p:nvPr/>
        </p:nvSpPr>
        <p:spPr>
          <a:xfrm>
            <a:off x="5440680" y="2807208"/>
            <a:ext cx="4526280" cy="347472"/>
          </a:xfrm>
          <a:prstGeom prst="roundRect">
            <a:avLst>
              <a:gd name="adj" fmla="val 3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34840" y="2743200"/>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45%</a:t>
            </a:r>
          </a:p>
        </p:txBody>
      </p:sp>
      <p:sp>
        <p:nvSpPr>
          <p:cNvPr id="8" name="TextBox 7"/>
          <p:cNvSpPr txBox="1"/>
          <p:nvPr/>
        </p:nvSpPr>
        <p:spPr>
          <a:xfrm>
            <a:off x="10058400" y="3310128"/>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כיסא</a:t>
            </a:r>
          </a:p>
        </p:txBody>
      </p:sp>
      <p:sp>
        <p:nvSpPr>
          <p:cNvPr id="9" name="Rounded Rectangle 8"/>
          <p:cNvSpPr/>
          <p:nvPr/>
        </p:nvSpPr>
        <p:spPr>
          <a:xfrm>
            <a:off x="7452360" y="3374136"/>
            <a:ext cx="251460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3310128"/>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25%</a:t>
            </a:r>
          </a:p>
        </p:txBody>
      </p:sp>
      <p:sp>
        <p:nvSpPr>
          <p:cNvPr id="11" name="TextBox 10"/>
          <p:cNvSpPr txBox="1"/>
          <p:nvPr/>
        </p:nvSpPr>
        <p:spPr>
          <a:xfrm>
            <a:off x="10058400" y="3877056"/>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גג</a:t>
            </a:r>
          </a:p>
        </p:txBody>
      </p:sp>
      <p:sp>
        <p:nvSpPr>
          <p:cNvPr id="12" name="Rounded Rectangle 11"/>
          <p:cNvSpPr/>
          <p:nvPr/>
        </p:nvSpPr>
        <p:spPr>
          <a:xfrm>
            <a:off x="8458200" y="3941064"/>
            <a:ext cx="150876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52360" y="3877056"/>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15%</a:t>
            </a:r>
          </a:p>
        </p:txBody>
      </p:sp>
      <p:sp>
        <p:nvSpPr>
          <p:cNvPr id="14" name="TextBox 13"/>
          <p:cNvSpPr txBox="1"/>
          <p:nvPr/>
        </p:nvSpPr>
        <p:spPr>
          <a:xfrm>
            <a:off x="10058400" y="4443983"/>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ספה</a:t>
            </a:r>
          </a:p>
        </p:txBody>
      </p:sp>
      <p:sp>
        <p:nvSpPr>
          <p:cNvPr id="15" name="Rounded Rectangle 14"/>
          <p:cNvSpPr/>
          <p:nvPr/>
        </p:nvSpPr>
        <p:spPr>
          <a:xfrm>
            <a:off x="8961120" y="4507992"/>
            <a:ext cx="100584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0" y="4443983"/>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10%</a:t>
            </a:r>
          </a:p>
        </p:txBody>
      </p:sp>
      <p:sp>
        <p:nvSpPr>
          <p:cNvPr id="17" name="TextBox 16"/>
          <p:cNvSpPr txBox="1"/>
          <p:nvPr/>
        </p:nvSpPr>
        <p:spPr>
          <a:xfrm>
            <a:off x="10058400" y="5010912"/>
            <a:ext cx="1554480" cy="457200"/>
          </a:xfrm>
          <a:prstGeom prst="rect">
            <a:avLst/>
          </a:prstGeom>
          <a:noFill/>
        </p:spPr>
        <p:txBody>
          <a:bodyPr wrap="square" lIns="45720" rIns="45720" anchor="ctr">
            <a:spAutoFit/>
          </a:bodyPr>
          <a:lstStyle/>
          <a:p>
            <a:pPr algn="r" rtl="1"/>
            <a:r>
              <a:rPr lang="he-IL" sz="2000" b="1" i="0">
                <a:solidFill>
                  <a:srgbClr val="1B2B34"/>
                </a:solidFill>
                <a:latin typeface="Arial"/>
                <a:cs typeface="Arial"/>
              </a:rPr>
              <a:t>ירח</a:t>
            </a:r>
          </a:p>
        </p:txBody>
      </p:sp>
      <p:sp>
        <p:nvSpPr>
          <p:cNvPr id="18" name="Rounded Rectangle 17"/>
          <p:cNvSpPr/>
          <p:nvPr/>
        </p:nvSpPr>
        <p:spPr>
          <a:xfrm>
            <a:off x="9464040" y="5074920"/>
            <a:ext cx="502920" cy="347472"/>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8200" y="5010912"/>
            <a:ext cx="914400" cy="457200"/>
          </a:xfrm>
          <a:prstGeom prst="rect">
            <a:avLst/>
          </a:prstGeom>
          <a:noFill/>
        </p:spPr>
        <p:txBody>
          <a:bodyPr wrap="square" lIns="45720" rIns="45720" anchor="ctr">
            <a:spAutoFit/>
          </a:bodyPr>
          <a:lstStyle/>
          <a:p>
            <a:pPr algn="l" rtl="0"/>
            <a:r>
              <a:rPr lang="en-US" sz="1600" b="0" i="0">
                <a:solidFill>
                  <a:srgbClr val="5F6F78"/>
                </a:solidFill>
                <a:latin typeface="Arial"/>
                <a:cs typeface="Arial"/>
              </a:rPr>
              <a:t>5%</a:t>
            </a:r>
          </a:p>
        </p:txBody>
      </p:sp>
      <p:sp>
        <p:nvSpPr>
          <p:cNvPr id="20" name="Rounded Rectangle 19"/>
          <p:cNvSpPr/>
          <p:nvPr/>
        </p:nvSpPr>
        <p:spPr>
          <a:xfrm>
            <a:off x="548640" y="1463040"/>
            <a:ext cx="3931920" cy="91440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Arial"/>
                <a:cs typeface="Arial"/>
              </a:rPr>
              <a:t>LLM = Large Language Model</a:t>
            </a:r>
          </a:p>
          <a:p>
            <a:pPr algn="ctr" rtl="0"/>
            <a:r>
              <a:rPr lang="en-US" sz="1500" b="1" i="0">
                <a:solidFill>
                  <a:srgbClr val="FFFFFF"/>
                </a:solidFill>
                <a:latin typeface="Arial"/>
                <a:cs typeface="Arial"/>
              </a:rPr>
              <a:t>מודל שפה גדול</a:t>
            </a:r>
          </a:p>
        </p:txBody>
      </p:sp>
      <p:sp>
        <p:nvSpPr>
          <p:cNvPr id="21" name="TextBox 20"/>
          <p:cNvSpPr txBox="1"/>
          <p:nvPr/>
        </p:nvSpPr>
        <p:spPr>
          <a:xfrm>
            <a:off x="548640" y="5715000"/>
            <a:ext cx="11091672" cy="548640"/>
          </a:xfrm>
          <a:prstGeom prst="rect">
            <a:avLst/>
          </a:prstGeom>
          <a:noFill/>
        </p:spPr>
        <p:txBody>
          <a:bodyPr wrap="square" lIns="45720" rIns="45720" anchor="t">
            <a:spAutoFit/>
          </a:bodyPr>
          <a:lstStyle/>
          <a:p>
            <a:pPr algn="ctr" rtl="1"/>
            <a:r>
              <a:rPr lang="he-IL" sz="1800" b="0" i="0">
                <a:solidFill>
                  <a:srgbClr val="5F6F78"/>
                </a:solidFill>
                <a:latin typeface="Arial"/>
                <a:cs typeface="Arial"/>
              </a:rPr>
              <a:t>בוחרים מילה, מוסיפים אותה - ומנחשים שוב. כך נבנית תשובה שלמה, מילה אחרי מילה</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10</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הופך </a:t>
            </a:r>
            <a:r>
              <a:rPr lang="en-US" sz="3600" b="1" i="0">
                <a:solidFill>
                  <a:srgbClr val="1B4332"/>
                </a:solidFill>
                <a:latin typeface="Arial"/>
                <a:cs typeface="Arial"/>
              </a:rPr>
              <a:t>LLM</a:t>
            </a:r>
            <a:r>
              <a:rPr lang="he-IL" sz="3600" b="1" i="0">
                <a:solidFill>
                  <a:srgbClr val="1B4332"/>
                </a:solidFill>
                <a:latin typeface="Arial"/>
                <a:cs typeface="Arial"/>
              </a:rPr>
              <a:t> לחכם כל כך?</a:t>
            </a:r>
          </a:p>
        </p:txBody>
      </p:sp>
      <p:sp>
        <p:nvSpPr>
          <p:cNvPr id="4" name="Rounded Rectangle 3"/>
          <p:cNvSpPr/>
          <p:nvPr/>
        </p:nvSpPr>
        <p:spPr>
          <a:xfrm>
            <a:off x="6263640" y="13716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698480" y="1737360"/>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6446520" y="15544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המון נתונים</a:t>
            </a:r>
          </a:p>
        </p:txBody>
      </p:sp>
      <p:sp>
        <p:nvSpPr>
          <p:cNvPr id="7" name="TextBox 6"/>
          <p:cNvSpPr txBox="1"/>
          <p:nvPr/>
        </p:nvSpPr>
        <p:spPr>
          <a:xfrm>
            <a:off x="6446520" y="2029967"/>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למד מכמעט כל הטקסט באינטרנט: ספרים, ויקיפדיה, קוד</a:t>
            </a:r>
          </a:p>
        </p:txBody>
      </p:sp>
      <p:sp>
        <p:nvSpPr>
          <p:cNvPr id="8" name="Rounded Rectangle 7"/>
          <p:cNvSpPr/>
          <p:nvPr/>
        </p:nvSpPr>
        <p:spPr>
          <a:xfrm>
            <a:off x="548640" y="13716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83479" y="1737360"/>
            <a:ext cx="822960" cy="8229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0" name="TextBox 9"/>
          <p:cNvSpPr txBox="1"/>
          <p:nvPr/>
        </p:nvSpPr>
        <p:spPr>
          <a:xfrm>
            <a:off x="731520" y="15544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רשת ענקית</a:t>
            </a:r>
          </a:p>
        </p:txBody>
      </p:sp>
      <p:sp>
        <p:nvSpPr>
          <p:cNvPr id="11" name="TextBox 10"/>
          <p:cNvSpPr txBox="1"/>
          <p:nvPr/>
        </p:nvSpPr>
        <p:spPr>
          <a:xfrm>
            <a:off x="731520" y="2029967"/>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רשת עמוקה עם מאות מיליארדי משקלים</a:t>
            </a:r>
          </a:p>
        </p:txBody>
      </p:sp>
      <p:sp>
        <p:nvSpPr>
          <p:cNvPr id="12" name="Rounded Rectangle 11"/>
          <p:cNvSpPr/>
          <p:nvPr/>
        </p:nvSpPr>
        <p:spPr>
          <a:xfrm>
            <a:off x="6263640" y="32004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698480" y="3566160"/>
            <a:ext cx="822960" cy="8229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4" name="TextBox 13"/>
          <p:cNvSpPr txBox="1"/>
          <p:nvPr/>
        </p:nvSpPr>
        <p:spPr>
          <a:xfrm>
            <a:off x="6446520" y="33832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טריק "תשומת לב"</a:t>
            </a:r>
          </a:p>
        </p:txBody>
      </p:sp>
      <p:sp>
        <p:nvSpPr>
          <p:cNvPr id="15" name="TextBox 14"/>
          <p:cNvSpPr txBox="1"/>
          <p:nvPr/>
        </p:nvSpPr>
        <p:spPr>
          <a:xfrm>
            <a:off x="6446520" y="3858768"/>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כל מילה מסתכלת על כל המילים האחרות כדי להבין הקשר (</a:t>
            </a:r>
            <a:r>
              <a:rPr lang="en-US" sz="1500" b="0" i="0">
                <a:solidFill>
                  <a:srgbClr val="5F6F78"/>
                </a:solidFill>
                <a:latin typeface="Arial"/>
                <a:cs typeface="Arial"/>
              </a:rPr>
              <a:t>Transformer)</a:t>
            </a:r>
          </a:p>
        </p:txBody>
      </p:sp>
      <p:sp>
        <p:nvSpPr>
          <p:cNvPr id="16" name="Rounded Rectangle 15"/>
          <p:cNvSpPr/>
          <p:nvPr/>
        </p:nvSpPr>
        <p:spPr>
          <a:xfrm>
            <a:off x="548640" y="3200400"/>
            <a:ext cx="5376672" cy="16002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83479" y="3566160"/>
            <a:ext cx="822960" cy="82296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8" name="TextBox 17"/>
          <p:cNvSpPr txBox="1"/>
          <p:nvPr/>
        </p:nvSpPr>
        <p:spPr>
          <a:xfrm>
            <a:off x="731520" y="3383280"/>
            <a:ext cx="4114800" cy="457200"/>
          </a:xfrm>
          <a:prstGeom prst="rect">
            <a:avLst/>
          </a:prstGeom>
          <a:noFill/>
        </p:spPr>
        <p:txBody>
          <a:bodyPr wrap="square" lIns="45720" rIns="45720" anchor="t">
            <a:spAutoFit/>
          </a:bodyPr>
          <a:lstStyle/>
          <a:p>
            <a:pPr algn="r" rtl="1"/>
            <a:r>
              <a:rPr lang="he-IL" sz="2100" b="1" i="0">
                <a:solidFill>
                  <a:srgbClr val="1B2B34"/>
                </a:solidFill>
                <a:latin typeface="Arial"/>
                <a:cs typeface="Arial"/>
              </a:rPr>
              <a:t>אימון להיות עוזר</a:t>
            </a:r>
          </a:p>
        </p:txBody>
      </p:sp>
      <p:sp>
        <p:nvSpPr>
          <p:cNvPr id="19" name="TextBox 18"/>
          <p:cNvSpPr txBox="1"/>
          <p:nvPr/>
        </p:nvSpPr>
        <p:spPr>
          <a:xfrm>
            <a:off x="731520" y="3858768"/>
            <a:ext cx="4114800" cy="8229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אנשים דירגו תשובות - והמודל למד לענות בצורה מועילה ונעימה</a:t>
            </a:r>
          </a:p>
        </p:txBody>
      </p:sp>
      <p:sp>
        <p:nvSpPr>
          <p:cNvPr id="20" name="Rounded Rectangle 19"/>
          <p:cNvSpPr/>
          <p:nvPr/>
        </p:nvSpPr>
        <p:spPr>
          <a:xfrm>
            <a:off x="548640" y="5166360"/>
            <a:ext cx="11091672" cy="868680"/>
          </a:xfrm>
          <a:prstGeom prst="roundRect">
            <a:avLst>
              <a:gd name="adj" fmla="val 1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81360" y="5349240"/>
            <a:ext cx="512064" cy="512064"/>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22" name="TextBox 21"/>
          <p:cNvSpPr txBox="1"/>
          <p:nvPr/>
        </p:nvSpPr>
        <p:spPr>
          <a:xfrm>
            <a:off x="822960" y="5212080"/>
            <a:ext cx="9875520" cy="77724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אבל: </a:t>
            </a:r>
            <a:r>
              <a:rPr lang="en-US" sz="1800" b="0" i="0">
                <a:solidFill>
                  <a:srgbClr val="1B2B34"/>
                </a:solidFill>
                <a:latin typeface="Arial"/>
                <a:cs typeface="Arial"/>
              </a:rPr>
              <a:t>LLM</a:t>
            </a:r>
            <a:r>
              <a:rPr lang="he-IL" sz="1800" b="0" i="0">
                <a:solidFill>
                  <a:srgbClr val="1B2B34"/>
                </a:solidFill>
                <a:latin typeface="Arial"/>
                <a:cs typeface="Arial"/>
              </a:rPr>
              <a:t> לא באמת "יודע" - הוא מנחש. לפעמים הוא טועה, ובביטחון מלא!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תרגיל 1: שואלים את </a:t>
            </a:r>
            <a:r>
              <a:rPr lang="en-US" sz="3600" b="1" i="0">
                <a:solidFill>
                  <a:srgbClr val="1B4332"/>
                </a:solidFill>
                <a:latin typeface="Arial"/>
                <a:cs typeface="Arial"/>
              </a:rPr>
              <a:t>Gemini</a:t>
            </a:r>
          </a:p>
        </p:txBody>
      </p:sp>
      <p:sp>
        <p:nvSpPr>
          <p:cNvPr id="4" name="Oval 3"/>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5" name="TextBox 4"/>
          <p:cNvSpPr txBox="1"/>
          <p:nvPr/>
        </p:nvSpPr>
        <p:spPr>
          <a:xfrm>
            <a:off x="6309360" y="1463040"/>
            <a:ext cx="452628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היכנסו לאתר </a:t>
            </a:r>
            <a:r>
              <a:rPr lang="en-US" sz="1700" b="0" i="0">
                <a:solidFill>
                  <a:srgbClr val="1B2B34"/>
                </a:solidFill>
                <a:latin typeface="Arial"/>
                <a:cs typeface="Arial"/>
              </a:rPr>
              <a:t>gemini.google.com</a:t>
            </a:r>
          </a:p>
        </p:txBody>
      </p:sp>
      <p:sp>
        <p:nvSpPr>
          <p:cNvPr id="6" name="Oval 5"/>
          <p:cNvSpPr/>
          <p:nvPr/>
        </p:nvSpPr>
        <p:spPr>
          <a:xfrm>
            <a:off x="10972800" y="242316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7" name="TextBox 6"/>
          <p:cNvSpPr txBox="1"/>
          <p:nvPr/>
        </p:nvSpPr>
        <p:spPr>
          <a:xfrm>
            <a:off x="6309360" y="2423160"/>
            <a:ext cx="452628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העתיקו את השאלה בדיוק כמו שהיא כתובה ושלחו</a:t>
            </a:r>
          </a:p>
        </p:txBody>
      </p:sp>
      <p:sp>
        <p:nvSpPr>
          <p:cNvPr id="8" name="Oval 7"/>
          <p:cNvSpPr/>
          <p:nvPr/>
        </p:nvSpPr>
        <p:spPr>
          <a:xfrm>
            <a:off x="10972800" y="338328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9" name="TextBox 8"/>
          <p:cNvSpPr txBox="1"/>
          <p:nvPr/>
        </p:nvSpPr>
        <p:spPr>
          <a:xfrm>
            <a:off x="6309360" y="3418404"/>
            <a:ext cx="4526280" cy="615553"/>
          </a:xfrm>
          <a:prstGeom prst="rect">
            <a:avLst/>
          </a:prstGeom>
          <a:noFill/>
        </p:spPr>
        <p:txBody>
          <a:bodyPr wrap="square" lIns="45720" rIns="45720" anchor="ctr">
            <a:spAutoFit/>
          </a:bodyPr>
          <a:lstStyle/>
          <a:p>
            <a:pPr algn="r" rtl="1"/>
            <a:r>
              <a:rPr lang="he-IL" sz="1700" b="0" i="0" dirty="0">
                <a:solidFill>
                  <a:srgbClr val="1B2B34"/>
                </a:solidFill>
                <a:latin typeface="Arial"/>
                <a:cs typeface="Arial"/>
              </a:rPr>
              <a:t>שמרו את התשובה בקובץ - נצטרך אותה בתרגיל הבא!</a:t>
            </a:r>
          </a:p>
        </p:txBody>
      </p:sp>
      <p:sp>
        <p:nvSpPr>
          <p:cNvPr id="10" name="Oval 9"/>
          <p:cNvSpPr/>
          <p:nvPr/>
        </p:nvSpPr>
        <p:spPr>
          <a:xfrm>
            <a:off x="10972800" y="434340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4</a:t>
            </a:r>
          </a:p>
        </p:txBody>
      </p:sp>
      <p:sp>
        <p:nvSpPr>
          <p:cNvPr id="11" name="TextBox 10"/>
          <p:cNvSpPr txBox="1"/>
          <p:nvPr/>
        </p:nvSpPr>
        <p:spPr>
          <a:xfrm>
            <a:off x="6309360" y="4509328"/>
            <a:ext cx="4526280" cy="353943"/>
          </a:xfrm>
          <a:prstGeom prst="rect">
            <a:avLst/>
          </a:prstGeom>
          <a:noFill/>
        </p:spPr>
        <p:txBody>
          <a:bodyPr wrap="square" lIns="45720" rIns="45720" anchor="ctr">
            <a:spAutoFit/>
          </a:bodyPr>
          <a:lstStyle/>
          <a:p>
            <a:pPr algn="r" rtl="1"/>
            <a:r>
              <a:rPr lang="he-IL" sz="1700" dirty="0">
                <a:solidFill>
                  <a:srgbClr val="1B2B34"/>
                </a:solidFill>
                <a:latin typeface="Arial"/>
                <a:cs typeface="Arial"/>
              </a:rPr>
              <a:t>הריצו את הקוד וודאו שג'מיני לא טעה</a:t>
            </a:r>
          </a:p>
        </p:txBody>
      </p:sp>
      <p:sp>
        <p:nvSpPr>
          <p:cNvPr id="12" name="Rounded Rectangle 11"/>
          <p:cNvSpPr/>
          <p:nvPr/>
        </p:nvSpPr>
        <p:spPr>
          <a:xfrm>
            <a:off x="548640" y="1463040"/>
            <a:ext cx="5303520" cy="36576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554480"/>
            <a:ext cx="4937760" cy="365760"/>
          </a:xfrm>
          <a:prstGeom prst="rect">
            <a:avLst/>
          </a:prstGeom>
          <a:noFill/>
        </p:spPr>
        <p:txBody>
          <a:bodyPr wrap="square" lIns="45720" rIns="45720" anchor="t">
            <a:spAutoFit/>
          </a:bodyPr>
          <a:lstStyle/>
          <a:p>
            <a:pPr algn="l" rtl="0"/>
            <a:r>
              <a:rPr lang="en-US" sz="1600" b="1" i="0">
                <a:solidFill>
                  <a:srgbClr val="118AB2"/>
                </a:solidFill>
                <a:latin typeface="Arial"/>
                <a:cs typeface="Arial"/>
              </a:rPr>
              <a:t>Gemini ✦</a:t>
            </a:r>
          </a:p>
        </p:txBody>
      </p:sp>
      <p:sp>
        <p:nvSpPr>
          <p:cNvPr id="14" name="Rounded Rectangle 13"/>
          <p:cNvSpPr/>
          <p:nvPr/>
        </p:nvSpPr>
        <p:spPr>
          <a:xfrm>
            <a:off x="1188720" y="2103120"/>
            <a:ext cx="4480560" cy="1188720"/>
          </a:xfrm>
          <a:prstGeom prst="roundRect">
            <a:avLst>
              <a:gd name="adj" fmla="val 20000"/>
            </a:avLst>
          </a:prstGeom>
          <a:solidFill>
            <a:srgbClr val="FFFFFF"/>
          </a:solidFill>
          <a:ln w="19050">
            <a:solidFill>
              <a:srgbClr val="D0D7DB"/>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1700" b="0" i="0">
                <a:solidFill>
                  <a:srgbClr val="1B2B34"/>
                </a:solidFill>
                <a:latin typeface="Arial"/>
                <a:cs typeface="Arial"/>
              </a:rPr>
              <a:t>Write a short Python program that prints the numbers from 1 to 10</a:t>
            </a:r>
          </a:p>
        </p:txBody>
      </p:sp>
      <p:sp>
        <p:nvSpPr>
          <p:cNvPr id="15" name="Rounded Rectangle 14"/>
          <p:cNvSpPr/>
          <p:nvPr/>
        </p:nvSpPr>
        <p:spPr>
          <a:xfrm>
            <a:off x="731520" y="3520440"/>
            <a:ext cx="3840480" cy="1371600"/>
          </a:xfrm>
          <a:prstGeom prst="roundRect">
            <a:avLst>
              <a:gd name="adj" fmla="val 8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2000" b="0" i="0" dirty="0">
                <a:solidFill>
                  <a:srgbClr val="FF9F1C"/>
                </a:solidFill>
                <a:latin typeface="Consolas"/>
                <a:cs typeface="Consolas"/>
              </a:rPr>
              <a:t>for</a:t>
            </a:r>
            <a:r>
              <a:rPr lang="en-US" sz="2000" b="0" i="0" dirty="0">
                <a:solidFill>
                  <a:srgbClr val="E6E6E6"/>
                </a:solidFill>
                <a:latin typeface="Consolas"/>
                <a:cs typeface="Consolas"/>
              </a:rPr>
              <a:t> </a:t>
            </a:r>
            <a:r>
              <a:rPr lang="en-US" sz="2000" b="0" i="0" dirty="0" err="1">
                <a:solidFill>
                  <a:srgbClr val="E6E6E6"/>
                </a:solidFill>
                <a:latin typeface="Consolas"/>
                <a:cs typeface="Consolas"/>
              </a:rPr>
              <a:t>i</a:t>
            </a:r>
            <a:r>
              <a:rPr lang="en-US" sz="2000" b="0" i="0" dirty="0">
                <a:solidFill>
                  <a:srgbClr val="E6E6E6"/>
                </a:solidFill>
                <a:latin typeface="Consolas"/>
                <a:cs typeface="Consolas"/>
              </a:rPr>
              <a:t> </a:t>
            </a:r>
            <a:r>
              <a:rPr lang="en-US" sz="2000" b="0" i="0" dirty="0">
                <a:solidFill>
                  <a:srgbClr val="FF9F1C"/>
                </a:solidFill>
                <a:latin typeface="Consolas"/>
                <a:cs typeface="Consolas"/>
              </a:rPr>
              <a:t>in</a:t>
            </a:r>
            <a:r>
              <a:rPr lang="en-US" sz="2000" b="0" i="0" dirty="0">
                <a:solidFill>
                  <a:srgbClr val="E6E6E6"/>
                </a:solidFill>
                <a:latin typeface="Consolas"/>
                <a:cs typeface="Consolas"/>
              </a:rPr>
              <a:t> </a:t>
            </a:r>
            <a:r>
              <a:rPr lang="en-US" sz="2000" b="0" i="0" dirty="0">
                <a:solidFill>
                  <a:srgbClr val="66D9EF"/>
                </a:solidFill>
                <a:latin typeface="Consolas"/>
                <a:cs typeface="Consolas"/>
              </a:rPr>
              <a:t>range</a:t>
            </a:r>
            <a:r>
              <a:rPr lang="en-US" sz="2000" b="0" i="0" dirty="0">
                <a:solidFill>
                  <a:srgbClr val="E6E6E6"/>
                </a:solidFill>
                <a:latin typeface="Consolas"/>
                <a:cs typeface="Consolas"/>
              </a:rPr>
              <a:t>(</a:t>
            </a:r>
            <a:r>
              <a:rPr lang="en-US" sz="2000" b="0" i="0" dirty="0">
                <a:solidFill>
                  <a:srgbClr val="FFD166"/>
                </a:solidFill>
                <a:latin typeface="Consolas"/>
                <a:cs typeface="Consolas"/>
              </a:rPr>
              <a:t>1</a:t>
            </a:r>
            <a:r>
              <a:rPr lang="en-US" sz="2000" b="0" i="0" dirty="0">
                <a:solidFill>
                  <a:srgbClr val="E6E6E6"/>
                </a:solidFill>
                <a:latin typeface="Consolas"/>
                <a:cs typeface="Consolas"/>
              </a:rPr>
              <a:t>, </a:t>
            </a:r>
            <a:r>
              <a:rPr lang="en-US" sz="2000" b="0" i="0" dirty="0">
                <a:solidFill>
                  <a:srgbClr val="FFD166"/>
                </a:solidFill>
                <a:latin typeface="Consolas"/>
                <a:cs typeface="Consolas"/>
              </a:rPr>
              <a:t>11</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a:t>
            </a:r>
            <a:r>
              <a:rPr lang="en-US" sz="2000" b="0" i="0" dirty="0">
                <a:solidFill>
                  <a:srgbClr val="66D9EF"/>
                </a:solidFill>
                <a:latin typeface="Consolas"/>
                <a:cs typeface="Consolas"/>
              </a:rPr>
              <a:t>print</a:t>
            </a:r>
            <a:r>
              <a:rPr lang="en-US" sz="2000" b="0" i="0" dirty="0">
                <a:solidFill>
                  <a:srgbClr val="E6E6E6"/>
                </a:solidFill>
                <a:latin typeface="Consolas"/>
                <a:cs typeface="Consolas"/>
              </a:rPr>
              <a:t>(</a:t>
            </a:r>
            <a:r>
              <a:rPr lang="en-US" sz="2000" b="0" i="0" dirty="0" err="1">
                <a:solidFill>
                  <a:srgbClr val="E6E6E6"/>
                </a:solidFill>
                <a:latin typeface="Consolas"/>
                <a:cs typeface="Consolas"/>
              </a:rPr>
              <a:t>i</a:t>
            </a:r>
            <a:r>
              <a:rPr lang="en-US" sz="2000" b="0" i="0" dirty="0">
                <a:solidFill>
                  <a:srgbClr val="E6E6E6"/>
                </a:solidFill>
                <a:latin typeface="Consolas"/>
                <a:cs typeface="Consola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2</a:t>
            </a:r>
          </a:p>
        </p:txBody>
      </p:sp>
      <p:sp>
        <p:nvSpPr>
          <p:cNvPr id="4" name="Oval 3"/>
          <p:cNvSpPr/>
          <p:nvPr/>
        </p:nvSpPr>
        <p:spPr>
          <a:xfrm>
            <a:off x="10332720" y="1097280"/>
            <a:ext cx="502920" cy="5029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en-US" sz="4800" b="1" i="0">
                <a:solidFill>
                  <a:srgbClr val="FFFFFF"/>
                </a:solidFill>
                <a:latin typeface="Arial"/>
                <a:cs typeface="Arial"/>
              </a:rPr>
              <a:t>Gemini</a:t>
            </a:r>
            <a:r>
              <a:rPr lang="he-IL" sz="4800" b="1" i="0">
                <a:solidFill>
                  <a:srgbClr val="FFFFFF"/>
                </a:solidFill>
                <a:latin typeface="Arial"/>
                <a:cs typeface="Arial"/>
              </a:rPr>
              <a:t> מתוך פייתון</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התוכנית שלנו שואלת - </a:t>
            </a:r>
            <a:r>
              <a:rPr lang="en-US" sz="2200" b="0" i="0">
                <a:solidFill>
                  <a:srgbClr val="CDE8D8"/>
                </a:solidFill>
                <a:latin typeface="Arial"/>
                <a:cs typeface="Arial"/>
              </a:rPr>
              <a:t>Gemini</a:t>
            </a:r>
            <a:r>
              <a:rPr lang="he-IL" sz="2200" b="0" i="0">
                <a:solidFill>
                  <a:srgbClr val="CDE8D8"/>
                </a:solidFill>
                <a:latin typeface="Arial"/>
                <a:cs typeface="Arial"/>
              </a:rPr>
              <a:t> עונה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13</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זה </a:t>
            </a:r>
            <a:r>
              <a:rPr lang="en-US" sz="3600" b="1" i="0">
                <a:solidFill>
                  <a:srgbClr val="1B4332"/>
                </a:solidFill>
                <a:latin typeface="Arial"/>
                <a:cs typeface="Arial"/>
              </a:rPr>
              <a:t>API</a:t>
            </a:r>
            <a:r>
              <a:rPr lang="he-IL" sz="3600" b="1" i="0">
                <a:solidFill>
                  <a:srgbClr val="1B4332"/>
                </a:solidFill>
                <a:latin typeface="Arial"/>
                <a:cs typeface="Arial"/>
              </a:rPr>
              <a:t>?</a:t>
            </a:r>
          </a:p>
        </p:txBody>
      </p:sp>
      <p:sp>
        <p:nvSpPr>
          <p:cNvPr id="4" name="Rounded Rectangle 3"/>
          <p:cNvSpPr/>
          <p:nvPr/>
        </p:nvSpPr>
        <p:spPr>
          <a:xfrm>
            <a:off x="8595360"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92640" y="1783080"/>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6" name="TextBox 5"/>
          <p:cNvSpPr txBox="1"/>
          <p:nvPr/>
        </p:nvSpPr>
        <p:spPr>
          <a:xfrm>
            <a:off x="8595360" y="2697480"/>
            <a:ext cx="3017520" cy="502920"/>
          </a:xfrm>
          <a:prstGeom prst="rect">
            <a:avLst/>
          </a:prstGeom>
          <a:noFill/>
        </p:spPr>
        <p:txBody>
          <a:bodyPr wrap="square" lIns="45720" rIns="45720" anchor="t">
            <a:spAutoFit/>
          </a:bodyPr>
          <a:lstStyle/>
          <a:p>
            <a:pPr algn="ctr" rtl="1"/>
            <a:r>
              <a:rPr lang="he-IL" sz="2400" b="1" i="0">
                <a:solidFill>
                  <a:srgbClr val="1B2B34"/>
                </a:solidFill>
                <a:latin typeface="Arial"/>
                <a:cs typeface="Arial"/>
              </a:rPr>
              <a:t>התוכנית שלנו</a:t>
            </a:r>
          </a:p>
        </p:txBody>
      </p:sp>
      <p:sp>
        <p:nvSpPr>
          <p:cNvPr id="7" name="TextBox 6"/>
          <p:cNvSpPr txBox="1"/>
          <p:nvPr/>
        </p:nvSpPr>
        <p:spPr>
          <a:xfrm>
            <a:off x="8686800" y="3200400"/>
            <a:ext cx="2834640" cy="64008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שולחת שאלה</a:t>
            </a:r>
          </a:p>
        </p:txBody>
      </p:sp>
      <p:cxnSp>
        <p:nvCxnSpPr>
          <p:cNvPr id="8" name="Connector 7"/>
          <p:cNvCxnSpPr/>
          <p:nvPr/>
        </p:nvCxnSpPr>
        <p:spPr>
          <a:xfrm flipH="1">
            <a:off x="7909560" y="2468880"/>
            <a:ext cx="59436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909560" y="3200400"/>
            <a:ext cx="59436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00600"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897880" y="1783080"/>
            <a:ext cx="822960" cy="8229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2" name="TextBox 11"/>
          <p:cNvSpPr txBox="1"/>
          <p:nvPr/>
        </p:nvSpPr>
        <p:spPr>
          <a:xfrm>
            <a:off x="4800600" y="2697480"/>
            <a:ext cx="3017520" cy="502920"/>
          </a:xfrm>
          <a:prstGeom prst="rect">
            <a:avLst/>
          </a:prstGeom>
          <a:noFill/>
        </p:spPr>
        <p:txBody>
          <a:bodyPr wrap="square" lIns="45720" rIns="45720" anchor="t">
            <a:spAutoFit/>
          </a:bodyPr>
          <a:lstStyle/>
          <a:p>
            <a:pPr algn="ctr" rtl="1"/>
            <a:r>
              <a:rPr lang="en-US" sz="2400" b="1" i="0">
                <a:solidFill>
                  <a:srgbClr val="1B2B34"/>
                </a:solidFill>
                <a:latin typeface="Arial"/>
                <a:cs typeface="Arial"/>
              </a:rPr>
              <a:t>API</a:t>
            </a:r>
          </a:p>
        </p:txBody>
      </p:sp>
      <p:sp>
        <p:nvSpPr>
          <p:cNvPr id="13" name="TextBox 12"/>
          <p:cNvSpPr txBox="1"/>
          <p:nvPr/>
        </p:nvSpPr>
        <p:spPr>
          <a:xfrm>
            <a:off x="4892040" y="3200400"/>
            <a:ext cx="2834640" cy="338554"/>
          </a:xfrm>
          <a:prstGeom prst="rect">
            <a:avLst/>
          </a:prstGeom>
          <a:noFill/>
        </p:spPr>
        <p:txBody>
          <a:bodyPr wrap="square" lIns="45720" rIns="45720" anchor="t">
            <a:spAutoFit/>
          </a:bodyPr>
          <a:lstStyle/>
          <a:p>
            <a:pPr algn="ctr" rtl="1"/>
            <a:r>
              <a:rPr lang="he-IL" sz="1600" b="0" i="0" dirty="0">
                <a:solidFill>
                  <a:srgbClr val="5F6F78"/>
                </a:solidFill>
                <a:latin typeface="Arial"/>
                <a:cs typeface="Arial"/>
              </a:rPr>
              <a:t>רשת האינטרנט</a:t>
            </a:r>
          </a:p>
        </p:txBody>
      </p:sp>
      <p:cxnSp>
        <p:nvCxnSpPr>
          <p:cNvPr id="14" name="Connector 13"/>
          <p:cNvCxnSpPr/>
          <p:nvPr/>
        </p:nvCxnSpPr>
        <p:spPr>
          <a:xfrm flipH="1">
            <a:off x="4114800" y="2468880"/>
            <a:ext cx="59436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14800" y="3200400"/>
            <a:ext cx="59436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5839" y="1645920"/>
            <a:ext cx="3017520"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103120" y="1783080"/>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8" name="TextBox 17"/>
          <p:cNvSpPr txBox="1"/>
          <p:nvPr/>
        </p:nvSpPr>
        <p:spPr>
          <a:xfrm>
            <a:off x="1005839" y="2697480"/>
            <a:ext cx="3017520" cy="502920"/>
          </a:xfrm>
          <a:prstGeom prst="rect">
            <a:avLst/>
          </a:prstGeom>
          <a:noFill/>
        </p:spPr>
        <p:txBody>
          <a:bodyPr wrap="square" lIns="45720" rIns="45720" anchor="t">
            <a:spAutoFit/>
          </a:bodyPr>
          <a:lstStyle/>
          <a:p>
            <a:pPr algn="ctr" rtl="1"/>
            <a:r>
              <a:rPr lang="en-US" sz="2400" b="1" i="0">
                <a:solidFill>
                  <a:srgbClr val="1B2B34"/>
                </a:solidFill>
                <a:latin typeface="Arial"/>
                <a:cs typeface="Arial"/>
              </a:rPr>
              <a:t>Google</a:t>
            </a:r>
          </a:p>
        </p:txBody>
      </p:sp>
      <p:sp>
        <p:nvSpPr>
          <p:cNvPr id="19" name="TextBox 18"/>
          <p:cNvSpPr txBox="1"/>
          <p:nvPr/>
        </p:nvSpPr>
        <p:spPr>
          <a:xfrm>
            <a:off x="1097279" y="3200400"/>
            <a:ext cx="2834640" cy="338554"/>
          </a:xfrm>
          <a:prstGeom prst="rect">
            <a:avLst/>
          </a:prstGeom>
          <a:noFill/>
        </p:spPr>
        <p:txBody>
          <a:bodyPr wrap="square" lIns="45720" rIns="45720" anchor="t">
            <a:spAutoFit/>
          </a:bodyPr>
          <a:lstStyle/>
          <a:p>
            <a:pPr algn="ctr" rtl="1"/>
            <a:r>
              <a:rPr lang="he-IL" sz="1600" b="0" i="0" dirty="0">
                <a:solidFill>
                  <a:srgbClr val="5F6F78"/>
                </a:solidFill>
                <a:latin typeface="Arial"/>
                <a:cs typeface="Arial"/>
              </a:rPr>
              <a:t>שרתים של גוגל</a:t>
            </a:r>
          </a:p>
        </p:txBody>
      </p:sp>
      <p:sp>
        <p:nvSpPr>
          <p:cNvPr id="20" name="TextBox 19"/>
          <p:cNvSpPr txBox="1"/>
          <p:nvPr/>
        </p:nvSpPr>
        <p:spPr>
          <a:xfrm>
            <a:off x="4572000" y="4206240"/>
            <a:ext cx="6858000" cy="338554"/>
          </a:xfrm>
          <a:prstGeom prst="rect">
            <a:avLst/>
          </a:prstGeom>
          <a:noFill/>
        </p:spPr>
        <p:txBody>
          <a:bodyPr wrap="square" lIns="45720" rIns="45720" anchor="t">
            <a:spAutoFit/>
          </a:bodyPr>
          <a:lstStyle/>
          <a:p>
            <a:pPr algn="r" rtl="1"/>
            <a:r>
              <a:rPr lang="he-IL" sz="1600" b="1" i="0" dirty="0">
                <a:solidFill>
                  <a:srgbClr val="118AB2"/>
                </a:solidFill>
                <a:latin typeface="Arial"/>
                <a:cs typeface="Arial"/>
              </a:rPr>
              <a:t>חץ כחול: </a:t>
            </a:r>
            <a:r>
              <a:rPr lang="he-IL" sz="1600" b="0" i="0" dirty="0">
                <a:solidFill>
                  <a:srgbClr val="5F6F78"/>
                </a:solidFill>
                <a:latin typeface="Arial"/>
                <a:cs typeface="Arial"/>
              </a:rPr>
              <a:t>השאלה יוצאת מהתוכנית</a:t>
            </a:r>
          </a:p>
        </p:txBody>
      </p:sp>
      <p:sp>
        <p:nvSpPr>
          <p:cNvPr id="21" name="TextBox 20"/>
          <p:cNvSpPr txBox="1"/>
          <p:nvPr/>
        </p:nvSpPr>
        <p:spPr>
          <a:xfrm>
            <a:off x="4572000" y="4572000"/>
            <a:ext cx="6858000" cy="457200"/>
          </a:xfrm>
          <a:prstGeom prst="rect">
            <a:avLst/>
          </a:prstGeom>
          <a:noFill/>
        </p:spPr>
        <p:txBody>
          <a:bodyPr wrap="square" lIns="45720" rIns="45720" anchor="t">
            <a:spAutoFit/>
          </a:bodyPr>
          <a:lstStyle/>
          <a:p>
            <a:pPr algn="r" rtl="1"/>
            <a:r>
              <a:rPr lang="he-IL" sz="1600" b="1" i="0">
                <a:solidFill>
                  <a:srgbClr val="EF476F"/>
                </a:solidFill>
                <a:latin typeface="Arial"/>
                <a:cs typeface="Arial"/>
              </a:rPr>
              <a:t>חץ אדום: </a:t>
            </a:r>
            <a:r>
              <a:rPr lang="he-IL" sz="1600" b="0" i="0">
                <a:solidFill>
                  <a:srgbClr val="5F6F78"/>
                </a:solidFill>
                <a:latin typeface="Arial"/>
                <a:cs typeface="Arial"/>
              </a:rPr>
              <a:t>התשובה חוזרת לתוכנית</a:t>
            </a:r>
          </a:p>
        </p:txBody>
      </p:sp>
      <p:sp>
        <p:nvSpPr>
          <p:cNvPr id="22" name="Rounded Rectangle 21"/>
          <p:cNvSpPr/>
          <p:nvPr/>
        </p:nvSpPr>
        <p:spPr>
          <a:xfrm>
            <a:off x="548640" y="5257800"/>
            <a:ext cx="11091672" cy="77724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en-US" sz="1900" b="1" i="0" dirty="0">
                <a:solidFill>
                  <a:srgbClr val="1B2B34"/>
                </a:solidFill>
                <a:latin typeface="Arial"/>
                <a:cs typeface="Arial"/>
              </a:rPr>
              <a:t>API</a:t>
            </a:r>
            <a:r>
              <a:rPr lang="he-IL" sz="1900" b="1" i="0" dirty="0">
                <a:solidFill>
                  <a:srgbClr val="1B2B34"/>
                </a:solidFill>
                <a:latin typeface="Arial"/>
                <a:cs typeface="Arial"/>
              </a:rPr>
              <a:t> </a:t>
            </a:r>
            <a:r>
              <a:rPr lang="he-IL" sz="1900" b="0" i="0" dirty="0">
                <a:solidFill>
                  <a:srgbClr val="1B2B34"/>
                </a:solidFill>
                <a:latin typeface="Arial"/>
                <a:cs typeface="Arial"/>
              </a:rPr>
              <a:t>= השפה (פרוטוקול) שבה תוכנית אחת מבקשת משהו מתוכנית אחרת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14</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מפתח </a:t>
            </a:r>
            <a:r>
              <a:rPr lang="en-US" sz="3600" b="1" i="0" dirty="0">
                <a:solidFill>
                  <a:srgbClr val="1B4332"/>
                </a:solidFill>
                <a:latin typeface="Arial"/>
                <a:cs typeface="Arial"/>
              </a:rPr>
              <a:t>API</a:t>
            </a:r>
            <a:r>
              <a:rPr lang="he-IL" sz="3600" b="1" i="0" dirty="0">
                <a:solidFill>
                  <a:srgbClr val="1B4332"/>
                </a:solidFill>
                <a:latin typeface="Arial"/>
                <a:cs typeface="Arial"/>
              </a:rPr>
              <a:t> = הסיסמה מול גוגל</a:t>
            </a:r>
          </a:p>
        </p:txBody>
      </p:sp>
      <p:sp>
        <p:nvSpPr>
          <p:cNvPr id="4" name="Rounded Rectangle 3"/>
          <p:cNvSpPr/>
          <p:nvPr/>
        </p:nvSpPr>
        <p:spPr>
          <a:xfrm>
            <a:off x="5760720" y="1508760"/>
            <a:ext cx="5879592" cy="1188720"/>
          </a:xfrm>
          <a:prstGeom prst="roundRect">
            <a:avLst>
              <a:gd name="adj" fmla="val 10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rtl="0"/>
            <a:r>
              <a:rPr lang="en-US" sz="2000" b="0" i="0">
                <a:solidFill>
                  <a:srgbClr val="E6E6E6"/>
                </a:solidFill>
                <a:latin typeface="Consolas"/>
                <a:cs typeface="Consolas"/>
              </a:rPr>
              <a:t>API_KEY = </a:t>
            </a:r>
            <a:r>
              <a:rPr lang="en-US" sz="2000" b="0" i="0">
                <a:solidFill>
                  <a:srgbClr val="A6E22E"/>
                </a:solidFill>
                <a:latin typeface="Consolas"/>
                <a:cs typeface="Consolas"/>
              </a:rPr>
              <a:t>"AQ.Ab8R••••••••••••"</a:t>
            </a:r>
          </a:p>
        </p:txBody>
      </p:sp>
      <p:sp>
        <p:nvSpPr>
          <p:cNvPr id="5" name="Oval 4"/>
          <p:cNvSpPr/>
          <p:nvPr/>
        </p:nvSpPr>
        <p:spPr>
          <a:xfrm>
            <a:off x="3337560" y="91440"/>
            <a:ext cx="1371600" cy="1371600"/>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4000" b="1" i="0" dirty="0">
                <a:solidFill>
                  <a:srgbClr val="FFFFFF"/>
                </a:solidFill>
                <a:latin typeface="Arial"/>
                <a:cs typeface="Arial"/>
              </a:rPr>
              <a:t>🔑</a:t>
            </a:r>
          </a:p>
        </p:txBody>
      </p:sp>
      <p:sp>
        <p:nvSpPr>
          <p:cNvPr id="6" name="TextBox 5"/>
          <p:cNvSpPr txBox="1"/>
          <p:nvPr/>
        </p:nvSpPr>
        <p:spPr>
          <a:xfrm>
            <a:off x="6232124" y="5394210"/>
            <a:ext cx="4649236" cy="353943"/>
          </a:xfrm>
          <a:prstGeom prst="rect">
            <a:avLst/>
          </a:prstGeom>
          <a:noFill/>
        </p:spPr>
        <p:txBody>
          <a:bodyPr wrap="square" lIns="45720" rIns="45720" anchor="ctr">
            <a:spAutoFit/>
          </a:bodyPr>
          <a:lstStyle/>
          <a:p>
            <a:pPr algn="r" rtl="1"/>
            <a:r>
              <a:rPr lang="en-US" sz="1700" b="0" i="0" dirty="0">
                <a:solidFill>
                  <a:srgbClr val="5F6F78"/>
                </a:solidFill>
                <a:latin typeface="Arial"/>
                <a:cs typeface="Arial"/>
              </a:rPr>
              <a:t>Google</a:t>
            </a:r>
            <a:r>
              <a:rPr lang="he-IL" sz="1700" b="0" i="0" dirty="0">
                <a:solidFill>
                  <a:srgbClr val="5F6F78"/>
                </a:solidFill>
                <a:latin typeface="Arial"/>
                <a:cs typeface="Arial"/>
              </a:rPr>
              <a:t> יודעת מי שואל - וסופרת כמה שאלות שלחנו</a:t>
            </a:r>
          </a:p>
        </p:txBody>
      </p:sp>
      <p:sp>
        <p:nvSpPr>
          <p:cNvPr id="7" name="Oval 6"/>
          <p:cNvSpPr/>
          <p:nvPr/>
        </p:nvSpPr>
        <p:spPr>
          <a:xfrm>
            <a:off x="11064240" y="3017520"/>
            <a:ext cx="548640" cy="5486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8" name="TextBox 7"/>
          <p:cNvSpPr txBox="1"/>
          <p:nvPr/>
        </p:nvSpPr>
        <p:spPr>
          <a:xfrm>
            <a:off x="5760720" y="3017520"/>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שומרים בסוד - רק בתוך הקוד שלכם</a:t>
            </a:r>
          </a:p>
        </p:txBody>
      </p:sp>
      <p:sp>
        <p:nvSpPr>
          <p:cNvPr id="9" name="Oval 8"/>
          <p:cNvSpPr/>
          <p:nvPr/>
        </p:nvSpPr>
        <p:spPr>
          <a:xfrm>
            <a:off x="11064240" y="3749039"/>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0" name="TextBox 9"/>
          <p:cNvSpPr txBox="1"/>
          <p:nvPr/>
        </p:nvSpPr>
        <p:spPr>
          <a:xfrm>
            <a:off x="5760720" y="3749039"/>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לא מעלים ל-</a:t>
            </a:r>
            <a:r>
              <a:rPr lang="en-US" sz="1800" b="0" i="0">
                <a:solidFill>
                  <a:srgbClr val="1B2B34"/>
                </a:solidFill>
                <a:latin typeface="Arial"/>
                <a:cs typeface="Arial"/>
              </a:rPr>
              <a:t>GitHub</a:t>
            </a:r>
            <a:r>
              <a:rPr lang="he-IL" sz="1800" b="0" i="0">
                <a:solidFill>
                  <a:srgbClr val="1B2B34"/>
                </a:solidFill>
                <a:latin typeface="Arial"/>
                <a:cs typeface="Arial"/>
              </a:rPr>
              <a:t> ולא שולחים בקבוצת וואטסאפ</a:t>
            </a:r>
          </a:p>
        </p:txBody>
      </p:sp>
      <p:sp>
        <p:nvSpPr>
          <p:cNvPr id="11" name="Oval 10"/>
          <p:cNvSpPr/>
          <p:nvPr/>
        </p:nvSpPr>
        <p:spPr>
          <a:xfrm>
            <a:off x="11064240" y="448056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2" name="TextBox 11"/>
          <p:cNvSpPr txBox="1"/>
          <p:nvPr/>
        </p:nvSpPr>
        <p:spPr>
          <a:xfrm>
            <a:off x="5760720" y="4480560"/>
            <a:ext cx="5120640" cy="548640"/>
          </a:xfrm>
          <a:prstGeom prst="rect">
            <a:avLst/>
          </a:prstGeom>
          <a:noFill/>
        </p:spPr>
        <p:txBody>
          <a:bodyPr wrap="square" lIns="45720" rIns="45720" anchor="ctr">
            <a:spAutoFit/>
          </a:bodyPr>
          <a:lstStyle/>
          <a:p>
            <a:pPr algn="r" rtl="1"/>
            <a:r>
              <a:rPr lang="he-IL" sz="1800" b="0" i="0">
                <a:solidFill>
                  <a:srgbClr val="1B2B34"/>
                </a:solidFill>
                <a:latin typeface="Arial"/>
                <a:cs typeface="Arial"/>
              </a:rPr>
              <a:t>לא מצלמים את המסך כשהמפתח מופיע</a:t>
            </a:r>
          </a:p>
        </p:txBody>
      </p:sp>
      <p:sp>
        <p:nvSpPr>
          <p:cNvPr id="15" name="TextBox 14"/>
          <p:cNvSpPr txBox="1"/>
          <p:nvPr/>
        </p:nvSpPr>
        <p:spPr>
          <a:xfrm>
            <a:off x="4935984" y="5884563"/>
            <a:ext cx="5945376" cy="400110"/>
          </a:xfrm>
          <a:prstGeom prst="rect">
            <a:avLst/>
          </a:prstGeom>
          <a:noFill/>
        </p:spPr>
        <p:txBody>
          <a:bodyPr wrap="square" lIns="45720" rIns="45720" anchor="t">
            <a:spAutoFit/>
          </a:bodyPr>
          <a:lstStyle/>
          <a:p>
            <a:pPr algn="r" rtl="1"/>
            <a:r>
              <a:rPr lang="he-IL" sz="2000" b="1" i="0" dirty="0">
                <a:solidFill>
                  <a:srgbClr val="FF9F1C"/>
                </a:solidFill>
                <a:latin typeface="Arial"/>
                <a:cs typeface="Arial"/>
              </a:rPr>
              <a:t>בתיקייה: קובץ </a:t>
            </a:r>
            <a:r>
              <a:rPr lang="en-US" sz="2000" b="1" i="0" dirty="0">
                <a:solidFill>
                  <a:srgbClr val="FF9F1C"/>
                </a:solidFill>
                <a:latin typeface="Arial"/>
                <a:cs typeface="Arial"/>
              </a:rPr>
              <a:t>Word</a:t>
            </a:r>
            <a:r>
              <a:rPr lang="he-IL" sz="2000" b="1" i="0" dirty="0">
                <a:solidFill>
                  <a:srgbClr val="FF9F1C"/>
                </a:solidFill>
                <a:latin typeface="Arial"/>
                <a:cs typeface="Arial"/>
              </a:rPr>
              <a:t> בשם "מדריך יצירת מפתח </a:t>
            </a:r>
            <a:r>
              <a:rPr lang="en-US" sz="2000" b="1" i="0" dirty="0">
                <a:solidFill>
                  <a:srgbClr val="FF9F1C"/>
                </a:solidFill>
                <a:latin typeface="Arial"/>
                <a:cs typeface="Arial"/>
              </a:rPr>
              <a:t>API</a:t>
            </a:r>
            <a:r>
              <a:rPr lang="he-IL" sz="2000" b="1" i="0" dirty="0">
                <a:solidFill>
                  <a:srgbClr val="FF9F1C"/>
                </a:solidFill>
                <a:latin typeface="Arial"/>
                <a:cs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התקנה: </a:t>
            </a:r>
            <a:r>
              <a:rPr lang="en-US" sz="3600" b="1" i="0">
                <a:solidFill>
                  <a:srgbClr val="1B4332"/>
                </a:solidFill>
                <a:latin typeface="Arial"/>
                <a:cs typeface="Arial"/>
              </a:rPr>
              <a:t>pip install google-genai</a:t>
            </a:r>
          </a:p>
        </p:txBody>
      </p:sp>
      <p:sp>
        <p:nvSpPr>
          <p:cNvPr id="4" name="Rounded Rectangle 3"/>
          <p:cNvSpPr/>
          <p:nvPr/>
        </p:nvSpPr>
        <p:spPr>
          <a:xfrm>
            <a:off x="548640" y="1463040"/>
            <a:ext cx="6949440" cy="292608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00200"/>
            <a:ext cx="6492240" cy="365760"/>
          </a:xfrm>
          <a:prstGeom prst="rect">
            <a:avLst/>
          </a:prstGeom>
          <a:noFill/>
        </p:spPr>
        <p:txBody>
          <a:bodyPr wrap="square" lIns="45720" rIns="45720" anchor="t">
            <a:spAutoFit/>
          </a:bodyPr>
          <a:lstStyle/>
          <a:p>
            <a:pPr algn="l" rtl="0"/>
            <a:r>
              <a:rPr lang="en-US" sz="1300" b="0" i="0">
                <a:solidFill>
                  <a:srgbClr val="8A93A6"/>
                </a:solidFill>
                <a:latin typeface="Arial"/>
                <a:cs typeface="Arial"/>
              </a:rPr>
              <a:t>Terminal</a:t>
            </a:r>
          </a:p>
        </p:txBody>
      </p:sp>
      <p:sp>
        <p:nvSpPr>
          <p:cNvPr id="6" name="TextBox 5"/>
          <p:cNvSpPr txBox="1"/>
          <p:nvPr/>
        </p:nvSpPr>
        <p:spPr>
          <a:xfrm>
            <a:off x="777240" y="2011680"/>
            <a:ext cx="6492240" cy="1354217"/>
          </a:xfrm>
          <a:prstGeom prst="rect">
            <a:avLst/>
          </a:prstGeom>
          <a:noFill/>
        </p:spPr>
        <p:txBody>
          <a:bodyPr wrap="square" lIns="45720" rIns="45720" anchor="t">
            <a:spAutoFit/>
          </a:bodyPr>
          <a:lstStyle/>
          <a:p>
            <a:pPr algn="l" rtl="0">
              <a:spcAft>
                <a:spcPts val="600"/>
              </a:spcAft>
            </a:pPr>
            <a:r>
              <a:rPr lang="en-US" sz="2400" b="0" i="0" dirty="0">
                <a:solidFill>
                  <a:srgbClr val="2D9F5C"/>
                </a:solidFill>
                <a:latin typeface="Consolas"/>
                <a:cs typeface="Consolas"/>
              </a:rPr>
              <a:t>&gt; </a:t>
            </a:r>
            <a:r>
              <a:rPr lang="en-US" sz="2400" b="0" i="0" dirty="0">
                <a:solidFill>
                  <a:srgbClr val="FFFFFF"/>
                </a:solidFill>
                <a:latin typeface="Consolas"/>
                <a:cs typeface="Consolas"/>
              </a:rPr>
              <a:t>pip install google-</a:t>
            </a:r>
            <a:r>
              <a:rPr lang="en-US" sz="2400" b="0" i="0" dirty="0" err="1">
                <a:solidFill>
                  <a:srgbClr val="FFFFFF"/>
                </a:solidFill>
                <a:latin typeface="Consolas"/>
                <a:cs typeface="Consolas"/>
              </a:rPr>
              <a:t>genai</a:t>
            </a:r>
            <a:endParaRPr lang="en-US" sz="2400" b="0" i="0" dirty="0">
              <a:solidFill>
                <a:srgbClr val="FFFFFF"/>
              </a:solidFill>
              <a:latin typeface="Consolas"/>
              <a:cs typeface="Consolas"/>
            </a:endParaRPr>
          </a:p>
          <a:p>
            <a:pPr algn="l" rtl="0">
              <a:spcAft>
                <a:spcPts val="600"/>
              </a:spcAft>
            </a:pPr>
            <a:r>
              <a:rPr lang="en-US" sz="2400" b="0" i="0" dirty="0">
                <a:solidFill>
                  <a:srgbClr val="8A93A6"/>
                </a:solidFill>
                <a:latin typeface="Consolas"/>
                <a:cs typeface="Consolas"/>
              </a:rPr>
              <a:t>Collecting google-</a:t>
            </a:r>
            <a:r>
              <a:rPr lang="en-US" sz="2400" b="0" i="0" dirty="0" err="1">
                <a:solidFill>
                  <a:srgbClr val="8A93A6"/>
                </a:solidFill>
                <a:latin typeface="Consolas"/>
                <a:cs typeface="Consolas"/>
              </a:rPr>
              <a:t>genai</a:t>
            </a:r>
            <a:r>
              <a:rPr lang="en-US" sz="2400" b="0" i="0" dirty="0">
                <a:solidFill>
                  <a:srgbClr val="8A93A6"/>
                </a:solidFill>
                <a:latin typeface="Consolas"/>
                <a:cs typeface="Consolas"/>
              </a:rPr>
              <a:t> ...</a:t>
            </a:r>
          </a:p>
          <a:p>
            <a:pPr algn="l" rtl="0">
              <a:spcAft>
                <a:spcPts val="600"/>
              </a:spcAft>
            </a:pPr>
            <a:r>
              <a:rPr lang="en-US" sz="2400" b="0" i="0" dirty="0">
                <a:solidFill>
                  <a:srgbClr val="A6E22E"/>
                </a:solidFill>
                <a:latin typeface="Consolas"/>
                <a:cs typeface="Consolas"/>
              </a:rPr>
              <a:t>Successfully installed google-</a:t>
            </a:r>
            <a:r>
              <a:rPr lang="en-US" sz="2400" b="0" i="0" dirty="0" err="1">
                <a:solidFill>
                  <a:srgbClr val="A6E22E"/>
                </a:solidFill>
                <a:latin typeface="Consolas"/>
                <a:cs typeface="Consolas"/>
              </a:rPr>
              <a:t>genai</a:t>
            </a:r>
            <a:endParaRPr lang="en-US" sz="2400" b="0" i="0" dirty="0">
              <a:solidFill>
                <a:srgbClr val="A6E22E"/>
              </a:solidFill>
              <a:latin typeface="Consolas"/>
              <a:cs typeface="Consolas"/>
            </a:endParaRPr>
          </a:p>
        </p:txBody>
      </p:sp>
      <p:sp>
        <p:nvSpPr>
          <p:cNvPr id="7" name="Oval 6"/>
          <p:cNvSpPr/>
          <p:nvPr/>
        </p:nvSpPr>
        <p:spPr>
          <a:xfrm>
            <a:off x="11018520" y="1508760"/>
            <a:ext cx="594360" cy="5943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8" name="TextBox 7"/>
          <p:cNvSpPr txBox="1"/>
          <p:nvPr/>
        </p:nvSpPr>
        <p:spPr>
          <a:xfrm>
            <a:off x="7863840" y="146304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פותחים טרמינל</a:t>
            </a:r>
          </a:p>
        </p:txBody>
      </p:sp>
      <p:sp>
        <p:nvSpPr>
          <p:cNvPr id="9" name="TextBox 8"/>
          <p:cNvSpPr txBox="1"/>
          <p:nvPr/>
        </p:nvSpPr>
        <p:spPr>
          <a:xfrm>
            <a:off x="7863840" y="1874520"/>
            <a:ext cx="3017520" cy="5029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ב-</a:t>
            </a:r>
            <a:r>
              <a:rPr lang="en-US" sz="1400" b="0" i="0">
                <a:solidFill>
                  <a:srgbClr val="5F6F78"/>
                </a:solidFill>
                <a:latin typeface="Arial"/>
                <a:cs typeface="Arial"/>
              </a:rPr>
              <a:t>VS Code</a:t>
            </a:r>
            <a:r>
              <a:rPr lang="he-IL" sz="1400" b="0" i="0">
                <a:solidFill>
                  <a:srgbClr val="5F6F78"/>
                </a:solidFill>
                <a:latin typeface="Arial"/>
                <a:cs typeface="Arial"/>
              </a:rPr>
              <a:t>: תפריט </a:t>
            </a:r>
            <a:r>
              <a:rPr lang="en-US" sz="1400" b="0" i="0">
                <a:solidFill>
                  <a:srgbClr val="5F6F78"/>
                </a:solidFill>
                <a:latin typeface="Arial"/>
                <a:cs typeface="Arial"/>
              </a:rPr>
              <a:t>Terminal</a:t>
            </a:r>
            <a:r>
              <a:rPr lang="he-IL" sz="1400" b="0" i="0">
                <a:solidFill>
                  <a:srgbClr val="5F6F78"/>
                </a:solidFill>
                <a:latin typeface="Arial"/>
                <a:cs typeface="Arial"/>
              </a:rPr>
              <a:t>, ואז </a:t>
            </a:r>
            <a:r>
              <a:rPr lang="en-US" sz="1400" b="0" i="0">
                <a:solidFill>
                  <a:srgbClr val="5F6F78"/>
                </a:solidFill>
                <a:latin typeface="Arial"/>
                <a:cs typeface="Arial"/>
              </a:rPr>
              <a:t>New Terminal</a:t>
            </a:r>
          </a:p>
        </p:txBody>
      </p:sp>
      <p:sp>
        <p:nvSpPr>
          <p:cNvPr id="10" name="Oval 9"/>
          <p:cNvSpPr/>
          <p:nvPr/>
        </p:nvSpPr>
        <p:spPr>
          <a:xfrm>
            <a:off x="11018520" y="2514600"/>
            <a:ext cx="594360" cy="5943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11" name="TextBox 10"/>
          <p:cNvSpPr txBox="1"/>
          <p:nvPr/>
        </p:nvSpPr>
        <p:spPr>
          <a:xfrm>
            <a:off x="7863840" y="246888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מקלידים את הפקודה</a:t>
            </a:r>
          </a:p>
        </p:txBody>
      </p:sp>
      <p:sp>
        <p:nvSpPr>
          <p:cNvPr id="12" name="TextBox 11"/>
          <p:cNvSpPr txBox="1"/>
          <p:nvPr/>
        </p:nvSpPr>
        <p:spPr>
          <a:xfrm>
            <a:off x="7863840" y="2880360"/>
            <a:ext cx="3017520" cy="502920"/>
          </a:xfrm>
          <a:prstGeom prst="rect">
            <a:avLst/>
          </a:prstGeom>
          <a:noFill/>
        </p:spPr>
        <p:txBody>
          <a:bodyPr wrap="square" lIns="45720" rIns="45720" anchor="t">
            <a:spAutoFit/>
          </a:bodyPr>
          <a:lstStyle/>
          <a:p>
            <a:pPr algn="r" rtl="1"/>
            <a:r>
              <a:rPr lang="en-US" sz="1400" b="0" i="0">
                <a:solidFill>
                  <a:srgbClr val="5F6F78"/>
                </a:solidFill>
                <a:latin typeface="Arial"/>
                <a:cs typeface="Arial"/>
              </a:rPr>
              <a:t>pip</a:t>
            </a:r>
            <a:r>
              <a:rPr lang="he-IL" sz="1400" b="0" i="0">
                <a:solidFill>
                  <a:srgbClr val="5F6F78"/>
                </a:solidFill>
                <a:latin typeface="Arial"/>
                <a:cs typeface="Arial"/>
              </a:rPr>
              <a:t> מוריד ומתקין ספריות של פייתון</a:t>
            </a:r>
          </a:p>
        </p:txBody>
      </p:sp>
      <p:sp>
        <p:nvSpPr>
          <p:cNvPr id="13" name="Oval 12"/>
          <p:cNvSpPr/>
          <p:nvPr/>
        </p:nvSpPr>
        <p:spPr>
          <a:xfrm>
            <a:off x="11018520" y="3520440"/>
            <a:ext cx="594360" cy="5943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4" name="TextBox 13"/>
          <p:cNvSpPr txBox="1"/>
          <p:nvPr/>
        </p:nvSpPr>
        <p:spPr>
          <a:xfrm>
            <a:off x="7863840" y="3474720"/>
            <a:ext cx="3017520" cy="411480"/>
          </a:xfrm>
          <a:prstGeom prst="rect">
            <a:avLst/>
          </a:prstGeom>
          <a:noFill/>
        </p:spPr>
        <p:txBody>
          <a:bodyPr wrap="square" lIns="45720" rIns="45720" anchor="t">
            <a:spAutoFit/>
          </a:bodyPr>
          <a:lstStyle/>
          <a:p>
            <a:pPr algn="r" rtl="1"/>
            <a:r>
              <a:rPr lang="he-IL" sz="1900" b="1" i="0">
                <a:solidFill>
                  <a:srgbClr val="1B2B34"/>
                </a:solidFill>
                <a:latin typeface="Arial"/>
                <a:cs typeface="Arial"/>
              </a:rPr>
              <a:t>בודקים שעובד</a:t>
            </a:r>
          </a:p>
        </p:txBody>
      </p:sp>
      <p:sp>
        <p:nvSpPr>
          <p:cNvPr id="15" name="TextBox 14"/>
          <p:cNvSpPr txBox="1"/>
          <p:nvPr/>
        </p:nvSpPr>
        <p:spPr>
          <a:xfrm>
            <a:off x="7863840" y="3886200"/>
            <a:ext cx="3017520" cy="5029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מריצים את התוכנית הראשונה - אין שגיאה? מוכן!</a:t>
            </a:r>
          </a:p>
        </p:txBody>
      </p:sp>
      <p:sp>
        <p:nvSpPr>
          <p:cNvPr id="16" name="Rounded Rectangle 15"/>
          <p:cNvSpPr/>
          <p:nvPr/>
        </p:nvSpPr>
        <p:spPr>
          <a:xfrm>
            <a:off x="548640" y="4800600"/>
            <a:ext cx="11091672" cy="86868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700" b="1" i="0">
                <a:solidFill>
                  <a:srgbClr val="1B2B34"/>
                </a:solidFill>
                <a:latin typeface="Arial"/>
                <a:cs typeface="Arial"/>
              </a:rPr>
              <a:t>ספרייה </a:t>
            </a:r>
            <a:r>
              <a:rPr lang="he-IL" sz="1700" b="0" i="0">
                <a:solidFill>
                  <a:srgbClr val="1B2B34"/>
                </a:solidFill>
                <a:latin typeface="Arial"/>
                <a:cs typeface="Arial"/>
              </a:rPr>
              <a:t>= קוד שמישהו אחר כתב ואנחנו משתמשים בו. כמו </a:t>
            </a:r>
            <a:r>
              <a:rPr lang="en-US" sz="1700" b="0" i="0">
                <a:solidFill>
                  <a:srgbClr val="1B2B34"/>
                </a:solidFill>
                <a:latin typeface="Arial"/>
                <a:cs typeface="Arial"/>
              </a:rPr>
              <a:t>turtle</a:t>
            </a:r>
            <a:r>
              <a:rPr lang="he-IL" sz="1700" b="0" i="0">
                <a:solidFill>
                  <a:srgbClr val="1B2B34"/>
                </a:solidFill>
                <a:latin typeface="Arial"/>
                <a:cs typeface="Arial"/>
              </a:rPr>
              <a:t> - אבל צריך להתקין אותה פעם אחת.</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16</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התוכנית הראשונה שלנו מול גוגל</a:t>
            </a:r>
          </a:p>
        </p:txBody>
      </p:sp>
      <p:sp>
        <p:nvSpPr>
          <p:cNvPr id="4" name="Rounded Rectangle 3"/>
          <p:cNvSpPr/>
          <p:nvPr/>
        </p:nvSpPr>
        <p:spPr>
          <a:xfrm>
            <a:off x="548640" y="1417320"/>
            <a:ext cx="7223760" cy="33832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97278"/>
            <a:ext cx="6766560" cy="3170099"/>
          </a:xfrm>
          <a:prstGeom prst="rect">
            <a:avLst/>
          </a:prstGeom>
          <a:noFill/>
        </p:spPr>
        <p:txBody>
          <a:bodyPr wrap="square" lIns="45720" rIns="45720" anchor="ctr">
            <a:spAutoFit/>
          </a:bodyPr>
          <a:lstStyle/>
          <a:p>
            <a:pPr algn="l" rtl="0"/>
            <a:r>
              <a:rPr lang="en-US" sz="2000" b="0" i="0" dirty="0">
                <a:solidFill>
                  <a:srgbClr val="FF9F1C"/>
                </a:solidFill>
                <a:latin typeface="Consolas"/>
                <a:cs typeface="Consolas"/>
              </a:rPr>
              <a:t>from</a:t>
            </a:r>
            <a:r>
              <a:rPr lang="en-US" sz="2000" b="0" i="0" dirty="0">
                <a:solidFill>
                  <a:srgbClr val="E6E6E6"/>
                </a:solidFill>
                <a:latin typeface="Consolas"/>
                <a:cs typeface="Consolas"/>
              </a:rPr>
              <a:t> google </a:t>
            </a:r>
            <a:r>
              <a:rPr lang="en-US" sz="2000" b="0" i="0" dirty="0">
                <a:solidFill>
                  <a:srgbClr val="FF9F1C"/>
                </a:solidFill>
                <a:latin typeface="Consolas"/>
                <a:cs typeface="Consolas"/>
              </a:rPr>
              <a:t>import</a:t>
            </a:r>
            <a:r>
              <a:rPr lang="en-US" sz="2000" b="0" i="0" dirty="0">
                <a:solidFill>
                  <a:srgbClr val="E6E6E6"/>
                </a:solidFill>
                <a:latin typeface="Consolas"/>
                <a:cs typeface="Consolas"/>
              </a:rPr>
              <a:t> </a:t>
            </a:r>
            <a:r>
              <a:rPr lang="en-US" sz="2000" b="0" i="0" dirty="0" err="1">
                <a:solidFill>
                  <a:srgbClr val="E6E6E6"/>
                </a:solidFill>
                <a:latin typeface="Consolas"/>
                <a:cs typeface="Consolas"/>
              </a:rPr>
              <a:t>genai</a:t>
            </a:r>
            <a:endParaRPr lang="en-US" sz="2000" b="0" i="0" dirty="0">
              <a:solidFill>
                <a:srgbClr val="E6E6E6"/>
              </a:solidFill>
              <a:latin typeface="Consolas"/>
              <a:cs typeface="Consolas"/>
            </a:endParaRPr>
          </a:p>
          <a:p>
            <a:pPr algn="l" rtl="0"/>
            <a:r>
              <a:rPr lang="en-US" sz="2000" b="0" i="0" dirty="0">
                <a:solidFill>
                  <a:srgbClr val="E6E6E6"/>
                </a:solidFill>
                <a:latin typeface="Consolas"/>
                <a:cs typeface="Consolas"/>
              </a:rPr>
              <a:t> </a:t>
            </a:r>
          </a:p>
          <a:p>
            <a:pPr algn="l" rtl="0"/>
            <a:r>
              <a:rPr lang="en-US" sz="2000" b="0" i="0" dirty="0">
                <a:solidFill>
                  <a:srgbClr val="E6E6E6"/>
                </a:solidFill>
                <a:latin typeface="Consolas"/>
                <a:cs typeface="Consolas"/>
              </a:rPr>
              <a:t>client = </a:t>
            </a:r>
            <a:r>
              <a:rPr lang="en-US" sz="2000" b="0" i="0" dirty="0" err="1">
                <a:solidFill>
                  <a:srgbClr val="E6E6E6"/>
                </a:solidFill>
                <a:latin typeface="Consolas"/>
                <a:cs typeface="Consolas"/>
              </a:rPr>
              <a:t>genai.Client</a:t>
            </a:r>
            <a:r>
              <a:rPr lang="en-US" sz="2000" b="0" i="0" dirty="0">
                <a:solidFill>
                  <a:srgbClr val="E6E6E6"/>
                </a:solidFill>
                <a:latin typeface="Consolas"/>
                <a:cs typeface="Consolas"/>
              </a:rPr>
              <a:t>(</a:t>
            </a:r>
            <a:r>
              <a:rPr lang="en-US" sz="2000" b="0" i="0" dirty="0" err="1">
                <a:solidFill>
                  <a:srgbClr val="E6E6E6"/>
                </a:solidFill>
                <a:latin typeface="Consolas"/>
                <a:cs typeface="Consolas"/>
              </a:rPr>
              <a:t>api_key</a:t>
            </a:r>
            <a:r>
              <a:rPr lang="en-US" sz="2000" b="0" i="0" dirty="0">
                <a:solidFill>
                  <a:srgbClr val="E6E6E6"/>
                </a:solidFill>
                <a:latin typeface="Consolas"/>
                <a:cs typeface="Consolas"/>
              </a:rPr>
              <a:t>=</a:t>
            </a:r>
            <a:r>
              <a:rPr lang="en-US" sz="2000" b="0" i="0" dirty="0">
                <a:solidFill>
                  <a:srgbClr val="A6E22E"/>
                </a:solidFill>
                <a:latin typeface="Consolas"/>
                <a:cs typeface="Consolas"/>
              </a:rPr>
              <a:t>"AQ.Ab8R..."</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a:t>
            </a:r>
          </a:p>
          <a:p>
            <a:pPr algn="l" rtl="0"/>
            <a:r>
              <a:rPr lang="en-US" sz="2000" b="0" i="0" dirty="0">
                <a:solidFill>
                  <a:srgbClr val="E6E6E6"/>
                </a:solidFill>
                <a:latin typeface="Consolas"/>
                <a:cs typeface="Consolas"/>
              </a:rPr>
              <a:t>response = </a:t>
            </a:r>
            <a:r>
              <a:rPr lang="en-US" sz="2000" b="0" i="0" dirty="0" err="1">
                <a:solidFill>
                  <a:srgbClr val="E6E6E6"/>
                </a:solidFill>
                <a:latin typeface="Consolas"/>
                <a:cs typeface="Consolas"/>
              </a:rPr>
              <a:t>client.models.generate_content</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model=</a:t>
            </a:r>
            <a:r>
              <a:rPr lang="en-US" sz="2000" b="0" i="0" dirty="0">
                <a:solidFill>
                  <a:srgbClr val="A6E22E"/>
                </a:solidFill>
                <a:latin typeface="Consolas"/>
                <a:cs typeface="Consolas"/>
              </a:rPr>
              <a:t>"gemini-3.6-flash"</a:t>
            </a:r>
            <a:r>
              <a:rPr lang="en-US" sz="2000" b="0" i="0" dirty="0">
                <a:solidFill>
                  <a:srgbClr val="E6E6E6"/>
                </a:solidFill>
                <a:latin typeface="Consolas"/>
                <a:cs typeface="Consolas"/>
              </a:rPr>
              <a:t>,</a:t>
            </a:r>
          </a:p>
          <a:p>
            <a:pPr algn="l" rtl="0"/>
            <a:r>
              <a:rPr lang="en-US" sz="2000" b="0" i="0" dirty="0">
                <a:solidFill>
                  <a:srgbClr val="E6E6E6"/>
                </a:solidFill>
                <a:latin typeface="Consolas"/>
                <a:cs typeface="Consolas"/>
              </a:rPr>
              <a:t>    contents=</a:t>
            </a:r>
            <a:r>
              <a:rPr lang="en-US" sz="2000" b="0" i="0" dirty="0">
                <a:solidFill>
                  <a:srgbClr val="A6E22E"/>
                </a:solidFill>
                <a:latin typeface="Consolas"/>
                <a:cs typeface="Consolas"/>
              </a:rPr>
              <a:t>"suggest an easy word for alias game"</a:t>
            </a:r>
          </a:p>
          <a:p>
            <a:pPr algn="l" rtl="0"/>
            <a:r>
              <a:rPr lang="en-US" sz="2000" b="0" i="0" dirty="0">
                <a:solidFill>
                  <a:srgbClr val="E6E6E6"/>
                </a:solidFill>
                <a:latin typeface="Consolas"/>
                <a:cs typeface="Consolas"/>
              </a:rPr>
              <a:t>)</a:t>
            </a:r>
          </a:p>
          <a:p>
            <a:pPr algn="l" rtl="0"/>
            <a:r>
              <a:rPr lang="en-US" sz="2000" b="0" i="0" dirty="0">
                <a:solidFill>
                  <a:srgbClr val="66D9EF"/>
                </a:solidFill>
                <a:latin typeface="Consolas"/>
                <a:cs typeface="Consolas"/>
              </a:rPr>
              <a:t>print</a:t>
            </a:r>
            <a:r>
              <a:rPr lang="en-US" sz="2000" b="0" i="0" dirty="0">
                <a:solidFill>
                  <a:srgbClr val="E6E6E6"/>
                </a:solidFill>
                <a:latin typeface="Consolas"/>
                <a:cs typeface="Consolas"/>
              </a:rPr>
              <a:t>(</a:t>
            </a:r>
            <a:r>
              <a:rPr lang="en-US" sz="2000" b="0" i="0" dirty="0" err="1">
                <a:solidFill>
                  <a:srgbClr val="E6E6E6"/>
                </a:solidFill>
                <a:latin typeface="Consolas"/>
                <a:cs typeface="Consolas"/>
              </a:rPr>
              <a:t>response.text</a:t>
            </a:r>
            <a:r>
              <a:rPr lang="en-US" sz="2000" b="0" i="0" dirty="0">
                <a:solidFill>
                  <a:srgbClr val="E6E6E6"/>
                </a:solidFill>
                <a:latin typeface="Consolas"/>
                <a:cs typeface="Consolas"/>
              </a:rPr>
              <a:t>)</a:t>
            </a:r>
          </a:p>
        </p:txBody>
      </p:sp>
      <p:sp>
        <p:nvSpPr>
          <p:cNvPr id="6" name="Oval 5"/>
          <p:cNvSpPr/>
          <p:nvPr/>
        </p:nvSpPr>
        <p:spPr>
          <a:xfrm>
            <a:off x="11064240" y="1463040"/>
            <a:ext cx="548640" cy="54864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7" name="TextBox 6"/>
          <p:cNvSpPr txBox="1"/>
          <p:nvPr/>
        </p:nvSpPr>
        <p:spPr>
          <a:xfrm>
            <a:off x="8046720" y="1417320"/>
            <a:ext cx="2926080" cy="365760"/>
          </a:xfrm>
          <a:prstGeom prst="rect">
            <a:avLst/>
          </a:prstGeom>
          <a:noFill/>
        </p:spPr>
        <p:txBody>
          <a:bodyPr wrap="square" lIns="45720" rIns="45720" anchor="t">
            <a:spAutoFit/>
          </a:bodyPr>
          <a:lstStyle/>
          <a:p>
            <a:pPr algn="r" rtl="0"/>
            <a:r>
              <a:rPr lang="en-US" sz="1700" b="1" i="0">
                <a:solidFill>
                  <a:srgbClr val="2D9F5C"/>
                </a:solidFill>
                <a:latin typeface="Consolas"/>
                <a:cs typeface="Consolas"/>
              </a:rPr>
              <a:t>import</a:t>
            </a:r>
          </a:p>
        </p:txBody>
      </p:sp>
      <p:sp>
        <p:nvSpPr>
          <p:cNvPr id="8" name="TextBox 7"/>
          <p:cNvSpPr txBox="1"/>
          <p:nvPr/>
        </p:nvSpPr>
        <p:spPr>
          <a:xfrm>
            <a:off x="8046720" y="178308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מביאים את הספרייה</a:t>
            </a:r>
          </a:p>
        </p:txBody>
      </p:sp>
      <p:sp>
        <p:nvSpPr>
          <p:cNvPr id="9" name="Oval 8"/>
          <p:cNvSpPr/>
          <p:nvPr/>
        </p:nvSpPr>
        <p:spPr>
          <a:xfrm>
            <a:off x="11064240" y="2331720"/>
            <a:ext cx="548640" cy="5486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10" name="TextBox 9"/>
          <p:cNvSpPr txBox="1"/>
          <p:nvPr/>
        </p:nvSpPr>
        <p:spPr>
          <a:xfrm>
            <a:off x="8046720" y="2286000"/>
            <a:ext cx="2926080" cy="365760"/>
          </a:xfrm>
          <a:prstGeom prst="rect">
            <a:avLst/>
          </a:prstGeom>
          <a:noFill/>
        </p:spPr>
        <p:txBody>
          <a:bodyPr wrap="square" lIns="45720" rIns="45720" anchor="t">
            <a:spAutoFit/>
          </a:bodyPr>
          <a:lstStyle/>
          <a:p>
            <a:pPr algn="r" rtl="0"/>
            <a:r>
              <a:rPr lang="en-US" sz="1700" b="1" i="0">
                <a:solidFill>
                  <a:srgbClr val="FF9F1C"/>
                </a:solidFill>
                <a:latin typeface="Consolas"/>
                <a:cs typeface="Consolas"/>
              </a:rPr>
              <a:t>Client</a:t>
            </a:r>
          </a:p>
        </p:txBody>
      </p:sp>
      <p:sp>
        <p:nvSpPr>
          <p:cNvPr id="11" name="TextBox 10"/>
          <p:cNvSpPr txBox="1"/>
          <p:nvPr/>
        </p:nvSpPr>
        <p:spPr>
          <a:xfrm>
            <a:off x="8046720" y="265176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מתחברים ל-</a:t>
            </a:r>
            <a:r>
              <a:rPr lang="en-US" sz="1500" b="0" i="0">
                <a:solidFill>
                  <a:srgbClr val="5F6F78"/>
                </a:solidFill>
                <a:latin typeface="Arial"/>
                <a:cs typeface="Arial"/>
              </a:rPr>
              <a:t>Google</a:t>
            </a:r>
            <a:r>
              <a:rPr lang="he-IL" sz="1500" b="0" i="0">
                <a:solidFill>
                  <a:srgbClr val="5F6F78"/>
                </a:solidFill>
                <a:latin typeface="Arial"/>
                <a:cs typeface="Arial"/>
              </a:rPr>
              <a:t> עם המפתח</a:t>
            </a:r>
          </a:p>
        </p:txBody>
      </p:sp>
      <p:sp>
        <p:nvSpPr>
          <p:cNvPr id="12" name="Oval 11"/>
          <p:cNvSpPr/>
          <p:nvPr/>
        </p:nvSpPr>
        <p:spPr>
          <a:xfrm>
            <a:off x="11064240" y="3200400"/>
            <a:ext cx="548640" cy="5486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3" name="TextBox 12"/>
          <p:cNvSpPr txBox="1"/>
          <p:nvPr/>
        </p:nvSpPr>
        <p:spPr>
          <a:xfrm>
            <a:off x="8046720" y="3154680"/>
            <a:ext cx="2926080" cy="365760"/>
          </a:xfrm>
          <a:prstGeom prst="rect">
            <a:avLst/>
          </a:prstGeom>
          <a:noFill/>
        </p:spPr>
        <p:txBody>
          <a:bodyPr wrap="square" lIns="45720" rIns="45720" anchor="t">
            <a:spAutoFit/>
          </a:bodyPr>
          <a:lstStyle/>
          <a:p>
            <a:pPr algn="r" rtl="0"/>
            <a:r>
              <a:rPr lang="en-US" sz="1700" b="1" i="0">
                <a:solidFill>
                  <a:srgbClr val="EF476F"/>
                </a:solidFill>
                <a:latin typeface="Consolas"/>
                <a:cs typeface="Consolas"/>
              </a:rPr>
              <a:t>generate_content</a:t>
            </a:r>
          </a:p>
        </p:txBody>
      </p:sp>
      <p:sp>
        <p:nvSpPr>
          <p:cNvPr id="14" name="TextBox 13"/>
          <p:cNvSpPr txBox="1"/>
          <p:nvPr/>
        </p:nvSpPr>
        <p:spPr>
          <a:xfrm>
            <a:off x="8046720" y="3520440"/>
            <a:ext cx="2926080" cy="323165"/>
          </a:xfrm>
          <a:prstGeom prst="rect">
            <a:avLst/>
          </a:prstGeom>
          <a:noFill/>
        </p:spPr>
        <p:txBody>
          <a:bodyPr wrap="square" lIns="45720" rIns="45720" anchor="t">
            <a:spAutoFit/>
          </a:bodyPr>
          <a:lstStyle/>
          <a:p>
            <a:pPr algn="r" rtl="1"/>
            <a:r>
              <a:rPr lang="he-IL" sz="1500" b="0" i="0" dirty="0">
                <a:solidFill>
                  <a:srgbClr val="5F6F78"/>
                </a:solidFill>
                <a:latin typeface="Arial"/>
                <a:cs typeface="Arial"/>
              </a:rPr>
              <a:t>בוחרים מודל + שאלה</a:t>
            </a:r>
          </a:p>
        </p:txBody>
      </p:sp>
      <p:sp>
        <p:nvSpPr>
          <p:cNvPr id="15" name="Oval 14"/>
          <p:cNvSpPr/>
          <p:nvPr/>
        </p:nvSpPr>
        <p:spPr>
          <a:xfrm>
            <a:off x="11064240" y="4069079"/>
            <a:ext cx="548640" cy="5486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4</a:t>
            </a:r>
          </a:p>
        </p:txBody>
      </p:sp>
      <p:sp>
        <p:nvSpPr>
          <p:cNvPr id="16" name="TextBox 15"/>
          <p:cNvSpPr txBox="1"/>
          <p:nvPr/>
        </p:nvSpPr>
        <p:spPr>
          <a:xfrm>
            <a:off x="8046720" y="4023359"/>
            <a:ext cx="2926080" cy="365760"/>
          </a:xfrm>
          <a:prstGeom prst="rect">
            <a:avLst/>
          </a:prstGeom>
          <a:noFill/>
        </p:spPr>
        <p:txBody>
          <a:bodyPr wrap="square" lIns="45720" rIns="45720" anchor="t">
            <a:spAutoFit/>
          </a:bodyPr>
          <a:lstStyle/>
          <a:p>
            <a:pPr algn="r" rtl="0"/>
            <a:r>
              <a:rPr lang="en-US" sz="1700" b="1" i="0">
                <a:solidFill>
                  <a:srgbClr val="118AB2"/>
                </a:solidFill>
                <a:latin typeface="Consolas"/>
                <a:cs typeface="Consolas"/>
              </a:rPr>
              <a:t>response.text</a:t>
            </a:r>
          </a:p>
        </p:txBody>
      </p:sp>
      <p:sp>
        <p:nvSpPr>
          <p:cNvPr id="17" name="TextBox 16"/>
          <p:cNvSpPr txBox="1"/>
          <p:nvPr/>
        </p:nvSpPr>
        <p:spPr>
          <a:xfrm>
            <a:off x="8046720" y="4389120"/>
            <a:ext cx="2926080" cy="411480"/>
          </a:xfrm>
          <a:prstGeom prst="rect">
            <a:avLst/>
          </a:prstGeom>
          <a:noFill/>
        </p:spPr>
        <p:txBody>
          <a:bodyPr wrap="square" lIns="45720" rIns="45720" anchor="t">
            <a:spAutoFit/>
          </a:bodyPr>
          <a:lstStyle/>
          <a:p>
            <a:pPr algn="r" rtl="1"/>
            <a:r>
              <a:rPr lang="he-IL" sz="1500" b="0" i="0">
                <a:solidFill>
                  <a:srgbClr val="5F6F78"/>
                </a:solidFill>
                <a:latin typeface="Arial"/>
                <a:cs typeface="Arial"/>
              </a:rPr>
              <a:t>התשובה של </a:t>
            </a:r>
            <a:r>
              <a:rPr lang="en-US" sz="1500" b="0" i="0">
                <a:solidFill>
                  <a:srgbClr val="5F6F78"/>
                </a:solidFill>
                <a:latin typeface="Arial"/>
                <a:cs typeface="Arial"/>
              </a:rPr>
              <a:t>Gemini</a:t>
            </a:r>
            <a:r>
              <a:rPr lang="he-IL" sz="1500" b="0" i="0">
                <a:solidFill>
                  <a:srgbClr val="5F6F78"/>
                </a:solidFill>
                <a:latin typeface="Arial"/>
                <a:cs typeface="Arial"/>
              </a:rPr>
              <a:t> - מחרוזת</a:t>
            </a:r>
          </a:p>
        </p:txBody>
      </p:sp>
      <p:sp>
        <p:nvSpPr>
          <p:cNvPr id="18" name="Rounded Rectangle 17"/>
          <p:cNvSpPr/>
          <p:nvPr/>
        </p:nvSpPr>
        <p:spPr>
          <a:xfrm>
            <a:off x="548640" y="5074920"/>
            <a:ext cx="32918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aiapibasic_example.py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בוחרים מודל</a:t>
            </a:r>
          </a:p>
        </p:txBody>
      </p:sp>
      <p:sp>
        <p:nvSpPr>
          <p:cNvPr id="4" name="Rounded Rectangle 3"/>
          <p:cNvSpPr/>
          <p:nvPr/>
        </p:nvSpPr>
        <p:spPr>
          <a:xfrm>
            <a:off x="809244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64040" y="1554480"/>
            <a:ext cx="777240" cy="77724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6" name="TextBox 5"/>
          <p:cNvSpPr txBox="1"/>
          <p:nvPr/>
        </p:nvSpPr>
        <p:spPr>
          <a:xfrm>
            <a:off x="809244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Flash</a:t>
            </a:r>
          </a:p>
        </p:txBody>
      </p:sp>
      <p:sp>
        <p:nvSpPr>
          <p:cNvPr id="7" name="TextBox 6"/>
          <p:cNvSpPr txBox="1"/>
          <p:nvPr/>
        </p:nvSpPr>
        <p:spPr>
          <a:xfrm>
            <a:off x="8092440" y="2834640"/>
            <a:ext cx="3520440" cy="365760"/>
          </a:xfrm>
          <a:prstGeom prst="rect">
            <a:avLst/>
          </a:prstGeom>
          <a:noFill/>
        </p:spPr>
        <p:txBody>
          <a:bodyPr wrap="square" lIns="45720" rIns="45720" anchor="t">
            <a:spAutoFit/>
          </a:bodyPr>
          <a:lstStyle/>
          <a:p>
            <a:pPr algn="ctr" rtl="0"/>
            <a:r>
              <a:rPr lang="en-US" sz="1300" b="1" i="0">
                <a:solidFill>
                  <a:srgbClr val="FF9F1C"/>
                </a:solidFill>
                <a:latin typeface="Consolas"/>
                <a:cs typeface="Consolas"/>
              </a:rPr>
              <a:t>gemini-3.6-flash</a:t>
            </a:r>
          </a:p>
        </p:txBody>
      </p:sp>
      <p:sp>
        <p:nvSpPr>
          <p:cNvPr id="8" name="TextBox 7"/>
          <p:cNvSpPr txBox="1"/>
          <p:nvPr/>
        </p:nvSpPr>
        <p:spPr>
          <a:xfrm>
            <a:off x="8275319"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מהיר, מספיק טוב לרוב הדברים. בו נשתמש היום</a:t>
            </a:r>
          </a:p>
        </p:txBody>
      </p:sp>
      <p:sp>
        <p:nvSpPr>
          <p:cNvPr id="9" name="Rounded Rectangle 8"/>
          <p:cNvSpPr/>
          <p:nvPr/>
        </p:nvSpPr>
        <p:spPr>
          <a:xfrm>
            <a:off x="434340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715000" y="1554480"/>
            <a:ext cx="777240" cy="77724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1" name="TextBox 10"/>
          <p:cNvSpPr txBox="1"/>
          <p:nvPr/>
        </p:nvSpPr>
        <p:spPr>
          <a:xfrm>
            <a:off x="434340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Pro</a:t>
            </a:r>
          </a:p>
        </p:txBody>
      </p:sp>
      <p:sp>
        <p:nvSpPr>
          <p:cNvPr id="12" name="TextBox 11"/>
          <p:cNvSpPr txBox="1"/>
          <p:nvPr/>
        </p:nvSpPr>
        <p:spPr>
          <a:xfrm>
            <a:off x="4343400" y="2834640"/>
            <a:ext cx="3520440" cy="365760"/>
          </a:xfrm>
          <a:prstGeom prst="rect">
            <a:avLst/>
          </a:prstGeom>
          <a:noFill/>
        </p:spPr>
        <p:txBody>
          <a:bodyPr wrap="square" lIns="45720" rIns="45720" anchor="t">
            <a:spAutoFit/>
          </a:bodyPr>
          <a:lstStyle/>
          <a:p>
            <a:pPr algn="ctr" rtl="0"/>
            <a:r>
              <a:rPr lang="en-US" sz="1300" b="1" i="0">
                <a:solidFill>
                  <a:srgbClr val="7B4FB0"/>
                </a:solidFill>
                <a:latin typeface="Consolas"/>
                <a:cs typeface="Consolas"/>
              </a:rPr>
              <a:t>gemini-pro-latest</a:t>
            </a:r>
          </a:p>
        </p:txBody>
      </p:sp>
      <p:sp>
        <p:nvSpPr>
          <p:cNvPr id="13" name="TextBox 12"/>
          <p:cNvSpPr txBox="1"/>
          <p:nvPr/>
        </p:nvSpPr>
        <p:spPr>
          <a:xfrm>
            <a:off x="4526280"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חכם יותר, אבל איטי יותר ומוגבל יותר</a:t>
            </a:r>
          </a:p>
        </p:txBody>
      </p:sp>
      <p:sp>
        <p:nvSpPr>
          <p:cNvPr id="14" name="Rounded Rectangle 13"/>
          <p:cNvSpPr/>
          <p:nvPr/>
        </p:nvSpPr>
        <p:spPr>
          <a:xfrm>
            <a:off x="594360" y="1417320"/>
            <a:ext cx="3520440" cy="26517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65960" y="1554480"/>
            <a:ext cx="777240" cy="7772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a:t>
            </a:r>
          </a:p>
        </p:txBody>
      </p:sp>
      <p:sp>
        <p:nvSpPr>
          <p:cNvPr id="16" name="TextBox 15"/>
          <p:cNvSpPr txBox="1"/>
          <p:nvPr/>
        </p:nvSpPr>
        <p:spPr>
          <a:xfrm>
            <a:off x="594360" y="2377440"/>
            <a:ext cx="3520440" cy="457200"/>
          </a:xfrm>
          <a:prstGeom prst="rect">
            <a:avLst/>
          </a:prstGeom>
          <a:noFill/>
        </p:spPr>
        <p:txBody>
          <a:bodyPr wrap="square" lIns="45720" rIns="45720" anchor="t">
            <a:spAutoFit/>
          </a:bodyPr>
          <a:lstStyle/>
          <a:p>
            <a:pPr algn="ctr" rtl="0"/>
            <a:r>
              <a:rPr lang="en-US" sz="2400" b="1" i="0">
                <a:solidFill>
                  <a:srgbClr val="1B2B34"/>
                </a:solidFill>
                <a:latin typeface="Arial"/>
                <a:cs typeface="Arial"/>
              </a:rPr>
              <a:t>Lite</a:t>
            </a:r>
          </a:p>
        </p:txBody>
      </p:sp>
      <p:sp>
        <p:nvSpPr>
          <p:cNvPr id="17" name="TextBox 16"/>
          <p:cNvSpPr txBox="1"/>
          <p:nvPr/>
        </p:nvSpPr>
        <p:spPr>
          <a:xfrm>
            <a:off x="594360" y="2834640"/>
            <a:ext cx="3520440" cy="365760"/>
          </a:xfrm>
          <a:prstGeom prst="rect">
            <a:avLst/>
          </a:prstGeom>
          <a:noFill/>
        </p:spPr>
        <p:txBody>
          <a:bodyPr wrap="square" lIns="45720" rIns="45720" anchor="t">
            <a:spAutoFit/>
          </a:bodyPr>
          <a:lstStyle/>
          <a:p>
            <a:pPr algn="ctr" rtl="0"/>
            <a:r>
              <a:rPr lang="en-US" sz="1300" b="1" i="0">
                <a:solidFill>
                  <a:srgbClr val="118AB2"/>
                </a:solidFill>
                <a:latin typeface="Consolas"/>
                <a:cs typeface="Consolas"/>
              </a:rPr>
              <a:t>gemini-flash-lite-latest</a:t>
            </a:r>
          </a:p>
        </p:txBody>
      </p:sp>
      <p:sp>
        <p:nvSpPr>
          <p:cNvPr id="18" name="TextBox 17"/>
          <p:cNvSpPr txBox="1"/>
          <p:nvPr/>
        </p:nvSpPr>
        <p:spPr>
          <a:xfrm>
            <a:off x="777240" y="3246120"/>
            <a:ext cx="3154680" cy="73152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הכי מהיר וחסכוני, קצת פחות חכם</a:t>
            </a:r>
          </a:p>
        </p:txBody>
      </p:sp>
      <p:sp>
        <p:nvSpPr>
          <p:cNvPr id="19" name="Rounded Rectangle 18"/>
          <p:cNvSpPr/>
          <p:nvPr/>
        </p:nvSpPr>
        <p:spPr>
          <a:xfrm>
            <a:off x="548640" y="4343400"/>
            <a:ext cx="6583680" cy="137160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613702"/>
            <a:ext cx="6126480" cy="830997"/>
          </a:xfrm>
          <a:prstGeom prst="rect">
            <a:avLst/>
          </a:prstGeom>
          <a:noFill/>
        </p:spPr>
        <p:txBody>
          <a:bodyPr wrap="square" lIns="45720" rIns="45720" anchor="ctr">
            <a:spAutoFit/>
          </a:bodyPr>
          <a:lstStyle/>
          <a:p>
            <a:pPr algn="l" rtl="0"/>
            <a:r>
              <a:rPr lang="en-US" sz="2400" b="0" i="0" dirty="0">
                <a:solidFill>
                  <a:srgbClr val="FF9F1C"/>
                </a:solidFill>
                <a:latin typeface="Consolas"/>
                <a:cs typeface="Consolas"/>
              </a:rPr>
              <a:t>for</a:t>
            </a:r>
            <a:r>
              <a:rPr lang="en-US" sz="2400" b="0" i="0" dirty="0">
                <a:solidFill>
                  <a:srgbClr val="E6E6E6"/>
                </a:solidFill>
                <a:latin typeface="Consolas"/>
                <a:cs typeface="Consolas"/>
              </a:rPr>
              <a:t> model </a:t>
            </a:r>
            <a:r>
              <a:rPr lang="en-US" sz="2400" b="0" i="0" dirty="0">
                <a:solidFill>
                  <a:srgbClr val="FF9F1C"/>
                </a:solidFill>
                <a:latin typeface="Consolas"/>
                <a:cs typeface="Consolas"/>
              </a:rPr>
              <a:t>in</a:t>
            </a:r>
            <a:r>
              <a:rPr lang="en-US" sz="2400" b="0" i="0" dirty="0">
                <a:solidFill>
                  <a:srgbClr val="E6E6E6"/>
                </a:solidFill>
                <a:latin typeface="Consolas"/>
                <a:cs typeface="Consolas"/>
              </a:rPr>
              <a:t> </a:t>
            </a:r>
            <a:r>
              <a:rPr lang="en-US" sz="2400" b="0" i="0" dirty="0" err="1">
                <a:solidFill>
                  <a:srgbClr val="E6E6E6"/>
                </a:solidFill>
                <a:latin typeface="Consolas"/>
                <a:cs typeface="Consolas"/>
              </a:rPr>
              <a:t>client.models.list</a:t>
            </a:r>
            <a:r>
              <a:rPr lang="en-US" sz="2400" b="0" i="0" dirty="0">
                <a:solidFill>
                  <a:srgbClr val="E6E6E6"/>
                </a:solidFill>
                <a:latin typeface="Consolas"/>
                <a:cs typeface="Consolas"/>
              </a:rPr>
              <a:t>():</a:t>
            </a:r>
          </a:p>
          <a:p>
            <a:pPr algn="l" rtl="0"/>
            <a:r>
              <a:rPr lang="en-US" sz="2400" b="0" i="0" dirty="0">
                <a:solidFill>
                  <a:srgbClr val="E6E6E6"/>
                </a:solidFill>
                <a:latin typeface="Consolas"/>
                <a:cs typeface="Consolas"/>
              </a:rPr>
              <a:t>    </a:t>
            </a:r>
            <a:r>
              <a:rPr lang="en-US" sz="2400" b="0" i="0" dirty="0">
                <a:solidFill>
                  <a:srgbClr val="66D9EF"/>
                </a:solidFill>
                <a:latin typeface="Consolas"/>
                <a:cs typeface="Consolas"/>
              </a:rPr>
              <a:t>print</a:t>
            </a:r>
            <a:r>
              <a:rPr lang="en-US" sz="2400" b="0" i="0" dirty="0">
                <a:solidFill>
                  <a:srgbClr val="E6E6E6"/>
                </a:solidFill>
                <a:latin typeface="Consolas"/>
                <a:cs typeface="Consolas"/>
              </a:rPr>
              <a:t>(model.name)</a:t>
            </a:r>
          </a:p>
        </p:txBody>
      </p:sp>
      <p:sp>
        <p:nvSpPr>
          <p:cNvPr id="21" name="TextBox 20"/>
          <p:cNvSpPr txBox="1"/>
          <p:nvPr/>
        </p:nvSpPr>
        <p:spPr>
          <a:xfrm>
            <a:off x="922390" y="5553426"/>
            <a:ext cx="4206240" cy="1371600"/>
          </a:xfrm>
          <a:prstGeom prst="rect">
            <a:avLst/>
          </a:prstGeom>
          <a:noFill/>
        </p:spPr>
        <p:txBody>
          <a:bodyPr wrap="square" lIns="45720" rIns="45720" anchor="ctr">
            <a:spAutoFit/>
          </a:bodyPr>
          <a:lstStyle/>
          <a:p>
            <a:pPr algn="r" rtl="1"/>
            <a:r>
              <a:rPr lang="he-IL" sz="1700" b="1" i="0" dirty="0">
                <a:solidFill>
                  <a:srgbClr val="1B2B34"/>
                </a:solidFill>
                <a:latin typeface="Arial"/>
                <a:cs typeface="Arial"/>
              </a:rPr>
              <a:t>רוצים לראות את כל המודלים? </a:t>
            </a:r>
          </a:p>
          <a:p>
            <a:pPr algn="r" rtl="1"/>
            <a:r>
              <a:rPr lang="he-IL" sz="1700" b="0" i="0" dirty="0">
                <a:solidFill>
                  <a:srgbClr val="1B2B34"/>
                </a:solidFill>
                <a:latin typeface="Arial"/>
                <a:cs typeface="Arial"/>
              </a:rPr>
              <a:t>לולאה על רשימה - בדיוק כמו בשיעור הקודם!</a:t>
            </a:r>
          </a:p>
        </p:txBody>
      </p:sp>
      <p:sp>
        <p:nvSpPr>
          <p:cNvPr id="22" name="TextBox 21">
            <a:extLst>
              <a:ext uri="{FF2B5EF4-FFF2-40B4-BE49-F238E27FC236}">
                <a16:creationId xmlns:a16="http://schemas.microsoft.com/office/drawing/2014/main" id="{D999BBED-9B47-C64B-B581-E6FAEBC9E486}"/>
              </a:ext>
            </a:extLst>
          </p:cNvPr>
          <p:cNvSpPr txBox="1"/>
          <p:nvPr/>
        </p:nvSpPr>
        <p:spPr>
          <a:xfrm>
            <a:off x="7200856" y="6013180"/>
            <a:ext cx="4526367" cy="369332"/>
          </a:xfrm>
          <a:prstGeom prst="rect">
            <a:avLst/>
          </a:prstGeom>
          <a:noFill/>
        </p:spPr>
        <p:txBody>
          <a:bodyPr wrap="none" rtlCol="1">
            <a:spAutoFit/>
          </a:bodyPr>
          <a:lstStyle/>
          <a:p>
            <a:r>
              <a:rPr lang="en-US" dirty="0">
                <a:hlinkClick r:id="rId3"/>
              </a:rPr>
              <a:t>https://ai.google.dev/gemini-api/docs/models</a:t>
            </a:r>
            <a:endParaRPr lang="he-IL"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בונים </a:t>
            </a:r>
            <a:r>
              <a:rPr lang="en-US" sz="3600" b="1" i="0" dirty="0">
                <a:solidFill>
                  <a:srgbClr val="1B4332"/>
                </a:solidFill>
                <a:latin typeface="Arial"/>
                <a:cs typeface="Arial"/>
              </a:rPr>
              <a:t>prompt</a:t>
            </a:r>
            <a:r>
              <a:rPr lang="he-IL" sz="3600" b="1" i="0" dirty="0">
                <a:solidFill>
                  <a:srgbClr val="1B4332"/>
                </a:solidFill>
                <a:latin typeface="Arial"/>
                <a:cs typeface="Arial"/>
              </a:rPr>
              <a:t> לא קבוע: בעזרת משתנים</a:t>
            </a:r>
          </a:p>
        </p:txBody>
      </p:sp>
      <p:sp>
        <p:nvSpPr>
          <p:cNvPr id="4" name="Rounded Rectangle 3"/>
          <p:cNvSpPr/>
          <p:nvPr/>
        </p:nvSpPr>
        <p:spPr>
          <a:xfrm>
            <a:off x="548640" y="1417320"/>
            <a:ext cx="6949440" cy="301752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33419"/>
            <a:ext cx="6492240" cy="2585323"/>
          </a:xfrm>
          <a:prstGeom prst="rect">
            <a:avLst/>
          </a:prstGeom>
          <a:noFill/>
        </p:spPr>
        <p:txBody>
          <a:bodyPr wrap="square" lIns="45720" rIns="45720" anchor="ctr">
            <a:spAutoFit/>
          </a:bodyPr>
          <a:lstStyle/>
          <a:p>
            <a:pPr algn="l" rtl="0"/>
            <a:r>
              <a:rPr lang="en-US" b="0" i="0" dirty="0">
                <a:solidFill>
                  <a:srgbClr val="E6E6E6"/>
                </a:solidFill>
                <a:latin typeface="Consolas"/>
                <a:cs typeface="Consolas"/>
              </a:rPr>
              <a:t>topic = </a:t>
            </a:r>
            <a:r>
              <a:rPr lang="en-US" b="0" i="0" dirty="0">
                <a:solidFill>
                  <a:srgbClr val="A6E22E"/>
                </a:solidFill>
                <a:latin typeface="Consolas"/>
                <a:cs typeface="Consolas"/>
              </a:rPr>
              <a:t>"dinosaurs"</a:t>
            </a:r>
          </a:p>
          <a:p>
            <a:pPr algn="l" rtl="0"/>
            <a:r>
              <a:rPr lang="en-US" b="0" i="0" dirty="0">
                <a:solidFill>
                  <a:srgbClr val="E6E6E6"/>
                </a:solidFill>
                <a:latin typeface="Consolas"/>
                <a:cs typeface="Consolas"/>
              </a:rPr>
              <a:t>count = </a:t>
            </a:r>
            <a:r>
              <a:rPr lang="en-US" b="0" i="0" dirty="0">
                <a:solidFill>
                  <a:srgbClr val="FFD166"/>
                </a:solidFill>
                <a:latin typeface="Consolas"/>
                <a:cs typeface="Consolas"/>
              </a:rPr>
              <a:t>3</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prompt = </a:t>
            </a:r>
            <a:r>
              <a:rPr lang="en-US" b="0" i="0" dirty="0">
                <a:solidFill>
                  <a:srgbClr val="A6E22E"/>
                </a:solidFill>
                <a:latin typeface="Consolas"/>
                <a:cs typeface="Consolas"/>
              </a:rPr>
              <a:t>"Tell me "</a:t>
            </a:r>
            <a:r>
              <a:rPr lang="en-US" b="0" i="0" dirty="0">
                <a:solidFill>
                  <a:srgbClr val="E6E6E6"/>
                </a:solidFill>
                <a:latin typeface="Consolas"/>
                <a:cs typeface="Consolas"/>
              </a:rPr>
              <a:t> + </a:t>
            </a:r>
            <a:r>
              <a:rPr lang="en-US" b="0" i="0" dirty="0">
                <a:solidFill>
                  <a:srgbClr val="66D9EF"/>
                </a:solidFill>
                <a:latin typeface="Consolas"/>
                <a:cs typeface="Consolas"/>
              </a:rPr>
              <a:t>str</a:t>
            </a:r>
            <a:r>
              <a:rPr lang="en-US" b="0" i="0" dirty="0">
                <a:solidFill>
                  <a:srgbClr val="E6E6E6"/>
                </a:solidFill>
                <a:latin typeface="Consolas"/>
                <a:cs typeface="Consolas"/>
              </a:rPr>
              <a:t>(count) + </a:t>
            </a:r>
            <a:r>
              <a:rPr lang="en-US" b="0" i="0" dirty="0">
                <a:solidFill>
                  <a:srgbClr val="A6E22E"/>
                </a:solidFill>
                <a:latin typeface="Consolas"/>
                <a:cs typeface="Consolas"/>
              </a:rPr>
              <a:t>" facts about "</a:t>
            </a:r>
            <a:r>
              <a:rPr lang="en-US" b="0" i="0" dirty="0">
                <a:solidFill>
                  <a:srgbClr val="E6E6E6"/>
                </a:solidFill>
                <a:latin typeface="Consolas"/>
                <a:cs typeface="Consolas"/>
              </a:rPr>
              <a:t> + topic</a:t>
            </a:r>
          </a:p>
          <a:p>
            <a:pPr algn="l" rtl="0"/>
            <a:r>
              <a:rPr lang="en-US" b="0" i="0" dirty="0">
                <a:solidFill>
                  <a:srgbClr val="E6E6E6"/>
                </a:solidFill>
                <a:latin typeface="Consolas"/>
                <a:cs typeface="Consolas"/>
              </a:rPr>
              <a:t>prompt = prompt + </a:t>
            </a:r>
            <a:r>
              <a:rPr lang="en-US" b="0" i="0" dirty="0">
                <a:solidFill>
                  <a:srgbClr val="A6E22E"/>
                </a:solidFill>
                <a:latin typeface="Consolas"/>
                <a:cs typeface="Consolas"/>
              </a:rPr>
              <a:t>"\</a:t>
            </a:r>
            <a:r>
              <a:rPr lang="en-US" b="0" i="0" dirty="0" err="1">
                <a:solidFill>
                  <a:srgbClr val="A6E22E"/>
                </a:solidFill>
                <a:latin typeface="Consolas"/>
                <a:cs typeface="Consolas"/>
              </a:rPr>
              <a:t>nAnswer</a:t>
            </a:r>
            <a:r>
              <a:rPr lang="en-US" b="0" i="0" dirty="0">
                <a:solidFill>
                  <a:srgbClr val="A6E22E"/>
                </a:solidFill>
                <a:latin typeface="Consolas"/>
                <a:cs typeface="Consolas"/>
              </a:rPr>
              <a:t> in Hebrew."</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response = </a:t>
            </a:r>
            <a:r>
              <a:rPr lang="en-US" b="0" i="0" dirty="0" err="1">
                <a:solidFill>
                  <a:srgbClr val="E6E6E6"/>
                </a:solidFill>
                <a:latin typeface="Consolas"/>
                <a:cs typeface="Consolas"/>
              </a:rPr>
              <a:t>client.models.generate_content</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model=MODEL, contents=prompt)</a:t>
            </a:r>
          </a:p>
        </p:txBody>
      </p:sp>
      <p:sp>
        <p:nvSpPr>
          <p:cNvPr id="6" name="Rounded Rectangle 5"/>
          <p:cNvSpPr/>
          <p:nvPr/>
        </p:nvSpPr>
        <p:spPr>
          <a:xfrm>
            <a:off x="10332720" y="1463040"/>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a:t>
            </a:r>
          </a:p>
        </p:txBody>
      </p:sp>
      <p:sp>
        <p:nvSpPr>
          <p:cNvPr id="7" name="TextBox 6"/>
          <p:cNvSpPr txBox="1"/>
          <p:nvPr/>
        </p:nvSpPr>
        <p:spPr>
          <a:xfrm>
            <a:off x="7772400" y="1417320"/>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מחבר מחרוזות</a:t>
            </a:r>
          </a:p>
        </p:txBody>
      </p:sp>
      <p:sp>
        <p:nvSpPr>
          <p:cNvPr id="8" name="TextBox 7"/>
          <p:cNvSpPr txBox="1"/>
          <p:nvPr/>
        </p:nvSpPr>
        <p:spPr>
          <a:xfrm>
            <a:off x="7772400" y="1828800"/>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כמו הניקוד במשחק המכוניות</a:t>
            </a:r>
          </a:p>
        </p:txBody>
      </p:sp>
      <p:sp>
        <p:nvSpPr>
          <p:cNvPr id="9" name="Rounded Rectangle 8"/>
          <p:cNvSpPr/>
          <p:nvPr/>
        </p:nvSpPr>
        <p:spPr>
          <a:xfrm>
            <a:off x="10332720" y="2487168"/>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str()</a:t>
            </a:r>
          </a:p>
        </p:txBody>
      </p:sp>
      <p:sp>
        <p:nvSpPr>
          <p:cNvPr id="10" name="TextBox 9"/>
          <p:cNvSpPr txBox="1"/>
          <p:nvPr/>
        </p:nvSpPr>
        <p:spPr>
          <a:xfrm>
            <a:off x="7772400" y="2441448"/>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הופך מספר למחרוזת</a:t>
            </a:r>
          </a:p>
        </p:txBody>
      </p:sp>
      <p:sp>
        <p:nvSpPr>
          <p:cNvPr id="11" name="TextBox 10"/>
          <p:cNvSpPr txBox="1"/>
          <p:nvPr/>
        </p:nvSpPr>
        <p:spPr>
          <a:xfrm>
            <a:off x="7772400" y="2852928"/>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אי אפשר לחבר מספר למחרוזת בלי זה</a:t>
            </a:r>
          </a:p>
        </p:txBody>
      </p:sp>
      <p:sp>
        <p:nvSpPr>
          <p:cNvPr id="12" name="Rounded Rectangle 11"/>
          <p:cNvSpPr/>
          <p:nvPr/>
        </p:nvSpPr>
        <p:spPr>
          <a:xfrm>
            <a:off x="10332720" y="3511296"/>
            <a:ext cx="1280160" cy="640080"/>
          </a:xfrm>
          <a:prstGeom prst="roundRect">
            <a:avLst>
              <a:gd name="adj" fmla="val 8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2000" b="1" i="0">
                <a:solidFill>
                  <a:srgbClr val="FFFFFF"/>
                </a:solidFill>
                <a:latin typeface="Consolas"/>
                <a:cs typeface="Consolas"/>
              </a:rPr>
              <a:t>\n</a:t>
            </a:r>
          </a:p>
        </p:txBody>
      </p:sp>
      <p:sp>
        <p:nvSpPr>
          <p:cNvPr id="13" name="TextBox 12"/>
          <p:cNvSpPr txBox="1"/>
          <p:nvPr/>
        </p:nvSpPr>
        <p:spPr>
          <a:xfrm>
            <a:off x="7772400" y="3465576"/>
            <a:ext cx="2468880" cy="411480"/>
          </a:xfrm>
          <a:prstGeom prst="rect">
            <a:avLst/>
          </a:prstGeom>
          <a:noFill/>
        </p:spPr>
        <p:txBody>
          <a:bodyPr wrap="square" lIns="45720" rIns="45720" anchor="t">
            <a:spAutoFit/>
          </a:bodyPr>
          <a:lstStyle/>
          <a:p>
            <a:pPr algn="r" rtl="1"/>
            <a:r>
              <a:rPr lang="he-IL" sz="1800" b="1" i="0">
                <a:solidFill>
                  <a:srgbClr val="1B2B34"/>
                </a:solidFill>
                <a:latin typeface="Arial"/>
                <a:cs typeface="Arial"/>
              </a:rPr>
              <a:t>ירידת שורה</a:t>
            </a:r>
          </a:p>
        </p:txBody>
      </p:sp>
      <p:sp>
        <p:nvSpPr>
          <p:cNvPr id="14" name="TextBox 13"/>
          <p:cNvSpPr txBox="1"/>
          <p:nvPr/>
        </p:nvSpPr>
        <p:spPr>
          <a:xfrm>
            <a:off x="7772400" y="3877056"/>
            <a:ext cx="2468880" cy="5486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בתוך מחרוזת</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19</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פקודת הגדרות</a:t>
            </a:r>
            <a:endParaRPr lang="en-US" sz="3600" b="1" i="0" dirty="0">
              <a:solidFill>
                <a:srgbClr val="1B4332"/>
              </a:solidFill>
              <a:latin typeface="Arial"/>
              <a:cs typeface="Arial"/>
            </a:endParaRPr>
          </a:p>
        </p:txBody>
      </p:sp>
      <p:sp>
        <p:nvSpPr>
          <p:cNvPr id="4" name="Rounded Rectangle 3"/>
          <p:cNvSpPr/>
          <p:nvPr/>
        </p:nvSpPr>
        <p:spPr>
          <a:xfrm>
            <a:off x="548640" y="1417320"/>
            <a:ext cx="7315200" cy="292608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49199"/>
            <a:ext cx="6858000" cy="2862322"/>
          </a:xfrm>
          <a:prstGeom prst="rect">
            <a:avLst/>
          </a:prstGeom>
          <a:noFill/>
        </p:spPr>
        <p:txBody>
          <a:bodyPr wrap="square" lIns="45720" rIns="45720" anchor="ctr">
            <a:spAutoFit/>
          </a:bodyPr>
          <a:lstStyle/>
          <a:p>
            <a:pPr algn="l" rtl="0"/>
            <a:r>
              <a:rPr lang="en-US" b="0" i="0" dirty="0">
                <a:solidFill>
                  <a:srgbClr val="FF9F1C"/>
                </a:solidFill>
                <a:latin typeface="Consolas"/>
                <a:cs typeface="Consolas"/>
              </a:rPr>
              <a:t>from</a:t>
            </a:r>
            <a:r>
              <a:rPr lang="en-US" b="0" i="0" dirty="0">
                <a:solidFill>
                  <a:srgbClr val="E6E6E6"/>
                </a:solidFill>
                <a:latin typeface="Consolas"/>
                <a:cs typeface="Consolas"/>
              </a:rPr>
              <a:t> </a:t>
            </a:r>
            <a:r>
              <a:rPr lang="en-US" b="0" i="0" dirty="0" err="1">
                <a:solidFill>
                  <a:srgbClr val="E6E6E6"/>
                </a:solidFill>
                <a:latin typeface="Consolas"/>
                <a:cs typeface="Consolas"/>
              </a:rPr>
              <a:t>google.genai</a:t>
            </a:r>
            <a:r>
              <a:rPr lang="en-US" b="0" i="0" dirty="0">
                <a:solidFill>
                  <a:srgbClr val="E6E6E6"/>
                </a:solidFill>
                <a:latin typeface="Consolas"/>
                <a:cs typeface="Consolas"/>
              </a:rPr>
              <a:t> </a:t>
            </a:r>
            <a:r>
              <a:rPr lang="en-US" b="0" i="0" dirty="0">
                <a:solidFill>
                  <a:srgbClr val="FF9F1C"/>
                </a:solidFill>
                <a:latin typeface="Consolas"/>
                <a:cs typeface="Consolas"/>
              </a:rPr>
              <a:t>import</a:t>
            </a:r>
            <a:r>
              <a:rPr lang="en-US" b="0" i="0" dirty="0">
                <a:solidFill>
                  <a:srgbClr val="E6E6E6"/>
                </a:solidFill>
                <a:latin typeface="Consolas"/>
                <a:cs typeface="Consolas"/>
              </a:rPr>
              <a:t> types</a:t>
            </a:r>
          </a:p>
          <a:p>
            <a:pPr algn="l" rtl="0"/>
            <a:r>
              <a:rPr lang="en-US" b="0" i="0" dirty="0">
                <a:solidFill>
                  <a:srgbClr val="E6E6E6"/>
                </a:solidFill>
                <a:latin typeface="Consolas"/>
                <a:cs typeface="Consolas"/>
              </a:rPr>
              <a:t> </a:t>
            </a:r>
          </a:p>
          <a:p>
            <a:pPr algn="l" rtl="0"/>
            <a:r>
              <a:rPr lang="en-US" b="0" i="0" dirty="0">
                <a:solidFill>
                  <a:srgbClr val="E6E6E6"/>
                </a:solidFill>
                <a:latin typeface="Consolas"/>
                <a:cs typeface="Consolas"/>
              </a:rPr>
              <a:t>config = </a:t>
            </a:r>
            <a:r>
              <a:rPr lang="en-US" b="0" i="0" dirty="0" err="1">
                <a:solidFill>
                  <a:srgbClr val="E6E6E6"/>
                </a:solidFill>
                <a:latin typeface="Consolas"/>
                <a:cs typeface="Consolas"/>
              </a:rPr>
              <a:t>types.GenerateContentConfig</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a:t>
            </a:r>
            <a:r>
              <a:rPr lang="en-US" b="0" i="0" dirty="0" err="1">
                <a:solidFill>
                  <a:srgbClr val="E6E6E6"/>
                </a:solidFill>
                <a:latin typeface="Consolas"/>
                <a:cs typeface="Consolas"/>
              </a:rPr>
              <a:t>system_instruction</a:t>
            </a:r>
            <a:r>
              <a:rPr lang="en-US" b="0" i="0" dirty="0">
                <a:solidFill>
                  <a:srgbClr val="E6E6E6"/>
                </a:solidFill>
                <a:latin typeface="Consolas"/>
                <a:cs typeface="Consolas"/>
              </a:rPr>
              <a:t>=</a:t>
            </a:r>
            <a:r>
              <a:rPr lang="en-US" b="0" i="0" dirty="0">
                <a:solidFill>
                  <a:srgbClr val="A6E22E"/>
                </a:solidFill>
                <a:latin typeface="Consolas"/>
                <a:cs typeface="Consolas"/>
              </a:rPr>
              <a:t>"You are a pirate. Answer in one sentence."</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temperature=</a:t>
            </a:r>
            <a:r>
              <a:rPr lang="en-US" b="0" i="0" dirty="0">
                <a:solidFill>
                  <a:srgbClr val="FFD166"/>
                </a:solidFill>
                <a:latin typeface="Consolas"/>
                <a:cs typeface="Consolas"/>
              </a:rPr>
              <a:t>0</a:t>
            </a:r>
          </a:p>
          <a:p>
            <a:pPr algn="l" rtl="0"/>
            <a:r>
              <a:rPr lang="en-US" b="0" i="0" dirty="0">
                <a:solidFill>
                  <a:srgbClr val="E6E6E6"/>
                </a:solidFill>
                <a:latin typeface="Consolas"/>
                <a:cs typeface="Consolas"/>
              </a:rPr>
              <a:t>)</a:t>
            </a:r>
          </a:p>
          <a:p>
            <a:pPr algn="l" rtl="0"/>
            <a:r>
              <a:rPr lang="en-US" b="0" i="0" dirty="0">
                <a:solidFill>
                  <a:srgbClr val="E6E6E6"/>
                </a:solidFill>
                <a:latin typeface="Consolas"/>
                <a:cs typeface="Consolas"/>
              </a:rPr>
              <a:t>response = </a:t>
            </a:r>
            <a:r>
              <a:rPr lang="en-US" b="0" i="0" dirty="0" err="1">
                <a:solidFill>
                  <a:srgbClr val="E6E6E6"/>
                </a:solidFill>
                <a:latin typeface="Consolas"/>
                <a:cs typeface="Consolas"/>
              </a:rPr>
              <a:t>client.models.generate_content</a:t>
            </a:r>
            <a:r>
              <a:rPr lang="en-US" b="0" i="0" dirty="0">
                <a:solidFill>
                  <a:srgbClr val="E6E6E6"/>
                </a:solidFill>
                <a:latin typeface="Consolas"/>
                <a:cs typeface="Consolas"/>
              </a:rPr>
              <a:t>(</a:t>
            </a:r>
          </a:p>
          <a:p>
            <a:pPr algn="l" rtl="0"/>
            <a:r>
              <a:rPr lang="en-US" b="0" i="0" dirty="0">
                <a:solidFill>
                  <a:srgbClr val="E6E6E6"/>
                </a:solidFill>
                <a:latin typeface="Consolas"/>
                <a:cs typeface="Consolas"/>
              </a:rPr>
              <a:t>    model=MODEL, contents=</a:t>
            </a:r>
            <a:r>
              <a:rPr lang="en-US" b="0" i="0" dirty="0">
                <a:solidFill>
                  <a:srgbClr val="A6E22E"/>
                </a:solidFill>
                <a:latin typeface="Consolas"/>
                <a:cs typeface="Consolas"/>
              </a:rPr>
              <a:t>"What is Python?"</a:t>
            </a:r>
            <a:r>
              <a:rPr lang="en-US" b="0" i="0" dirty="0">
                <a:solidFill>
                  <a:srgbClr val="E6E6E6"/>
                </a:solidFill>
                <a:latin typeface="Consolas"/>
                <a:cs typeface="Consolas"/>
              </a:rPr>
              <a:t>, config=config)</a:t>
            </a:r>
          </a:p>
        </p:txBody>
      </p:sp>
      <p:sp>
        <p:nvSpPr>
          <p:cNvPr id="6" name="Rounded Rectangle 5"/>
          <p:cNvSpPr/>
          <p:nvPr/>
        </p:nvSpPr>
        <p:spPr>
          <a:xfrm>
            <a:off x="8138160" y="1417320"/>
            <a:ext cx="3502152" cy="1325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1481328"/>
            <a:ext cx="3246120" cy="697627"/>
          </a:xfrm>
          <a:prstGeom prst="rect">
            <a:avLst/>
          </a:prstGeom>
          <a:noFill/>
        </p:spPr>
        <p:txBody>
          <a:bodyPr wrap="square" lIns="45720" rIns="45720" anchor="t">
            <a:spAutoFit/>
          </a:bodyPr>
          <a:lstStyle/>
          <a:p>
            <a:pPr algn="r" rtl="1">
              <a:spcAft>
                <a:spcPts val="400"/>
              </a:spcAft>
            </a:pPr>
            <a:r>
              <a:rPr lang="en-US" b="1" i="0" dirty="0" err="1">
                <a:solidFill>
                  <a:srgbClr val="2D9F5C"/>
                </a:solidFill>
                <a:latin typeface="Consolas"/>
                <a:cs typeface="Consolas"/>
              </a:rPr>
              <a:t>system_instruction</a:t>
            </a:r>
            <a:endParaRPr lang="en-US" b="1" i="0" dirty="0">
              <a:solidFill>
                <a:srgbClr val="2D9F5C"/>
              </a:solidFill>
              <a:latin typeface="Consolas"/>
              <a:cs typeface="Consolas"/>
            </a:endParaRPr>
          </a:p>
          <a:p>
            <a:pPr algn="r" rtl="1">
              <a:spcAft>
                <a:spcPts val="400"/>
              </a:spcAft>
            </a:pPr>
            <a:r>
              <a:rPr lang="he-IL" b="0" i="0" dirty="0">
                <a:solidFill>
                  <a:srgbClr val="1B2B34"/>
                </a:solidFill>
                <a:latin typeface="Arial"/>
                <a:cs typeface="Arial"/>
              </a:rPr>
              <a:t>הוראה קבועה: מי אתה ואיך לענות</a:t>
            </a:r>
          </a:p>
        </p:txBody>
      </p:sp>
      <p:sp>
        <p:nvSpPr>
          <p:cNvPr id="8" name="Rounded Rectangle 7"/>
          <p:cNvSpPr/>
          <p:nvPr/>
        </p:nvSpPr>
        <p:spPr>
          <a:xfrm>
            <a:off x="8138160" y="2971800"/>
            <a:ext cx="3502152" cy="137160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75320" y="3035808"/>
            <a:ext cx="3246120" cy="974626"/>
          </a:xfrm>
          <a:prstGeom prst="rect">
            <a:avLst/>
          </a:prstGeom>
          <a:noFill/>
        </p:spPr>
        <p:txBody>
          <a:bodyPr wrap="square" lIns="45720" rIns="45720" anchor="t">
            <a:spAutoFit/>
          </a:bodyPr>
          <a:lstStyle/>
          <a:p>
            <a:pPr algn="r" rtl="1">
              <a:spcAft>
                <a:spcPts val="400"/>
              </a:spcAft>
            </a:pPr>
            <a:r>
              <a:rPr lang="en-US" b="1" i="0" dirty="0">
                <a:solidFill>
                  <a:srgbClr val="EF476F"/>
                </a:solidFill>
                <a:latin typeface="Consolas"/>
                <a:cs typeface="Consolas"/>
              </a:rPr>
              <a:t>temperature</a:t>
            </a:r>
          </a:p>
          <a:p>
            <a:pPr algn="r" rtl="1">
              <a:spcAft>
                <a:spcPts val="400"/>
              </a:spcAft>
            </a:pPr>
            <a:r>
              <a:rPr lang="he-IL" b="0" i="0" dirty="0">
                <a:solidFill>
                  <a:srgbClr val="1B2B34"/>
                </a:solidFill>
                <a:latin typeface="Arial"/>
                <a:cs typeface="Arial"/>
              </a:rPr>
              <a:t>כמה אקראית הבחירה של המילה הבאה</a:t>
            </a:r>
          </a:p>
        </p:txBody>
      </p:sp>
      <p:sp>
        <p:nvSpPr>
          <p:cNvPr id="10" name="Rounded Rectangle 9"/>
          <p:cNvSpPr/>
          <p:nvPr/>
        </p:nvSpPr>
        <p:spPr>
          <a:xfrm>
            <a:off x="7955279" y="4663440"/>
            <a:ext cx="3566160" cy="822960"/>
          </a:xfrm>
          <a:prstGeom prst="roundRect">
            <a:avLst>
              <a:gd name="adj" fmla="val 30000"/>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0</a:t>
            </a:r>
          </a:p>
        </p:txBody>
      </p:sp>
      <p:sp>
        <p:nvSpPr>
          <p:cNvPr id="11" name="TextBox 10"/>
          <p:cNvSpPr txBox="1"/>
          <p:nvPr/>
        </p:nvSpPr>
        <p:spPr>
          <a:xfrm>
            <a:off x="7863840"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צפוי - כמעט תמיד אותה תשובה</a:t>
            </a:r>
          </a:p>
        </p:txBody>
      </p:sp>
      <p:sp>
        <p:nvSpPr>
          <p:cNvPr id="12" name="Rounded Rectangle 11"/>
          <p:cNvSpPr/>
          <p:nvPr/>
        </p:nvSpPr>
        <p:spPr>
          <a:xfrm>
            <a:off x="4297679" y="4663440"/>
            <a:ext cx="3566160" cy="822960"/>
          </a:xfrm>
          <a:prstGeom prst="roundRect">
            <a:avLst>
              <a:gd name="adj" fmla="val 3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1</a:t>
            </a:r>
          </a:p>
        </p:txBody>
      </p:sp>
      <p:sp>
        <p:nvSpPr>
          <p:cNvPr id="13" name="TextBox 12"/>
          <p:cNvSpPr txBox="1"/>
          <p:nvPr/>
        </p:nvSpPr>
        <p:spPr>
          <a:xfrm>
            <a:off x="4206240"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רגיל</a:t>
            </a:r>
          </a:p>
        </p:txBody>
      </p:sp>
      <p:sp>
        <p:nvSpPr>
          <p:cNvPr id="14" name="Rounded Rectangle 13"/>
          <p:cNvSpPr/>
          <p:nvPr/>
        </p:nvSpPr>
        <p:spPr>
          <a:xfrm>
            <a:off x="640079" y="4663440"/>
            <a:ext cx="3566160" cy="822960"/>
          </a:xfrm>
          <a:prstGeom prst="roundRect">
            <a:avLst>
              <a:gd name="adj" fmla="val 3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600" b="1" i="0">
                <a:solidFill>
                  <a:srgbClr val="FFFFFF"/>
                </a:solidFill>
                <a:latin typeface="Consolas"/>
                <a:cs typeface="Consolas"/>
              </a:rPr>
              <a:t>temperature = 2</a:t>
            </a:r>
          </a:p>
        </p:txBody>
      </p:sp>
      <p:sp>
        <p:nvSpPr>
          <p:cNvPr id="15" name="TextBox 14"/>
          <p:cNvSpPr txBox="1"/>
          <p:nvPr/>
        </p:nvSpPr>
        <p:spPr>
          <a:xfrm>
            <a:off x="548639" y="5532120"/>
            <a:ext cx="3749039" cy="4114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יצירתי ומפתיע</a:t>
            </a:r>
          </a:p>
        </p:txBody>
      </p:sp>
      <p:cxnSp>
        <p:nvCxnSpPr>
          <p:cNvPr id="17" name="Straight Arrow Connector 16">
            <a:extLst>
              <a:ext uri="{FF2B5EF4-FFF2-40B4-BE49-F238E27FC236}">
                <a16:creationId xmlns:a16="http://schemas.microsoft.com/office/drawing/2014/main" id="{148D07AE-D801-FFB1-C547-1874E5EBFA6A}"/>
              </a:ext>
            </a:extLst>
          </p:cNvPr>
          <p:cNvCxnSpPr/>
          <p:nvPr/>
        </p:nvCxnSpPr>
        <p:spPr>
          <a:xfrm flipH="1">
            <a:off x="8877670" y="4010434"/>
            <a:ext cx="878889" cy="534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20</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סוגי שגיאות נפוצות</a:t>
            </a:r>
          </a:p>
        </p:txBody>
      </p:sp>
      <p:sp>
        <p:nvSpPr>
          <p:cNvPr id="4" name="TextBox 3"/>
          <p:cNvSpPr txBox="1"/>
          <p:nvPr/>
        </p:nvSpPr>
        <p:spPr>
          <a:xfrm>
            <a:off x="6400800" y="1325880"/>
            <a:ext cx="5212080" cy="411480"/>
          </a:xfrm>
          <a:prstGeom prst="rect">
            <a:avLst/>
          </a:prstGeom>
          <a:noFill/>
        </p:spPr>
        <p:txBody>
          <a:bodyPr wrap="square" lIns="45720" rIns="45720" anchor="t">
            <a:spAutoFit/>
          </a:bodyPr>
          <a:lstStyle/>
          <a:p>
            <a:pPr algn="l" rtl="0"/>
            <a:r>
              <a:rPr lang="en-US" sz="1500" b="1" i="0">
                <a:solidFill>
                  <a:srgbClr val="5F6F78"/>
                </a:solidFill>
                <a:latin typeface="Arial"/>
                <a:cs typeface="Arial"/>
              </a:rPr>
              <a:t>השגיאה</a:t>
            </a:r>
          </a:p>
        </p:txBody>
      </p:sp>
      <p:sp>
        <p:nvSpPr>
          <p:cNvPr id="5" name="TextBox 4"/>
          <p:cNvSpPr txBox="1"/>
          <p:nvPr/>
        </p:nvSpPr>
        <p:spPr>
          <a:xfrm>
            <a:off x="3566160" y="1325880"/>
            <a:ext cx="2651760" cy="411480"/>
          </a:xfrm>
          <a:prstGeom prst="rect">
            <a:avLst/>
          </a:prstGeom>
          <a:noFill/>
        </p:spPr>
        <p:txBody>
          <a:bodyPr wrap="square" lIns="45720" rIns="45720" anchor="t">
            <a:spAutoFit/>
          </a:bodyPr>
          <a:lstStyle/>
          <a:p>
            <a:pPr algn="r" rtl="1"/>
            <a:r>
              <a:rPr lang="he-IL" sz="1500" b="1" i="0">
                <a:solidFill>
                  <a:srgbClr val="5F6F78"/>
                </a:solidFill>
                <a:latin typeface="Arial"/>
                <a:cs typeface="Arial"/>
              </a:rPr>
              <a:t>מה זה אומר</a:t>
            </a:r>
          </a:p>
        </p:txBody>
      </p:sp>
      <p:sp>
        <p:nvSpPr>
          <p:cNvPr id="6" name="TextBox 5"/>
          <p:cNvSpPr txBox="1"/>
          <p:nvPr/>
        </p:nvSpPr>
        <p:spPr>
          <a:xfrm>
            <a:off x="548640" y="1325880"/>
            <a:ext cx="2834640" cy="411480"/>
          </a:xfrm>
          <a:prstGeom prst="rect">
            <a:avLst/>
          </a:prstGeom>
          <a:noFill/>
        </p:spPr>
        <p:txBody>
          <a:bodyPr wrap="square" lIns="45720" rIns="45720" anchor="t">
            <a:spAutoFit/>
          </a:bodyPr>
          <a:lstStyle/>
          <a:p>
            <a:pPr algn="r" rtl="1"/>
            <a:r>
              <a:rPr lang="he-IL" sz="1500" b="1" i="0">
                <a:solidFill>
                  <a:srgbClr val="5F6F78"/>
                </a:solidFill>
                <a:latin typeface="Arial"/>
                <a:cs typeface="Arial"/>
              </a:rPr>
              <a:t>מה עושים</a:t>
            </a:r>
          </a:p>
        </p:txBody>
      </p:sp>
      <p:sp>
        <p:nvSpPr>
          <p:cNvPr id="7" name="Rounded Rectangle 6"/>
          <p:cNvSpPr/>
          <p:nvPr/>
        </p:nvSpPr>
        <p:spPr>
          <a:xfrm>
            <a:off x="548640" y="178308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78308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ModuleNotFoundError</a:t>
            </a:r>
          </a:p>
        </p:txBody>
      </p:sp>
      <p:sp>
        <p:nvSpPr>
          <p:cNvPr id="9" name="TextBox 8"/>
          <p:cNvSpPr txBox="1"/>
          <p:nvPr/>
        </p:nvSpPr>
        <p:spPr>
          <a:xfrm>
            <a:off x="3566160" y="178308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הספרייה לא מותקנת</a:t>
            </a:r>
          </a:p>
        </p:txBody>
      </p:sp>
      <p:sp>
        <p:nvSpPr>
          <p:cNvPr id="10" name="TextBox 9"/>
          <p:cNvSpPr txBox="1"/>
          <p:nvPr/>
        </p:nvSpPr>
        <p:spPr>
          <a:xfrm>
            <a:off x="731520" y="1783080"/>
            <a:ext cx="2651760" cy="658368"/>
          </a:xfrm>
          <a:prstGeom prst="rect">
            <a:avLst/>
          </a:prstGeom>
          <a:noFill/>
        </p:spPr>
        <p:txBody>
          <a:bodyPr wrap="square" lIns="45720" rIns="45720" anchor="ctr">
            <a:spAutoFit/>
          </a:bodyPr>
          <a:lstStyle/>
          <a:p>
            <a:pPr algn="r" rtl="1"/>
            <a:r>
              <a:rPr lang="en-US" sz="1500" b="1" i="0">
                <a:solidFill>
                  <a:srgbClr val="2D6A4F"/>
                </a:solidFill>
                <a:latin typeface="Arial"/>
                <a:cs typeface="Arial"/>
              </a:rPr>
              <a:t>pip install google-genai</a:t>
            </a:r>
          </a:p>
        </p:txBody>
      </p:sp>
      <p:sp>
        <p:nvSpPr>
          <p:cNvPr id="11" name="Rounded Rectangle 10"/>
          <p:cNvSpPr/>
          <p:nvPr/>
        </p:nvSpPr>
        <p:spPr>
          <a:xfrm>
            <a:off x="548640" y="2560320"/>
            <a:ext cx="11091672" cy="6583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56032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400 API key not valid</a:t>
            </a:r>
          </a:p>
        </p:txBody>
      </p:sp>
      <p:sp>
        <p:nvSpPr>
          <p:cNvPr id="13" name="TextBox 12"/>
          <p:cNvSpPr txBox="1"/>
          <p:nvPr/>
        </p:nvSpPr>
        <p:spPr>
          <a:xfrm>
            <a:off x="3566160" y="256032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המפתח שגוי</a:t>
            </a:r>
          </a:p>
        </p:txBody>
      </p:sp>
      <p:sp>
        <p:nvSpPr>
          <p:cNvPr id="14" name="TextBox 13"/>
          <p:cNvSpPr txBox="1"/>
          <p:nvPr/>
        </p:nvSpPr>
        <p:spPr>
          <a:xfrm>
            <a:off x="731520" y="256032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בדקו שהעתקתם את כל המפתח</a:t>
            </a:r>
          </a:p>
        </p:txBody>
      </p:sp>
      <p:sp>
        <p:nvSpPr>
          <p:cNvPr id="15" name="Rounded Rectangle 14"/>
          <p:cNvSpPr/>
          <p:nvPr/>
        </p:nvSpPr>
        <p:spPr>
          <a:xfrm>
            <a:off x="548640" y="333756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33756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404 NOT_FOUND</a:t>
            </a:r>
          </a:p>
        </p:txBody>
      </p:sp>
      <p:sp>
        <p:nvSpPr>
          <p:cNvPr id="17" name="TextBox 16"/>
          <p:cNvSpPr txBox="1"/>
          <p:nvPr/>
        </p:nvSpPr>
        <p:spPr>
          <a:xfrm>
            <a:off x="3566160" y="333756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אין מודל בשם הזה</a:t>
            </a:r>
          </a:p>
        </p:txBody>
      </p:sp>
      <p:sp>
        <p:nvSpPr>
          <p:cNvPr id="18" name="TextBox 17"/>
          <p:cNvSpPr txBox="1"/>
          <p:nvPr/>
        </p:nvSpPr>
        <p:spPr>
          <a:xfrm>
            <a:off x="731520" y="333756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בדקו את </a:t>
            </a:r>
            <a:r>
              <a:rPr lang="en-US" sz="1500" b="1" i="0">
                <a:solidFill>
                  <a:srgbClr val="2D6A4F"/>
                </a:solidFill>
                <a:latin typeface="Arial"/>
                <a:cs typeface="Arial"/>
              </a:rPr>
              <a:t>MODEL</a:t>
            </a:r>
          </a:p>
        </p:txBody>
      </p:sp>
      <p:sp>
        <p:nvSpPr>
          <p:cNvPr id="19" name="Rounded Rectangle 18"/>
          <p:cNvSpPr/>
          <p:nvPr/>
        </p:nvSpPr>
        <p:spPr>
          <a:xfrm>
            <a:off x="548640" y="4114800"/>
            <a:ext cx="11091672" cy="6583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11480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429 RESOURCE_EXHAUSTED</a:t>
            </a:r>
          </a:p>
        </p:txBody>
      </p:sp>
      <p:sp>
        <p:nvSpPr>
          <p:cNvPr id="21" name="TextBox 20"/>
          <p:cNvSpPr txBox="1"/>
          <p:nvPr/>
        </p:nvSpPr>
        <p:spPr>
          <a:xfrm>
            <a:off x="3566160" y="4114800"/>
            <a:ext cx="2651760" cy="658368"/>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יותר מדי שאלות בדקה</a:t>
            </a:r>
          </a:p>
        </p:txBody>
      </p:sp>
      <p:sp>
        <p:nvSpPr>
          <p:cNvPr id="22" name="TextBox 21"/>
          <p:cNvSpPr txBox="1"/>
          <p:nvPr/>
        </p:nvSpPr>
        <p:spPr>
          <a:xfrm>
            <a:off x="731520" y="411480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מחכים דקה ומנסים שוב</a:t>
            </a:r>
          </a:p>
        </p:txBody>
      </p:sp>
      <p:sp>
        <p:nvSpPr>
          <p:cNvPr id="23" name="Rounded Rectangle 22"/>
          <p:cNvSpPr/>
          <p:nvPr/>
        </p:nvSpPr>
        <p:spPr>
          <a:xfrm>
            <a:off x="548640" y="4892040"/>
            <a:ext cx="11091672" cy="658368"/>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892040"/>
            <a:ext cx="5120640" cy="658368"/>
          </a:xfrm>
          <a:prstGeom prst="rect">
            <a:avLst/>
          </a:prstGeom>
          <a:noFill/>
        </p:spPr>
        <p:txBody>
          <a:bodyPr wrap="square" lIns="45720" rIns="45720" anchor="ctr">
            <a:spAutoFit/>
          </a:bodyPr>
          <a:lstStyle/>
          <a:p>
            <a:pPr algn="l" rtl="0"/>
            <a:r>
              <a:rPr lang="en-US" sz="1600" b="1" i="0">
                <a:solidFill>
                  <a:srgbClr val="EF476F"/>
                </a:solidFill>
                <a:latin typeface="Consolas"/>
                <a:cs typeface="Consolas"/>
              </a:rPr>
              <a:t>503 UNAVAILABLE</a:t>
            </a:r>
          </a:p>
        </p:txBody>
      </p:sp>
      <p:sp>
        <p:nvSpPr>
          <p:cNvPr id="25" name="TextBox 24"/>
          <p:cNvSpPr txBox="1"/>
          <p:nvPr/>
        </p:nvSpPr>
        <p:spPr>
          <a:xfrm>
            <a:off x="3566160" y="4892040"/>
            <a:ext cx="2651760" cy="658368"/>
          </a:xfrm>
          <a:prstGeom prst="rect">
            <a:avLst/>
          </a:prstGeom>
          <a:noFill/>
        </p:spPr>
        <p:txBody>
          <a:bodyPr wrap="square" lIns="45720" rIns="45720" anchor="ctr">
            <a:spAutoFit/>
          </a:bodyPr>
          <a:lstStyle/>
          <a:p>
            <a:pPr algn="r" rtl="1"/>
            <a:r>
              <a:rPr lang="en-US" sz="1600" b="0" i="0">
                <a:solidFill>
                  <a:srgbClr val="1B2B34"/>
                </a:solidFill>
                <a:latin typeface="Arial"/>
                <a:cs typeface="Arial"/>
              </a:rPr>
              <a:t>Gemini</a:t>
            </a:r>
            <a:r>
              <a:rPr lang="he-IL" sz="1600" b="0" i="0">
                <a:solidFill>
                  <a:srgbClr val="1B2B34"/>
                </a:solidFill>
                <a:latin typeface="Arial"/>
                <a:cs typeface="Arial"/>
              </a:rPr>
              <a:t> עמוס כרגע</a:t>
            </a:r>
          </a:p>
        </p:txBody>
      </p:sp>
      <p:sp>
        <p:nvSpPr>
          <p:cNvPr id="26" name="TextBox 25"/>
          <p:cNvSpPr txBox="1"/>
          <p:nvPr/>
        </p:nvSpPr>
        <p:spPr>
          <a:xfrm>
            <a:off x="731520" y="4892040"/>
            <a:ext cx="2651760" cy="658368"/>
          </a:xfrm>
          <a:prstGeom prst="rect">
            <a:avLst/>
          </a:prstGeom>
          <a:noFill/>
        </p:spPr>
        <p:txBody>
          <a:bodyPr wrap="square" lIns="45720" rIns="45720" anchor="ctr">
            <a:spAutoFit/>
          </a:bodyPr>
          <a:lstStyle/>
          <a:p>
            <a:pPr algn="r" rtl="1"/>
            <a:r>
              <a:rPr lang="he-IL" sz="1500" b="1" i="0">
                <a:solidFill>
                  <a:srgbClr val="2D6A4F"/>
                </a:solidFill>
                <a:latin typeface="Arial"/>
                <a:cs typeface="Arial"/>
              </a:rPr>
              <a:t>מנסים שוב עוד מעט</a:t>
            </a:r>
          </a:p>
        </p:txBody>
      </p:sp>
      <p:sp>
        <p:nvSpPr>
          <p:cNvPr id="27" name="TextBox 26"/>
          <p:cNvSpPr txBox="1"/>
          <p:nvPr/>
        </p:nvSpPr>
        <p:spPr>
          <a:xfrm>
            <a:off x="548640" y="5760720"/>
            <a:ext cx="11091672" cy="45720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קוראים את השורה האחרונה של השגיאה - שם כתוב מה קרה</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תרגיל 2: אותה שאלה - מתוך פייתון</a:t>
            </a:r>
          </a:p>
        </p:txBody>
      </p:sp>
      <p:sp>
        <p:nvSpPr>
          <p:cNvPr id="4" name="Oval 3"/>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5" name="TextBox 4"/>
          <p:cNvSpPr txBox="1"/>
          <p:nvPr/>
        </p:nvSpPr>
        <p:spPr>
          <a:xfrm>
            <a:off x="6675120" y="14630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פתחו את </a:t>
            </a:r>
            <a:r>
              <a:rPr lang="en-US" sz="1700" b="0" i="0">
                <a:solidFill>
                  <a:srgbClr val="1B2B34"/>
                </a:solidFill>
                <a:latin typeface="Arial"/>
                <a:cs typeface="Arial"/>
              </a:rPr>
              <a:t>aiapibasic_example.py</a:t>
            </a:r>
          </a:p>
        </p:txBody>
      </p:sp>
      <p:sp>
        <p:nvSpPr>
          <p:cNvPr id="6" name="Oval 5"/>
          <p:cNvSpPr/>
          <p:nvPr/>
        </p:nvSpPr>
        <p:spPr>
          <a:xfrm>
            <a:off x="10972800" y="237744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7" name="TextBox 6"/>
          <p:cNvSpPr txBox="1"/>
          <p:nvPr/>
        </p:nvSpPr>
        <p:spPr>
          <a:xfrm>
            <a:off x="6675120" y="23774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שנו את </a:t>
            </a:r>
            <a:r>
              <a:rPr lang="en-US" sz="1700" b="0" i="0">
                <a:solidFill>
                  <a:srgbClr val="1B2B34"/>
                </a:solidFill>
                <a:latin typeface="Arial"/>
                <a:cs typeface="Arial"/>
              </a:rPr>
              <a:t>contents</a:t>
            </a:r>
            <a:r>
              <a:rPr lang="he-IL" sz="1700" b="0" i="0">
                <a:solidFill>
                  <a:srgbClr val="1B2B34"/>
                </a:solidFill>
                <a:latin typeface="Arial"/>
                <a:cs typeface="Arial"/>
              </a:rPr>
              <a:t> לשאלה המדויקת מתרגיל 1</a:t>
            </a:r>
          </a:p>
        </p:txBody>
      </p:sp>
      <p:sp>
        <p:nvSpPr>
          <p:cNvPr id="8" name="Oval 7"/>
          <p:cNvSpPr/>
          <p:nvPr/>
        </p:nvSpPr>
        <p:spPr>
          <a:xfrm>
            <a:off x="10972800" y="329184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9" name="TextBox 8"/>
          <p:cNvSpPr txBox="1"/>
          <p:nvPr/>
        </p:nvSpPr>
        <p:spPr>
          <a:xfrm>
            <a:off x="6675120" y="3291840"/>
            <a:ext cx="416052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הריצו והשוו לתשובה ששמרתם מהאתר</a:t>
            </a:r>
          </a:p>
        </p:txBody>
      </p:sp>
      <p:sp>
        <p:nvSpPr>
          <p:cNvPr id="12" name="Rounded Rectangle 11"/>
          <p:cNvSpPr/>
          <p:nvPr/>
        </p:nvSpPr>
        <p:spPr>
          <a:xfrm>
            <a:off x="548640" y="1463040"/>
            <a:ext cx="5852160" cy="14630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655951"/>
            <a:ext cx="5394960" cy="1077218"/>
          </a:xfrm>
          <a:prstGeom prst="rect">
            <a:avLst/>
          </a:prstGeom>
          <a:noFill/>
        </p:spPr>
        <p:txBody>
          <a:bodyPr wrap="square" lIns="45720" rIns="45720" anchor="ctr">
            <a:spAutoFit/>
          </a:bodyPr>
          <a:lstStyle/>
          <a:p>
            <a:pPr algn="l" rtl="0"/>
            <a:r>
              <a:rPr lang="en-US" sz="1600" b="0" i="0" dirty="0">
                <a:solidFill>
                  <a:srgbClr val="E6E6E6"/>
                </a:solidFill>
                <a:latin typeface="Consolas"/>
                <a:cs typeface="Consolas"/>
              </a:rPr>
              <a:t>response = </a:t>
            </a:r>
            <a:r>
              <a:rPr lang="en-US" sz="1600" b="0" i="0" dirty="0" err="1">
                <a:solidFill>
                  <a:srgbClr val="E6E6E6"/>
                </a:solidFill>
                <a:latin typeface="Consolas"/>
                <a:cs typeface="Consolas"/>
              </a:rPr>
              <a:t>client.models.generate_content</a:t>
            </a:r>
            <a:r>
              <a:rPr lang="en-US" sz="1600" b="0" i="0" dirty="0">
                <a:solidFill>
                  <a:srgbClr val="E6E6E6"/>
                </a:solidFill>
                <a:latin typeface="Consolas"/>
                <a:cs typeface="Consolas"/>
              </a:rPr>
              <a:t>(</a:t>
            </a:r>
          </a:p>
          <a:p>
            <a:pPr algn="l" rtl="0"/>
            <a:r>
              <a:rPr lang="en-US" sz="1600" b="0" i="0" dirty="0">
                <a:solidFill>
                  <a:srgbClr val="E6E6E6"/>
                </a:solidFill>
                <a:latin typeface="Consolas"/>
                <a:cs typeface="Consolas"/>
              </a:rPr>
              <a:t>    model=</a:t>
            </a:r>
            <a:r>
              <a:rPr lang="en-US" sz="1600" b="0" i="0" dirty="0">
                <a:solidFill>
                  <a:srgbClr val="A6E22E"/>
                </a:solidFill>
                <a:latin typeface="Consolas"/>
                <a:cs typeface="Consolas"/>
              </a:rPr>
              <a:t>"gemini-3.6-flash"</a:t>
            </a:r>
            <a:r>
              <a:rPr lang="en-US" sz="1600" b="0" i="0" dirty="0">
                <a:solidFill>
                  <a:srgbClr val="E6E6E6"/>
                </a:solidFill>
                <a:latin typeface="Consolas"/>
                <a:cs typeface="Consolas"/>
              </a:rPr>
              <a:t>,</a:t>
            </a:r>
          </a:p>
          <a:p>
            <a:pPr algn="l" rtl="0"/>
            <a:r>
              <a:rPr lang="en-US" sz="1600" b="0" i="0" dirty="0">
                <a:solidFill>
                  <a:srgbClr val="E6E6E6"/>
                </a:solidFill>
                <a:latin typeface="Consolas"/>
                <a:cs typeface="Consolas"/>
              </a:rPr>
              <a:t>    contents=</a:t>
            </a:r>
            <a:r>
              <a:rPr lang="en-US" sz="1600" b="0" i="0" dirty="0">
                <a:solidFill>
                  <a:srgbClr val="A6E22E"/>
                </a:solidFill>
                <a:latin typeface="Consolas"/>
                <a:cs typeface="Consolas"/>
              </a:rPr>
              <a:t>"Write a short Python program ..."</a:t>
            </a:r>
            <a:r>
              <a:rPr lang="en-US" sz="1600" b="0" i="0" dirty="0">
                <a:solidFill>
                  <a:srgbClr val="E6E6E6"/>
                </a:solidFill>
                <a:latin typeface="Consolas"/>
                <a:cs typeface="Consolas"/>
              </a:rPr>
              <a:t>)</a:t>
            </a:r>
          </a:p>
        </p:txBody>
      </p:sp>
      <p:sp>
        <p:nvSpPr>
          <p:cNvPr id="14" name="Rounded Rectangle 13"/>
          <p:cNvSpPr/>
          <p:nvPr/>
        </p:nvSpPr>
        <p:spPr>
          <a:xfrm>
            <a:off x="548640" y="3154680"/>
            <a:ext cx="5852160" cy="201168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46120"/>
            <a:ext cx="5394960" cy="1828800"/>
          </a:xfrm>
          <a:prstGeom prst="rect">
            <a:avLst/>
          </a:prstGeom>
          <a:noFill/>
        </p:spPr>
        <p:txBody>
          <a:bodyPr wrap="square" lIns="45720" rIns="45720" anchor="t">
            <a:spAutoFit/>
          </a:bodyPr>
          <a:lstStyle/>
          <a:p>
            <a:pPr algn="r" rtl="1">
              <a:spcAft>
                <a:spcPts val="600"/>
              </a:spcAft>
            </a:pPr>
            <a:r>
              <a:rPr lang="he-IL" sz="1700" b="1" i="0">
                <a:solidFill>
                  <a:srgbClr val="1B2B34"/>
                </a:solidFill>
                <a:latin typeface="Arial"/>
                <a:cs typeface="Arial"/>
              </a:rPr>
              <a:t>🤔 שאלה למחשבה:</a:t>
            </a:r>
          </a:p>
          <a:p>
            <a:pPr algn="r" rtl="1">
              <a:spcAft>
                <a:spcPts val="600"/>
              </a:spcAft>
            </a:pPr>
            <a:r>
              <a:rPr lang="he-IL" sz="1700" b="0" i="0">
                <a:solidFill>
                  <a:srgbClr val="1B2B34"/>
                </a:solidFill>
                <a:latin typeface="Arial"/>
                <a:cs typeface="Arial"/>
              </a:rPr>
              <a:t>קיבלתם תשובה שונה? למה?</a:t>
            </a:r>
          </a:p>
          <a:p>
            <a:pPr algn="r" rtl="1">
              <a:spcAft>
                <a:spcPts val="600"/>
              </a:spcAft>
            </a:pPr>
            <a:r>
              <a:rPr lang="he-IL" sz="1700" b="1" i="0">
                <a:solidFill>
                  <a:srgbClr val="EF476F"/>
                </a:solidFill>
                <a:latin typeface="Arial"/>
                <a:cs typeface="Arial"/>
              </a:rPr>
              <a:t>רמז: </a:t>
            </a:r>
            <a:r>
              <a:rPr lang="he-IL" sz="1700" b="0" i="0">
                <a:solidFill>
                  <a:srgbClr val="1B2B34"/>
                </a:solidFill>
                <a:latin typeface="Arial"/>
                <a:cs typeface="Arial"/>
              </a:rPr>
              <a:t>תזכרו איך </a:t>
            </a:r>
            <a:r>
              <a:rPr lang="en-US" sz="1700" b="0" i="0">
                <a:solidFill>
                  <a:srgbClr val="1B2B34"/>
                </a:solidFill>
                <a:latin typeface="Arial"/>
                <a:cs typeface="Arial"/>
              </a:rPr>
              <a:t>LLM</a:t>
            </a:r>
            <a:r>
              <a:rPr lang="he-IL" sz="1700" b="0" i="0">
                <a:solidFill>
                  <a:srgbClr val="1B2B34"/>
                </a:solidFill>
                <a:latin typeface="Arial"/>
                <a:cs typeface="Arial"/>
              </a:rPr>
              <a:t> בוחר את המילה הבאה... ומה עוד האתר יודע עליכם?</a:t>
            </a:r>
          </a:p>
        </p:txBody>
      </p:sp>
      <p:sp>
        <p:nvSpPr>
          <p:cNvPr id="16" name="Rounded Rectangle 15"/>
          <p:cNvSpPr/>
          <p:nvPr/>
        </p:nvSpPr>
        <p:spPr>
          <a:xfrm>
            <a:off x="548640" y="5440680"/>
            <a:ext cx="32918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aiapibasic_example.py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949440" y="1325880"/>
            <a:ext cx="3931920" cy="3931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49440" y="1325880"/>
            <a:ext cx="3931920" cy="3931920"/>
          </a:xfrm>
          <a:prstGeom prst="rect">
            <a:avLst/>
          </a:prstGeom>
          <a:noFill/>
        </p:spPr>
        <p:txBody>
          <a:bodyPr wrap="square" lIns="45720" rIns="45720" anchor="ctr">
            <a:spAutoFit/>
          </a:bodyPr>
          <a:lstStyle/>
          <a:p>
            <a:pPr algn="ctr" rtl="1"/>
            <a:r>
              <a:rPr lang="he-IL" sz="16000" b="1" i="0">
                <a:solidFill>
                  <a:srgbClr val="FFD166"/>
                </a:solidFill>
                <a:latin typeface="Arial"/>
                <a:cs typeface="Arial"/>
              </a:rPr>
              <a:t>3</a:t>
            </a:r>
          </a:p>
        </p:txBody>
      </p:sp>
      <p:sp>
        <p:nvSpPr>
          <p:cNvPr id="4" name="Oval 3"/>
          <p:cNvSpPr/>
          <p:nvPr/>
        </p:nvSpPr>
        <p:spPr>
          <a:xfrm>
            <a:off x="10332720" y="1097280"/>
            <a:ext cx="502920" cy="50292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0" y="4846320"/>
            <a:ext cx="411480" cy="4114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6126480" cy="2194560"/>
          </a:xfrm>
          <a:prstGeom prst="rect">
            <a:avLst/>
          </a:prstGeom>
          <a:noFill/>
        </p:spPr>
        <p:txBody>
          <a:bodyPr wrap="square" lIns="45720" rIns="45720" anchor="b">
            <a:spAutoFit/>
          </a:bodyPr>
          <a:lstStyle/>
          <a:p>
            <a:pPr algn="r" rtl="1"/>
            <a:r>
              <a:rPr lang="he-IL" sz="4800" b="1" i="0">
                <a:solidFill>
                  <a:srgbClr val="FFFFFF"/>
                </a:solidFill>
                <a:latin typeface="Arial"/>
                <a:cs typeface="Arial"/>
              </a:rPr>
              <a:t>משחק </a:t>
            </a:r>
            <a:r>
              <a:rPr lang="en-US" sz="4800" b="1" i="0">
                <a:solidFill>
                  <a:srgbClr val="FFFFFF"/>
                </a:solidFill>
                <a:latin typeface="Arial"/>
                <a:cs typeface="Arial"/>
              </a:rPr>
              <a:t>NIM</a:t>
            </a:r>
            <a:r>
              <a:rPr lang="he-IL" sz="4800" b="1" i="0">
                <a:solidFill>
                  <a:srgbClr val="FFFFFF"/>
                </a:solidFill>
                <a:latin typeface="Arial"/>
                <a:cs typeface="Arial"/>
              </a:rPr>
              <a:t> נגד </a:t>
            </a:r>
            <a:r>
              <a:rPr lang="en-US" sz="4800" b="1" i="0">
                <a:solidFill>
                  <a:srgbClr val="FFFFFF"/>
                </a:solidFill>
                <a:latin typeface="Arial"/>
                <a:cs typeface="Arial"/>
              </a:rPr>
              <a:t>Gemini</a:t>
            </a:r>
          </a:p>
        </p:txBody>
      </p:sp>
      <p:sp>
        <p:nvSpPr>
          <p:cNvPr id="7" name="TextBox 6"/>
          <p:cNvSpPr txBox="1"/>
          <p:nvPr/>
        </p:nvSpPr>
        <p:spPr>
          <a:xfrm>
            <a:off x="548640" y="3794760"/>
            <a:ext cx="6126480" cy="914400"/>
          </a:xfrm>
          <a:prstGeom prst="rect">
            <a:avLst/>
          </a:prstGeom>
          <a:noFill/>
        </p:spPr>
        <p:txBody>
          <a:bodyPr wrap="square" lIns="45720" rIns="45720" anchor="t">
            <a:spAutoFit/>
          </a:bodyPr>
          <a:lstStyle/>
          <a:p>
            <a:pPr algn="r" rtl="1"/>
            <a:r>
              <a:rPr lang="he-IL" sz="2200" b="0" i="0">
                <a:solidFill>
                  <a:srgbClr val="CDE8D8"/>
                </a:solidFill>
                <a:latin typeface="Arial"/>
                <a:cs typeface="Arial"/>
              </a:rPr>
              <a:t>בונים משחק בשלבים - והמחשב הוא היריב</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23</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החוקים של </a:t>
            </a:r>
            <a:r>
              <a:rPr lang="en-US" sz="3600" b="1" i="0">
                <a:solidFill>
                  <a:srgbClr val="1B4332"/>
                </a:solidFill>
                <a:latin typeface="Arial"/>
                <a:cs typeface="Arial"/>
              </a:rPr>
              <a:t>NIM</a:t>
            </a:r>
            <a:r>
              <a:rPr lang="he-IL" sz="3600" b="1" i="0">
                <a:solidFill>
                  <a:srgbClr val="1B4332"/>
                </a:solidFill>
                <a:latin typeface="Arial"/>
                <a:cs typeface="Arial"/>
              </a:rPr>
              <a:t> הפשוט</a:t>
            </a:r>
          </a:p>
        </p:txBody>
      </p:sp>
      <p:sp>
        <p:nvSpPr>
          <p:cNvPr id="4" name="Rounded Rectangle 3"/>
          <p:cNvSpPr/>
          <p:nvPr/>
        </p:nvSpPr>
        <p:spPr>
          <a:xfrm>
            <a:off x="548640" y="1417320"/>
            <a:ext cx="4754880" cy="251460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23444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60020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96596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33172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9748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06324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42900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79476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16052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26280" y="164592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6868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23444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60020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6596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233172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69748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06324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42900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79476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16052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526280" y="201168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6868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23444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0020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96596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33172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69748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06324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42900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79476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16052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526280" y="237744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6868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23444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60020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96596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33172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69748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306324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342900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379476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416052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4526280" y="274320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6868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23444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60020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96596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3172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69748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06324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42900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379476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416052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4526280" y="3108960"/>
            <a:ext cx="292608" cy="29260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4023360"/>
            <a:ext cx="4754880" cy="41148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55 אסימונים בערימה אחת</a:t>
            </a:r>
          </a:p>
        </p:txBody>
      </p:sp>
      <p:sp>
        <p:nvSpPr>
          <p:cNvPr id="61" name="Oval 60"/>
          <p:cNvSpPr/>
          <p:nvPr/>
        </p:nvSpPr>
        <p:spPr>
          <a:xfrm>
            <a:off x="10972800" y="14630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62" name="TextBox 61"/>
          <p:cNvSpPr txBox="1"/>
          <p:nvPr/>
        </p:nvSpPr>
        <p:spPr>
          <a:xfrm>
            <a:off x="5852160" y="1417320"/>
            <a:ext cx="4983480" cy="73152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יש ערימה אחת של 55 אסימונים</a:t>
            </a:r>
          </a:p>
        </p:txBody>
      </p:sp>
      <p:sp>
        <p:nvSpPr>
          <p:cNvPr id="63" name="Oval 62"/>
          <p:cNvSpPr/>
          <p:nvPr/>
        </p:nvSpPr>
        <p:spPr>
          <a:xfrm>
            <a:off x="10972800" y="242316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64" name="TextBox 63"/>
          <p:cNvSpPr txBox="1"/>
          <p:nvPr/>
        </p:nvSpPr>
        <p:spPr>
          <a:xfrm>
            <a:off x="5852160" y="2377440"/>
            <a:ext cx="4983480" cy="73152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בכל תור לוקחים 1 עד 10 אסימונים</a:t>
            </a:r>
          </a:p>
        </p:txBody>
      </p:sp>
      <p:sp>
        <p:nvSpPr>
          <p:cNvPr id="65" name="Oval 64"/>
          <p:cNvSpPr/>
          <p:nvPr/>
        </p:nvSpPr>
        <p:spPr>
          <a:xfrm>
            <a:off x="10972800" y="338328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66" name="TextBox 65"/>
          <p:cNvSpPr txBox="1"/>
          <p:nvPr/>
        </p:nvSpPr>
        <p:spPr>
          <a:xfrm>
            <a:off x="5852160" y="3337560"/>
            <a:ext cx="4983480" cy="73152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מתחלפים בתורות</a:t>
            </a:r>
          </a:p>
        </p:txBody>
      </p:sp>
      <p:sp>
        <p:nvSpPr>
          <p:cNvPr id="67" name="Oval 66"/>
          <p:cNvSpPr/>
          <p:nvPr/>
        </p:nvSpPr>
        <p:spPr>
          <a:xfrm>
            <a:off x="10972800" y="434340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4</a:t>
            </a:r>
          </a:p>
        </p:txBody>
      </p:sp>
      <p:sp>
        <p:nvSpPr>
          <p:cNvPr id="68" name="TextBox 67"/>
          <p:cNvSpPr txBox="1"/>
          <p:nvPr/>
        </p:nvSpPr>
        <p:spPr>
          <a:xfrm>
            <a:off x="5852160" y="4297680"/>
            <a:ext cx="4983480" cy="73152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מי שלוקח את האסימון האחרון - מפסיד!</a:t>
            </a:r>
          </a:p>
        </p:txBody>
      </p:sp>
      <p:sp>
        <p:nvSpPr>
          <p:cNvPr id="69" name="TextBox 68"/>
          <p:cNvSpPr txBox="1"/>
          <p:nvPr/>
        </p:nvSpPr>
        <p:spPr>
          <a:xfrm>
            <a:off x="5852160" y="5440680"/>
            <a:ext cx="5760720" cy="457200"/>
          </a:xfrm>
          <a:prstGeom prst="rect">
            <a:avLst/>
          </a:prstGeom>
          <a:noFill/>
        </p:spPr>
        <p:txBody>
          <a:bodyPr wrap="square" lIns="45720" rIns="45720" anchor="t">
            <a:spAutoFit/>
          </a:bodyPr>
          <a:lstStyle/>
          <a:p>
            <a:pPr algn="r" rtl="0"/>
            <a:r>
              <a:rPr lang="en-US" sz="1400" b="0" i="0">
                <a:solidFill>
                  <a:srgbClr val="118AB2"/>
                </a:solidFill>
                <a:latin typeface="Arial"/>
                <a:cs typeface="Arial"/>
              </a:rPr>
              <a:t>en.wikipedia.org/wiki/Nim</a:t>
            </a:r>
          </a:p>
        </p:txBody>
      </p:sp>
      <p:sp>
        <p:nvSpPr>
          <p:cNvPr id="70" name="Rounded Rectangle 69"/>
          <p:cNvSpPr/>
          <p:nvPr/>
        </p:nvSpPr>
        <p:spPr>
          <a:xfrm>
            <a:off x="548640" y="4663440"/>
            <a:ext cx="4754880" cy="12344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1520" y="4709160"/>
            <a:ext cx="4389120" cy="1143000"/>
          </a:xfrm>
          <a:prstGeom prst="rect">
            <a:avLst/>
          </a:prstGeom>
          <a:noFill/>
        </p:spPr>
        <p:txBody>
          <a:bodyPr wrap="square" lIns="45720" rIns="45720" anchor="ctr">
            <a:spAutoFit/>
          </a:bodyPr>
          <a:lstStyle/>
          <a:p>
            <a:pPr algn="r" rtl="1"/>
            <a:r>
              <a:rPr lang="he-IL" sz="1600" b="1" i="0">
                <a:solidFill>
                  <a:srgbClr val="1B2B34"/>
                </a:solidFill>
                <a:latin typeface="Arial"/>
                <a:cs typeface="Arial"/>
              </a:rPr>
              <a:t>רמז לאלופים: </a:t>
            </a:r>
            <a:r>
              <a:rPr lang="he-IL" sz="1600" b="0" i="0">
                <a:solidFill>
                  <a:srgbClr val="1B2B34"/>
                </a:solidFill>
                <a:latin typeface="Arial"/>
                <a:cs typeface="Arial"/>
              </a:rPr>
              <a:t>למה האסימונים מסודרים בשורות של 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24</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חידון: מה הייתם עושים?</a:t>
            </a:r>
          </a:p>
        </p:txBody>
      </p:sp>
      <p:sp>
        <p:nvSpPr>
          <p:cNvPr id="4" name="Rounded Rectangle 3"/>
          <p:cNvSpPr/>
          <p:nvPr/>
        </p:nvSpPr>
        <p:spPr>
          <a:xfrm>
            <a:off x="809244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64040" y="1554480"/>
            <a:ext cx="731520" cy="7315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א</a:t>
            </a:r>
          </a:p>
        </p:txBody>
      </p:sp>
      <p:sp>
        <p:nvSpPr>
          <p:cNvPr id="6" name="TextBox 5"/>
          <p:cNvSpPr txBox="1"/>
          <p:nvPr/>
        </p:nvSpPr>
        <p:spPr>
          <a:xfrm>
            <a:off x="8092440" y="2377440"/>
            <a:ext cx="352044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נשארו 1</a:t>
            </a:r>
          </a:p>
        </p:txBody>
      </p:sp>
      <p:sp>
        <p:nvSpPr>
          <p:cNvPr id="7" name="Oval 6"/>
          <p:cNvSpPr/>
          <p:nvPr/>
        </p:nvSpPr>
        <p:spPr>
          <a:xfrm>
            <a:off x="9669780"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92440" y="420624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כמה לוקחים?</a:t>
            </a:r>
          </a:p>
        </p:txBody>
      </p:sp>
      <p:sp>
        <p:nvSpPr>
          <p:cNvPr id="9" name="Rounded Rectangle 8"/>
          <p:cNvSpPr/>
          <p:nvPr/>
        </p:nvSpPr>
        <p:spPr>
          <a:xfrm>
            <a:off x="434340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715000" y="1554480"/>
            <a:ext cx="731520" cy="7315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ב</a:t>
            </a:r>
          </a:p>
        </p:txBody>
      </p:sp>
      <p:sp>
        <p:nvSpPr>
          <p:cNvPr id="11" name="TextBox 10"/>
          <p:cNvSpPr txBox="1"/>
          <p:nvPr/>
        </p:nvSpPr>
        <p:spPr>
          <a:xfrm>
            <a:off x="4343400" y="2377440"/>
            <a:ext cx="352044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נשארו 5</a:t>
            </a:r>
          </a:p>
        </p:txBody>
      </p:sp>
      <p:sp>
        <p:nvSpPr>
          <p:cNvPr id="12" name="Oval 11"/>
          <p:cNvSpPr/>
          <p:nvPr/>
        </p:nvSpPr>
        <p:spPr>
          <a:xfrm>
            <a:off x="5042916"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481828"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20740"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59652"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798564" y="315468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43400" y="420624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כמה לוקחים?</a:t>
            </a:r>
          </a:p>
        </p:txBody>
      </p:sp>
      <p:sp>
        <p:nvSpPr>
          <p:cNvPr id="18" name="Rounded Rectangle 17"/>
          <p:cNvSpPr/>
          <p:nvPr/>
        </p:nvSpPr>
        <p:spPr>
          <a:xfrm>
            <a:off x="594360" y="1417320"/>
            <a:ext cx="3520440" cy="32918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65960" y="1554480"/>
            <a:ext cx="731520" cy="7315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FFFFFF"/>
                </a:solidFill>
                <a:latin typeface="Arial"/>
                <a:cs typeface="Arial"/>
              </a:rPr>
              <a:t>ג</a:t>
            </a:r>
          </a:p>
        </p:txBody>
      </p:sp>
      <p:sp>
        <p:nvSpPr>
          <p:cNvPr id="20" name="TextBox 19"/>
          <p:cNvSpPr txBox="1"/>
          <p:nvPr/>
        </p:nvSpPr>
        <p:spPr>
          <a:xfrm>
            <a:off x="594360" y="2377440"/>
            <a:ext cx="352044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נשארו 12</a:t>
            </a:r>
          </a:p>
        </p:txBody>
      </p:sp>
      <p:sp>
        <p:nvSpPr>
          <p:cNvPr id="21" name="Oval 20"/>
          <p:cNvSpPr/>
          <p:nvPr/>
        </p:nvSpPr>
        <p:spPr>
          <a:xfrm>
            <a:off x="1074420"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513332"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2244"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391156"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830068"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268980" y="2971800"/>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74420"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513332"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952244"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391156"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830068"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268980" y="3410712"/>
            <a:ext cx="365760" cy="3657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4206240"/>
            <a:ext cx="3520440" cy="411480"/>
          </a:xfrm>
          <a:prstGeom prst="rect">
            <a:avLst/>
          </a:prstGeom>
          <a:noFill/>
        </p:spPr>
        <p:txBody>
          <a:bodyPr wrap="square" lIns="45720" rIns="45720" anchor="t">
            <a:spAutoFit/>
          </a:bodyPr>
          <a:lstStyle/>
          <a:p>
            <a:pPr algn="ctr" rtl="1"/>
            <a:r>
              <a:rPr lang="he-IL" sz="1500" b="0" i="0">
                <a:solidFill>
                  <a:srgbClr val="1B2B34"/>
                </a:solidFill>
                <a:latin typeface="Arial"/>
                <a:cs typeface="Arial"/>
              </a:rPr>
              <a:t>התור שלכם. כמה לוקחים?</a:t>
            </a:r>
          </a:p>
        </p:txBody>
      </p:sp>
      <p:sp>
        <p:nvSpPr>
          <p:cNvPr id="34" name="Rounded Rectangle 33"/>
          <p:cNvSpPr/>
          <p:nvPr/>
        </p:nvSpPr>
        <p:spPr>
          <a:xfrm>
            <a:off x="548640" y="5029200"/>
            <a:ext cx="11091672" cy="86868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0" i="0">
                <a:solidFill>
                  <a:srgbClr val="1B2B34"/>
                </a:solidFill>
                <a:latin typeface="Arial"/>
                <a:cs typeface="Arial"/>
              </a:rPr>
              <a:t>באחד המצבים כבר אי אפשר לנצח. באיזה? מה הטריק?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25</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חדש: </a:t>
            </a:r>
            <a:r>
              <a:rPr lang="en-US" sz="3600" b="1" i="0">
                <a:solidFill>
                  <a:srgbClr val="1B4332"/>
                </a:solidFill>
                <a:latin typeface="Arial"/>
                <a:cs typeface="Arial"/>
              </a:rPr>
              <a:t>input</a:t>
            </a:r>
            <a:r>
              <a:rPr lang="he-IL" sz="3600" b="1" i="0">
                <a:solidFill>
                  <a:srgbClr val="1B4332"/>
                </a:solidFill>
                <a:latin typeface="Arial"/>
                <a:cs typeface="Arial"/>
              </a:rPr>
              <a:t> - שואלים את השחקן</a:t>
            </a:r>
          </a:p>
        </p:txBody>
      </p:sp>
      <p:sp>
        <p:nvSpPr>
          <p:cNvPr id="4" name="Rounded Rectangle 3"/>
          <p:cNvSpPr/>
          <p:nvPr/>
        </p:nvSpPr>
        <p:spPr>
          <a:xfrm>
            <a:off x="548640" y="1417320"/>
            <a:ext cx="7223760" cy="14630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54480"/>
            <a:ext cx="6766560" cy="1188720"/>
          </a:xfrm>
          <a:prstGeom prst="rect">
            <a:avLst/>
          </a:prstGeom>
          <a:noFill/>
        </p:spPr>
        <p:txBody>
          <a:bodyPr wrap="square" lIns="45720" rIns="45720" anchor="ctr">
            <a:spAutoFit/>
          </a:bodyPr>
          <a:lstStyle/>
          <a:p>
            <a:pPr algn="l" rtl="0"/>
            <a:r>
              <a:rPr lang="en-US" sz="1800" b="0" i="0">
                <a:solidFill>
                  <a:srgbClr val="E6E6E6"/>
                </a:solidFill>
                <a:latin typeface="Consolas"/>
                <a:cs typeface="Consolas"/>
              </a:rPr>
              <a:t>count = </a:t>
            </a:r>
            <a:r>
              <a:rPr lang="en-US" sz="1800" b="0" i="0">
                <a:solidFill>
                  <a:srgbClr val="66D9EF"/>
                </a:solidFill>
                <a:latin typeface="Consolas"/>
                <a:cs typeface="Consolas"/>
              </a:rPr>
              <a:t>int</a:t>
            </a:r>
            <a:r>
              <a:rPr lang="en-US" sz="1800" b="0" i="0">
                <a:solidFill>
                  <a:srgbClr val="E6E6E6"/>
                </a:solidFill>
                <a:latin typeface="Consolas"/>
                <a:cs typeface="Consolas"/>
              </a:rPr>
              <a:t>(input(</a:t>
            </a:r>
            <a:r>
              <a:rPr lang="en-US" sz="1800" b="0" i="0">
                <a:solidFill>
                  <a:srgbClr val="A6E22E"/>
                </a:solidFill>
                <a:latin typeface="Consolas"/>
                <a:cs typeface="Consolas"/>
              </a:rPr>
              <a:t>"How many tokens do you take? "</a:t>
            </a:r>
            <a:r>
              <a:rPr lang="en-US" sz="1800" b="0" i="0">
                <a:solidFill>
                  <a:srgbClr val="E6E6E6"/>
                </a:solidFill>
                <a:latin typeface="Consolas"/>
                <a:cs typeface="Consolas"/>
              </a:rPr>
              <a:t>))</a:t>
            </a:r>
          </a:p>
          <a:p>
            <a:pPr algn="l" rtl="0"/>
            <a:r>
              <a:rPr lang="en-US" sz="1800" b="0" i="0">
                <a:solidFill>
                  <a:srgbClr val="E6E6E6"/>
                </a:solidFill>
                <a:latin typeface="Consolas"/>
                <a:cs typeface="Consolas"/>
              </a:rPr>
              <a:t>pile = pile - count</a:t>
            </a:r>
          </a:p>
        </p:txBody>
      </p:sp>
      <p:sp>
        <p:nvSpPr>
          <p:cNvPr id="6" name="Rounded Rectangle 5"/>
          <p:cNvSpPr/>
          <p:nvPr/>
        </p:nvSpPr>
        <p:spPr>
          <a:xfrm>
            <a:off x="548640" y="3154680"/>
            <a:ext cx="7223760" cy="137160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227832"/>
            <a:ext cx="6858000"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8" name="TextBox 7"/>
          <p:cNvSpPr txBox="1"/>
          <p:nvPr/>
        </p:nvSpPr>
        <p:spPr>
          <a:xfrm>
            <a:off x="731520" y="3520440"/>
            <a:ext cx="6858000" cy="914400"/>
          </a:xfrm>
          <a:prstGeom prst="rect">
            <a:avLst/>
          </a:prstGeom>
          <a:noFill/>
        </p:spPr>
        <p:txBody>
          <a:bodyPr wrap="square" lIns="45720" rIns="45720" anchor="t">
            <a:spAutoFit/>
          </a:bodyPr>
          <a:lstStyle/>
          <a:p>
            <a:pPr algn="l" rtl="0"/>
            <a:r>
              <a:rPr lang="en-US" sz="2000" b="0" i="0">
                <a:solidFill>
                  <a:srgbClr val="E6E6E6"/>
                </a:solidFill>
                <a:latin typeface="Consolas"/>
                <a:cs typeface="Consolas"/>
              </a:rPr>
              <a:t>How many tokens do you take? </a:t>
            </a:r>
            <a:r>
              <a:rPr lang="en-US" sz="2000" b="1" i="0">
                <a:solidFill>
                  <a:srgbClr val="FFD166"/>
                </a:solidFill>
                <a:latin typeface="Consolas"/>
                <a:cs typeface="Consolas"/>
              </a:rPr>
              <a:t>4</a:t>
            </a:r>
          </a:p>
        </p:txBody>
      </p:sp>
      <p:sp>
        <p:nvSpPr>
          <p:cNvPr id="9" name="Rounded Rectangle 8"/>
          <p:cNvSpPr/>
          <p:nvPr/>
        </p:nvSpPr>
        <p:spPr>
          <a:xfrm>
            <a:off x="7982712" y="1417320"/>
            <a:ext cx="3657600" cy="694944"/>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19872" y="1444752"/>
            <a:ext cx="3383280" cy="329184"/>
          </a:xfrm>
          <a:prstGeom prst="rect">
            <a:avLst/>
          </a:prstGeom>
          <a:noFill/>
        </p:spPr>
        <p:txBody>
          <a:bodyPr wrap="square" lIns="45720" rIns="45720" anchor="t">
            <a:spAutoFit/>
          </a:bodyPr>
          <a:lstStyle/>
          <a:p>
            <a:pPr algn="r" rtl="0"/>
            <a:r>
              <a:rPr lang="en-US" sz="1500" b="1" i="0">
                <a:solidFill>
                  <a:srgbClr val="2D9F5C"/>
                </a:solidFill>
                <a:latin typeface="Consolas"/>
                <a:cs typeface="Consolas"/>
              </a:rPr>
              <a:t>input("...")</a:t>
            </a:r>
          </a:p>
        </p:txBody>
      </p:sp>
      <p:sp>
        <p:nvSpPr>
          <p:cNvPr id="11" name="TextBox 10"/>
          <p:cNvSpPr txBox="1"/>
          <p:nvPr/>
        </p:nvSpPr>
        <p:spPr>
          <a:xfrm>
            <a:off x="8119872" y="1764792"/>
            <a:ext cx="3383280" cy="329184"/>
          </a:xfrm>
          <a:prstGeom prst="rect">
            <a:avLst/>
          </a:prstGeom>
          <a:noFill/>
        </p:spPr>
        <p:txBody>
          <a:bodyPr wrap="square" lIns="45720" rIns="45720" anchor="t">
            <a:spAutoFit/>
          </a:bodyPr>
          <a:lstStyle/>
          <a:p>
            <a:pPr algn="r" rtl="1"/>
            <a:r>
              <a:rPr lang="he-IL" sz="1300" b="0" i="0">
                <a:solidFill>
                  <a:srgbClr val="5F6F78"/>
                </a:solidFill>
                <a:latin typeface="Arial"/>
                <a:cs typeface="Arial"/>
              </a:rPr>
              <a:t>מציג שאלה ומחכה שנקליד</a:t>
            </a:r>
          </a:p>
        </p:txBody>
      </p:sp>
      <p:sp>
        <p:nvSpPr>
          <p:cNvPr id="12" name="Rounded Rectangle 11"/>
          <p:cNvSpPr/>
          <p:nvPr/>
        </p:nvSpPr>
        <p:spPr>
          <a:xfrm>
            <a:off x="7982712" y="2221992"/>
            <a:ext cx="3657600" cy="694944"/>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9872" y="2249424"/>
            <a:ext cx="3383280" cy="329184"/>
          </a:xfrm>
          <a:prstGeom prst="rect">
            <a:avLst/>
          </a:prstGeom>
          <a:noFill/>
        </p:spPr>
        <p:txBody>
          <a:bodyPr wrap="square" lIns="45720" rIns="45720" anchor="t">
            <a:spAutoFit/>
          </a:bodyPr>
          <a:lstStyle/>
          <a:p>
            <a:pPr algn="r" rtl="0"/>
            <a:r>
              <a:rPr lang="en-US" sz="1500" b="1" i="0">
                <a:solidFill>
                  <a:srgbClr val="FF9F1C"/>
                </a:solidFill>
                <a:latin typeface="Consolas"/>
                <a:cs typeface="Consolas"/>
              </a:rPr>
              <a:t>int(...)</a:t>
            </a:r>
          </a:p>
        </p:txBody>
      </p:sp>
      <p:sp>
        <p:nvSpPr>
          <p:cNvPr id="14" name="TextBox 13"/>
          <p:cNvSpPr txBox="1"/>
          <p:nvPr/>
        </p:nvSpPr>
        <p:spPr>
          <a:xfrm>
            <a:off x="8119872" y="2569464"/>
            <a:ext cx="3383280" cy="329184"/>
          </a:xfrm>
          <a:prstGeom prst="rect">
            <a:avLst/>
          </a:prstGeom>
          <a:noFill/>
        </p:spPr>
        <p:txBody>
          <a:bodyPr wrap="square" lIns="45720" rIns="45720" anchor="t">
            <a:spAutoFit/>
          </a:bodyPr>
          <a:lstStyle/>
          <a:p>
            <a:pPr algn="r" rtl="1"/>
            <a:r>
              <a:rPr lang="en-US" sz="1300" b="0" i="0">
                <a:solidFill>
                  <a:srgbClr val="5F6F78"/>
                </a:solidFill>
                <a:latin typeface="Arial"/>
                <a:cs typeface="Arial"/>
              </a:rPr>
              <a:t>input</a:t>
            </a:r>
            <a:r>
              <a:rPr lang="he-IL" sz="1300" b="0" i="0">
                <a:solidFill>
                  <a:srgbClr val="5F6F78"/>
                </a:solidFill>
                <a:latin typeface="Arial"/>
                <a:cs typeface="Arial"/>
              </a:rPr>
              <a:t> מחזיר מחרוזת - </a:t>
            </a:r>
            <a:r>
              <a:rPr lang="en-US" sz="1300" b="0" i="0">
                <a:solidFill>
                  <a:srgbClr val="5F6F78"/>
                </a:solidFill>
                <a:latin typeface="Arial"/>
                <a:cs typeface="Arial"/>
              </a:rPr>
              <a:t>int</a:t>
            </a:r>
            <a:r>
              <a:rPr lang="he-IL" sz="1300" b="0" i="0">
                <a:solidFill>
                  <a:srgbClr val="5F6F78"/>
                </a:solidFill>
                <a:latin typeface="Arial"/>
                <a:cs typeface="Arial"/>
              </a:rPr>
              <a:t> הופך למספר</a:t>
            </a:r>
          </a:p>
        </p:txBody>
      </p:sp>
      <p:sp>
        <p:nvSpPr>
          <p:cNvPr id="15" name="Rounded Rectangle 14"/>
          <p:cNvSpPr/>
          <p:nvPr/>
        </p:nvSpPr>
        <p:spPr>
          <a:xfrm>
            <a:off x="7982712" y="3026664"/>
            <a:ext cx="3657600" cy="694944"/>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9872" y="3054096"/>
            <a:ext cx="3383280" cy="329184"/>
          </a:xfrm>
          <a:prstGeom prst="rect">
            <a:avLst/>
          </a:prstGeom>
          <a:noFill/>
        </p:spPr>
        <p:txBody>
          <a:bodyPr wrap="square" lIns="45720" rIns="45720" anchor="t">
            <a:spAutoFit/>
          </a:bodyPr>
          <a:lstStyle/>
          <a:p>
            <a:pPr algn="r" rtl="0"/>
            <a:r>
              <a:rPr lang="en-US" sz="1500" b="1" i="0">
                <a:solidFill>
                  <a:srgbClr val="EF476F"/>
                </a:solidFill>
                <a:latin typeface="Consolas"/>
                <a:cs typeface="Consolas"/>
              </a:rPr>
              <a:t>minval / maxval?</a:t>
            </a:r>
          </a:p>
        </p:txBody>
      </p:sp>
      <p:sp>
        <p:nvSpPr>
          <p:cNvPr id="17" name="TextBox 16"/>
          <p:cNvSpPr txBox="1"/>
          <p:nvPr/>
        </p:nvSpPr>
        <p:spPr>
          <a:xfrm>
            <a:off x="8119872" y="3374136"/>
            <a:ext cx="3383280" cy="329184"/>
          </a:xfrm>
          <a:prstGeom prst="rect">
            <a:avLst/>
          </a:prstGeom>
          <a:noFill/>
        </p:spPr>
        <p:txBody>
          <a:bodyPr wrap="square" lIns="45720" rIns="45720" anchor="t">
            <a:spAutoFit/>
          </a:bodyPr>
          <a:lstStyle/>
          <a:p>
            <a:pPr algn="r" rtl="1"/>
            <a:r>
              <a:rPr lang="he-IL" sz="1300" b="0" i="0">
                <a:solidFill>
                  <a:srgbClr val="5F6F78"/>
                </a:solidFill>
                <a:latin typeface="Arial"/>
                <a:cs typeface="Arial"/>
              </a:rPr>
              <a:t>אין בדיקת טווח - בודקים בעצמנו</a:t>
            </a:r>
          </a:p>
        </p:txBody>
      </p:sp>
      <p:sp>
        <p:nvSpPr>
          <p:cNvPr id="18" name="Rounded Rectangle 17"/>
          <p:cNvSpPr/>
          <p:nvPr/>
        </p:nvSpPr>
        <p:spPr>
          <a:xfrm>
            <a:off x="7982712" y="3831336"/>
            <a:ext cx="3657600" cy="694944"/>
          </a:xfrm>
          <a:prstGeom prst="roundRect">
            <a:avLst>
              <a:gd name="adj" fmla="val 1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19872" y="3858768"/>
            <a:ext cx="3383280" cy="329184"/>
          </a:xfrm>
          <a:prstGeom prst="rect">
            <a:avLst/>
          </a:prstGeom>
          <a:noFill/>
        </p:spPr>
        <p:txBody>
          <a:bodyPr wrap="square" lIns="45720" rIns="45720" anchor="t">
            <a:spAutoFit/>
          </a:bodyPr>
          <a:lstStyle/>
          <a:p>
            <a:pPr algn="r" rtl="0"/>
            <a:r>
              <a:rPr lang="en-US" sz="1500" b="1" i="0">
                <a:solidFill>
                  <a:srgbClr val="118AB2"/>
                </a:solidFill>
                <a:latin typeface="Consolas"/>
                <a:cs typeface="Consolas"/>
              </a:rPr>
              <a:t>"*" * pile</a:t>
            </a:r>
          </a:p>
        </p:txBody>
      </p:sp>
      <p:sp>
        <p:nvSpPr>
          <p:cNvPr id="20" name="TextBox 19"/>
          <p:cNvSpPr txBox="1"/>
          <p:nvPr/>
        </p:nvSpPr>
        <p:spPr>
          <a:xfrm>
            <a:off x="8119872" y="4178808"/>
            <a:ext cx="3383280" cy="329184"/>
          </a:xfrm>
          <a:prstGeom prst="rect">
            <a:avLst/>
          </a:prstGeom>
          <a:noFill/>
        </p:spPr>
        <p:txBody>
          <a:bodyPr wrap="square" lIns="45720" rIns="45720" anchor="t">
            <a:spAutoFit/>
          </a:bodyPr>
          <a:lstStyle/>
          <a:p>
            <a:pPr algn="r" rtl="1"/>
            <a:r>
              <a:rPr lang="he-IL" sz="1300" b="0" i="0">
                <a:solidFill>
                  <a:srgbClr val="5F6F78"/>
                </a:solidFill>
                <a:latin typeface="Arial"/>
                <a:cs typeface="Arial"/>
              </a:rPr>
              <a:t>כוכבית לכל אסימון</a:t>
            </a:r>
          </a:p>
        </p:txBody>
      </p:sp>
      <p:sp>
        <p:nvSpPr>
          <p:cNvPr id="21" name="Rounded Rectangle 20"/>
          <p:cNvSpPr/>
          <p:nvPr/>
        </p:nvSpPr>
        <p:spPr>
          <a:xfrm>
            <a:off x="548640" y="4846320"/>
            <a:ext cx="11091672" cy="82296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en-US" sz="1800" b="1" i="0">
                <a:solidFill>
                  <a:srgbClr val="1B2B34"/>
                </a:solidFill>
                <a:latin typeface="Arial"/>
                <a:cs typeface="Arial"/>
              </a:rPr>
              <a:t>input</a:t>
            </a:r>
            <a:r>
              <a:rPr lang="he-IL" sz="1800" b="1" i="0">
                <a:solidFill>
                  <a:srgbClr val="1B2B34"/>
                </a:solidFill>
                <a:latin typeface="Arial"/>
                <a:cs typeface="Arial"/>
              </a:rPr>
              <a:t> סומך על המשתמש - </a:t>
            </a:r>
            <a:r>
              <a:rPr lang="he-IL" sz="1800" b="0" i="0">
                <a:solidFill>
                  <a:srgbClr val="1B2B34"/>
                </a:solidFill>
                <a:latin typeface="Arial"/>
                <a:cs typeface="Arial"/>
              </a:rPr>
              <a:t>אז אנחנו בודקים את התשובה. בדיוק כמו עם </a:t>
            </a:r>
            <a:r>
              <a:rPr lang="en-US" sz="1800" b="0" i="0">
                <a:solidFill>
                  <a:srgbClr val="1B2B34"/>
                </a:solidFill>
                <a:latin typeface="Arial"/>
                <a:cs typeface="Arial"/>
              </a:rPr>
              <a:t>Gemini</a:t>
            </a:r>
            <a:r>
              <a:rPr lang="he-IL" sz="1800" b="0" i="0">
                <a:solidFill>
                  <a:srgbClr val="1B2B34"/>
                </a:solidFill>
                <a:latin typeface="Arial"/>
                <a:cs typeface="Aria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26</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3 שלבים למשחק שלם</a:t>
            </a:r>
          </a:p>
        </p:txBody>
      </p:sp>
      <p:sp>
        <p:nvSpPr>
          <p:cNvPr id="4" name="Oval 3"/>
          <p:cNvSpPr/>
          <p:nvPr/>
        </p:nvSpPr>
        <p:spPr>
          <a:xfrm>
            <a:off x="9509760" y="1280160"/>
            <a:ext cx="868680" cy="8686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5" name="TextBox 4"/>
          <p:cNvSpPr txBox="1"/>
          <p:nvPr/>
        </p:nvSpPr>
        <p:spPr>
          <a:xfrm>
            <a:off x="8229600" y="2194560"/>
            <a:ext cx="342900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ערימה ו-</a:t>
            </a:r>
            <a:r>
              <a:rPr lang="en-US" sz="2100" b="1" i="0">
                <a:solidFill>
                  <a:srgbClr val="1B2B34"/>
                </a:solidFill>
                <a:latin typeface="Arial"/>
                <a:cs typeface="Arial"/>
              </a:rPr>
              <a:t>input</a:t>
            </a:r>
          </a:p>
        </p:txBody>
      </p:sp>
      <p:sp>
        <p:nvSpPr>
          <p:cNvPr id="6" name="TextBox 5"/>
          <p:cNvSpPr txBox="1"/>
          <p:nvPr/>
        </p:nvSpPr>
        <p:spPr>
          <a:xfrm>
            <a:off x="8229600" y="2606040"/>
            <a:ext cx="3429000" cy="365760"/>
          </a:xfrm>
          <a:prstGeom prst="rect">
            <a:avLst/>
          </a:prstGeom>
          <a:noFill/>
        </p:spPr>
        <p:txBody>
          <a:bodyPr wrap="square" lIns="45720" rIns="45720" anchor="t">
            <a:spAutoFit/>
          </a:bodyPr>
          <a:lstStyle/>
          <a:p>
            <a:pPr algn="ctr" rtl="0"/>
            <a:r>
              <a:rPr lang="en-US" sz="1300" b="0" i="0">
                <a:solidFill>
                  <a:srgbClr val="5F6F78"/>
                </a:solidFill>
                <a:latin typeface="Consolas"/>
                <a:cs typeface="Consolas"/>
              </a:rPr>
              <a:t>pile, input, int</a:t>
            </a:r>
          </a:p>
        </p:txBody>
      </p:sp>
      <p:sp>
        <p:nvSpPr>
          <p:cNvPr id="7" name="TextBox 6"/>
          <p:cNvSpPr txBox="1"/>
          <p:nvPr/>
        </p:nvSpPr>
        <p:spPr>
          <a:xfrm>
            <a:off x="8229600" y="2926080"/>
            <a:ext cx="342900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nim1.py</a:t>
            </a:r>
          </a:p>
        </p:txBody>
      </p:sp>
      <p:sp>
        <p:nvSpPr>
          <p:cNvPr id="8" name="Rounded Rectangle 7"/>
          <p:cNvSpPr/>
          <p:nvPr/>
        </p:nvSpPr>
        <p:spPr>
          <a:xfrm>
            <a:off x="8229600" y="3474720"/>
            <a:ext cx="3429000" cy="173736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0" y="3547872"/>
            <a:ext cx="3063240"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10" name="TextBox 9"/>
          <p:cNvSpPr txBox="1"/>
          <p:nvPr/>
        </p:nvSpPr>
        <p:spPr>
          <a:xfrm>
            <a:off x="8412480" y="3840480"/>
            <a:ext cx="3063240" cy="1280160"/>
          </a:xfrm>
          <a:prstGeom prst="rect">
            <a:avLst/>
          </a:prstGeom>
          <a:noFill/>
        </p:spPr>
        <p:txBody>
          <a:bodyPr wrap="square" lIns="45720" rIns="45720" anchor="t">
            <a:spAutoFit/>
          </a:bodyPr>
          <a:lstStyle/>
          <a:p>
            <a:pPr algn="l" rtl="0"/>
            <a:r>
              <a:rPr lang="en-US" sz="1700" b="0" i="0">
                <a:solidFill>
                  <a:srgbClr val="E6E6E6"/>
                </a:solidFill>
                <a:latin typeface="Consolas"/>
                <a:cs typeface="Consolas"/>
              </a:rPr>
              <a:t>Tokens left: 55</a:t>
            </a:r>
          </a:p>
          <a:p>
            <a:pPr algn="l" rtl="0"/>
            <a:r>
              <a:rPr lang="en-US" sz="1700" b="0" i="0">
                <a:solidFill>
                  <a:srgbClr val="E6E6E6"/>
                </a:solidFill>
                <a:latin typeface="Consolas"/>
                <a:cs typeface="Consolas"/>
              </a:rPr>
              <a:t>How many...? </a:t>
            </a:r>
            <a:r>
              <a:rPr lang="en-US" sz="1700" b="1" i="0">
                <a:solidFill>
                  <a:srgbClr val="FFD166"/>
                </a:solidFill>
                <a:latin typeface="Consolas"/>
                <a:cs typeface="Consolas"/>
              </a:rPr>
              <a:t>4</a:t>
            </a:r>
          </a:p>
          <a:p>
            <a:pPr algn="l" rtl="0"/>
            <a:r>
              <a:rPr lang="en-US" sz="1700" b="0" i="0">
                <a:solidFill>
                  <a:srgbClr val="E6E6E6"/>
                </a:solidFill>
                <a:latin typeface="Consolas"/>
                <a:cs typeface="Consolas"/>
              </a:rPr>
              <a:t>Tokens left: 51</a:t>
            </a:r>
          </a:p>
        </p:txBody>
      </p:sp>
      <p:cxnSp>
        <p:nvCxnSpPr>
          <p:cNvPr id="11" name="Connector 10"/>
          <p:cNvCxnSpPr/>
          <p:nvPr/>
        </p:nvCxnSpPr>
        <p:spPr>
          <a:xfrm flipH="1">
            <a:off x="7955279" y="1719072"/>
            <a:ext cx="22860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760720" y="1280160"/>
            <a:ext cx="868680" cy="8686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3" name="TextBox 12"/>
          <p:cNvSpPr txBox="1"/>
          <p:nvPr/>
        </p:nvSpPr>
        <p:spPr>
          <a:xfrm>
            <a:off x="4480560" y="2194560"/>
            <a:ext cx="342900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שני שחקנים וסוף</a:t>
            </a:r>
          </a:p>
        </p:txBody>
      </p:sp>
      <p:sp>
        <p:nvSpPr>
          <p:cNvPr id="14" name="TextBox 13"/>
          <p:cNvSpPr txBox="1"/>
          <p:nvPr/>
        </p:nvSpPr>
        <p:spPr>
          <a:xfrm>
            <a:off x="4480560" y="2606040"/>
            <a:ext cx="3429000" cy="365760"/>
          </a:xfrm>
          <a:prstGeom prst="rect">
            <a:avLst/>
          </a:prstGeom>
          <a:noFill/>
        </p:spPr>
        <p:txBody>
          <a:bodyPr wrap="square" lIns="45720" rIns="45720" anchor="t">
            <a:spAutoFit/>
          </a:bodyPr>
          <a:lstStyle/>
          <a:p>
            <a:pPr algn="ctr" rtl="0"/>
            <a:r>
              <a:rPr lang="en-US" sz="1300" b="0" i="0">
                <a:solidFill>
                  <a:srgbClr val="5F6F78"/>
                </a:solidFill>
                <a:latin typeface="Consolas"/>
                <a:cs typeface="Consolas"/>
              </a:rPr>
              <a:t>legal_move, player_turn</a:t>
            </a:r>
          </a:p>
        </p:txBody>
      </p:sp>
      <p:sp>
        <p:nvSpPr>
          <p:cNvPr id="15" name="TextBox 14"/>
          <p:cNvSpPr txBox="1"/>
          <p:nvPr/>
        </p:nvSpPr>
        <p:spPr>
          <a:xfrm>
            <a:off x="4480560" y="2926080"/>
            <a:ext cx="342900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nim2.py</a:t>
            </a:r>
          </a:p>
        </p:txBody>
      </p:sp>
      <p:sp>
        <p:nvSpPr>
          <p:cNvPr id="16" name="Rounded Rectangle 15"/>
          <p:cNvSpPr/>
          <p:nvPr/>
        </p:nvSpPr>
        <p:spPr>
          <a:xfrm>
            <a:off x="4480560" y="3474720"/>
            <a:ext cx="3429000" cy="173736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3547872"/>
            <a:ext cx="3063240"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18" name="TextBox 17"/>
          <p:cNvSpPr txBox="1"/>
          <p:nvPr/>
        </p:nvSpPr>
        <p:spPr>
          <a:xfrm>
            <a:off x="4663440" y="3840480"/>
            <a:ext cx="3063240" cy="1280160"/>
          </a:xfrm>
          <a:prstGeom prst="rect">
            <a:avLst/>
          </a:prstGeom>
          <a:noFill/>
        </p:spPr>
        <p:txBody>
          <a:bodyPr wrap="square" lIns="45720" rIns="45720" anchor="t">
            <a:spAutoFit/>
          </a:bodyPr>
          <a:lstStyle/>
          <a:p>
            <a:pPr algn="l" rtl="0"/>
            <a:r>
              <a:rPr lang="en-US" sz="1700" b="0" i="0">
                <a:solidFill>
                  <a:srgbClr val="E6E6E6"/>
                </a:solidFill>
                <a:latin typeface="Consolas"/>
                <a:cs typeface="Consolas"/>
              </a:rPr>
              <a:t>Tokens left: 1</a:t>
            </a:r>
          </a:p>
          <a:p>
            <a:pPr algn="l" rtl="0"/>
            <a:r>
              <a:rPr lang="en-US" sz="1700" b="0" i="0">
                <a:solidFill>
                  <a:srgbClr val="E6E6E6"/>
                </a:solidFill>
                <a:latin typeface="Consolas"/>
                <a:cs typeface="Consolas"/>
              </a:rPr>
              <a:t>Player 2, how many...? </a:t>
            </a:r>
            <a:r>
              <a:rPr lang="en-US" sz="1700" b="1" i="0">
                <a:solidFill>
                  <a:srgbClr val="FFD166"/>
                </a:solidFill>
                <a:latin typeface="Consolas"/>
                <a:cs typeface="Consolas"/>
              </a:rPr>
              <a:t>1</a:t>
            </a:r>
          </a:p>
          <a:p>
            <a:pPr algn="l" rtl="0"/>
            <a:r>
              <a:rPr lang="en-US" sz="1700" b="0" i="0">
                <a:solidFill>
                  <a:srgbClr val="FF6B81"/>
                </a:solidFill>
                <a:latin typeface="Consolas"/>
                <a:cs typeface="Consolas"/>
              </a:rPr>
              <a:t>Player 2 LOSES!</a:t>
            </a:r>
          </a:p>
        </p:txBody>
      </p:sp>
      <p:cxnSp>
        <p:nvCxnSpPr>
          <p:cNvPr id="19" name="Connector 18"/>
          <p:cNvCxnSpPr/>
          <p:nvPr/>
        </p:nvCxnSpPr>
        <p:spPr>
          <a:xfrm flipH="1">
            <a:off x="4206240" y="1719072"/>
            <a:ext cx="228600" cy="0"/>
          </a:xfrm>
          <a:prstGeom prst="line">
            <a:avLst/>
          </a:prstGeom>
          <a:ln w="38100">
            <a:solidFill>
              <a:srgbClr val="B8C4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011680" y="1280160"/>
            <a:ext cx="868680" cy="8686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21" name="TextBox 20"/>
          <p:cNvSpPr txBox="1"/>
          <p:nvPr/>
        </p:nvSpPr>
        <p:spPr>
          <a:xfrm>
            <a:off x="731520" y="2194560"/>
            <a:ext cx="342900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נגד </a:t>
            </a:r>
            <a:r>
              <a:rPr lang="en-US" sz="2100" b="1" i="0">
                <a:solidFill>
                  <a:srgbClr val="1B2B34"/>
                </a:solidFill>
                <a:latin typeface="Arial"/>
                <a:cs typeface="Arial"/>
              </a:rPr>
              <a:t>Gemini</a:t>
            </a:r>
          </a:p>
        </p:txBody>
      </p:sp>
      <p:sp>
        <p:nvSpPr>
          <p:cNvPr id="22" name="TextBox 21"/>
          <p:cNvSpPr txBox="1"/>
          <p:nvPr/>
        </p:nvSpPr>
        <p:spPr>
          <a:xfrm>
            <a:off x="731520" y="2606040"/>
            <a:ext cx="3429000" cy="365760"/>
          </a:xfrm>
          <a:prstGeom prst="rect">
            <a:avLst/>
          </a:prstGeom>
          <a:noFill/>
        </p:spPr>
        <p:txBody>
          <a:bodyPr wrap="square" lIns="45720" rIns="45720" anchor="t">
            <a:spAutoFit/>
          </a:bodyPr>
          <a:lstStyle/>
          <a:p>
            <a:pPr algn="ctr" rtl="0"/>
            <a:r>
              <a:rPr lang="en-US" sz="1300" b="0" i="0">
                <a:solidFill>
                  <a:srgbClr val="5F6F78"/>
                </a:solidFill>
                <a:latin typeface="Consolas"/>
                <a:cs typeface="Consolas"/>
              </a:rPr>
              <a:t>ask_gemini, isdigit</a:t>
            </a:r>
          </a:p>
        </p:txBody>
      </p:sp>
      <p:sp>
        <p:nvSpPr>
          <p:cNvPr id="23" name="TextBox 22"/>
          <p:cNvSpPr txBox="1"/>
          <p:nvPr/>
        </p:nvSpPr>
        <p:spPr>
          <a:xfrm>
            <a:off x="731520" y="2926080"/>
            <a:ext cx="3429000" cy="365760"/>
          </a:xfrm>
          <a:prstGeom prst="rect">
            <a:avLst/>
          </a:prstGeom>
          <a:noFill/>
        </p:spPr>
        <p:txBody>
          <a:bodyPr wrap="square" lIns="45720" rIns="45720" anchor="t">
            <a:spAutoFit/>
          </a:bodyPr>
          <a:lstStyle/>
          <a:p>
            <a:pPr algn="ctr" rtl="0"/>
            <a:r>
              <a:rPr lang="en-US" sz="1500" b="1" i="0">
                <a:solidFill>
                  <a:srgbClr val="FF9F1C"/>
                </a:solidFill>
                <a:latin typeface="Arial"/>
                <a:cs typeface="Arial"/>
              </a:rPr>
              <a:t>nim3.py</a:t>
            </a:r>
          </a:p>
        </p:txBody>
      </p:sp>
      <p:sp>
        <p:nvSpPr>
          <p:cNvPr id="24" name="Rounded Rectangle 23"/>
          <p:cNvSpPr/>
          <p:nvPr/>
        </p:nvSpPr>
        <p:spPr>
          <a:xfrm>
            <a:off x="731520" y="3474720"/>
            <a:ext cx="3429000" cy="173736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547872"/>
            <a:ext cx="3063240"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26" name="TextBox 25"/>
          <p:cNvSpPr txBox="1"/>
          <p:nvPr/>
        </p:nvSpPr>
        <p:spPr>
          <a:xfrm>
            <a:off x="914400" y="3840480"/>
            <a:ext cx="3063240" cy="1280160"/>
          </a:xfrm>
          <a:prstGeom prst="rect">
            <a:avLst/>
          </a:prstGeom>
          <a:noFill/>
        </p:spPr>
        <p:txBody>
          <a:bodyPr wrap="square" lIns="45720" rIns="45720" anchor="t">
            <a:spAutoFit/>
          </a:bodyPr>
          <a:lstStyle/>
          <a:p>
            <a:pPr algn="l" rtl="0"/>
            <a:r>
              <a:rPr lang="en-US" sz="1700" b="0" i="0">
                <a:solidFill>
                  <a:srgbClr val="E6E6E6"/>
                </a:solidFill>
                <a:latin typeface="Consolas"/>
                <a:cs typeface="Consolas"/>
              </a:rPr>
              <a:t>Gemini is thinking...</a:t>
            </a:r>
          </a:p>
          <a:p>
            <a:pPr algn="l" rtl="0"/>
            <a:r>
              <a:rPr lang="en-US" sz="1700" b="0" i="0">
                <a:solidFill>
                  <a:srgbClr val="66D9EF"/>
                </a:solidFill>
                <a:latin typeface="Consolas"/>
                <a:cs typeface="Consolas"/>
              </a:rPr>
              <a:t>Received from Gemini: 4</a:t>
            </a:r>
          </a:p>
          <a:p>
            <a:pPr algn="l" rtl="0"/>
            <a:r>
              <a:rPr lang="en-US" sz="1700" b="0" i="0">
                <a:solidFill>
                  <a:srgbClr val="E6E6E6"/>
                </a:solidFill>
                <a:latin typeface="Consolas"/>
                <a:cs typeface="Consolas"/>
              </a:rPr>
              <a:t>Gemini took 4 tokens</a:t>
            </a:r>
          </a:p>
        </p:txBody>
      </p:sp>
      <p:sp>
        <p:nvSpPr>
          <p:cNvPr id="27" name="TextBox 26"/>
          <p:cNvSpPr txBox="1"/>
          <p:nvPr/>
        </p:nvSpPr>
        <p:spPr>
          <a:xfrm>
            <a:off x="548640" y="5486400"/>
            <a:ext cx="11091672" cy="457200"/>
          </a:xfrm>
          <a:prstGeom prst="rect">
            <a:avLst/>
          </a:prstGeom>
          <a:noFill/>
        </p:spPr>
        <p:txBody>
          <a:bodyPr wrap="square" lIns="45720" rIns="45720" anchor="t">
            <a:spAutoFit/>
          </a:bodyPr>
          <a:lstStyle/>
          <a:p>
            <a:pPr algn="ctr" rtl="1"/>
            <a:r>
              <a:rPr lang="he-IL" sz="1600" b="0" i="0">
                <a:solidFill>
                  <a:srgbClr val="5F6F78"/>
                </a:solidFill>
                <a:latin typeface="Arial"/>
                <a:cs typeface="Arial"/>
              </a:rPr>
              <a:t>כל שלב = קובץ שעובד. נתקעתם? פותחים את הקובץ של השלב הבא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1: ערימה, לולאה ו-</a:t>
            </a:r>
            <a:r>
              <a:rPr lang="en-US" sz="3600" b="1" i="0">
                <a:solidFill>
                  <a:srgbClr val="1B4332"/>
                </a:solidFill>
                <a:latin typeface="Arial"/>
                <a:cs typeface="Arial"/>
              </a:rPr>
              <a:t>input</a:t>
            </a:r>
          </a:p>
        </p:txBody>
      </p:sp>
      <p:sp>
        <p:nvSpPr>
          <p:cNvPr id="4" name="Rounded Rectangle 3"/>
          <p:cNvSpPr/>
          <p:nvPr/>
        </p:nvSpPr>
        <p:spPr>
          <a:xfrm>
            <a:off x="548640" y="1417320"/>
            <a:ext cx="7589520" cy="32918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54480"/>
            <a:ext cx="7132320" cy="3017520"/>
          </a:xfrm>
          <a:prstGeom prst="rect">
            <a:avLst/>
          </a:prstGeom>
          <a:noFill/>
        </p:spPr>
        <p:txBody>
          <a:bodyPr wrap="square" lIns="45720" rIns="45720" anchor="ctr">
            <a:spAutoFit/>
          </a:bodyPr>
          <a:lstStyle/>
          <a:p>
            <a:pPr algn="l" rtl="0"/>
            <a:r>
              <a:rPr lang="en-US" sz="1800" b="0" i="0">
                <a:solidFill>
                  <a:srgbClr val="E6E6E6"/>
                </a:solidFill>
                <a:latin typeface="Consolas"/>
                <a:cs typeface="Consolas"/>
              </a:rPr>
              <a:t>pile = </a:t>
            </a:r>
            <a:r>
              <a:rPr lang="en-US" sz="1800" b="0" i="0">
                <a:solidFill>
                  <a:srgbClr val="FFD166"/>
                </a:solidFill>
                <a:latin typeface="Consolas"/>
                <a:cs typeface="Consolas"/>
              </a:rPr>
              <a:t>55</a:t>
            </a:r>
          </a:p>
          <a:p>
            <a:pPr algn="l" rtl="0"/>
            <a:r>
              <a:rPr lang="en-US" sz="1800" b="0" i="0">
                <a:solidFill>
                  <a:srgbClr val="E6E6E6"/>
                </a:solidFill>
                <a:latin typeface="Consolas"/>
                <a:cs typeface="Consolas"/>
              </a:rPr>
              <a:t>MAX_TAKE = </a:t>
            </a:r>
            <a:r>
              <a:rPr lang="en-US" sz="1800" b="0" i="0">
                <a:solidFill>
                  <a:srgbClr val="FFD166"/>
                </a:solidFill>
                <a:latin typeface="Consolas"/>
                <a:cs typeface="Consolas"/>
              </a:rPr>
              <a:t>10</a:t>
            </a:r>
          </a:p>
          <a:p>
            <a:pPr algn="l" rtl="0"/>
            <a:r>
              <a:rPr lang="en-US" sz="1800" b="0" i="0">
                <a:solidFill>
                  <a:srgbClr val="E6E6E6"/>
                </a:solidFill>
                <a:latin typeface="Consolas"/>
                <a:cs typeface="Consolas"/>
              </a:rPr>
              <a:t>MAX_TURNS = </a:t>
            </a:r>
            <a:r>
              <a:rPr lang="en-US" sz="1800" b="0" i="0">
                <a:solidFill>
                  <a:srgbClr val="FFD166"/>
                </a:solidFill>
                <a:latin typeface="Consolas"/>
                <a:cs typeface="Consolas"/>
              </a:rPr>
              <a:t>10</a:t>
            </a:r>
          </a:p>
          <a:p>
            <a:pPr algn="l" rtl="0"/>
            <a:r>
              <a:rPr lang="en-US" sz="1800" b="0" i="0">
                <a:solidFill>
                  <a:srgbClr val="E6E6E6"/>
                </a:solidFill>
                <a:latin typeface="Consolas"/>
                <a:cs typeface="Consolas"/>
              </a:rPr>
              <a:t> </a:t>
            </a:r>
          </a:p>
          <a:p>
            <a:pPr algn="l" rtl="0"/>
            <a:r>
              <a:rPr lang="en-US" sz="1800" b="0" i="0">
                <a:solidFill>
                  <a:srgbClr val="FF9F1C"/>
                </a:solidFill>
                <a:latin typeface="Consolas"/>
                <a:cs typeface="Consolas"/>
              </a:rPr>
              <a:t>for</a:t>
            </a:r>
            <a:r>
              <a:rPr lang="en-US" sz="1800" b="0" i="0">
                <a:solidFill>
                  <a:srgbClr val="E6E6E6"/>
                </a:solidFill>
                <a:latin typeface="Consolas"/>
                <a:cs typeface="Consolas"/>
              </a:rPr>
              <a:t> turn </a:t>
            </a:r>
            <a:r>
              <a:rPr lang="en-US" sz="1800" b="0" i="0">
                <a:solidFill>
                  <a:srgbClr val="FF9F1C"/>
                </a:solidFill>
                <a:latin typeface="Consolas"/>
                <a:cs typeface="Consolas"/>
              </a:rPr>
              <a:t>in</a:t>
            </a:r>
            <a:r>
              <a:rPr lang="en-US" sz="1800" b="0" i="0">
                <a:solidFill>
                  <a:srgbClr val="E6E6E6"/>
                </a:solidFill>
                <a:latin typeface="Consolas"/>
                <a:cs typeface="Consolas"/>
              </a:rPr>
              <a:t> </a:t>
            </a:r>
            <a:r>
              <a:rPr lang="en-US" sz="1800" b="0" i="0">
                <a:solidFill>
                  <a:srgbClr val="66D9EF"/>
                </a:solidFill>
                <a:latin typeface="Consolas"/>
                <a:cs typeface="Consolas"/>
              </a:rPr>
              <a:t>range</a:t>
            </a:r>
            <a:r>
              <a:rPr lang="en-US" sz="1800" b="0" i="0">
                <a:solidFill>
                  <a:srgbClr val="E6E6E6"/>
                </a:solidFill>
                <a:latin typeface="Consolas"/>
                <a:cs typeface="Consolas"/>
              </a:rPr>
              <a:t>(MAX_TURNS):</a:t>
            </a:r>
          </a:p>
          <a:p>
            <a:pPr algn="l" rtl="0"/>
            <a:r>
              <a:rPr lang="en-US" sz="1800" b="0" i="0">
                <a:solidFill>
                  <a:srgbClr val="E6E6E6"/>
                </a:solidFill>
                <a:latin typeface="Consolas"/>
                <a:cs typeface="Consolas"/>
              </a:rPr>
              <a:t>    </a:t>
            </a:r>
            <a:r>
              <a:rPr lang="en-US" sz="1800" b="0" i="0">
                <a:solidFill>
                  <a:srgbClr val="66D9EF"/>
                </a:solidFill>
                <a:latin typeface="Consolas"/>
                <a:cs typeface="Consolas"/>
              </a:rPr>
              <a:t>print</a:t>
            </a:r>
            <a:r>
              <a:rPr lang="en-US" sz="1800" b="0" i="0">
                <a:solidFill>
                  <a:srgbClr val="E6E6E6"/>
                </a:solidFill>
                <a:latin typeface="Consolas"/>
                <a:cs typeface="Consolas"/>
              </a:rPr>
              <a:t>(</a:t>
            </a:r>
            <a:r>
              <a:rPr lang="en-US" sz="1800" b="0" i="0">
                <a:solidFill>
                  <a:srgbClr val="A6E22E"/>
                </a:solidFill>
                <a:latin typeface="Consolas"/>
                <a:cs typeface="Consolas"/>
              </a:rPr>
              <a:t>"*"</a:t>
            </a:r>
            <a:r>
              <a:rPr lang="en-US" sz="1800" b="0" i="0">
                <a:solidFill>
                  <a:srgbClr val="E6E6E6"/>
                </a:solidFill>
                <a:latin typeface="Consolas"/>
                <a:cs typeface="Consolas"/>
              </a:rPr>
              <a:t> * pile)</a:t>
            </a:r>
          </a:p>
          <a:p>
            <a:pPr algn="l" rtl="0"/>
            <a:r>
              <a:rPr lang="en-US" sz="1800" b="0" i="0">
                <a:solidFill>
                  <a:srgbClr val="E6E6E6"/>
                </a:solidFill>
                <a:latin typeface="Consolas"/>
                <a:cs typeface="Consolas"/>
              </a:rPr>
              <a:t>    </a:t>
            </a:r>
            <a:r>
              <a:rPr lang="en-US" sz="1800" b="0" i="0">
                <a:solidFill>
                  <a:srgbClr val="66D9EF"/>
                </a:solidFill>
                <a:latin typeface="Consolas"/>
                <a:cs typeface="Consolas"/>
              </a:rPr>
              <a:t>print</a:t>
            </a:r>
            <a:r>
              <a:rPr lang="en-US" sz="1800" b="0" i="0">
                <a:solidFill>
                  <a:srgbClr val="E6E6E6"/>
                </a:solidFill>
                <a:latin typeface="Consolas"/>
                <a:cs typeface="Consolas"/>
              </a:rPr>
              <a:t>(</a:t>
            </a:r>
            <a:r>
              <a:rPr lang="en-US" sz="1800" b="0" i="0">
                <a:solidFill>
                  <a:srgbClr val="A6E22E"/>
                </a:solidFill>
                <a:latin typeface="Consolas"/>
                <a:cs typeface="Consolas"/>
              </a:rPr>
              <a:t>"Tokens left: "</a:t>
            </a:r>
            <a:r>
              <a:rPr lang="en-US" sz="1800" b="0" i="0">
                <a:solidFill>
                  <a:srgbClr val="E6E6E6"/>
                </a:solidFill>
                <a:latin typeface="Consolas"/>
                <a:cs typeface="Consolas"/>
              </a:rPr>
              <a:t> + </a:t>
            </a:r>
            <a:r>
              <a:rPr lang="en-US" sz="1800" b="0" i="0">
                <a:solidFill>
                  <a:srgbClr val="66D9EF"/>
                </a:solidFill>
                <a:latin typeface="Consolas"/>
                <a:cs typeface="Consolas"/>
              </a:rPr>
              <a:t>str</a:t>
            </a:r>
            <a:r>
              <a:rPr lang="en-US" sz="1800" b="0" i="0">
                <a:solidFill>
                  <a:srgbClr val="E6E6E6"/>
                </a:solidFill>
                <a:latin typeface="Consolas"/>
                <a:cs typeface="Consolas"/>
              </a:rPr>
              <a:t>(pile))</a:t>
            </a:r>
          </a:p>
          <a:p>
            <a:pPr algn="l" rtl="0"/>
            <a:r>
              <a:rPr lang="en-US" sz="1800" b="0" i="0">
                <a:solidFill>
                  <a:srgbClr val="E6E6E6"/>
                </a:solidFill>
                <a:latin typeface="Consolas"/>
                <a:cs typeface="Consolas"/>
              </a:rPr>
              <a:t>    count = </a:t>
            </a:r>
            <a:r>
              <a:rPr lang="en-US" sz="1800" b="0" i="0">
                <a:solidFill>
                  <a:srgbClr val="66D9EF"/>
                </a:solidFill>
                <a:latin typeface="Consolas"/>
                <a:cs typeface="Consolas"/>
              </a:rPr>
              <a:t>int</a:t>
            </a:r>
            <a:r>
              <a:rPr lang="en-US" sz="1800" b="0" i="0">
                <a:solidFill>
                  <a:srgbClr val="E6E6E6"/>
                </a:solidFill>
                <a:latin typeface="Consolas"/>
                <a:cs typeface="Consolas"/>
              </a:rPr>
              <a:t>(input(</a:t>
            </a:r>
            <a:r>
              <a:rPr lang="en-US" sz="1800" b="0" i="0">
                <a:solidFill>
                  <a:srgbClr val="A6E22E"/>
                </a:solidFill>
                <a:latin typeface="Consolas"/>
                <a:cs typeface="Consolas"/>
              </a:rPr>
              <a:t>"How many tokens do you take? "</a:t>
            </a:r>
            <a:r>
              <a:rPr lang="en-US" sz="1800" b="0" i="0">
                <a:solidFill>
                  <a:srgbClr val="E6E6E6"/>
                </a:solidFill>
                <a:latin typeface="Consolas"/>
                <a:cs typeface="Consolas"/>
              </a:rPr>
              <a:t>))</a:t>
            </a:r>
          </a:p>
          <a:p>
            <a:pPr algn="l" rtl="0"/>
            <a:r>
              <a:rPr lang="en-US" sz="1800" b="0" i="0">
                <a:solidFill>
                  <a:srgbClr val="E6E6E6"/>
                </a:solidFill>
                <a:latin typeface="Consolas"/>
                <a:cs typeface="Consolas"/>
              </a:rPr>
              <a:t>    pile = pile - count</a:t>
            </a:r>
          </a:p>
        </p:txBody>
      </p:sp>
      <p:sp>
        <p:nvSpPr>
          <p:cNvPr id="6" name="Rounded Rectangle 5"/>
          <p:cNvSpPr/>
          <p:nvPr/>
        </p:nvSpPr>
        <p:spPr>
          <a:xfrm>
            <a:off x="8321040" y="1417320"/>
            <a:ext cx="3319272" cy="329184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19" y="1490472"/>
            <a:ext cx="2953512"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8" name="TextBox 7"/>
          <p:cNvSpPr txBox="1"/>
          <p:nvPr/>
        </p:nvSpPr>
        <p:spPr>
          <a:xfrm>
            <a:off x="8503919" y="1783080"/>
            <a:ext cx="2953512" cy="2834640"/>
          </a:xfrm>
          <a:prstGeom prst="rect">
            <a:avLst/>
          </a:prstGeom>
          <a:noFill/>
        </p:spPr>
        <p:txBody>
          <a:bodyPr wrap="square" lIns="45720" rIns="45720" anchor="t">
            <a:spAutoFit/>
          </a:bodyPr>
          <a:lstStyle/>
          <a:p>
            <a:pPr algn="l" rtl="0"/>
            <a:r>
              <a:rPr lang="en-US" sz="1700" b="0" i="0">
                <a:solidFill>
                  <a:srgbClr val="E6E6E6"/>
                </a:solidFill>
                <a:latin typeface="Consolas"/>
                <a:cs typeface="Consolas"/>
              </a:rPr>
              <a:t>**********...</a:t>
            </a:r>
          </a:p>
          <a:p>
            <a:pPr algn="l" rtl="0"/>
            <a:r>
              <a:rPr lang="en-US" sz="1700" b="0" i="0">
                <a:solidFill>
                  <a:srgbClr val="E6E6E6"/>
                </a:solidFill>
                <a:latin typeface="Consolas"/>
                <a:cs typeface="Consolas"/>
              </a:rPr>
              <a:t>Tokens left: 55</a:t>
            </a:r>
          </a:p>
          <a:p>
            <a:pPr algn="l" rtl="0"/>
            <a:r>
              <a:rPr lang="en-US" sz="1700" b="0" i="0">
                <a:solidFill>
                  <a:srgbClr val="E6E6E6"/>
                </a:solidFill>
                <a:latin typeface="Consolas"/>
                <a:cs typeface="Consolas"/>
              </a:rPr>
              <a:t>How many...? </a:t>
            </a:r>
            <a:r>
              <a:rPr lang="en-US" sz="1700" b="1" i="0">
                <a:solidFill>
                  <a:srgbClr val="FFD166"/>
                </a:solidFill>
                <a:latin typeface="Consolas"/>
                <a:cs typeface="Consolas"/>
              </a:rPr>
              <a:t>4</a:t>
            </a:r>
          </a:p>
          <a:p>
            <a:pPr algn="l" rtl="0"/>
            <a:r>
              <a:rPr lang="en-US" sz="1700" b="0" i="0">
                <a:solidFill>
                  <a:srgbClr val="E6E6E6"/>
                </a:solidFill>
                <a:latin typeface="Consolas"/>
                <a:cs typeface="Consolas"/>
              </a:rPr>
              <a:t> </a:t>
            </a:r>
          </a:p>
          <a:p>
            <a:pPr algn="l" rtl="0"/>
            <a:r>
              <a:rPr lang="en-US" sz="1700" b="0" i="0">
                <a:solidFill>
                  <a:srgbClr val="E6E6E6"/>
                </a:solidFill>
                <a:latin typeface="Consolas"/>
                <a:cs typeface="Consolas"/>
              </a:rPr>
              <a:t>**********...</a:t>
            </a:r>
          </a:p>
          <a:p>
            <a:pPr algn="l" rtl="0"/>
            <a:r>
              <a:rPr lang="en-US" sz="1700" b="0" i="0">
                <a:solidFill>
                  <a:srgbClr val="E6E6E6"/>
                </a:solidFill>
                <a:latin typeface="Consolas"/>
                <a:cs typeface="Consolas"/>
              </a:rPr>
              <a:t>Tokens left: 51</a:t>
            </a:r>
          </a:p>
          <a:p>
            <a:pPr algn="l" rtl="0"/>
            <a:r>
              <a:rPr lang="en-US" sz="1700" b="0" i="0">
                <a:solidFill>
                  <a:srgbClr val="E6E6E6"/>
                </a:solidFill>
                <a:latin typeface="Consolas"/>
                <a:cs typeface="Consolas"/>
              </a:rPr>
              <a:t>How many...? </a:t>
            </a:r>
            <a:r>
              <a:rPr lang="en-US" sz="1700" b="1" i="0">
                <a:solidFill>
                  <a:srgbClr val="FFD166"/>
                </a:solidFill>
                <a:latin typeface="Consolas"/>
                <a:cs typeface="Consolas"/>
              </a:rPr>
              <a:t>50</a:t>
            </a:r>
          </a:p>
          <a:p>
            <a:pPr algn="l" rtl="0"/>
            <a:r>
              <a:rPr lang="en-US" sz="1700" b="0" i="0">
                <a:solidFill>
                  <a:srgbClr val="E6E6E6"/>
                </a:solidFill>
                <a:latin typeface="Consolas"/>
                <a:cs typeface="Consolas"/>
              </a:rPr>
              <a:t> </a:t>
            </a:r>
          </a:p>
          <a:p>
            <a:pPr algn="l" rtl="0"/>
            <a:r>
              <a:rPr lang="en-US" sz="1700" b="0" i="0">
                <a:solidFill>
                  <a:srgbClr val="E6E6E6"/>
                </a:solidFill>
                <a:latin typeface="Consolas"/>
                <a:cs typeface="Consolas"/>
              </a:rPr>
              <a:t>Tokens left: 1</a:t>
            </a:r>
          </a:p>
        </p:txBody>
      </p:sp>
      <p:sp>
        <p:nvSpPr>
          <p:cNvPr id="9" name="Rounded Rectangle 8"/>
          <p:cNvSpPr/>
          <p:nvPr/>
        </p:nvSpPr>
        <p:spPr>
          <a:xfrm>
            <a:off x="548640" y="4983480"/>
            <a:ext cx="8229600" cy="777240"/>
          </a:xfrm>
          <a:prstGeom prst="roundRect">
            <a:avLst>
              <a:gd name="adj" fmla="val 2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700" b="1" i="0">
                <a:solidFill>
                  <a:srgbClr val="1B2B34"/>
                </a:solidFill>
                <a:latin typeface="Arial"/>
                <a:cs typeface="Arial"/>
              </a:rPr>
              <a:t>אין בדיקות! </a:t>
            </a:r>
            <a:r>
              <a:rPr lang="he-IL" sz="1700" b="0" i="0">
                <a:solidFill>
                  <a:srgbClr val="1B2B34"/>
                </a:solidFill>
                <a:latin typeface="Arial"/>
                <a:cs typeface="Arial"/>
              </a:rPr>
              <a:t>מה קורה אם לוקחים 50? 0? מקלידים מילה?</a:t>
            </a:r>
          </a:p>
        </p:txBody>
      </p:sp>
      <p:sp>
        <p:nvSpPr>
          <p:cNvPr id="10" name="Rounded Rectangle 9"/>
          <p:cNvSpPr/>
          <p:nvPr/>
        </p:nvSpPr>
        <p:spPr>
          <a:xfrm>
            <a:off x="9262872" y="512064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nim1.py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28</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2: שני שחקנים, בדיקות וסוף המשחק</a:t>
            </a:r>
          </a:p>
        </p:txBody>
      </p:sp>
      <p:sp>
        <p:nvSpPr>
          <p:cNvPr id="4" name="Rounded Rectangle 3"/>
          <p:cNvSpPr/>
          <p:nvPr/>
        </p:nvSpPr>
        <p:spPr>
          <a:xfrm>
            <a:off x="548640" y="1325880"/>
            <a:ext cx="11091672" cy="388620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63039"/>
            <a:ext cx="10634472" cy="3611880"/>
          </a:xfrm>
          <a:prstGeom prst="rect">
            <a:avLst/>
          </a:prstGeom>
          <a:noFill/>
        </p:spPr>
        <p:txBody>
          <a:bodyPr wrap="square" lIns="45720" rIns="45720" anchor="ctr">
            <a:spAutoFit/>
          </a:bodyPr>
          <a:lstStyle/>
          <a:p>
            <a:pPr algn="l" rtl="0"/>
            <a:r>
              <a:rPr lang="en-US" sz="1900" b="0" i="0">
                <a:solidFill>
                  <a:srgbClr val="FF9F1C"/>
                </a:solidFill>
                <a:latin typeface="Consolas"/>
                <a:cs typeface="Consolas"/>
              </a:rPr>
              <a:t>def</a:t>
            </a:r>
            <a:r>
              <a:rPr lang="en-US" sz="1900" b="0" i="0">
                <a:solidFill>
                  <a:srgbClr val="E6E6E6"/>
                </a:solidFill>
                <a:latin typeface="Consolas"/>
                <a:cs typeface="Consolas"/>
              </a:rPr>
              <a:t> legal_move(count):</a:t>
            </a:r>
          </a:p>
          <a:p>
            <a:pPr algn="l" rtl="0"/>
            <a:r>
              <a:rPr lang="en-US" sz="1900" b="0" i="0">
                <a:solidFill>
                  <a:srgbClr val="E6E6E6"/>
                </a:solidFill>
                <a:latin typeface="Consolas"/>
                <a:cs typeface="Consolas"/>
              </a:rPr>
              <a:t>    </a:t>
            </a:r>
            <a:r>
              <a:rPr lang="en-US" sz="1900" b="0" i="0">
                <a:solidFill>
                  <a:srgbClr val="FF9F1C"/>
                </a:solidFill>
                <a:latin typeface="Consolas"/>
                <a:cs typeface="Consolas"/>
              </a:rPr>
              <a:t>return</a:t>
            </a:r>
            <a:r>
              <a:rPr lang="en-US" sz="1900" b="0" i="0">
                <a:solidFill>
                  <a:srgbClr val="E6E6E6"/>
                </a:solidFill>
                <a:latin typeface="Consolas"/>
                <a:cs typeface="Consolas"/>
              </a:rPr>
              <a:t> count &gt;= </a:t>
            </a:r>
            <a:r>
              <a:rPr lang="en-US" sz="1900" b="0" i="0">
                <a:solidFill>
                  <a:srgbClr val="FFD166"/>
                </a:solidFill>
                <a:latin typeface="Consolas"/>
                <a:cs typeface="Consolas"/>
              </a:rPr>
              <a:t>1</a:t>
            </a:r>
            <a:r>
              <a:rPr lang="en-US" sz="1900" b="0" i="0">
                <a:solidFill>
                  <a:srgbClr val="E6E6E6"/>
                </a:solidFill>
                <a:latin typeface="Consolas"/>
                <a:cs typeface="Consolas"/>
              </a:rPr>
              <a:t> </a:t>
            </a:r>
            <a:r>
              <a:rPr lang="en-US" sz="1900" b="0" i="0">
                <a:solidFill>
                  <a:srgbClr val="FF9F1C"/>
                </a:solidFill>
                <a:latin typeface="Consolas"/>
                <a:cs typeface="Consolas"/>
              </a:rPr>
              <a:t>and</a:t>
            </a:r>
            <a:r>
              <a:rPr lang="en-US" sz="1900" b="0" i="0">
                <a:solidFill>
                  <a:srgbClr val="E6E6E6"/>
                </a:solidFill>
                <a:latin typeface="Consolas"/>
                <a:cs typeface="Consolas"/>
              </a:rPr>
              <a:t> count &lt;= MAX_TAKE </a:t>
            </a:r>
            <a:r>
              <a:rPr lang="en-US" sz="1900" b="0" i="0">
                <a:solidFill>
                  <a:srgbClr val="FF9F1C"/>
                </a:solidFill>
                <a:latin typeface="Consolas"/>
                <a:cs typeface="Consolas"/>
              </a:rPr>
              <a:t>and</a:t>
            </a:r>
            <a:r>
              <a:rPr lang="en-US" sz="1900" b="0" i="0">
                <a:solidFill>
                  <a:srgbClr val="E6E6E6"/>
                </a:solidFill>
                <a:latin typeface="Consolas"/>
                <a:cs typeface="Consolas"/>
              </a:rPr>
              <a:t> count &lt;= pile</a:t>
            </a:r>
          </a:p>
          <a:p>
            <a:pPr algn="l" rtl="0"/>
            <a:r>
              <a:rPr lang="en-US" sz="1900" b="0" i="0">
                <a:solidFill>
                  <a:srgbClr val="E6E6E6"/>
                </a:solidFill>
                <a:latin typeface="Consolas"/>
                <a:cs typeface="Consolas"/>
              </a:rPr>
              <a:t> </a:t>
            </a:r>
          </a:p>
          <a:p>
            <a:pPr algn="l" rtl="0"/>
            <a:r>
              <a:rPr lang="en-US" sz="1900" b="0" i="0">
                <a:solidFill>
                  <a:srgbClr val="FF9F1C"/>
                </a:solidFill>
                <a:latin typeface="Consolas"/>
                <a:cs typeface="Consolas"/>
              </a:rPr>
              <a:t>def</a:t>
            </a:r>
            <a:r>
              <a:rPr lang="en-US" sz="1900" b="0" i="0">
                <a:solidFill>
                  <a:srgbClr val="E6E6E6"/>
                </a:solidFill>
                <a:latin typeface="Consolas"/>
                <a:cs typeface="Consolas"/>
              </a:rPr>
              <a:t> player_turn(name):</a:t>
            </a:r>
          </a:p>
          <a:p>
            <a:pPr algn="l" rtl="0"/>
            <a:r>
              <a:rPr lang="en-US" sz="1900" b="0" i="0">
                <a:solidFill>
                  <a:srgbClr val="E6E6E6"/>
                </a:solidFill>
                <a:latin typeface="Consolas"/>
                <a:cs typeface="Consolas"/>
              </a:rPr>
              <a:t>    </a:t>
            </a:r>
            <a:r>
              <a:rPr lang="en-US" sz="1900" b="0" i="0">
                <a:solidFill>
                  <a:srgbClr val="FF9F1C"/>
                </a:solidFill>
                <a:latin typeface="Consolas"/>
                <a:cs typeface="Consolas"/>
              </a:rPr>
              <a:t>global</a:t>
            </a:r>
            <a:r>
              <a:rPr lang="en-US" sz="1900" b="0" i="0">
                <a:solidFill>
                  <a:srgbClr val="E6E6E6"/>
                </a:solidFill>
                <a:latin typeface="Consolas"/>
                <a:cs typeface="Consolas"/>
              </a:rPr>
              <a:t> pile</a:t>
            </a:r>
          </a:p>
          <a:p>
            <a:pPr algn="l" rtl="0"/>
            <a:r>
              <a:rPr lang="en-US" sz="1900" b="0" i="0">
                <a:solidFill>
                  <a:srgbClr val="E6E6E6"/>
                </a:solidFill>
                <a:latin typeface="Consolas"/>
                <a:cs typeface="Consolas"/>
              </a:rPr>
              <a:t>    count = </a:t>
            </a:r>
            <a:r>
              <a:rPr lang="en-US" sz="1900" b="0" i="0">
                <a:solidFill>
                  <a:srgbClr val="66D9EF"/>
                </a:solidFill>
                <a:latin typeface="Consolas"/>
                <a:cs typeface="Consolas"/>
              </a:rPr>
              <a:t>int</a:t>
            </a:r>
            <a:r>
              <a:rPr lang="en-US" sz="1900" b="0" i="0">
                <a:solidFill>
                  <a:srgbClr val="E6E6E6"/>
                </a:solidFill>
                <a:latin typeface="Consolas"/>
                <a:cs typeface="Consolas"/>
              </a:rPr>
              <a:t>(input(name + </a:t>
            </a:r>
            <a:r>
              <a:rPr lang="en-US" sz="1900" b="0" i="0">
                <a:solidFill>
                  <a:srgbClr val="A6E22E"/>
                </a:solidFill>
                <a:latin typeface="Consolas"/>
                <a:cs typeface="Consolas"/>
              </a:rPr>
              <a:t>", how many tokens do you take? "</a:t>
            </a:r>
            <a:r>
              <a:rPr lang="en-US" sz="1900" b="0" i="0">
                <a:solidFill>
                  <a:srgbClr val="E6E6E6"/>
                </a:solidFill>
                <a:latin typeface="Consolas"/>
                <a:cs typeface="Consolas"/>
              </a:rPr>
              <a:t>))</a:t>
            </a:r>
          </a:p>
          <a:p>
            <a:pPr algn="l" rtl="0"/>
            <a:r>
              <a:rPr lang="en-US" sz="1900" b="0" i="0">
                <a:solidFill>
                  <a:srgbClr val="E6E6E6"/>
                </a:solidFill>
                <a:latin typeface="Consolas"/>
                <a:cs typeface="Consolas"/>
              </a:rPr>
              <a:t>    </a:t>
            </a:r>
            <a:r>
              <a:rPr lang="en-US" sz="1900" b="0" i="0">
                <a:solidFill>
                  <a:srgbClr val="FF9F1C"/>
                </a:solidFill>
                <a:latin typeface="Consolas"/>
                <a:cs typeface="Consolas"/>
              </a:rPr>
              <a:t>if</a:t>
            </a:r>
            <a:r>
              <a:rPr lang="en-US" sz="1900" b="0" i="0">
                <a:solidFill>
                  <a:srgbClr val="E6E6E6"/>
                </a:solidFill>
                <a:latin typeface="Consolas"/>
                <a:cs typeface="Consolas"/>
              </a:rPr>
              <a:t> </a:t>
            </a:r>
            <a:r>
              <a:rPr lang="en-US" sz="1900" b="0" i="0">
                <a:solidFill>
                  <a:srgbClr val="FF9F1C"/>
                </a:solidFill>
                <a:latin typeface="Consolas"/>
                <a:cs typeface="Consolas"/>
              </a:rPr>
              <a:t>not</a:t>
            </a:r>
            <a:r>
              <a:rPr lang="en-US" sz="1900" b="0" i="0">
                <a:solidFill>
                  <a:srgbClr val="E6E6E6"/>
                </a:solidFill>
                <a:latin typeface="Consolas"/>
                <a:cs typeface="Consolas"/>
              </a:rPr>
              <a:t> legal_move(count):</a:t>
            </a:r>
          </a:p>
          <a:p>
            <a:pPr algn="l" rtl="0"/>
            <a:r>
              <a:rPr lang="en-US" sz="1900" b="0" i="0">
                <a:solidFill>
                  <a:srgbClr val="E6E6E6"/>
                </a:solidFill>
                <a:latin typeface="Consolas"/>
                <a:cs typeface="Consolas"/>
              </a:rPr>
              <a:t>        </a:t>
            </a:r>
            <a:r>
              <a:rPr lang="en-US" sz="1900" b="0" i="0">
                <a:solidFill>
                  <a:srgbClr val="66D9EF"/>
                </a:solidFill>
                <a:latin typeface="Consolas"/>
                <a:cs typeface="Consolas"/>
              </a:rPr>
              <a:t>print</a:t>
            </a:r>
            <a:r>
              <a:rPr lang="en-US" sz="1900" b="0" i="0">
                <a:solidFill>
                  <a:srgbClr val="E6E6E6"/>
                </a:solidFill>
                <a:latin typeface="Consolas"/>
                <a:cs typeface="Consolas"/>
              </a:rPr>
              <a:t>(</a:t>
            </a:r>
            <a:r>
              <a:rPr lang="en-US" sz="1900" b="0" i="0">
                <a:solidFill>
                  <a:srgbClr val="A6E22E"/>
                </a:solidFill>
                <a:latin typeface="Consolas"/>
                <a:cs typeface="Consolas"/>
              </a:rPr>
              <a:t>"Illegal move! You take 1 token."</a:t>
            </a:r>
            <a:r>
              <a:rPr lang="en-US" sz="1900" b="0" i="0">
                <a:solidFill>
                  <a:srgbClr val="E6E6E6"/>
                </a:solidFill>
                <a:latin typeface="Consolas"/>
                <a:cs typeface="Consolas"/>
              </a:rPr>
              <a:t>)</a:t>
            </a:r>
          </a:p>
          <a:p>
            <a:pPr algn="l" rtl="0"/>
            <a:r>
              <a:rPr lang="en-US" sz="1900" b="0" i="0">
                <a:solidFill>
                  <a:srgbClr val="E6E6E6"/>
                </a:solidFill>
                <a:latin typeface="Consolas"/>
                <a:cs typeface="Consolas"/>
              </a:rPr>
              <a:t>        count = </a:t>
            </a:r>
            <a:r>
              <a:rPr lang="en-US" sz="1900" b="0" i="0">
                <a:solidFill>
                  <a:srgbClr val="FFD166"/>
                </a:solidFill>
                <a:latin typeface="Consolas"/>
                <a:cs typeface="Consolas"/>
              </a:rPr>
              <a:t>1</a:t>
            </a:r>
          </a:p>
          <a:p>
            <a:pPr algn="l" rtl="0"/>
            <a:r>
              <a:rPr lang="en-US" sz="1900" b="0" i="0">
                <a:solidFill>
                  <a:srgbClr val="E6E6E6"/>
                </a:solidFill>
                <a:latin typeface="Consolas"/>
                <a:cs typeface="Consolas"/>
              </a:rPr>
              <a:t>    pile = pile - count</a:t>
            </a:r>
          </a:p>
          <a:p>
            <a:pPr algn="l" rtl="0"/>
            <a:r>
              <a:rPr lang="en-US" sz="1900" b="0" i="0">
                <a:solidFill>
                  <a:srgbClr val="E6E6E6"/>
                </a:solidFill>
                <a:latin typeface="Consolas"/>
                <a:cs typeface="Consolas"/>
              </a:rPr>
              <a:t>    </a:t>
            </a:r>
            <a:r>
              <a:rPr lang="en-US" sz="1900" b="0" i="0">
                <a:solidFill>
                  <a:srgbClr val="FF9F1C"/>
                </a:solidFill>
                <a:latin typeface="Consolas"/>
                <a:cs typeface="Consolas"/>
              </a:rPr>
              <a:t>if</a:t>
            </a:r>
            <a:r>
              <a:rPr lang="en-US" sz="1900" b="0" i="0">
                <a:solidFill>
                  <a:srgbClr val="E6E6E6"/>
                </a:solidFill>
                <a:latin typeface="Consolas"/>
                <a:cs typeface="Consolas"/>
              </a:rPr>
              <a:t> pile == </a:t>
            </a:r>
            <a:r>
              <a:rPr lang="en-US" sz="1900" b="0" i="0">
                <a:solidFill>
                  <a:srgbClr val="FFD166"/>
                </a:solidFill>
                <a:latin typeface="Consolas"/>
                <a:cs typeface="Consolas"/>
              </a:rPr>
              <a:t>0</a:t>
            </a:r>
            <a:r>
              <a:rPr lang="en-US" sz="1900" b="0" i="0">
                <a:solidFill>
                  <a:srgbClr val="E6E6E6"/>
                </a:solidFill>
                <a:latin typeface="Consolas"/>
                <a:cs typeface="Consolas"/>
              </a:rPr>
              <a:t>:</a:t>
            </a:r>
          </a:p>
          <a:p>
            <a:pPr algn="l" rtl="0"/>
            <a:r>
              <a:rPr lang="en-US" sz="1900" b="0" i="0">
                <a:solidFill>
                  <a:srgbClr val="E6E6E6"/>
                </a:solidFill>
                <a:latin typeface="Consolas"/>
                <a:cs typeface="Consolas"/>
              </a:rPr>
              <a:t>        </a:t>
            </a:r>
            <a:r>
              <a:rPr lang="en-US" sz="1900" b="0" i="0">
                <a:solidFill>
                  <a:srgbClr val="66D9EF"/>
                </a:solidFill>
                <a:latin typeface="Consolas"/>
                <a:cs typeface="Consolas"/>
              </a:rPr>
              <a:t>print</a:t>
            </a:r>
            <a:r>
              <a:rPr lang="en-US" sz="1900" b="0" i="0">
                <a:solidFill>
                  <a:srgbClr val="E6E6E6"/>
                </a:solidFill>
                <a:latin typeface="Consolas"/>
                <a:cs typeface="Consolas"/>
              </a:rPr>
              <a:t>(name + </a:t>
            </a:r>
            <a:r>
              <a:rPr lang="en-US" sz="1900" b="0" i="0">
                <a:solidFill>
                  <a:srgbClr val="A6E22E"/>
                </a:solidFill>
                <a:latin typeface="Consolas"/>
                <a:cs typeface="Consolas"/>
              </a:rPr>
              <a:t>" took the last token - "</a:t>
            </a:r>
            <a:r>
              <a:rPr lang="en-US" sz="1900" b="0" i="0">
                <a:solidFill>
                  <a:srgbClr val="E6E6E6"/>
                </a:solidFill>
                <a:latin typeface="Consolas"/>
                <a:cs typeface="Consolas"/>
              </a:rPr>
              <a:t> + name + </a:t>
            </a:r>
            <a:r>
              <a:rPr lang="en-US" sz="1900" b="0" i="0">
                <a:solidFill>
                  <a:srgbClr val="A6E22E"/>
                </a:solidFill>
                <a:latin typeface="Consolas"/>
                <a:cs typeface="Consolas"/>
              </a:rPr>
              <a:t>" LOSES!"</a:t>
            </a:r>
            <a:r>
              <a:rPr lang="en-US" sz="1900" b="0" i="0">
                <a:solidFill>
                  <a:srgbClr val="E6E6E6"/>
                </a:solidFill>
                <a:latin typeface="Consolas"/>
                <a:cs typeface="Consolas"/>
              </a:rPr>
              <a:t>)</a:t>
            </a:r>
          </a:p>
        </p:txBody>
      </p:sp>
      <p:sp>
        <p:nvSpPr>
          <p:cNvPr id="6" name="Rounded Rectangle 5"/>
          <p:cNvSpPr/>
          <p:nvPr/>
        </p:nvSpPr>
        <p:spPr>
          <a:xfrm>
            <a:off x="548640" y="544068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nim2.py</a:t>
            </a:r>
          </a:p>
        </p:txBody>
      </p:sp>
      <p:sp>
        <p:nvSpPr>
          <p:cNvPr id="7" name="TextBox 6"/>
          <p:cNvSpPr txBox="1"/>
          <p:nvPr/>
        </p:nvSpPr>
        <p:spPr>
          <a:xfrm>
            <a:off x="3200400" y="5394960"/>
            <a:ext cx="8412480" cy="594360"/>
          </a:xfrm>
          <a:prstGeom prst="rect">
            <a:avLst/>
          </a:prstGeom>
          <a:noFill/>
        </p:spPr>
        <p:txBody>
          <a:bodyPr wrap="square" lIns="45720" rIns="45720" anchor="ctr">
            <a:spAutoFit/>
          </a:bodyPr>
          <a:lstStyle/>
          <a:p>
            <a:pPr algn="r" rtl="1"/>
            <a:r>
              <a:rPr lang="en-US" sz="1600" b="1" i="0">
                <a:solidFill>
                  <a:srgbClr val="FF9F1C"/>
                </a:solidFill>
                <a:latin typeface="Consolas"/>
                <a:cs typeface="Consolas"/>
              </a:rPr>
              <a:t>legal_move</a:t>
            </a:r>
            <a:r>
              <a:rPr lang="he-IL" sz="1600" b="1" i="0">
                <a:solidFill>
                  <a:srgbClr val="FF9F1C"/>
                </a:solidFill>
                <a:latin typeface="Consolas"/>
                <a:cs typeface="Consolas"/>
              </a:rPr>
              <a:t> </a:t>
            </a:r>
            <a:r>
              <a:rPr lang="he-IL" sz="1600" b="0" i="0">
                <a:solidFill>
                  <a:srgbClr val="1B2B34"/>
                </a:solidFill>
                <a:latin typeface="Arial"/>
                <a:cs typeface="Arial"/>
              </a:rPr>
              <a:t>מחזירה </a:t>
            </a:r>
            <a:r>
              <a:rPr lang="en-US" sz="1600" b="0" i="0">
                <a:solidFill>
                  <a:srgbClr val="1B2B34"/>
                </a:solidFill>
                <a:latin typeface="Arial"/>
                <a:cs typeface="Arial"/>
              </a:rPr>
              <a:t>True</a:t>
            </a:r>
            <a:r>
              <a:rPr lang="he-IL" sz="1600" b="0" i="0">
                <a:solidFill>
                  <a:srgbClr val="1B2B34"/>
                </a:solidFill>
                <a:latin typeface="Arial"/>
                <a:cs typeface="Arial"/>
              </a:rPr>
              <a:t> או </a:t>
            </a:r>
            <a:r>
              <a:rPr lang="en-US" sz="1600" b="0" i="0">
                <a:solidFill>
                  <a:srgbClr val="1B2B34"/>
                </a:solidFill>
                <a:latin typeface="Arial"/>
                <a:cs typeface="Arial"/>
              </a:rPr>
              <a:t>False</a:t>
            </a:r>
            <a:r>
              <a:rPr lang="he-IL" sz="1600" b="0" i="0">
                <a:solidFill>
                  <a:srgbClr val="1B2B34"/>
                </a:solidFill>
                <a:latin typeface="Arial"/>
                <a:cs typeface="Arial"/>
              </a:rPr>
              <a:t> - כמו </a:t>
            </a:r>
            <a:r>
              <a:rPr lang="en-US" sz="1600" b="0" i="0">
                <a:solidFill>
                  <a:srgbClr val="1B2B34"/>
                </a:solidFill>
                <a:latin typeface="Arial"/>
                <a:cs typeface="Arial"/>
              </a:rPr>
              <a:t>crashed</a:t>
            </a:r>
            <a:r>
              <a:rPr lang="he-IL" sz="1600" b="0" i="0">
                <a:solidFill>
                  <a:srgbClr val="1B2B34"/>
                </a:solidFill>
                <a:latin typeface="Arial"/>
                <a:cs typeface="Arial"/>
              </a:rPr>
              <a:t> במשחק המכוניות</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29</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2: הלולאה הראשית</a:t>
            </a:r>
          </a:p>
        </p:txBody>
      </p:sp>
      <p:sp>
        <p:nvSpPr>
          <p:cNvPr id="4" name="Rounded Rectangle 3"/>
          <p:cNvSpPr/>
          <p:nvPr/>
        </p:nvSpPr>
        <p:spPr>
          <a:xfrm>
            <a:off x="548640" y="1417320"/>
            <a:ext cx="5760720" cy="23774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54480"/>
            <a:ext cx="5303520" cy="2103120"/>
          </a:xfrm>
          <a:prstGeom prst="rect">
            <a:avLst/>
          </a:prstGeom>
          <a:noFill/>
        </p:spPr>
        <p:txBody>
          <a:bodyPr wrap="square" lIns="45720" rIns="45720" anchor="ctr">
            <a:spAutoFit/>
          </a:bodyPr>
          <a:lstStyle/>
          <a:p>
            <a:pPr algn="l" rtl="0"/>
            <a:r>
              <a:rPr lang="en-US" sz="2200" b="0" i="0">
                <a:solidFill>
                  <a:srgbClr val="FF9F1C"/>
                </a:solidFill>
                <a:latin typeface="Consolas"/>
                <a:cs typeface="Consolas"/>
              </a:rPr>
              <a:t>for</a:t>
            </a:r>
            <a:r>
              <a:rPr lang="en-US" sz="2200" b="0" i="0">
                <a:solidFill>
                  <a:srgbClr val="E6E6E6"/>
                </a:solidFill>
                <a:latin typeface="Consolas"/>
                <a:cs typeface="Consolas"/>
              </a:rPr>
              <a:t> turn </a:t>
            </a:r>
            <a:r>
              <a:rPr lang="en-US" sz="2200" b="0" i="0">
                <a:solidFill>
                  <a:srgbClr val="FF9F1C"/>
                </a:solidFill>
                <a:latin typeface="Consolas"/>
                <a:cs typeface="Consolas"/>
              </a:rPr>
              <a:t>in</a:t>
            </a:r>
            <a:r>
              <a:rPr lang="en-US" sz="2200" b="0" i="0">
                <a:solidFill>
                  <a:srgbClr val="E6E6E6"/>
                </a:solidFill>
                <a:latin typeface="Consolas"/>
                <a:cs typeface="Consolas"/>
              </a:rPr>
              <a:t> </a:t>
            </a:r>
            <a:r>
              <a:rPr lang="en-US" sz="2200" b="0" i="0">
                <a:solidFill>
                  <a:srgbClr val="66D9EF"/>
                </a:solidFill>
                <a:latin typeface="Consolas"/>
                <a:cs typeface="Consolas"/>
              </a:rPr>
              <a:t>range</a:t>
            </a:r>
            <a:r>
              <a:rPr lang="en-US" sz="2200" b="0" i="0">
                <a:solidFill>
                  <a:srgbClr val="E6E6E6"/>
                </a:solidFill>
                <a:latin typeface="Consolas"/>
                <a:cs typeface="Consolas"/>
              </a:rPr>
              <a:t>(MAX_TURNS):</a:t>
            </a:r>
          </a:p>
          <a:p>
            <a:pPr algn="l" rtl="0"/>
            <a:r>
              <a:rPr lang="en-US" sz="2200" b="0" i="0">
                <a:solidFill>
                  <a:srgbClr val="E6E6E6"/>
                </a:solidFill>
                <a:latin typeface="Consolas"/>
                <a:cs typeface="Consolas"/>
              </a:rPr>
              <a:t>    </a:t>
            </a:r>
            <a:r>
              <a:rPr lang="en-US" sz="2200" b="0" i="0">
                <a:solidFill>
                  <a:srgbClr val="FF9F1C"/>
                </a:solidFill>
                <a:latin typeface="Consolas"/>
                <a:cs typeface="Consolas"/>
              </a:rPr>
              <a:t>if</a:t>
            </a:r>
            <a:r>
              <a:rPr lang="en-US" sz="2200" b="0" i="0">
                <a:solidFill>
                  <a:srgbClr val="E6E6E6"/>
                </a:solidFill>
                <a:latin typeface="Consolas"/>
                <a:cs typeface="Consolas"/>
              </a:rPr>
              <a:t> pile &gt; </a:t>
            </a:r>
            <a:r>
              <a:rPr lang="en-US" sz="2200" b="0" i="0">
                <a:solidFill>
                  <a:srgbClr val="FFD166"/>
                </a:solidFill>
                <a:latin typeface="Consolas"/>
                <a:cs typeface="Consolas"/>
              </a:rPr>
              <a:t>0</a:t>
            </a:r>
            <a:r>
              <a:rPr lang="en-US" sz="2200" b="0" i="0">
                <a:solidFill>
                  <a:srgbClr val="E6E6E6"/>
                </a:solidFill>
                <a:latin typeface="Consolas"/>
                <a:cs typeface="Consolas"/>
              </a:rPr>
              <a:t>:</a:t>
            </a:r>
          </a:p>
          <a:p>
            <a:pPr algn="l" rtl="0"/>
            <a:r>
              <a:rPr lang="en-US" sz="2200" b="0" i="0">
                <a:solidFill>
                  <a:srgbClr val="E6E6E6"/>
                </a:solidFill>
                <a:latin typeface="Consolas"/>
                <a:cs typeface="Consolas"/>
              </a:rPr>
              <a:t>        player_turn(</a:t>
            </a:r>
            <a:r>
              <a:rPr lang="en-US" sz="2200" b="0" i="0">
                <a:solidFill>
                  <a:srgbClr val="A6E22E"/>
                </a:solidFill>
                <a:latin typeface="Consolas"/>
                <a:cs typeface="Consolas"/>
              </a:rPr>
              <a:t>"Player 1"</a:t>
            </a:r>
            <a:r>
              <a:rPr lang="en-US" sz="2200" b="0" i="0">
                <a:solidFill>
                  <a:srgbClr val="E6E6E6"/>
                </a:solidFill>
                <a:latin typeface="Consolas"/>
                <a:cs typeface="Consolas"/>
              </a:rPr>
              <a:t>)</a:t>
            </a:r>
          </a:p>
          <a:p>
            <a:pPr algn="l" rtl="0"/>
            <a:r>
              <a:rPr lang="en-US" sz="2200" b="0" i="0">
                <a:solidFill>
                  <a:srgbClr val="E6E6E6"/>
                </a:solidFill>
                <a:latin typeface="Consolas"/>
                <a:cs typeface="Consolas"/>
              </a:rPr>
              <a:t>    </a:t>
            </a:r>
            <a:r>
              <a:rPr lang="en-US" sz="2200" b="0" i="0">
                <a:solidFill>
                  <a:srgbClr val="FF9F1C"/>
                </a:solidFill>
                <a:latin typeface="Consolas"/>
                <a:cs typeface="Consolas"/>
              </a:rPr>
              <a:t>if</a:t>
            </a:r>
            <a:r>
              <a:rPr lang="en-US" sz="2200" b="0" i="0">
                <a:solidFill>
                  <a:srgbClr val="E6E6E6"/>
                </a:solidFill>
                <a:latin typeface="Consolas"/>
                <a:cs typeface="Consolas"/>
              </a:rPr>
              <a:t> pile &gt; </a:t>
            </a:r>
            <a:r>
              <a:rPr lang="en-US" sz="2200" b="0" i="0">
                <a:solidFill>
                  <a:srgbClr val="FFD166"/>
                </a:solidFill>
                <a:latin typeface="Consolas"/>
                <a:cs typeface="Consolas"/>
              </a:rPr>
              <a:t>0</a:t>
            </a:r>
            <a:r>
              <a:rPr lang="en-US" sz="2200" b="0" i="0">
                <a:solidFill>
                  <a:srgbClr val="E6E6E6"/>
                </a:solidFill>
                <a:latin typeface="Consolas"/>
                <a:cs typeface="Consolas"/>
              </a:rPr>
              <a:t>:</a:t>
            </a:r>
          </a:p>
          <a:p>
            <a:pPr algn="l" rtl="0"/>
            <a:r>
              <a:rPr lang="en-US" sz="2200" b="0" i="0">
                <a:solidFill>
                  <a:srgbClr val="E6E6E6"/>
                </a:solidFill>
                <a:latin typeface="Consolas"/>
                <a:cs typeface="Consolas"/>
              </a:rPr>
              <a:t>        player_turn(</a:t>
            </a:r>
            <a:r>
              <a:rPr lang="en-US" sz="2200" b="0" i="0">
                <a:solidFill>
                  <a:srgbClr val="A6E22E"/>
                </a:solidFill>
                <a:latin typeface="Consolas"/>
                <a:cs typeface="Consolas"/>
              </a:rPr>
              <a:t>"Player 2"</a:t>
            </a:r>
            <a:r>
              <a:rPr lang="en-US" sz="2200" b="0" i="0">
                <a:solidFill>
                  <a:srgbClr val="E6E6E6"/>
                </a:solidFill>
                <a:latin typeface="Consolas"/>
                <a:cs typeface="Consolas"/>
              </a:rPr>
              <a:t>)</a:t>
            </a:r>
          </a:p>
        </p:txBody>
      </p:sp>
      <p:sp>
        <p:nvSpPr>
          <p:cNvPr id="6" name="Rounded Rectangle 5"/>
          <p:cNvSpPr/>
          <p:nvPr/>
        </p:nvSpPr>
        <p:spPr>
          <a:xfrm>
            <a:off x="6583680" y="1417320"/>
            <a:ext cx="5056632" cy="274320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0" y="1490472"/>
            <a:ext cx="4690872"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8" name="TextBox 7"/>
          <p:cNvSpPr txBox="1"/>
          <p:nvPr/>
        </p:nvSpPr>
        <p:spPr>
          <a:xfrm>
            <a:off x="6766560" y="1783080"/>
            <a:ext cx="4690872" cy="2286000"/>
          </a:xfrm>
          <a:prstGeom prst="rect">
            <a:avLst/>
          </a:prstGeom>
          <a:noFill/>
        </p:spPr>
        <p:txBody>
          <a:bodyPr wrap="square" lIns="45720" rIns="45720" anchor="t">
            <a:spAutoFit/>
          </a:bodyPr>
          <a:lstStyle/>
          <a:p>
            <a:pPr algn="l" rtl="0"/>
            <a:r>
              <a:rPr lang="en-US" sz="1800" b="0" i="0">
                <a:solidFill>
                  <a:srgbClr val="E6E6E6"/>
                </a:solidFill>
                <a:latin typeface="Consolas"/>
                <a:cs typeface="Consolas"/>
              </a:rPr>
              <a:t>Tokens left: 4</a:t>
            </a:r>
          </a:p>
          <a:p>
            <a:pPr algn="l" rtl="0"/>
            <a:r>
              <a:rPr lang="en-US" sz="1800" b="0" i="0">
                <a:solidFill>
                  <a:srgbClr val="E6E6E6"/>
                </a:solidFill>
                <a:latin typeface="Consolas"/>
                <a:cs typeface="Consolas"/>
              </a:rPr>
              <a:t>Player 1, how many...? </a:t>
            </a:r>
            <a:r>
              <a:rPr lang="en-US" sz="1800" b="1" i="0">
                <a:solidFill>
                  <a:srgbClr val="FFD166"/>
                </a:solidFill>
                <a:latin typeface="Consolas"/>
                <a:cs typeface="Consolas"/>
              </a:rPr>
              <a:t>15</a:t>
            </a:r>
          </a:p>
          <a:p>
            <a:pPr algn="l" rtl="0"/>
            <a:r>
              <a:rPr lang="en-US" sz="1800" b="0" i="0">
                <a:solidFill>
                  <a:srgbClr val="FF6B81"/>
                </a:solidFill>
                <a:latin typeface="Consolas"/>
                <a:cs typeface="Consolas"/>
              </a:rPr>
              <a:t>Illegal move! You take 1 token.</a:t>
            </a:r>
          </a:p>
          <a:p>
            <a:pPr algn="l" rtl="0"/>
            <a:r>
              <a:rPr lang="en-US" sz="1800" b="0" i="0">
                <a:solidFill>
                  <a:srgbClr val="E6E6E6"/>
                </a:solidFill>
                <a:latin typeface="Consolas"/>
                <a:cs typeface="Consolas"/>
              </a:rPr>
              <a:t>Tokens left: 3</a:t>
            </a:r>
          </a:p>
          <a:p>
            <a:pPr algn="l" rtl="0"/>
            <a:r>
              <a:rPr lang="en-US" sz="1800" b="0" i="0">
                <a:solidFill>
                  <a:srgbClr val="E6E6E6"/>
                </a:solidFill>
                <a:latin typeface="Consolas"/>
                <a:cs typeface="Consolas"/>
              </a:rPr>
              <a:t>Player 2, how many...? </a:t>
            </a:r>
            <a:r>
              <a:rPr lang="en-US" sz="1800" b="1" i="0">
                <a:solidFill>
                  <a:srgbClr val="FFD166"/>
                </a:solidFill>
                <a:latin typeface="Consolas"/>
                <a:cs typeface="Consolas"/>
              </a:rPr>
              <a:t>3</a:t>
            </a:r>
          </a:p>
          <a:p>
            <a:pPr algn="l" rtl="0"/>
            <a:r>
              <a:rPr lang="en-US" sz="1800" b="0" i="0">
                <a:solidFill>
                  <a:srgbClr val="FF6B81"/>
                </a:solidFill>
                <a:latin typeface="Consolas"/>
                <a:cs typeface="Consolas"/>
              </a:rPr>
              <a:t>Player 2 LOSES!</a:t>
            </a:r>
          </a:p>
        </p:txBody>
      </p:sp>
      <p:sp>
        <p:nvSpPr>
          <p:cNvPr id="9" name="Rounded Rectangle 8"/>
          <p:cNvSpPr/>
          <p:nvPr/>
        </p:nvSpPr>
        <p:spPr>
          <a:xfrm>
            <a:off x="548640" y="4114800"/>
            <a:ext cx="5760720" cy="100584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160520"/>
            <a:ext cx="1828800" cy="914400"/>
          </a:xfrm>
          <a:prstGeom prst="rect">
            <a:avLst/>
          </a:prstGeom>
          <a:noFill/>
        </p:spPr>
        <p:txBody>
          <a:bodyPr wrap="square" lIns="45720" rIns="45720" anchor="ctr">
            <a:spAutoFit/>
          </a:bodyPr>
          <a:lstStyle/>
          <a:p>
            <a:pPr algn="l" rtl="0"/>
            <a:r>
              <a:rPr lang="en-US" sz="2200" b="1" i="0">
                <a:solidFill>
                  <a:srgbClr val="FF9F1C"/>
                </a:solidFill>
                <a:latin typeface="Consolas"/>
                <a:cs typeface="Consolas"/>
              </a:rPr>
              <a:t>pile &gt; 0</a:t>
            </a:r>
          </a:p>
        </p:txBody>
      </p:sp>
      <p:sp>
        <p:nvSpPr>
          <p:cNvPr id="11" name="TextBox 10"/>
          <p:cNvSpPr txBox="1"/>
          <p:nvPr/>
        </p:nvSpPr>
        <p:spPr>
          <a:xfrm>
            <a:off x="2651760" y="4160520"/>
            <a:ext cx="3474720" cy="91440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 המשחק עוד לא נגמר</a:t>
            </a:r>
          </a:p>
        </p:txBody>
      </p:sp>
      <p:sp>
        <p:nvSpPr>
          <p:cNvPr id="12" name="Rounded Rectangle 11"/>
          <p:cNvSpPr/>
          <p:nvPr/>
        </p:nvSpPr>
        <p:spPr>
          <a:xfrm>
            <a:off x="548640" y="544068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nim2.py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30</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3: ה-</a:t>
            </a:r>
            <a:r>
              <a:rPr lang="en-US" sz="3600" b="1" i="0">
                <a:solidFill>
                  <a:srgbClr val="1B4332"/>
                </a:solidFill>
                <a:latin typeface="Arial"/>
                <a:cs typeface="Arial"/>
              </a:rPr>
              <a:t>prompt</a:t>
            </a:r>
            <a:r>
              <a:rPr lang="he-IL" sz="3600" b="1" i="0">
                <a:solidFill>
                  <a:srgbClr val="1B4332"/>
                </a:solidFill>
                <a:latin typeface="Arial"/>
                <a:cs typeface="Arial"/>
              </a:rPr>
              <a:t> שנשלח ל-</a:t>
            </a:r>
            <a:r>
              <a:rPr lang="en-US" sz="3600" b="1" i="0">
                <a:solidFill>
                  <a:srgbClr val="1B4332"/>
                </a:solidFill>
                <a:latin typeface="Arial"/>
                <a:cs typeface="Arial"/>
              </a:rPr>
              <a:t>Gemini</a:t>
            </a:r>
          </a:p>
        </p:txBody>
      </p:sp>
      <p:sp>
        <p:nvSpPr>
          <p:cNvPr id="4" name="Rounded Rectangle 3"/>
          <p:cNvSpPr/>
          <p:nvPr/>
        </p:nvSpPr>
        <p:spPr>
          <a:xfrm>
            <a:off x="548640" y="1371600"/>
            <a:ext cx="7863840" cy="370332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7406640" cy="3429000"/>
          </a:xfrm>
          <a:prstGeom prst="rect">
            <a:avLst/>
          </a:prstGeom>
          <a:noFill/>
        </p:spPr>
        <p:txBody>
          <a:bodyPr wrap="square" lIns="45720" rIns="45720" anchor="ctr">
            <a:spAutoFit/>
          </a:bodyPr>
          <a:lstStyle/>
          <a:p>
            <a:pPr algn="l" rtl="0"/>
            <a:r>
              <a:rPr lang="en-US" sz="1700" b="0" i="0">
                <a:solidFill>
                  <a:srgbClr val="FF9F1C"/>
                </a:solidFill>
                <a:latin typeface="Consolas"/>
                <a:cs typeface="Consolas"/>
              </a:rPr>
              <a:t>def</a:t>
            </a:r>
            <a:r>
              <a:rPr lang="en-US" sz="1700" b="0" i="0">
                <a:solidFill>
                  <a:srgbClr val="E6E6E6"/>
                </a:solidFill>
                <a:latin typeface="Consolas"/>
                <a:cs typeface="Consolas"/>
              </a:rPr>
              <a:t> ask_gemini():</a:t>
            </a:r>
          </a:p>
          <a:p>
            <a:pPr algn="l" rtl="0"/>
            <a:r>
              <a:rPr lang="en-US" sz="1700" b="0" i="0">
                <a:solidFill>
                  <a:srgbClr val="E6E6E6"/>
                </a:solidFill>
                <a:latin typeface="Consolas"/>
                <a:cs typeface="Consolas"/>
              </a:rPr>
              <a:t>    prompt = </a:t>
            </a:r>
            <a:r>
              <a:rPr lang="en-US" sz="1700" b="0" i="0">
                <a:solidFill>
                  <a:srgbClr val="A6E22E"/>
                </a:solidFill>
                <a:latin typeface="Consolas"/>
                <a:cs typeface="Consolas"/>
              </a:rPr>
              <a:t>"You are a NIM player (wiki link).\n"</a:t>
            </a:r>
          </a:p>
          <a:p>
            <a:pPr algn="l" rtl="0"/>
            <a:r>
              <a:rPr lang="en-US" sz="1700" b="0" i="0">
                <a:solidFill>
                  <a:srgbClr val="E6E6E6"/>
                </a:solidFill>
                <a:latin typeface="Consolas"/>
                <a:cs typeface="Consolas"/>
              </a:rPr>
              <a:t>    prompt = prompt + </a:t>
            </a:r>
            <a:r>
              <a:rPr lang="en-US" sz="1700" b="0" i="0">
                <a:solidFill>
                  <a:srgbClr val="A6E22E"/>
                </a:solidFill>
                <a:latin typeface="Consolas"/>
                <a:cs typeface="Consolas"/>
              </a:rPr>
              <a:t>"There is one pile with "</a:t>
            </a:r>
            <a:r>
              <a:rPr lang="en-US" sz="1700" b="0" i="0">
                <a:solidFill>
                  <a:srgbClr val="E6E6E6"/>
                </a:solidFill>
                <a:latin typeface="Consolas"/>
                <a:cs typeface="Consolas"/>
              </a:rPr>
              <a:t> + </a:t>
            </a:r>
            <a:r>
              <a:rPr lang="en-US" sz="1700" b="0" i="0">
                <a:solidFill>
                  <a:srgbClr val="66D9EF"/>
                </a:solidFill>
                <a:latin typeface="Consolas"/>
                <a:cs typeface="Consolas"/>
              </a:rPr>
              <a:t>str</a:t>
            </a:r>
            <a:r>
              <a:rPr lang="en-US" sz="1700" b="0" i="0">
                <a:solidFill>
                  <a:srgbClr val="E6E6E6"/>
                </a:solidFill>
                <a:latin typeface="Consolas"/>
                <a:cs typeface="Consolas"/>
              </a:rPr>
              <a:t>(pile)</a:t>
            </a:r>
          </a:p>
          <a:p>
            <a:pPr algn="l" rtl="0"/>
            <a:r>
              <a:rPr lang="en-US" sz="1700" b="0" i="0">
                <a:solidFill>
                  <a:srgbClr val="E6E6E6"/>
                </a:solidFill>
                <a:latin typeface="Consolas"/>
                <a:cs typeface="Consolas"/>
              </a:rPr>
              <a:t>    prompt = prompt + </a:t>
            </a:r>
            <a:r>
              <a:rPr lang="en-US" sz="1700" b="0" i="0">
                <a:solidFill>
                  <a:srgbClr val="A6E22E"/>
                </a:solidFill>
                <a:latin typeface="Consolas"/>
                <a:cs typeface="Consolas"/>
              </a:rPr>
              <a:t>" tokens.\n ...the rules...\n"</a:t>
            </a:r>
          </a:p>
          <a:p>
            <a:pPr algn="l" rtl="0"/>
            <a:r>
              <a:rPr lang="en-US" sz="1700" b="0" i="0">
                <a:solidFill>
                  <a:srgbClr val="E6E6E6"/>
                </a:solidFill>
                <a:latin typeface="Consolas"/>
                <a:cs typeface="Consolas"/>
              </a:rPr>
              <a:t>    prompt = prompt + </a:t>
            </a:r>
            <a:r>
              <a:rPr lang="en-US" sz="1700" b="0" i="0">
                <a:solidFill>
                  <a:srgbClr val="A6E22E"/>
                </a:solidFill>
                <a:latin typeface="Consolas"/>
                <a:cs typeface="Consolas"/>
              </a:rPr>
              <a:t>"Reply with one number only."</a:t>
            </a:r>
          </a:p>
          <a:p>
            <a:pPr algn="l" rtl="0"/>
            <a:r>
              <a:rPr lang="en-US" sz="1700" b="0" i="0">
                <a:solidFill>
                  <a:srgbClr val="E6E6E6"/>
                </a:solidFill>
                <a:latin typeface="Consolas"/>
                <a:cs typeface="Consolas"/>
              </a:rPr>
              <a:t>    </a:t>
            </a:r>
            <a:r>
              <a:rPr lang="en-US" sz="1700" b="0" i="0">
                <a:solidFill>
                  <a:srgbClr val="66D9EF"/>
                </a:solidFill>
                <a:latin typeface="Consolas"/>
                <a:cs typeface="Consolas"/>
              </a:rPr>
              <a:t>print</a:t>
            </a:r>
            <a:r>
              <a:rPr lang="en-US" sz="1700" b="0" i="0">
                <a:solidFill>
                  <a:srgbClr val="E6E6E6"/>
                </a:solidFill>
                <a:latin typeface="Consolas"/>
                <a:cs typeface="Consolas"/>
              </a:rPr>
              <a:t>(</a:t>
            </a:r>
            <a:r>
              <a:rPr lang="en-US" sz="1700" b="0" i="0">
                <a:solidFill>
                  <a:srgbClr val="A6E22E"/>
                </a:solidFill>
                <a:latin typeface="Consolas"/>
                <a:cs typeface="Consolas"/>
              </a:rPr>
              <a:t>"Sending to Gemini:"</a:t>
            </a:r>
            <a:r>
              <a:rPr lang="en-US" sz="1700" b="0" i="0">
                <a:solidFill>
                  <a:srgbClr val="E6E6E6"/>
                </a:solidFill>
                <a:latin typeface="Consolas"/>
                <a:cs typeface="Consolas"/>
              </a:rPr>
              <a:t>)</a:t>
            </a:r>
          </a:p>
          <a:p>
            <a:pPr algn="l" rtl="0"/>
            <a:r>
              <a:rPr lang="en-US" sz="1700" b="0" i="0">
                <a:solidFill>
                  <a:srgbClr val="E6E6E6"/>
                </a:solidFill>
                <a:latin typeface="Consolas"/>
                <a:cs typeface="Consolas"/>
              </a:rPr>
              <a:t>    </a:t>
            </a:r>
            <a:r>
              <a:rPr lang="en-US" sz="1700" b="0" i="0">
                <a:solidFill>
                  <a:srgbClr val="66D9EF"/>
                </a:solidFill>
                <a:latin typeface="Consolas"/>
                <a:cs typeface="Consolas"/>
              </a:rPr>
              <a:t>print</a:t>
            </a:r>
            <a:r>
              <a:rPr lang="en-US" sz="1700" b="0" i="0">
                <a:solidFill>
                  <a:srgbClr val="E6E6E6"/>
                </a:solidFill>
                <a:latin typeface="Consolas"/>
                <a:cs typeface="Consolas"/>
              </a:rPr>
              <a:t>(prompt)</a:t>
            </a:r>
          </a:p>
          <a:p>
            <a:pPr algn="l" rtl="0"/>
            <a:r>
              <a:rPr lang="en-US" sz="1700" b="0" i="0">
                <a:solidFill>
                  <a:srgbClr val="E6E6E6"/>
                </a:solidFill>
                <a:latin typeface="Consolas"/>
                <a:cs typeface="Consolas"/>
              </a:rPr>
              <a:t>    response = client.models.generate_content(</a:t>
            </a:r>
          </a:p>
          <a:p>
            <a:pPr algn="l" rtl="0"/>
            <a:r>
              <a:rPr lang="en-US" sz="1700" b="0" i="0">
                <a:solidFill>
                  <a:srgbClr val="E6E6E6"/>
                </a:solidFill>
                <a:latin typeface="Consolas"/>
                <a:cs typeface="Consolas"/>
              </a:rPr>
              <a:t>        model=MODEL, contents=prompt)</a:t>
            </a:r>
          </a:p>
          <a:p>
            <a:pPr algn="l" rtl="0"/>
            <a:r>
              <a:rPr lang="en-US" sz="1700" b="0" i="0">
                <a:solidFill>
                  <a:srgbClr val="E6E6E6"/>
                </a:solidFill>
                <a:latin typeface="Consolas"/>
                <a:cs typeface="Consolas"/>
              </a:rPr>
              <a:t>    </a:t>
            </a:r>
            <a:r>
              <a:rPr lang="en-US" sz="1700" b="0" i="0">
                <a:solidFill>
                  <a:srgbClr val="66D9EF"/>
                </a:solidFill>
                <a:latin typeface="Consolas"/>
                <a:cs typeface="Consolas"/>
              </a:rPr>
              <a:t>print</a:t>
            </a:r>
            <a:r>
              <a:rPr lang="en-US" sz="1700" b="0" i="0">
                <a:solidFill>
                  <a:srgbClr val="E6E6E6"/>
                </a:solidFill>
                <a:latin typeface="Consolas"/>
                <a:cs typeface="Consolas"/>
              </a:rPr>
              <a:t>(</a:t>
            </a:r>
            <a:r>
              <a:rPr lang="en-US" sz="1700" b="0" i="0">
                <a:solidFill>
                  <a:srgbClr val="A6E22E"/>
                </a:solidFill>
                <a:latin typeface="Consolas"/>
                <a:cs typeface="Consolas"/>
              </a:rPr>
              <a:t>"Received from Gemini: "</a:t>
            </a:r>
            <a:r>
              <a:rPr lang="en-US" sz="1700" b="0" i="0">
                <a:solidFill>
                  <a:srgbClr val="E6E6E6"/>
                </a:solidFill>
                <a:latin typeface="Consolas"/>
                <a:cs typeface="Consolas"/>
              </a:rPr>
              <a:t> + response.text)</a:t>
            </a:r>
          </a:p>
          <a:p>
            <a:pPr algn="l" rtl="0"/>
            <a:r>
              <a:rPr lang="en-US" sz="1700" b="0" i="0">
                <a:solidFill>
                  <a:srgbClr val="E6E6E6"/>
                </a:solidFill>
                <a:latin typeface="Consolas"/>
                <a:cs typeface="Consolas"/>
              </a:rPr>
              <a:t>    </a:t>
            </a:r>
            <a:r>
              <a:rPr lang="en-US" sz="1700" b="0" i="0">
                <a:solidFill>
                  <a:srgbClr val="FF9F1C"/>
                </a:solidFill>
                <a:latin typeface="Consolas"/>
                <a:cs typeface="Consolas"/>
              </a:rPr>
              <a:t>return</a:t>
            </a:r>
            <a:r>
              <a:rPr lang="en-US" sz="1700" b="0" i="0">
                <a:solidFill>
                  <a:srgbClr val="E6E6E6"/>
                </a:solidFill>
                <a:latin typeface="Consolas"/>
                <a:cs typeface="Consolas"/>
              </a:rPr>
              <a:t> response.text</a:t>
            </a:r>
          </a:p>
        </p:txBody>
      </p:sp>
      <p:sp>
        <p:nvSpPr>
          <p:cNvPr id="6" name="Rounded Rectangle 5"/>
          <p:cNvSpPr/>
          <p:nvPr/>
        </p:nvSpPr>
        <p:spPr>
          <a:xfrm>
            <a:off x="8686800" y="1371600"/>
            <a:ext cx="2953512" cy="370332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0" y="1444752"/>
            <a:ext cx="2587752"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8" name="TextBox 7"/>
          <p:cNvSpPr txBox="1"/>
          <p:nvPr/>
        </p:nvSpPr>
        <p:spPr>
          <a:xfrm>
            <a:off x="8869680" y="1737360"/>
            <a:ext cx="2587752" cy="3246120"/>
          </a:xfrm>
          <a:prstGeom prst="rect">
            <a:avLst/>
          </a:prstGeom>
          <a:noFill/>
        </p:spPr>
        <p:txBody>
          <a:bodyPr wrap="square" lIns="45720" rIns="45720" anchor="t">
            <a:spAutoFit/>
          </a:bodyPr>
          <a:lstStyle/>
          <a:p>
            <a:pPr algn="l" rtl="0"/>
            <a:r>
              <a:rPr lang="en-US" sz="1700" b="0" i="0">
                <a:solidFill>
                  <a:srgbClr val="E6E6E6"/>
                </a:solidFill>
                <a:latin typeface="Consolas"/>
                <a:cs typeface="Consolas"/>
              </a:rPr>
              <a:t>Sending to Gemini:</a:t>
            </a:r>
          </a:p>
          <a:p>
            <a:pPr algn="l" rtl="0"/>
            <a:r>
              <a:rPr lang="en-US" sz="1700" b="0" i="0">
                <a:solidFill>
                  <a:srgbClr val="E6E6E6"/>
                </a:solidFill>
                <a:latin typeface="Consolas"/>
                <a:cs typeface="Consolas"/>
              </a:rPr>
              <a:t>You are a NIM</a:t>
            </a:r>
          </a:p>
          <a:p>
            <a:pPr algn="l" rtl="0"/>
            <a:r>
              <a:rPr lang="en-US" sz="1700" b="0" i="0">
                <a:solidFill>
                  <a:srgbClr val="E6E6E6"/>
                </a:solidFill>
                <a:latin typeface="Consolas"/>
                <a:cs typeface="Consolas"/>
              </a:rPr>
              <a:t>  player...</a:t>
            </a:r>
          </a:p>
          <a:p>
            <a:pPr algn="l" rtl="0"/>
            <a:r>
              <a:rPr lang="en-US" sz="1700" b="0" i="0">
                <a:solidFill>
                  <a:srgbClr val="E6E6E6"/>
                </a:solidFill>
                <a:latin typeface="Consolas"/>
                <a:cs typeface="Consolas"/>
              </a:rPr>
              <a:t>There is one pile</a:t>
            </a:r>
          </a:p>
          <a:p>
            <a:pPr algn="l" rtl="0"/>
            <a:r>
              <a:rPr lang="en-US" sz="1700" b="0" i="0">
                <a:solidFill>
                  <a:srgbClr val="E6E6E6"/>
                </a:solidFill>
                <a:latin typeface="Consolas"/>
                <a:cs typeface="Consolas"/>
              </a:rPr>
              <a:t>  with 45 tokens.</a:t>
            </a:r>
          </a:p>
          <a:p>
            <a:pPr algn="l" rtl="0"/>
            <a:r>
              <a:rPr lang="en-US" sz="1700" b="0" i="0">
                <a:solidFill>
                  <a:srgbClr val="E6E6E6"/>
                </a:solidFill>
                <a:latin typeface="Consolas"/>
                <a:cs typeface="Consolas"/>
              </a:rPr>
              <a:t>...</a:t>
            </a:r>
          </a:p>
          <a:p>
            <a:pPr algn="l" rtl="0"/>
            <a:r>
              <a:rPr lang="en-US" sz="1700" b="0" i="0">
                <a:solidFill>
                  <a:srgbClr val="66D9EF"/>
                </a:solidFill>
                <a:latin typeface="Consolas"/>
                <a:cs typeface="Consolas"/>
              </a:rPr>
              <a:t>Received from</a:t>
            </a:r>
          </a:p>
          <a:p>
            <a:pPr algn="l" rtl="0"/>
            <a:r>
              <a:rPr lang="en-US" sz="1700" b="0" i="0">
                <a:solidFill>
                  <a:srgbClr val="66D9EF"/>
                </a:solidFill>
                <a:latin typeface="Consolas"/>
                <a:cs typeface="Consolas"/>
              </a:rPr>
              <a:t>  Gemini: 4</a:t>
            </a:r>
          </a:p>
        </p:txBody>
      </p:sp>
      <p:sp>
        <p:nvSpPr>
          <p:cNvPr id="9" name="Rounded Rectangle 8"/>
          <p:cNvSpPr/>
          <p:nvPr/>
        </p:nvSpPr>
        <p:spPr>
          <a:xfrm>
            <a:off x="548640" y="5303520"/>
            <a:ext cx="237744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nim3.py</a:t>
            </a:r>
          </a:p>
        </p:txBody>
      </p:sp>
      <p:sp>
        <p:nvSpPr>
          <p:cNvPr id="10" name="TextBox 9"/>
          <p:cNvSpPr txBox="1"/>
          <p:nvPr/>
        </p:nvSpPr>
        <p:spPr>
          <a:xfrm>
            <a:off x="3200400" y="5257800"/>
            <a:ext cx="8412480" cy="59436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מבקשים פורמט מדויק - כי את התשובה קוראת תוכנית, לא בן אדם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31</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שלב 3: לא סומכים על </a:t>
            </a:r>
            <a:r>
              <a:rPr lang="en-US" sz="3600" b="1" i="0">
                <a:solidFill>
                  <a:srgbClr val="1B4332"/>
                </a:solidFill>
                <a:latin typeface="Arial"/>
                <a:cs typeface="Arial"/>
              </a:rPr>
              <a:t>AI</a:t>
            </a:r>
            <a:r>
              <a:rPr lang="he-IL" sz="3600" b="1" i="0">
                <a:solidFill>
                  <a:srgbClr val="1B4332"/>
                </a:solidFill>
                <a:latin typeface="Arial"/>
                <a:cs typeface="Arial"/>
              </a:rPr>
              <a:t> בעיניים עצומות</a:t>
            </a:r>
          </a:p>
        </p:txBody>
      </p:sp>
      <p:sp>
        <p:nvSpPr>
          <p:cNvPr id="4" name="Rounded Rectangle 3"/>
          <p:cNvSpPr/>
          <p:nvPr/>
        </p:nvSpPr>
        <p:spPr>
          <a:xfrm>
            <a:off x="6766560" y="1371600"/>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03720" y="1371600"/>
            <a:ext cx="4572000" cy="640080"/>
          </a:xfrm>
          <a:prstGeom prst="rect">
            <a:avLst/>
          </a:prstGeom>
          <a:noFill/>
        </p:spPr>
        <p:txBody>
          <a:bodyPr wrap="square" lIns="45720" rIns="45720" anchor="ctr">
            <a:spAutoFit/>
          </a:bodyPr>
          <a:lstStyle/>
          <a:p>
            <a:pPr algn="l" rtl="0"/>
            <a:r>
              <a:rPr lang="en-US" sz="1500" b="1" i="0">
                <a:solidFill>
                  <a:srgbClr val="2D9F5C"/>
                </a:solidFill>
                <a:latin typeface="Consolas"/>
                <a:cs typeface="Consolas"/>
              </a:rPr>
              <a:t>"4"</a:t>
            </a:r>
          </a:p>
        </p:txBody>
      </p:sp>
      <p:sp>
        <p:nvSpPr>
          <p:cNvPr id="6" name="TextBox 5"/>
          <p:cNvSpPr txBox="1"/>
          <p:nvPr/>
        </p:nvSpPr>
        <p:spPr>
          <a:xfrm>
            <a:off x="3566160" y="1371600"/>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מהלך חוקי ✓</a:t>
            </a:r>
          </a:p>
        </p:txBody>
      </p:sp>
      <p:sp>
        <p:nvSpPr>
          <p:cNvPr id="7" name="TextBox 6"/>
          <p:cNvSpPr txBox="1"/>
          <p:nvPr/>
        </p:nvSpPr>
        <p:spPr>
          <a:xfrm>
            <a:off x="548640" y="1371600"/>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לוקחים 4</a:t>
            </a:r>
          </a:p>
        </p:txBody>
      </p:sp>
      <p:sp>
        <p:nvSpPr>
          <p:cNvPr id="8" name="Rounded Rectangle 7"/>
          <p:cNvSpPr/>
          <p:nvPr/>
        </p:nvSpPr>
        <p:spPr>
          <a:xfrm>
            <a:off x="6766560" y="2130552"/>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3720" y="2130552"/>
            <a:ext cx="4572000" cy="640080"/>
          </a:xfrm>
          <a:prstGeom prst="rect">
            <a:avLst/>
          </a:prstGeom>
          <a:noFill/>
        </p:spPr>
        <p:txBody>
          <a:bodyPr wrap="square" lIns="45720" rIns="45720" anchor="ctr">
            <a:spAutoFit/>
          </a:bodyPr>
          <a:lstStyle/>
          <a:p>
            <a:pPr algn="l" rtl="0"/>
            <a:r>
              <a:rPr lang="en-US" sz="1500" b="1" i="0">
                <a:solidFill>
                  <a:srgbClr val="FF9F1C"/>
                </a:solidFill>
                <a:latin typeface="Consolas"/>
                <a:cs typeface="Consolas"/>
              </a:rPr>
              <a:t>"I take 4 tokens"</a:t>
            </a:r>
          </a:p>
        </p:txBody>
      </p:sp>
      <p:sp>
        <p:nvSpPr>
          <p:cNvPr id="10" name="TextBox 9"/>
          <p:cNvSpPr txBox="1"/>
          <p:nvPr/>
        </p:nvSpPr>
        <p:spPr>
          <a:xfrm>
            <a:off x="3566160" y="2130552"/>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משפט, לא מספר ✗</a:t>
            </a:r>
          </a:p>
        </p:txBody>
      </p:sp>
      <p:sp>
        <p:nvSpPr>
          <p:cNvPr id="11" name="TextBox 10"/>
          <p:cNvSpPr txBox="1"/>
          <p:nvPr/>
        </p:nvSpPr>
        <p:spPr>
          <a:xfrm>
            <a:off x="548640" y="2130552"/>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מספר אקראי</a:t>
            </a:r>
          </a:p>
        </p:txBody>
      </p:sp>
      <p:sp>
        <p:nvSpPr>
          <p:cNvPr id="12" name="Rounded Rectangle 11"/>
          <p:cNvSpPr/>
          <p:nvPr/>
        </p:nvSpPr>
        <p:spPr>
          <a:xfrm>
            <a:off x="6766560" y="2889504"/>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03720" y="2889504"/>
            <a:ext cx="4572000" cy="640080"/>
          </a:xfrm>
          <a:prstGeom prst="rect">
            <a:avLst/>
          </a:prstGeom>
          <a:noFill/>
        </p:spPr>
        <p:txBody>
          <a:bodyPr wrap="square" lIns="45720" rIns="45720" anchor="ctr">
            <a:spAutoFit/>
          </a:bodyPr>
          <a:lstStyle/>
          <a:p>
            <a:pPr algn="l" rtl="0"/>
            <a:r>
              <a:rPr lang="en-US" sz="1500" b="1" i="0">
                <a:solidFill>
                  <a:srgbClr val="EF476F"/>
                </a:solidFill>
                <a:latin typeface="Consolas"/>
                <a:cs typeface="Consolas"/>
              </a:rPr>
              <a:t>"15"</a:t>
            </a:r>
          </a:p>
        </p:txBody>
      </p:sp>
      <p:sp>
        <p:nvSpPr>
          <p:cNvPr id="14" name="TextBox 13"/>
          <p:cNvSpPr txBox="1"/>
          <p:nvPr/>
        </p:nvSpPr>
        <p:spPr>
          <a:xfrm>
            <a:off x="3566160" y="2889504"/>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יותר מ-10 ✗</a:t>
            </a:r>
          </a:p>
        </p:txBody>
      </p:sp>
      <p:sp>
        <p:nvSpPr>
          <p:cNvPr id="15" name="TextBox 14"/>
          <p:cNvSpPr txBox="1"/>
          <p:nvPr/>
        </p:nvSpPr>
        <p:spPr>
          <a:xfrm>
            <a:off x="548640" y="2889504"/>
            <a:ext cx="2926080" cy="64008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מספר אקראי</a:t>
            </a:r>
          </a:p>
        </p:txBody>
      </p:sp>
      <p:sp>
        <p:nvSpPr>
          <p:cNvPr id="16" name="Rounded Rectangle 15"/>
          <p:cNvSpPr/>
          <p:nvPr/>
        </p:nvSpPr>
        <p:spPr>
          <a:xfrm>
            <a:off x="6766560" y="3648456"/>
            <a:ext cx="4873752" cy="64008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3648456"/>
            <a:ext cx="4572000" cy="640080"/>
          </a:xfrm>
          <a:prstGeom prst="rect">
            <a:avLst/>
          </a:prstGeom>
          <a:noFill/>
        </p:spPr>
        <p:txBody>
          <a:bodyPr wrap="square" lIns="45720" rIns="45720" anchor="ctr">
            <a:spAutoFit/>
          </a:bodyPr>
          <a:lstStyle/>
          <a:p>
            <a:pPr algn="l" rtl="0"/>
            <a:r>
              <a:rPr lang="en-US" sz="1500" b="1" i="0">
                <a:solidFill>
                  <a:srgbClr val="7B4FB0"/>
                </a:solidFill>
                <a:latin typeface="Consolas"/>
                <a:cs typeface="Consolas"/>
              </a:rPr>
              <a:t>503 UNAVAILABLE</a:t>
            </a:r>
          </a:p>
        </p:txBody>
      </p:sp>
      <p:sp>
        <p:nvSpPr>
          <p:cNvPr id="18" name="TextBox 17"/>
          <p:cNvSpPr txBox="1"/>
          <p:nvPr/>
        </p:nvSpPr>
        <p:spPr>
          <a:xfrm>
            <a:off x="3566160" y="3648456"/>
            <a:ext cx="3108960" cy="640080"/>
          </a:xfrm>
          <a:prstGeom prst="rect">
            <a:avLst/>
          </a:prstGeom>
          <a:noFill/>
        </p:spPr>
        <p:txBody>
          <a:bodyPr wrap="square" lIns="45720" rIns="45720" anchor="ctr">
            <a:spAutoFit/>
          </a:bodyPr>
          <a:lstStyle/>
          <a:p>
            <a:pPr algn="r" rtl="1"/>
            <a:r>
              <a:rPr lang="he-IL" sz="1500" b="0" i="0">
                <a:solidFill>
                  <a:srgbClr val="1B2B34"/>
                </a:solidFill>
                <a:latin typeface="Arial"/>
                <a:cs typeface="Arial"/>
              </a:rPr>
              <a:t>שגיאה - </a:t>
            </a:r>
            <a:r>
              <a:rPr lang="en-US" sz="1500" b="0" i="0">
                <a:solidFill>
                  <a:srgbClr val="1B2B34"/>
                </a:solidFill>
                <a:latin typeface="Arial"/>
                <a:cs typeface="Arial"/>
              </a:rPr>
              <a:t>Gemini</a:t>
            </a:r>
            <a:r>
              <a:rPr lang="he-IL" sz="1500" b="0" i="0">
                <a:solidFill>
                  <a:srgbClr val="1B2B34"/>
                </a:solidFill>
                <a:latin typeface="Arial"/>
                <a:cs typeface="Arial"/>
              </a:rPr>
              <a:t> עמוס ✗</a:t>
            </a:r>
          </a:p>
        </p:txBody>
      </p:sp>
      <p:sp>
        <p:nvSpPr>
          <p:cNvPr id="19" name="TextBox 18"/>
          <p:cNvSpPr txBox="1"/>
          <p:nvPr/>
        </p:nvSpPr>
        <p:spPr>
          <a:xfrm>
            <a:off x="548640" y="3648456"/>
            <a:ext cx="2926080" cy="640080"/>
          </a:xfrm>
          <a:prstGeom prst="rect">
            <a:avLst/>
          </a:prstGeom>
          <a:noFill/>
        </p:spPr>
        <p:txBody>
          <a:bodyPr wrap="square" lIns="45720" rIns="45720" anchor="ctr">
            <a:spAutoFit/>
          </a:bodyPr>
          <a:lstStyle/>
          <a:p>
            <a:pPr algn="r" rtl="1"/>
            <a:r>
              <a:rPr lang="en-US" sz="1400" b="0" i="0">
                <a:solidFill>
                  <a:srgbClr val="5F6F78"/>
                </a:solidFill>
                <a:latin typeface="Arial"/>
                <a:cs typeface="Arial"/>
              </a:rPr>
              <a:t>try</a:t>
            </a:r>
            <a:r>
              <a:rPr lang="he-IL" sz="1400" b="0" i="0">
                <a:solidFill>
                  <a:srgbClr val="5F6F78"/>
                </a:solidFill>
                <a:latin typeface="Arial"/>
                <a:cs typeface="Arial"/>
              </a:rPr>
              <a:t>/</a:t>
            </a:r>
            <a:r>
              <a:rPr lang="en-US" sz="1400" b="0" i="0">
                <a:solidFill>
                  <a:srgbClr val="5F6F78"/>
                </a:solidFill>
                <a:latin typeface="Arial"/>
                <a:cs typeface="Arial"/>
              </a:rPr>
              <a:t>except</a:t>
            </a:r>
            <a:r>
              <a:rPr lang="he-IL" sz="1400" b="0" i="0">
                <a:solidFill>
                  <a:srgbClr val="5F6F78"/>
                </a:solidFill>
                <a:latin typeface="Arial"/>
                <a:cs typeface="Arial"/>
              </a:rPr>
              <a:t> ← מספר אקראי</a:t>
            </a:r>
          </a:p>
        </p:txBody>
      </p:sp>
      <p:sp>
        <p:nvSpPr>
          <p:cNvPr id="20" name="Rounded Rectangle 19"/>
          <p:cNvSpPr/>
          <p:nvPr/>
        </p:nvSpPr>
        <p:spPr>
          <a:xfrm>
            <a:off x="548640" y="4434840"/>
            <a:ext cx="6949440" cy="169164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572000"/>
            <a:ext cx="6492240" cy="1417320"/>
          </a:xfrm>
          <a:prstGeom prst="rect">
            <a:avLst/>
          </a:prstGeom>
          <a:noFill/>
        </p:spPr>
        <p:txBody>
          <a:bodyPr wrap="square" lIns="45720" rIns="45720" anchor="ctr">
            <a:spAutoFit/>
          </a:bodyPr>
          <a:lstStyle/>
          <a:p>
            <a:pPr algn="l" rtl="0"/>
            <a:r>
              <a:rPr lang="en-US" sz="1700" b="0" i="0">
                <a:solidFill>
                  <a:srgbClr val="E6E6E6"/>
                </a:solidFill>
                <a:latin typeface="Consolas"/>
                <a:cs typeface="Consolas"/>
              </a:rPr>
              <a:t>answer = ask_gemini().strip()</a:t>
            </a:r>
          </a:p>
          <a:p>
            <a:pPr algn="l" rtl="0"/>
            <a:r>
              <a:rPr lang="en-US" sz="1700" b="0" i="0">
                <a:solidFill>
                  <a:srgbClr val="FF9F1C"/>
                </a:solidFill>
                <a:latin typeface="Consolas"/>
                <a:cs typeface="Consolas"/>
              </a:rPr>
              <a:t>if</a:t>
            </a:r>
            <a:r>
              <a:rPr lang="en-US" sz="1700" b="0" i="0">
                <a:solidFill>
                  <a:srgbClr val="E6E6E6"/>
                </a:solidFill>
                <a:latin typeface="Consolas"/>
                <a:cs typeface="Consolas"/>
              </a:rPr>
              <a:t> answer.</a:t>
            </a:r>
            <a:r>
              <a:rPr lang="en-US" sz="1700" b="0" i="0">
                <a:solidFill>
                  <a:srgbClr val="66D9EF"/>
                </a:solidFill>
                <a:latin typeface="Consolas"/>
                <a:cs typeface="Consolas"/>
              </a:rPr>
              <a:t>isdigit</a:t>
            </a:r>
            <a:r>
              <a:rPr lang="en-US" sz="1700" b="0" i="0">
                <a:solidFill>
                  <a:srgbClr val="E6E6E6"/>
                </a:solidFill>
                <a:latin typeface="Consolas"/>
                <a:cs typeface="Consolas"/>
              </a:rPr>
              <a:t>() </a:t>
            </a:r>
            <a:r>
              <a:rPr lang="en-US" sz="1700" b="0" i="0">
                <a:solidFill>
                  <a:srgbClr val="FF9F1C"/>
                </a:solidFill>
                <a:latin typeface="Consolas"/>
                <a:cs typeface="Consolas"/>
              </a:rPr>
              <a:t>and</a:t>
            </a:r>
            <a:r>
              <a:rPr lang="en-US" sz="1700" b="0" i="0">
                <a:solidFill>
                  <a:srgbClr val="E6E6E6"/>
                </a:solidFill>
                <a:latin typeface="Consolas"/>
                <a:cs typeface="Consolas"/>
              </a:rPr>
              <a:t> legal_move(</a:t>
            </a:r>
            <a:r>
              <a:rPr lang="en-US" sz="1700" b="0" i="0">
                <a:solidFill>
                  <a:srgbClr val="66D9EF"/>
                </a:solidFill>
                <a:latin typeface="Consolas"/>
                <a:cs typeface="Consolas"/>
              </a:rPr>
              <a:t>int</a:t>
            </a:r>
            <a:r>
              <a:rPr lang="en-US" sz="1700" b="0" i="0">
                <a:solidFill>
                  <a:srgbClr val="E6E6E6"/>
                </a:solidFill>
                <a:latin typeface="Consolas"/>
                <a:cs typeface="Consolas"/>
              </a:rPr>
              <a:t>(answer)):</a:t>
            </a:r>
          </a:p>
          <a:p>
            <a:pPr algn="l" rtl="0"/>
            <a:r>
              <a:rPr lang="en-US" sz="1700" b="0" i="0">
                <a:solidFill>
                  <a:srgbClr val="E6E6E6"/>
                </a:solidFill>
                <a:latin typeface="Consolas"/>
                <a:cs typeface="Consolas"/>
              </a:rPr>
              <a:t>    count = </a:t>
            </a:r>
            <a:r>
              <a:rPr lang="en-US" sz="1700" b="0" i="0">
                <a:solidFill>
                  <a:srgbClr val="66D9EF"/>
                </a:solidFill>
                <a:latin typeface="Consolas"/>
                <a:cs typeface="Consolas"/>
              </a:rPr>
              <a:t>int</a:t>
            </a:r>
            <a:r>
              <a:rPr lang="en-US" sz="1700" b="0" i="0">
                <a:solidFill>
                  <a:srgbClr val="E6E6E6"/>
                </a:solidFill>
                <a:latin typeface="Consolas"/>
                <a:cs typeface="Consolas"/>
              </a:rPr>
              <a:t>(answer)</a:t>
            </a:r>
          </a:p>
          <a:p>
            <a:pPr algn="l" rtl="0"/>
            <a:r>
              <a:rPr lang="en-US" sz="1700" b="0" i="0">
                <a:solidFill>
                  <a:srgbClr val="FF9F1C"/>
                </a:solidFill>
                <a:latin typeface="Consolas"/>
                <a:cs typeface="Consolas"/>
              </a:rPr>
              <a:t>else</a:t>
            </a:r>
            <a:r>
              <a:rPr lang="en-US" sz="1700" b="0" i="0">
                <a:solidFill>
                  <a:srgbClr val="E6E6E6"/>
                </a:solidFill>
                <a:latin typeface="Consolas"/>
                <a:cs typeface="Consolas"/>
              </a:rPr>
              <a:t>:</a:t>
            </a:r>
          </a:p>
          <a:p>
            <a:pPr algn="l" rtl="0"/>
            <a:r>
              <a:rPr lang="en-US" sz="1700" b="0" i="0">
                <a:solidFill>
                  <a:srgbClr val="E6E6E6"/>
                </a:solidFill>
                <a:latin typeface="Consolas"/>
                <a:cs typeface="Consolas"/>
              </a:rPr>
              <a:t>    count = random.randint(</a:t>
            </a:r>
            <a:r>
              <a:rPr lang="en-US" sz="1700" b="0" i="0">
                <a:solidFill>
                  <a:srgbClr val="FFD166"/>
                </a:solidFill>
                <a:latin typeface="Consolas"/>
                <a:cs typeface="Consolas"/>
              </a:rPr>
              <a:t>1</a:t>
            </a:r>
            <a:r>
              <a:rPr lang="en-US" sz="1700" b="0" i="0">
                <a:solidFill>
                  <a:srgbClr val="E6E6E6"/>
                </a:solidFill>
                <a:latin typeface="Consolas"/>
                <a:cs typeface="Consolas"/>
              </a:rPr>
              <a:t>, MAX_TAKE)</a:t>
            </a:r>
          </a:p>
        </p:txBody>
      </p:sp>
      <p:sp>
        <p:nvSpPr>
          <p:cNvPr id="22" name="Rounded Rectangle 21"/>
          <p:cNvSpPr/>
          <p:nvPr/>
        </p:nvSpPr>
        <p:spPr>
          <a:xfrm>
            <a:off x="7772400" y="4434840"/>
            <a:ext cx="3867912" cy="169164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9560" y="4572000"/>
            <a:ext cx="3611880" cy="1463040"/>
          </a:xfrm>
          <a:prstGeom prst="rect">
            <a:avLst/>
          </a:prstGeom>
          <a:noFill/>
        </p:spPr>
        <p:txBody>
          <a:bodyPr wrap="square" lIns="45720" rIns="45720" anchor="ctr">
            <a:spAutoFit/>
          </a:bodyPr>
          <a:lstStyle/>
          <a:p>
            <a:pPr algn="r" rtl="1">
              <a:spcAft>
                <a:spcPts val="400"/>
              </a:spcAft>
            </a:pPr>
            <a:r>
              <a:rPr lang="he-IL" sz="1600" b="1" i="0">
                <a:solidFill>
                  <a:srgbClr val="1B2B34"/>
                </a:solidFill>
                <a:latin typeface="Arial"/>
                <a:cs typeface="Arial"/>
              </a:rPr>
              <a:t>הכלל של היום:</a:t>
            </a:r>
          </a:p>
          <a:p>
            <a:pPr algn="r" rtl="1">
              <a:spcAft>
                <a:spcPts val="400"/>
              </a:spcAft>
            </a:pPr>
            <a:r>
              <a:rPr lang="he-IL" sz="1600" b="0" i="0">
                <a:solidFill>
                  <a:srgbClr val="1B2B34"/>
                </a:solidFill>
                <a:latin typeface="Arial"/>
                <a:cs typeface="Arial"/>
              </a:rPr>
              <a:t>תמיד בודקים את התשובה של ה-</a:t>
            </a:r>
            <a:r>
              <a:rPr lang="en-US" sz="1600" b="0" i="0">
                <a:solidFill>
                  <a:srgbClr val="1B2B34"/>
                </a:solidFill>
                <a:latin typeface="Arial"/>
                <a:cs typeface="Arial"/>
              </a:rPr>
              <a:t>AI</a:t>
            </a:r>
            <a:r>
              <a:rPr lang="he-IL" sz="1600" b="0" i="0">
                <a:solidFill>
                  <a:srgbClr val="1B2B34"/>
                </a:solidFill>
                <a:latin typeface="Arial"/>
                <a:cs typeface="Arial"/>
              </a:rPr>
              <a:t> לפני שמשתמשים בה!</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32</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מה למדנו היום</a:t>
            </a:r>
          </a:p>
        </p:txBody>
      </p:sp>
      <p:sp>
        <p:nvSpPr>
          <p:cNvPr id="4" name="Rounded Rectangle 3"/>
          <p:cNvSpPr/>
          <p:nvPr/>
        </p:nvSpPr>
        <p:spPr>
          <a:xfrm>
            <a:off x="809244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18319" y="1645920"/>
            <a:ext cx="868680" cy="8686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1</a:t>
            </a:r>
          </a:p>
        </p:txBody>
      </p:sp>
      <p:sp>
        <p:nvSpPr>
          <p:cNvPr id="6" name="TextBox 5"/>
          <p:cNvSpPr txBox="1"/>
          <p:nvPr/>
        </p:nvSpPr>
        <p:spPr>
          <a:xfrm>
            <a:off x="8092440" y="2651760"/>
            <a:ext cx="3520440" cy="50292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AI</a:t>
            </a:r>
          </a:p>
        </p:txBody>
      </p:sp>
      <p:sp>
        <p:nvSpPr>
          <p:cNvPr id="7" name="Oval 6"/>
          <p:cNvSpPr/>
          <p:nvPr/>
        </p:nvSpPr>
        <p:spPr>
          <a:xfrm>
            <a:off x="11109959" y="342900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66760" y="329184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מודל לומד מדוגמאות</a:t>
            </a:r>
          </a:p>
        </p:txBody>
      </p:sp>
      <p:sp>
        <p:nvSpPr>
          <p:cNvPr id="9" name="Oval 8"/>
          <p:cNvSpPr/>
          <p:nvPr/>
        </p:nvSpPr>
        <p:spPr>
          <a:xfrm>
            <a:off x="11109959" y="406908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66760" y="393192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נוירונים בשכבות</a:t>
            </a:r>
          </a:p>
        </p:txBody>
      </p:sp>
      <p:sp>
        <p:nvSpPr>
          <p:cNvPr id="11" name="Oval 10"/>
          <p:cNvSpPr/>
          <p:nvPr/>
        </p:nvSpPr>
        <p:spPr>
          <a:xfrm>
            <a:off x="11109959" y="4709160"/>
            <a:ext cx="201168" cy="201168"/>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6760" y="457200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LLM</a:t>
            </a:r>
            <a:r>
              <a:rPr lang="he-IL" sz="1600" b="0" i="0">
                <a:solidFill>
                  <a:srgbClr val="1B2B34"/>
                </a:solidFill>
                <a:latin typeface="Arial"/>
                <a:cs typeface="Arial"/>
              </a:rPr>
              <a:t> מנחש את המילה הבאה</a:t>
            </a:r>
          </a:p>
        </p:txBody>
      </p:sp>
      <p:sp>
        <p:nvSpPr>
          <p:cNvPr id="13" name="Rounded Rectangle 12"/>
          <p:cNvSpPr/>
          <p:nvPr/>
        </p:nvSpPr>
        <p:spPr>
          <a:xfrm>
            <a:off x="434340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69280" y="1645920"/>
            <a:ext cx="868680" cy="8686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2</a:t>
            </a:r>
          </a:p>
        </p:txBody>
      </p:sp>
      <p:sp>
        <p:nvSpPr>
          <p:cNvPr id="15" name="TextBox 14"/>
          <p:cNvSpPr txBox="1"/>
          <p:nvPr/>
        </p:nvSpPr>
        <p:spPr>
          <a:xfrm>
            <a:off x="4343400" y="2651760"/>
            <a:ext cx="3520440" cy="502920"/>
          </a:xfrm>
          <a:prstGeom prst="rect">
            <a:avLst/>
          </a:prstGeom>
          <a:noFill/>
        </p:spPr>
        <p:txBody>
          <a:bodyPr wrap="square" lIns="45720" rIns="45720" anchor="t">
            <a:spAutoFit/>
          </a:bodyPr>
          <a:lstStyle/>
          <a:p>
            <a:pPr algn="ctr" rtl="1"/>
            <a:r>
              <a:rPr lang="en-US" sz="2200" b="1" i="0">
                <a:solidFill>
                  <a:srgbClr val="1B2B34"/>
                </a:solidFill>
                <a:latin typeface="Arial"/>
                <a:cs typeface="Arial"/>
              </a:rPr>
              <a:t>Gemini</a:t>
            </a:r>
            <a:r>
              <a:rPr lang="he-IL" sz="2200" b="1" i="0">
                <a:solidFill>
                  <a:srgbClr val="1B2B34"/>
                </a:solidFill>
                <a:latin typeface="Arial"/>
                <a:cs typeface="Arial"/>
              </a:rPr>
              <a:t> בפייתון</a:t>
            </a:r>
          </a:p>
        </p:txBody>
      </p:sp>
      <p:sp>
        <p:nvSpPr>
          <p:cNvPr id="16" name="Oval 15"/>
          <p:cNvSpPr/>
          <p:nvPr/>
        </p:nvSpPr>
        <p:spPr>
          <a:xfrm>
            <a:off x="7360920" y="342900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329184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API</a:t>
            </a:r>
            <a:r>
              <a:rPr lang="he-IL" sz="1600" b="0" i="0">
                <a:solidFill>
                  <a:srgbClr val="1B2B34"/>
                </a:solidFill>
                <a:latin typeface="Arial"/>
                <a:cs typeface="Arial"/>
              </a:rPr>
              <a:t> ומפתח </a:t>
            </a:r>
            <a:r>
              <a:rPr lang="en-US" sz="1600" b="0" i="0">
                <a:solidFill>
                  <a:srgbClr val="1B2B34"/>
                </a:solidFill>
                <a:latin typeface="Arial"/>
                <a:cs typeface="Arial"/>
              </a:rPr>
              <a:t>API</a:t>
            </a:r>
          </a:p>
        </p:txBody>
      </p:sp>
      <p:sp>
        <p:nvSpPr>
          <p:cNvPr id="18" name="Oval 17"/>
          <p:cNvSpPr/>
          <p:nvPr/>
        </p:nvSpPr>
        <p:spPr>
          <a:xfrm>
            <a:off x="7360920" y="406908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393192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generate_content</a:t>
            </a:r>
          </a:p>
        </p:txBody>
      </p:sp>
      <p:sp>
        <p:nvSpPr>
          <p:cNvPr id="20" name="Oval 19"/>
          <p:cNvSpPr/>
          <p:nvPr/>
        </p:nvSpPr>
        <p:spPr>
          <a:xfrm>
            <a:off x="7360920" y="4709160"/>
            <a:ext cx="201168" cy="201168"/>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17720" y="457200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prompt</a:t>
            </a:r>
            <a:r>
              <a:rPr lang="he-IL" sz="1600" b="0" i="0">
                <a:solidFill>
                  <a:srgbClr val="1B2B34"/>
                </a:solidFill>
                <a:latin typeface="Arial"/>
                <a:cs typeface="Arial"/>
              </a:rPr>
              <a:t>, </a:t>
            </a:r>
            <a:r>
              <a:rPr lang="en-US" sz="1600" b="0" i="0">
                <a:solidFill>
                  <a:srgbClr val="1B2B34"/>
                </a:solidFill>
                <a:latin typeface="Arial"/>
                <a:cs typeface="Arial"/>
              </a:rPr>
              <a:t>temperature</a:t>
            </a:r>
          </a:p>
        </p:txBody>
      </p:sp>
      <p:sp>
        <p:nvSpPr>
          <p:cNvPr id="22" name="Rounded Rectangle 21"/>
          <p:cNvSpPr/>
          <p:nvPr/>
        </p:nvSpPr>
        <p:spPr>
          <a:xfrm>
            <a:off x="594360" y="1417320"/>
            <a:ext cx="3520440" cy="4206240"/>
          </a:xfrm>
          <a:prstGeom prst="roundRect">
            <a:avLst>
              <a:gd name="adj" fmla="val 6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20240" y="1645920"/>
            <a:ext cx="868680" cy="8686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3</a:t>
            </a:r>
          </a:p>
        </p:txBody>
      </p:sp>
      <p:sp>
        <p:nvSpPr>
          <p:cNvPr id="24" name="TextBox 23"/>
          <p:cNvSpPr txBox="1"/>
          <p:nvPr/>
        </p:nvSpPr>
        <p:spPr>
          <a:xfrm>
            <a:off x="594360" y="2651760"/>
            <a:ext cx="3520440" cy="502920"/>
          </a:xfrm>
          <a:prstGeom prst="rect">
            <a:avLst/>
          </a:prstGeom>
          <a:noFill/>
        </p:spPr>
        <p:txBody>
          <a:bodyPr wrap="square" lIns="45720" rIns="45720" anchor="t">
            <a:spAutoFit/>
          </a:bodyPr>
          <a:lstStyle/>
          <a:p>
            <a:pPr algn="ctr" rtl="1"/>
            <a:r>
              <a:rPr lang="he-IL" sz="2200" b="1" i="0">
                <a:solidFill>
                  <a:srgbClr val="1B2B34"/>
                </a:solidFill>
                <a:latin typeface="Arial"/>
                <a:cs typeface="Arial"/>
              </a:rPr>
              <a:t>משחק</a:t>
            </a:r>
          </a:p>
        </p:txBody>
      </p:sp>
      <p:sp>
        <p:nvSpPr>
          <p:cNvPr id="25" name="Oval 24"/>
          <p:cNvSpPr/>
          <p:nvPr/>
        </p:nvSpPr>
        <p:spPr>
          <a:xfrm>
            <a:off x="3611880" y="342900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329184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prompt</a:t>
            </a:r>
            <a:r>
              <a:rPr lang="he-IL" sz="1600" b="0" i="0">
                <a:solidFill>
                  <a:srgbClr val="1B2B34"/>
                </a:solidFill>
                <a:latin typeface="Arial"/>
                <a:cs typeface="Arial"/>
              </a:rPr>
              <a:t> עם מצב המשחק</a:t>
            </a:r>
          </a:p>
        </p:txBody>
      </p:sp>
      <p:sp>
        <p:nvSpPr>
          <p:cNvPr id="27" name="Oval 26"/>
          <p:cNvSpPr/>
          <p:nvPr/>
        </p:nvSpPr>
        <p:spPr>
          <a:xfrm>
            <a:off x="3611880" y="406908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3931920"/>
            <a:ext cx="2651760" cy="457200"/>
          </a:xfrm>
          <a:prstGeom prst="rect">
            <a:avLst/>
          </a:prstGeom>
          <a:noFill/>
        </p:spPr>
        <p:txBody>
          <a:bodyPr wrap="square" lIns="45720" rIns="45720" anchor="ctr">
            <a:spAutoFit/>
          </a:bodyPr>
          <a:lstStyle/>
          <a:p>
            <a:pPr algn="r" rtl="1"/>
            <a:r>
              <a:rPr lang="en-US" sz="1600" b="0" i="0">
                <a:solidFill>
                  <a:srgbClr val="1B2B34"/>
                </a:solidFill>
                <a:latin typeface="Arial"/>
                <a:cs typeface="Arial"/>
              </a:rPr>
              <a:t>input, isdigit</a:t>
            </a:r>
          </a:p>
        </p:txBody>
      </p:sp>
      <p:sp>
        <p:nvSpPr>
          <p:cNvPr id="29" name="Oval 28"/>
          <p:cNvSpPr/>
          <p:nvPr/>
        </p:nvSpPr>
        <p:spPr>
          <a:xfrm>
            <a:off x="3611880" y="4709160"/>
            <a:ext cx="201168" cy="201168"/>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572000"/>
            <a:ext cx="2651760" cy="457200"/>
          </a:xfrm>
          <a:prstGeom prst="rect">
            <a:avLst/>
          </a:prstGeom>
          <a:noFill/>
        </p:spPr>
        <p:txBody>
          <a:bodyPr wrap="square" lIns="45720" rIns="45720" anchor="ctr">
            <a:spAutoFit/>
          </a:bodyPr>
          <a:lstStyle/>
          <a:p>
            <a:pPr algn="r" rtl="1"/>
            <a:r>
              <a:rPr lang="he-IL" sz="1600" b="0" i="0">
                <a:solidFill>
                  <a:srgbClr val="1B2B34"/>
                </a:solidFill>
                <a:latin typeface="Arial"/>
                <a:cs typeface="Arial"/>
              </a:rPr>
              <a:t>בודקים כל תשובה</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33</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שיעורי בית: משדרגים את ‎</a:t>
            </a:r>
            <a:r>
              <a:rPr lang="en-US" sz="3600" b="1" i="0" dirty="0">
                <a:solidFill>
                  <a:srgbClr val="1B4332"/>
                </a:solidFill>
                <a:latin typeface="Arial"/>
                <a:cs typeface="Arial"/>
              </a:rPr>
              <a:t>nim3.py</a:t>
            </a:r>
            <a:r>
              <a:rPr lang="he-IL" sz="3600" b="1" i="0" dirty="0">
                <a:solidFill>
                  <a:srgbClr val="1B4332"/>
                </a:solidFill>
                <a:latin typeface="Arial"/>
                <a:cs typeface="Arial"/>
              </a:rPr>
              <a:t>‎ (לענות על כל השאלות)</a:t>
            </a:r>
          </a:p>
        </p:txBody>
      </p:sp>
      <p:sp>
        <p:nvSpPr>
          <p:cNvPr id="4" name="Rounded Rectangle 3"/>
          <p:cNvSpPr/>
          <p:nvPr/>
        </p:nvSpPr>
        <p:spPr>
          <a:xfrm>
            <a:off x="809244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0" y="1463040"/>
            <a:ext cx="3246120" cy="594360"/>
          </a:xfrm>
          <a:prstGeom prst="roundRect">
            <a:avLst>
              <a:gd name="adj" fmla="val 50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dirty="0">
                <a:solidFill>
                  <a:srgbClr val="FFFFFF"/>
                </a:solidFill>
                <a:latin typeface="Arial"/>
                <a:cs typeface="Arial"/>
              </a:rPr>
              <a:t>★  1</a:t>
            </a:r>
          </a:p>
        </p:txBody>
      </p:sp>
      <p:sp>
        <p:nvSpPr>
          <p:cNvPr id="6" name="TextBox 5"/>
          <p:cNvSpPr txBox="1"/>
          <p:nvPr/>
        </p:nvSpPr>
        <p:spPr>
          <a:xfrm>
            <a:off x="8275319" y="2194560"/>
            <a:ext cx="315468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ערימה גדולה</a:t>
            </a:r>
          </a:p>
        </p:txBody>
      </p:sp>
      <p:sp>
        <p:nvSpPr>
          <p:cNvPr id="7" name="TextBox 6"/>
          <p:cNvSpPr txBox="1"/>
          <p:nvPr/>
        </p:nvSpPr>
        <p:spPr>
          <a:xfrm>
            <a:off x="8321040" y="2697480"/>
            <a:ext cx="3063240" cy="822960"/>
          </a:xfrm>
          <a:prstGeom prst="rect">
            <a:avLst/>
          </a:prstGeom>
          <a:noFill/>
        </p:spPr>
        <p:txBody>
          <a:bodyPr wrap="square" lIns="45720" rIns="45720" anchor="t">
            <a:spAutoFit/>
          </a:bodyPr>
          <a:lstStyle/>
          <a:p>
            <a:pPr algn="r" rtl="1"/>
            <a:r>
              <a:rPr lang="he-IL" sz="1500" b="0" i="0">
                <a:solidFill>
                  <a:srgbClr val="1B2B34"/>
                </a:solidFill>
                <a:latin typeface="Arial"/>
                <a:cs typeface="Arial"/>
              </a:rPr>
              <a:t>שנו את המשחק ל-100 אסימונים, ומותר לקחת עד 5 בכל תור.</a:t>
            </a:r>
          </a:p>
        </p:txBody>
      </p:sp>
      <p:sp>
        <p:nvSpPr>
          <p:cNvPr id="8" name="TextBox 7"/>
          <p:cNvSpPr txBox="1"/>
          <p:nvPr/>
        </p:nvSpPr>
        <p:spPr>
          <a:xfrm>
            <a:off x="8321040" y="3566160"/>
            <a:ext cx="3063240" cy="320040"/>
          </a:xfrm>
          <a:prstGeom prst="rect">
            <a:avLst/>
          </a:prstGeom>
          <a:noFill/>
        </p:spPr>
        <p:txBody>
          <a:bodyPr wrap="square" lIns="45720" rIns="45720" anchor="t">
            <a:spAutoFit/>
          </a:bodyPr>
          <a:lstStyle/>
          <a:p>
            <a:pPr algn="r" rtl="1"/>
            <a:r>
              <a:rPr lang="he-IL" sz="1400" b="1" i="0">
                <a:solidFill>
                  <a:srgbClr val="2D9F5C"/>
                </a:solidFill>
                <a:latin typeface="Arial"/>
                <a:cs typeface="Arial"/>
              </a:rPr>
              <a:t>התוצאה הרצויה:</a:t>
            </a:r>
          </a:p>
        </p:txBody>
      </p:sp>
      <p:sp>
        <p:nvSpPr>
          <p:cNvPr id="9" name="TextBox 8"/>
          <p:cNvSpPr txBox="1"/>
          <p:nvPr/>
        </p:nvSpPr>
        <p:spPr>
          <a:xfrm>
            <a:off x="8321040" y="3886200"/>
            <a:ext cx="3063240" cy="1371600"/>
          </a:xfrm>
          <a:prstGeom prst="rect">
            <a:avLst/>
          </a:prstGeom>
          <a:noFill/>
        </p:spPr>
        <p:txBody>
          <a:bodyPr wrap="square" lIns="45720" rIns="45720" anchor="t">
            <a:spAutoFit/>
          </a:bodyPr>
          <a:lstStyle/>
          <a:p>
            <a:pPr algn="r" rtl="1"/>
            <a:r>
              <a:rPr lang="he-IL" sz="1400" b="0" i="0">
                <a:solidFill>
                  <a:srgbClr val="1B2B34"/>
                </a:solidFill>
                <a:latin typeface="Arial"/>
                <a:cs typeface="Arial"/>
              </a:rPr>
              <a:t>המשחק מתחיל מ-100, ובהדפסה </a:t>
            </a:r>
            <a:r>
              <a:rPr lang="en-US" sz="1400" b="0" i="0">
                <a:solidFill>
                  <a:srgbClr val="1B2B34"/>
                </a:solidFill>
                <a:latin typeface="Arial"/>
                <a:cs typeface="Arial"/>
              </a:rPr>
              <a:t>Sending to Gemini</a:t>
            </a:r>
            <a:r>
              <a:rPr lang="he-IL" sz="1400" b="0" i="0">
                <a:solidFill>
                  <a:srgbClr val="1B2B34"/>
                </a:solidFill>
                <a:latin typeface="Arial"/>
                <a:cs typeface="Arial"/>
              </a:rPr>
              <a:t> רואים את המספרים החדשים.</a:t>
            </a:r>
          </a:p>
        </p:txBody>
      </p:sp>
      <p:sp>
        <p:nvSpPr>
          <p:cNvPr id="10" name="Rounded Rectangle 9"/>
          <p:cNvSpPr/>
          <p:nvPr/>
        </p:nvSpPr>
        <p:spPr>
          <a:xfrm>
            <a:off x="8275319"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צריך לשנות 2 משתנים</a:t>
            </a:r>
          </a:p>
        </p:txBody>
      </p:sp>
      <p:sp>
        <p:nvSpPr>
          <p:cNvPr id="11" name="Rounded Rectangle 10"/>
          <p:cNvSpPr/>
          <p:nvPr/>
        </p:nvSpPr>
        <p:spPr>
          <a:xfrm>
            <a:off x="434340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80560" y="1463040"/>
            <a:ext cx="3246120" cy="59436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dirty="0">
                <a:solidFill>
                  <a:srgbClr val="FFFFFF"/>
                </a:solidFill>
                <a:latin typeface="Arial"/>
                <a:cs typeface="Arial"/>
              </a:rPr>
              <a:t>★★  2</a:t>
            </a:r>
          </a:p>
        </p:txBody>
      </p:sp>
      <p:sp>
        <p:nvSpPr>
          <p:cNvPr id="13" name="TextBox 12"/>
          <p:cNvSpPr txBox="1"/>
          <p:nvPr/>
        </p:nvSpPr>
        <p:spPr>
          <a:xfrm>
            <a:off x="4526280" y="2194560"/>
            <a:ext cx="3154680" cy="457200"/>
          </a:xfrm>
          <a:prstGeom prst="rect">
            <a:avLst/>
          </a:prstGeom>
          <a:noFill/>
        </p:spPr>
        <p:txBody>
          <a:bodyPr wrap="square" lIns="45720" rIns="45720" anchor="t">
            <a:spAutoFit/>
          </a:bodyPr>
          <a:lstStyle/>
          <a:p>
            <a:pPr algn="ctr" rtl="1"/>
            <a:r>
              <a:rPr lang="he-IL" sz="2000" b="1" i="0">
                <a:solidFill>
                  <a:srgbClr val="1B2B34"/>
                </a:solidFill>
                <a:latin typeface="Arial"/>
                <a:cs typeface="Arial"/>
              </a:rPr>
              <a:t>מי שלוקח אחרון - מנצח!</a:t>
            </a:r>
          </a:p>
        </p:txBody>
      </p:sp>
      <p:sp>
        <p:nvSpPr>
          <p:cNvPr id="14" name="TextBox 13"/>
          <p:cNvSpPr txBox="1"/>
          <p:nvPr/>
        </p:nvSpPr>
        <p:spPr>
          <a:xfrm>
            <a:off x="4572000" y="2697480"/>
            <a:ext cx="3063240" cy="553998"/>
          </a:xfrm>
          <a:prstGeom prst="rect">
            <a:avLst/>
          </a:prstGeom>
          <a:noFill/>
        </p:spPr>
        <p:txBody>
          <a:bodyPr wrap="square" lIns="45720" rIns="45720" anchor="t">
            <a:spAutoFit/>
          </a:bodyPr>
          <a:lstStyle/>
          <a:p>
            <a:pPr algn="r" rtl="1"/>
            <a:r>
              <a:rPr lang="he-IL" sz="1500" b="0" i="0" dirty="0">
                <a:solidFill>
                  <a:srgbClr val="1B2B34"/>
                </a:solidFill>
                <a:latin typeface="Arial"/>
                <a:cs typeface="Arial"/>
              </a:rPr>
              <a:t>הפכו את החוק של המשחק: מי שלוקח אחרון מנצח.</a:t>
            </a:r>
          </a:p>
        </p:txBody>
      </p:sp>
      <p:sp>
        <p:nvSpPr>
          <p:cNvPr id="15" name="TextBox 14"/>
          <p:cNvSpPr txBox="1"/>
          <p:nvPr/>
        </p:nvSpPr>
        <p:spPr>
          <a:xfrm>
            <a:off x="4572000" y="3566160"/>
            <a:ext cx="3063240" cy="320040"/>
          </a:xfrm>
          <a:prstGeom prst="rect">
            <a:avLst/>
          </a:prstGeom>
          <a:noFill/>
        </p:spPr>
        <p:txBody>
          <a:bodyPr wrap="square" lIns="45720" rIns="45720" anchor="t">
            <a:spAutoFit/>
          </a:bodyPr>
          <a:lstStyle/>
          <a:p>
            <a:pPr algn="r" rtl="1"/>
            <a:r>
              <a:rPr lang="he-IL" sz="1400" b="1" i="0">
                <a:solidFill>
                  <a:srgbClr val="FF9F1C"/>
                </a:solidFill>
                <a:latin typeface="Arial"/>
                <a:cs typeface="Arial"/>
              </a:rPr>
              <a:t>התוצאה הרצויה:</a:t>
            </a:r>
          </a:p>
        </p:txBody>
      </p:sp>
      <p:sp>
        <p:nvSpPr>
          <p:cNvPr id="16" name="TextBox 15"/>
          <p:cNvSpPr txBox="1"/>
          <p:nvPr/>
        </p:nvSpPr>
        <p:spPr>
          <a:xfrm>
            <a:off x="4572000" y="3886200"/>
            <a:ext cx="3063240" cy="1371600"/>
          </a:xfrm>
          <a:prstGeom prst="rect">
            <a:avLst/>
          </a:prstGeom>
          <a:noFill/>
        </p:spPr>
        <p:txBody>
          <a:bodyPr wrap="square" lIns="45720" rIns="45720" anchor="t">
            <a:spAutoFit/>
          </a:bodyPr>
          <a:lstStyle/>
          <a:p>
            <a:pPr algn="r" rtl="1"/>
            <a:r>
              <a:rPr lang="en-US" sz="1400" b="0" i="0">
                <a:solidFill>
                  <a:srgbClr val="1B2B34"/>
                </a:solidFill>
                <a:latin typeface="Arial"/>
                <a:cs typeface="Arial"/>
              </a:rPr>
              <a:t>Gemini</a:t>
            </a:r>
            <a:r>
              <a:rPr lang="he-IL" sz="1400" b="0" i="0">
                <a:solidFill>
                  <a:srgbClr val="1B2B34"/>
                </a:solidFill>
                <a:latin typeface="Arial"/>
                <a:cs typeface="Arial"/>
              </a:rPr>
              <a:t> מקבל את החוק החדש ב-</a:t>
            </a:r>
            <a:r>
              <a:rPr lang="en-US" sz="1400" b="0" i="0">
                <a:solidFill>
                  <a:srgbClr val="1B2B34"/>
                </a:solidFill>
                <a:latin typeface="Arial"/>
                <a:cs typeface="Arial"/>
              </a:rPr>
              <a:t>prompt</a:t>
            </a:r>
            <a:r>
              <a:rPr lang="he-IL" sz="1400" b="0" i="0">
                <a:solidFill>
                  <a:srgbClr val="1B2B34"/>
                </a:solidFill>
                <a:latin typeface="Arial"/>
                <a:cs typeface="Arial"/>
              </a:rPr>
              <a:t>, וההודעה בסוף המשחק מכריזה על המנצח הנכון.</a:t>
            </a:r>
          </a:p>
        </p:txBody>
      </p:sp>
      <p:sp>
        <p:nvSpPr>
          <p:cNvPr id="17" name="Rounded Rectangle 16"/>
          <p:cNvSpPr/>
          <p:nvPr/>
        </p:nvSpPr>
        <p:spPr>
          <a:xfrm>
            <a:off x="4526280"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משנים את ה-</a:t>
            </a:r>
            <a:r>
              <a:rPr lang="en-US" sz="1200" b="0" i="0">
                <a:solidFill>
                  <a:srgbClr val="1B2B34"/>
                </a:solidFill>
                <a:latin typeface="Arial"/>
                <a:cs typeface="Arial"/>
              </a:rPr>
              <a:t>prompt</a:t>
            </a:r>
            <a:r>
              <a:rPr lang="he-IL" sz="1200" b="0" i="0">
                <a:solidFill>
                  <a:srgbClr val="1B2B34"/>
                </a:solidFill>
                <a:latin typeface="Arial"/>
                <a:cs typeface="Arial"/>
              </a:rPr>
              <a:t> ועוד 2 הודעות</a:t>
            </a:r>
          </a:p>
        </p:txBody>
      </p:sp>
      <p:sp>
        <p:nvSpPr>
          <p:cNvPr id="18" name="Rounded Rectangle 17"/>
          <p:cNvSpPr/>
          <p:nvPr/>
        </p:nvSpPr>
        <p:spPr>
          <a:xfrm>
            <a:off x="594360" y="1325880"/>
            <a:ext cx="3520440" cy="4800600"/>
          </a:xfrm>
          <a:prstGeom prst="roundRect">
            <a:avLst>
              <a:gd name="adj" fmla="val 5000"/>
            </a:avLst>
          </a:prstGeom>
          <a:solidFill>
            <a:srgbClr val="FFFFFF"/>
          </a:solidFill>
          <a:ln w="19050">
            <a:solidFill>
              <a:srgbClr val="D9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1520" y="1463040"/>
            <a:ext cx="3246120" cy="594360"/>
          </a:xfrm>
          <a:prstGeom prst="roundRect">
            <a:avLst>
              <a:gd name="adj" fmla="val 50000"/>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dirty="0">
                <a:solidFill>
                  <a:srgbClr val="FFFFFF"/>
                </a:solidFill>
                <a:latin typeface="Arial"/>
                <a:cs typeface="Arial"/>
              </a:rPr>
              <a:t>★★★  3</a:t>
            </a:r>
          </a:p>
        </p:txBody>
      </p:sp>
      <p:sp>
        <p:nvSpPr>
          <p:cNvPr id="20" name="TextBox 19"/>
          <p:cNvSpPr txBox="1"/>
          <p:nvPr/>
        </p:nvSpPr>
        <p:spPr>
          <a:xfrm>
            <a:off x="777240" y="2194560"/>
            <a:ext cx="3154680" cy="457200"/>
          </a:xfrm>
          <a:prstGeom prst="rect">
            <a:avLst/>
          </a:prstGeom>
          <a:noFill/>
        </p:spPr>
        <p:txBody>
          <a:bodyPr wrap="square" lIns="45720" rIns="45720" anchor="t">
            <a:spAutoFit/>
          </a:bodyPr>
          <a:lstStyle/>
          <a:p>
            <a:pPr algn="ctr" rtl="1"/>
            <a:r>
              <a:rPr lang="en-US" sz="2000" b="1" i="0">
                <a:solidFill>
                  <a:srgbClr val="1B2B34"/>
                </a:solidFill>
                <a:latin typeface="Arial"/>
                <a:cs typeface="Arial"/>
              </a:rPr>
              <a:t>Gemini</a:t>
            </a:r>
            <a:r>
              <a:rPr lang="he-IL" sz="2000" b="1" i="0">
                <a:solidFill>
                  <a:srgbClr val="1B2B34"/>
                </a:solidFill>
                <a:latin typeface="Arial"/>
                <a:cs typeface="Arial"/>
              </a:rPr>
              <a:t> מדבר!</a:t>
            </a:r>
          </a:p>
        </p:txBody>
      </p:sp>
      <p:sp>
        <p:nvSpPr>
          <p:cNvPr id="21" name="TextBox 20"/>
          <p:cNvSpPr txBox="1"/>
          <p:nvPr/>
        </p:nvSpPr>
        <p:spPr>
          <a:xfrm>
            <a:off x="822960" y="2697480"/>
            <a:ext cx="3063240" cy="822960"/>
          </a:xfrm>
          <a:prstGeom prst="rect">
            <a:avLst/>
          </a:prstGeom>
          <a:noFill/>
        </p:spPr>
        <p:txBody>
          <a:bodyPr wrap="square" lIns="45720" rIns="45720" anchor="t">
            <a:spAutoFit/>
          </a:bodyPr>
          <a:lstStyle/>
          <a:p>
            <a:pPr algn="r" rtl="1"/>
            <a:r>
              <a:rPr lang="he-IL" sz="1500" b="0" i="0">
                <a:solidFill>
                  <a:srgbClr val="1B2B34"/>
                </a:solidFill>
                <a:latin typeface="Arial"/>
                <a:cs typeface="Arial"/>
              </a:rPr>
              <a:t>אחרי כל מהלך, </a:t>
            </a:r>
            <a:r>
              <a:rPr lang="en-US" sz="1500" b="0" i="0">
                <a:solidFill>
                  <a:srgbClr val="1B2B34"/>
                </a:solidFill>
                <a:latin typeface="Arial"/>
                <a:cs typeface="Arial"/>
              </a:rPr>
              <a:t>Gemini</a:t>
            </a:r>
            <a:r>
              <a:rPr lang="he-IL" sz="1500" b="0" i="0">
                <a:solidFill>
                  <a:srgbClr val="1B2B34"/>
                </a:solidFill>
                <a:latin typeface="Arial"/>
                <a:cs typeface="Arial"/>
              </a:rPr>
              <a:t> אומר משפט קצר ומצחיק על המשחק.</a:t>
            </a:r>
          </a:p>
        </p:txBody>
      </p:sp>
      <p:sp>
        <p:nvSpPr>
          <p:cNvPr id="22" name="TextBox 21"/>
          <p:cNvSpPr txBox="1"/>
          <p:nvPr/>
        </p:nvSpPr>
        <p:spPr>
          <a:xfrm>
            <a:off x="822960" y="3566160"/>
            <a:ext cx="3063240" cy="320040"/>
          </a:xfrm>
          <a:prstGeom prst="rect">
            <a:avLst/>
          </a:prstGeom>
          <a:noFill/>
        </p:spPr>
        <p:txBody>
          <a:bodyPr wrap="square" lIns="45720" rIns="45720" anchor="t">
            <a:spAutoFit/>
          </a:bodyPr>
          <a:lstStyle/>
          <a:p>
            <a:pPr algn="r" rtl="1"/>
            <a:r>
              <a:rPr lang="he-IL" sz="1400" b="1" i="0">
                <a:solidFill>
                  <a:srgbClr val="EF476F"/>
                </a:solidFill>
                <a:latin typeface="Arial"/>
                <a:cs typeface="Arial"/>
              </a:rPr>
              <a:t>התוצאה הרצויה:</a:t>
            </a:r>
          </a:p>
        </p:txBody>
      </p:sp>
      <p:sp>
        <p:nvSpPr>
          <p:cNvPr id="23" name="TextBox 22"/>
          <p:cNvSpPr txBox="1"/>
          <p:nvPr/>
        </p:nvSpPr>
        <p:spPr>
          <a:xfrm>
            <a:off x="822960" y="3886200"/>
            <a:ext cx="3063240" cy="523220"/>
          </a:xfrm>
          <a:prstGeom prst="rect">
            <a:avLst/>
          </a:prstGeom>
          <a:noFill/>
        </p:spPr>
        <p:txBody>
          <a:bodyPr wrap="square" lIns="45720" rIns="45720" anchor="t">
            <a:spAutoFit/>
          </a:bodyPr>
          <a:lstStyle/>
          <a:p>
            <a:pPr algn="r" rtl="1"/>
            <a:r>
              <a:rPr lang="he-IL" sz="1400" b="0" i="0" dirty="0">
                <a:solidFill>
                  <a:srgbClr val="1B2B34"/>
                </a:solidFill>
                <a:latin typeface="Arial"/>
                <a:cs typeface="Arial"/>
              </a:rPr>
              <a:t>אחרי כל מהלך של </a:t>
            </a:r>
            <a:r>
              <a:rPr lang="en-US" sz="1400" b="0" i="0" dirty="0">
                <a:solidFill>
                  <a:srgbClr val="1B2B34"/>
                </a:solidFill>
                <a:latin typeface="Arial"/>
                <a:cs typeface="Arial"/>
              </a:rPr>
              <a:t>Gemini</a:t>
            </a:r>
            <a:r>
              <a:rPr lang="he-IL" sz="1400" b="0" i="0" dirty="0">
                <a:solidFill>
                  <a:srgbClr val="1B2B34"/>
                </a:solidFill>
                <a:latin typeface="Arial"/>
                <a:cs typeface="Arial"/>
              </a:rPr>
              <a:t>, מודפס בדיחה שהוא כתב.</a:t>
            </a:r>
          </a:p>
        </p:txBody>
      </p:sp>
      <p:sp>
        <p:nvSpPr>
          <p:cNvPr id="24" name="Rounded Rectangle 23"/>
          <p:cNvSpPr/>
          <p:nvPr/>
        </p:nvSpPr>
        <p:spPr>
          <a:xfrm>
            <a:off x="777240" y="5349240"/>
            <a:ext cx="3154680" cy="594360"/>
          </a:xfrm>
          <a:prstGeom prst="roundRect">
            <a:avLst>
              <a:gd name="adj" fmla="val 3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200" b="1" i="0">
                <a:solidFill>
                  <a:srgbClr val="1B2B34"/>
                </a:solidFill>
                <a:latin typeface="Arial"/>
                <a:cs typeface="Arial"/>
              </a:rPr>
              <a:t>רמז: </a:t>
            </a:r>
            <a:r>
              <a:rPr lang="he-IL" sz="1200" b="0" i="0">
                <a:solidFill>
                  <a:srgbClr val="1B2B34"/>
                </a:solidFill>
                <a:latin typeface="Arial"/>
                <a:cs typeface="Arial"/>
              </a:rPr>
              <a:t>פונקציה חדשה עם </a:t>
            </a:r>
            <a:r>
              <a:rPr lang="en-US" sz="1200" b="0" i="0">
                <a:solidFill>
                  <a:srgbClr val="1B2B34"/>
                </a:solidFill>
                <a:latin typeface="Arial"/>
                <a:cs typeface="Arial"/>
              </a:rPr>
              <a:t>prompt</a:t>
            </a:r>
            <a:r>
              <a:rPr lang="he-IL" sz="1200" b="0" i="0">
                <a:solidFill>
                  <a:srgbClr val="1B2B34"/>
                </a:solidFill>
                <a:latin typeface="Arial"/>
                <a:cs typeface="Arial"/>
              </a:rPr>
              <a:t> שני, ואז </a:t>
            </a:r>
            <a:r>
              <a:rPr lang="en-US" sz="1200" b="0" i="0">
                <a:solidFill>
                  <a:srgbClr val="1B2B34"/>
                </a:solidFill>
                <a:latin typeface="Arial"/>
                <a:cs typeface="Arial"/>
              </a:rPr>
              <a:t>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4072</Words>
  <Application>Microsoft Office PowerPoint</Application>
  <PresentationFormat>Widescreen</PresentationFormat>
  <Paragraphs>559</Paragraphs>
  <Slides>33</Slides>
  <Notes>33</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 Livne</cp:lastModifiedBy>
  <cp:revision>12</cp:revision>
  <dcterms:created xsi:type="dcterms:W3CDTF">2013-01-27T09:14:16Z</dcterms:created>
  <dcterms:modified xsi:type="dcterms:W3CDTF">2026-10-16T19:51:07Z</dcterms:modified>
  <cp:category/>
</cp:coreProperties>
</file>