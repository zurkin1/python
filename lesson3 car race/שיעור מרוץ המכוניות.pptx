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041" autoAdjust="0"/>
  </p:normalViewPr>
  <p:slideViewPr>
    <p:cSldViewPr snapToGrid="0" snapToObjects="1">
      <p:cViewPr varScale="1">
        <p:scale>
          <a:sx n="101" d="100"/>
          <a:sy n="101" d="100"/>
        </p:scale>
        <p:origin x="95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814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פתיחה (1 דק'). הראו את המשחק המוגמר (car5.py) כבר עכשיו - זה ה'פרס' של סוף השיעור. אמרו: כדי לבנות אותו צריך שני כלים חדשים - רשימות ופונקציות.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שאלו את הכיתה על כל כרטיס: מה זה עושה? איפה השתמשנו בזה (תפסו את הצב, ציור עם חיצים)? ontimer הוא הבסיס של לולאת המשחק שנבנה היום.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דק'. כל חלק מגיע עם קובץ תרגול. בחלק 3 כל קובץ הוא שלב במשחק - car1 עד car5. אם מישהו נתקע בשלב, הוא פשוט פותח את הקובץ של השלב הבא.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מעבר לחלק הרשימות (~20 דק' כולל תרגול).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משתנה = קופסה אחת. רשימה = שורה של קופסאות עם שם אחד. סוגריים מרובעים [ ] ופסיקים בין האיברים. אפשר לשים ברשימה מספרים, מחרוזות, ואפילו צבים (נראה במשחק!). הדגישו: האינדקס מתחיל מ-0 - זה הבאג מספר 1 של מתחילים.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שאלו את הכיתה מה יודפס בכל שורה לפני שחושפים. 1- הוא קיצור לאיבר האחרון. colors[5] נותן IndexError - שגיאה שתראו הרבה; קוראים אותה ולא נבהלים. את len(LANES) - 1 נפגוש בשלב 2 של המשחק.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append = 'הוסף לסוף'. השמה לאינדקס מחליפה איבר. random.choice הם כבר מכירים מחלק 1 - עכשיו הם מבינים שזו פשוט רשימה.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 הסבר + 5 דק' תרגול. השוו ל-for i in range(4): - שם i מקבל 0,1,2,3, וכאן color מקבל את הצבעים. הלולאה רצה פעם אחת לכל איבר, לא משנה כמה יש. תנו להם להריץ את lists_demo.py ולעשות אתגרים 1-3.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התשובות: 1) 20 (אינדקס 1 = האיבר השני)  2) 3  3) 8 + 5 = 13. אפשר להפוך לתחרות קטנה: מי שעונה נכון על שלושתן.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מעבר לחלק הפונקציות (~25 דק' כולל תרגול). שאלו: כבר השתמשנו בפונקציות? כן! print, forward, randint - מישהו אחר כתב אותן. היום נכתוב את שלנו.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כמו בלולאות בחלק 1: מתכנתים עצלנים! לולאה חוזרת על קוד באותו מקום, פונקציה מאפשרת להשתמש בקוד מכל מקום בתוכנית, וכל פעם עם ערכים אחרים. אם יש באג בציור הבית - מתקנים פעם אחת בתוך הפונקציה וכל הבתים מתוקנים.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עברו על כל חלק: def, שם (באנגלית, בלי רווחים, מתאר מה הפונקציה עושה), סוגריים עם פרמטרים, נקודתיים, הזחה. חשוב מאוד: הגדרה לא מריצה כלום! רק הקריאה draw_square(100, "red") מריצה. טעות נפוצה: להגדיר פונקציה ולשכוח לקרוא לה - ואז 'לא קורה כלום'.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פרמטר = משתנה שהפונקציה מקבלת מבחוץ. הסדר חשוב! שאלו: מה יקרה אם נכתוב draw_house("pink", -250, -50)? (שגיאה - goto לא יודע מה לעשות עם "pink").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כמו מכונה: נכנסים ערכים, יוצאת תשובה. random.randint היא פונקציה שמחזירה ערך - כבר השתמשנו בזה! return גם מסיים את הפונקציה - שורות אחריו לא ירוצו. במשחק: make_car מחזירה מכונית חדשה, ו-crashed מחזירה True או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משל: הפונקציה היא חדר עם דלת סגורה. מה שנולד בחדר (bonus) נשאר בחדר. משתנה מהסלון (score) רואים מכל חדר, אבל כדי לשנות אותו צריך 'אישור' - global. בחלק 1 ראינו global ב-turtle_game.py. במשחק היום: global lane, global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 דק' תרגול. מי שמסיים את 1-2 ממשיך ל-3. פתרון לאתגר 2:</a:t>
            </a:r>
          </a:p>
          <a:p>
            <a:r>
              <a:t>colors = ["khaki", "lightblue", "pink", "lightgreen"]</a:t>
            </a:r>
          </a:p>
          <a:p>
            <a:r>
              <a:t>for i in range(len(colors)):</a:t>
            </a:r>
          </a:p>
          <a:p>
            <a:r>
              <a:t>    draw_house(-250 + i * 150, -50, colors[i])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מעבר לחלק המשחק (~50 דק').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דק'. הריצו את car5.py מול הכיתה ותנו למתנדב לשחק דקה. שאלו: מאיזה חלקים המשחק בנוי? (כביש, מכונית, מקלדת, מכוניות זזות, התנגשות, ניקוד) - זה בדיוק סדר השלבים.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זו התמונה הגדולה. game_loop היא 'הלב' - רצה 50 פעמים בשנייה וקוראת לפונקציות קטנות. move_left/right רצות רק כשלוחצים על מקש. car_shape היא קוד מוכן (צורת המכונית) - לא חייבים להבין אותה.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דק'. בכל שלב: מראים את השקף, מריצים את הקובץ, מסבירים את הקוד החדש (מסומן ב-🆕 בקובץ), ואז 5-7 דקות לאתגרים שבסוף הקובץ.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דק'. שני דברים חדשים: 1) LANES - רשימה של מיקומי x של הנתיבים. 2) make_car - פונקציה עם 4 פרמטרים שמחזירה (return) צב חדש בצורת מכונית. heading 90 = למעלה, 270 = למטה. screen.tracer(0) מכבה את האנימציה - הציור מופיע בבת אחת עם screen.update(). car_shape הוא קוד מוכן. אתגרים: לשנות צבע, להעביר נתיב, להוסיף מכונית כחולה.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דק'. lane הוא משתנה גלובלי - לכן global בתוך הפונקציה. move_right בודקת lane &lt; len(LANES) - 1, כלומר 'לא באינדקס האחרון'. שאלו: למה לא כתבנו פשוט lane &lt; 2? (כי אם נוסיף נתיב לרשימה, הקוד ימשיך לעבוד). screen.listen() חובה - אחרת המסך לא שומע את המקלדת.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10 דק'. זה הרעיון הכי חשוב במשחקים: לולאת משחק. game_loop קוראת לעצמה דרך ontimer כל 20 אלפיות שנייה - כמו tick בתפסו את הצב, רק הרבה יותר מהר. הכביש לא באמת זז - הקווים זזים למטה וחוזרים למעלה (move_lines עם for על רשימת הקווים). move_enemy: כשהמכונית יוצאת למטה היא חוזרת למעלה בנתיב אקראי - random.choice(LANES).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דק'. abs מחזירה ערך מוחלט: abs(-5) = 5. שתי מכוניות נוגעות אם המרחק ביניהן ב-x קטן מרוחב מכונית (36) וגם ב-y קטן מאורך מכונית (64). שימו לב: crashed מחזירה ערך בוליאני - וזה מה שה-if בודק. אם התנגשנו - לא קוראים שוב ל-ontimer, ולכן הלולאה נעצרת. פשוט וחכם.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10 דק'. כאן הכול מתחבר: רשימת מכוניות (enemies), לולאת for שעוברת על כולן, פונקציות (reset_enemy, crashed), ומשתנים גלובליים (score, speed, game_over). שאלו: מה צריך לשנות כדי שיהיו 5 מכוניות? (רק range(5)). זה הכוח של רשימות.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זמן שנשאר. כל תלמיד בוחר רמה. אתגר החיים: משתנה lives = 3, ובהתנגשות lives = lives - 1 ו-reset_enemy(enemy) כדי שהמכונית תיעלם; game_over רק כש-lives ==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דק'. שאלו כל תלמיד: מה הדבר הכי מגניב שלמדתם היום? שיעורי בית: לבחור אתגר אחד מהשקף הקודם ולהגיש את car5.py המשודרג.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85800" y="868680"/>
            <a:ext cx="5120640" cy="512064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car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712" y="1417320"/>
            <a:ext cx="2863890" cy="402336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5074920" y="731520"/>
            <a:ext cx="502920" cy="50292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5486400" y="4937760"/>
            <a:ext cx="347472" cy="347472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09360" y="1869608"/>
            <a:ext cx="5349240" cy="101566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6000" b="1" i="0" dirty="0">
                <a:solidFill>
                  <a:srgbClr val="FFFFFF"/>
                </a:solidFill>
                <a:latin typeface="Arial"/>
                <a:cs typeface="Arial"/>
              </a:rPr>
              <a:t>שיעור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971800"/>
            <a:ext cx="5349240" cy="4924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600" b="0" i="0" dirty="0">
                <a:solidFill>
                  <a:srgbClr val="FFD166"/>
                </a:solidFill>
                <a:latin typeface="Arial"/>
                <a:cs typeface="Arial"/>
              </a:rPr>
              <a:t>רשימות, פונקציות ומשחק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794760"/>
            <a:ext cx="53492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CDE8D8"/>
                </a:solidFill>
                <a:latin typeface="Arial"/>
                <a:cs typeface="Arial"/>
              </a:rPr>
              <a:t>היום נלמד שני כלים חזקים של מתכנתים - ונשתמש בהם כדי לבנות משחק מרוץ אמיתי!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5494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תזכורת: מה למדנו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 dirty="0">
                <a:solidFill>
                  <a:srgbClr val="5F6F78"/>
                </a:solidFill>
                <a:latin typeface="Arial"/>
                <a:cs typeface="Arial"/>
              </a:rPr>
              <a:t>ארבעה דברים שנצטרך היום במשחק:</a:t>
            </a:r>
          </a:p>
        </p:txBody>
      </p:sp>
      <p:sp>
        <p:nvSpPr>
          <p:cNvPr id="5" name="recap-card"/>
          <p:cNvSpPr/>
          <p:nvPr/>
        </p:nvSpPr>
        <p:spPr>
          <a:xfrm>
            <a:off x="9034272" y="1783080"/>
            <a:ext cx="2606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9834372" y="2057400"/>
            <a:ext cx="1005840" cy="10058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egoe UI Symbol"/>
              </a:rPr>
              <a:t>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4272" y="3200400"/>
            <a:ext cx="26060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400" b="1" i="0">
                <a:solidFill>
                  <a:srgbClr val="1B2B34"/>
                </a:solidFill>
                <a:latin typeface="Arial"/>
                <a:cs typeface="Arial"/>
              </a:rPr>
              <a:t>לולאה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34272" y="3703320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חזור כמה פעמים</a:t>
            </a:r>
          </a:p>
        </p:txBody>
      </p:sp>
      <p:sp>
        <p:nvSpPr>
          <p:cNvPr id="9" name="code-bg"/>
          <p:cNvSpPr/>
          <p:nvPr/>
        </p:nvSpPr>
        <p:spPr>
          <a:xfrm>
            <a:off x="9217152" y="4343400"/>
            <a:ext cx="2240280" cy="13258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code"/>
          <p:cNvSpPr txBox="1"/>
          <p:nvPr/>
        </p:nvSpPr>
        <p:spPr>
          <a:xfrm>
            <a:off x="9354312" y="4439412"/>
            <a:ext cx="1965960" cy="1133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for</a:t>
            </a:r>
            <a:r>
              <a:rPr sz="1500">
                <a:solidFill>
                  <a:srgbClr val="E6E6E6"/>
                </a:solidFill>
                <a:latin typeface="Consolas"/>
              </a:rPr>
              <a:t> i </a:t>
            </a:r>
            <a:r>
              <a:rPr sz="1500">
                <a:solidFill>
                  <a:srgbClr val="FF9F1C"/>
                </a:solidFill>
                <a:latin typeface="Consolas"/>
              </a:rPr>
              <a:t>in</a:t>
            </a:r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  <a:r>
              <a:rPr sz="1500">
                <a:solidFill>
                  <a:srgbClr val="7FDBFF"/>
                </a:solidFill>
                <a:latin typeface="Consolas"/>
              </a:rPr>
              <a:t>range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4</a:t>
            </a:r>
            <a:r>
              <a:rPr sz="1500">
                <a:solidFill>
                  <a:srgbClr val="E6E6E6"/>
                </a:solidFill>
                <a:latin typeface="Consolas"/>
              </a:rPr>
              <a:t>):</a:t>
            </a:r>
          </a:p>
        </p:txBody>
      </p:sp>
      <p:sp>
        <p:nvSpPr>
          <p:cNvPr id="11" name="recap-card"/>
          <p:cNvSpPr/>
          <p:nvPr/>
        </p:nvSpPr>
        <p:spPr>
          <a:xfrm>
            <a:off x="6206032" y="1783080"/>
            <a:ext cx="2606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val 11"/>
          <p:cNvSpPr/>
          <p:nvPr/>
        </p:nvSpPr>
        <p:spPr>
          <a:xfrm>
            <a:off x="7006132" y="2057400"/>
            <a:ext cx="1005840" cy="100584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egoe UI Symbol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6032" y="3200400"/>
            <a:ext cx="26060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400" b="1" i="0">
                <a:solidFill>
                  <a:srgbClr val="1B2B34"/>
                </a:solidFill>
                <a:latin typeface="Arial"/>
                <a:cs typeface="Arial"/>
              </a:rPr>
              <a:t>תנאי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6032" y="3703320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המחשב מחליט</a:t>
            </a:r>
          </a:p>
        </p:txBody>
      </p:sp>
      <p:sp>
        <p:nvSpPr>
          <p:cNvPr id="15" name="code-bg"/>
          <p:cNvSpPr/>
          <p:nvPr/>
        </p:nvSpPr>
        <p:spPr>
          <a:xfrm>
            <a:off x="6388912" y="4343400"/>
            <a:ext cx="2240280" cy="13258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code"/>
          <p:cNvSpPr txBox="1"/>
          <p:nvPr/>
        </p:nvSpPr>
        <p:spPr>
          <a:xfrm>
            <a:off x="6526072" y="4439412"/>
            <a:ext cx="1965960" cy="1133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if</a:t>
            </a:r>
            <a:r>
              <a:rPr sz="1500">
                <a:solidFill>
                  <a:srgbClr val="E6E6E6"/>
                </a:solidFill>
                <a:latin typeface="Consolas"/>
              </a:rPr>
              <a:t> x &gt; </a:t>
            </a:r>
            <a:r>
              <a:rPr sz="1500">
                <a:solidFill>
                  <a:srgbClr val="FFD166"/>
                </a:solidFill>
                <a:latin typeface="Consolas"/>
              </a:rPr>
              <a:t>100</a:t>
            </a:r>
            <a:r>
              <a:rPr sz="1500">
                <a:solidFill>
                  <a:srgbClr val="E6E6E6"/>
                </a:solidFill>
                <a:latin typeface="Consolas"/>
              </a:rPr>
              <a:t>:</a:t>
            </a:r>
          </a:p>
        </p:txBody>
      </p:sp>
      <p:sp>
        <p:nvSpPr>
          <p:cNvPr id="17" name="recap-card"/>
          <p:cNvSpPr/>
          <p:nvPr/>
        </p:nvSpPr>
        <p:spPr>
          <a:xfrm>
            <a:off x="3377793" y="1783080"/>
            <a:ext cx="2606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4177893" y="2057400"/>
            <a:ext cx="1005840" cy="100584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egoe UI Symbol"/>
              </a:rPr>
              <a:t>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7793" y="3200400"/>
            <a:ext cx="26060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400" b="1" i="0">
                <a:solidFill>
                  <a:srgbClr val="1B2B34"/>
                </a:solidFill>
                <a:latin typeface="Arial"/>
                <a:cs typeface="Arial"/>
              </a:rPr>
              <a:t>מקלדת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7793" y="3703320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חץ = פעולה</a:t>
            </a:r>
          </a:p>
        </p:txBody>
      </p:sp>
      <p:sp>
        <p:nvSpPr>
          <p:cNvPr id="21" name="code-bg"/>
          <p:cNvSpPr/>
          <p:nvPr/>
        </p:nvSpPr>
        <p:spPr>
          <a:xfrm>
            <a:off x="3560673" y="4343400"/>
            <a:ext cx="2240280" cy="13258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code"/>
          <p:cNvSpPr txBox="1"/>
          <p:nvPr/>
        </p:nvSpPr>
        <p:spPr>
          <a:xfrm>
            <a:off x="3697833" y="4439412"/>
            <a:ext cx="1965960" cy="1133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7FDBFF"/>
                </a:solidFill>
                <a:latin typeface="Consolas"/>
              </a:rPr>
              <a:t>onkey</a:t>
            </a:r>
            <a:r>
              <a:rPr sz="1500">
                <a:solidFill>
                  <a:srgbClr val="E6E6E6"/>
                </a:solidFill>
                <a:latin typeface="Consolas"/>
              </a:rPr>
              <a:t>(go, </a:t>
            </a:r>
            <a:r>
              <a:rPr sz="1500">
                <a:solidFill>
                  <a:srgbClr val="A6E22E"/>
                </a:solidFill>
                <a:latin typeface="Consolas"/>
              </a:rPr>
              <a:t>"Up"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3" name="recap-card"/>
          <p:cNvSpPr/>
          <p:nvPr/>
        </p:nvSpPr>
        <p:spPr>
          <a:xfrm>
            <a:off x="549554" y="1783080"/>
            <a:ext cx="2606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1349654" y="2057400"/>
            <a:ext cx="1005840" cy="100584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egoe UI Symbol"/>
              </a:rPr>
              <a:t>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554" y="3200400"/>
            <a:ext cx="26060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400" b="1" i="0">
                <a:solidFill>
                  <a:srgbClr val="1B2B34"/>
                </a:solidFill>
                <a:latin typeface="Arial"/>
                <a:cs typeface="Arial"/>
              </a:rPr>
              <a:t>טיימר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554" y="3703320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הפעל עוד מעט</a:t>
            </a:r>
          </a:p>
        </p:txBody>
      </p:sp>
      <p:sp>
        <p:nvSpPr>
          <p:cNvPr id="27" name="code-bg"/>
          <p:cNvSpPr/>
          <p:nvPr/>
        </p:nvSpPr>
        <p:spPr>
          <a:xfrm>
            <a:off x="732434" y="4343400"/>
            <a:ext cx="2240280" cy="13258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code"/>
          <p:cNvSpPr txBox="1"/>
          <p:nvPr/>
        </p:nvSpPr>
        <p:spPr>
          <a:xfrm>
            <a:off x="869594" y="4439412"/>
            <a:ext cx="1965960" cy="1133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7FDBFF"/>
                </a:solidFill>
                <a:latin typeface="Consolas"/>
              </a:rPr>
              <a:t>ontimer</a:t>
            </a:r>
            <a:r>
              <a:rPr sz="1500">
                <a:solidFill>
                  <a:srgbClr val="E6E6E6"/>
                </a:solidFill>
                <a:latin typeface="Consolas"/>
              </a:rPr>
              <a:t>(tick, </a:t>
            </a:r>
            <a:r>
              <a:rPr sz="1500">
                <a:solidFill>
                  <a:srgbClr val="FFD166"/>
                </a:solidFill>
                <a:latin typeface="Consolas"/>
              </a:rPr>
              <a:t>1000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השיעור של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3</a:t>
            </a:r>
          </a:p>
        </p:txBody>
      </p:sp>
      <p:sp>
        <p:nvSpPr>
          <p:cNvPr id="4" name="Oval 3"/>
          <p:cNvSpPr/>
          <p:nvPr/>
        </p:nvSpPr>
        <p:spPr>
          <a:xfrm>
            <a:off x="9491472" y="1463040"/>
            <a:ext cx="1005840" cy="10058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48472" y="2651760"/>
            <a:ext cx="32918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1B2B34"/>
                </a:solidFill>
                <a:latin typeface="Arial"/>
                <a:cs typeface="Arial"/>
              </a:rPr>
              <a:t>רשימות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48472" y="320040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0" i="0">
                <a:solidFill>
                  <a:srgbClr val="5F6F78"/>
                </a:solidFill>
                <a:latin typeface="Consolas"/>
              </a:rPr>
              <a:t>[ ] , append, 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48472" y="361188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lists_demo.py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48472" y="402336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1" i="0">
                <a:solidFill>
                  <a:srgbClr val="2D9F5C"/>
                </a:solidFill>
                <a:latin typeface="Arial"/>
                <a:cs typeface="Arial"/>
              </a:rPr>
              <a:t>20 דקות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7845552" y="1965960"/>
            <a:ext cx="3931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586984" y="1463040"/>
            <a:ext cx="1005840" cy="100584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651760"/>
            <a:ext cx="32918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1B2B34"/>
                </a:solidFill>
                <a:latin typeface="Arial"/>
                <a:cs typeface="Arial"/>
              </a:rPr>
              <a:t>פונקציות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320040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0" i="0">
                <a:solidFill>
                  <a:srgbClr val="5F6F78"/>
                </a:solidFill>
                <a:latin typeface="Consolas"/>
              </a:rPr>
              <a:t>def, return, global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4" y="361188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functions_demo.py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984" y="402336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1" i="0">
                <a:solidFill>
                  <a:srgbClr val="2D9F5C"/>
                </a:solidFill>
                <a:latin typeface="Arial"/>
                <a:cs typeface="Arial"/>
              </a:rPr>
              <a:t>25 דקות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3941064" y="1965960"/>
            <a:ext cx="3931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682495" y="1463040"/>
            <a:ext cx="1005840" cy="100584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" y="2651760"/>
            <a:ext cx="32918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1B2B34"/>
                </a:solidFill>
                <a:latin typeface="Arial"/>
                <a:cs typeface="Arial"/>
              </a:rPr>
              <a:t>מרוץ מכוניות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" y="320040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0" i="0">
                <a:solidFill>
                  <a:srgbClr val="5F6F78"/>
                </a:solidFill>
                <a:latin typeface="Consolas"/>
              </a:rPr>
              <a:t>5 שלבים, משחק שלם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5" y="361188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car1.py ... car5.py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5" y="402336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1" i="0">
                <a:solidFill>
                  <a:srgbClr val="2D9F5C"/>
                </a:solidFill>
                <a:latin typeface="Arial"/>
                <a:cs typeface="Arial"/>
              </a:rPr>
              <a:t>50 דקות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12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771632" y="5097779"/>
            <a:ext cx="685800" cy="68580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983479"/>
            <a:ext cx="9765792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700" b="1" i="0">
                <a:solidFill>
                  <a:srgbClr val="1B2B34"/>
                </a:solidFill>
                <a:latin typeface="Arial"/>
                <a:cs typeface="Arial"/>
              </a:rPr>
              <a:t>הכלל של היום:</a:t>
            </a:r>
          </a:p>
          <a:p>
            <a:pPr algn="r" rtl="1">
              <a:spcAft>
                <a:spcPts val="2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קודם מבינים כלי חדש על דוגמה קטנה - ואז משתמשים בו במשחק.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38160" y="1463040"/>
            <a:ext cx="2926080" cy="2926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138160" y="1463040"/>
            <a:ext cx="2926080" cy="2926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0" b="1" i="0">
                <a:solidFill>
                  <a:srgbClr val="FFD166"/>
                </a:solidFill>
                <a:latin typeface="Arial"/>
              </a:rPr>
              <a:t>1</a:t>
            </a:r>
          </a:p>
        </p:txBody>
      </p:sp>
      <p:sp>
        <p:nvSpPr>
          <p:cNvPr id="4" name="Oval 3"/>
          <p:cNvSpPr/>
          <p:nvPr/>
        </p:nvSpPr>
        <p:spPr>
          <a:xfrm>
            <a:off x="10607040" y="1188720"/>
            <a:ext cx="502920" cy="50292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79" y="4069080"/>
            <a:ext cx="365760" cy="3657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5000" b="1" i="0">
                <a:solidFill>
                  <a:srgbClr val="FFFFFF"/>
                </a:solidFill>
                <a:latin typeface="Arial"/>
                <a:cs typeface="Arial"/>
              </a:rPr>
              <a:t>רשימות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200" b="0" i="0">
                <a:solidFill>
                  <a:srgbClr val="CDE8D8"/>
                </a:solidFill>
                <a:latin typeface="Arial"/>
                <a:cs typeface="Arial"/>
              </a:rPr>
              <a:t>איך שומרים הרבה ערכים במשתנה אחד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רשימה = הרבה ערכים במשתנה אחד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1234440"/>
            <a:ext cx="5148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>
                <a:solidFill>
                  <a:srgbClr val="EF476F"/>
                </a:solidFill>
                <a:latin typeface="Arial"/>
                <a:cs typeface="Arial"/>
              </a:rPr>
              <a:t>בלי רשימה: </a:t>
            </a: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משתנה לכל צבע</a:t>
            </a:r>
          </a:p>
        </p:txBody>
      </p:sp>
      <p:sp>
        <p:nvSpPr>
          <p:cNvPr id="5" name="code-bg"/>
          <p:cNvSpPr/>
          <p:nvPr/>
        </p:nvSpPr>
        <p:spPr>
          <a:xfrm>
            <a:off x="6492240" y="1737360"/>
            <a:ext cx="5148072" cy="16002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6720840" y="1897379"/>
            <a:ext cx="2152833" cy="882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800" dirty="0">
                <a:solidFill>
                  <a:srgbClr val="E6E6E6"/>
                </a:solidFill>
                <a:latin typeface="Consolas"/>
              </a:rPr>
              <a:t>color1 = </a:t>
            </a:r>
            <a:r>
              <a:rPr sz="1800" dirty="0">
                <a:solidFill>
                  <a:srgbClr val="A6E22E"/>
                </a:solidFill>
                <a:latin typeface="Consolas"/>
              </a:rPr>
              <a:t>"red"</a:t>
            </a:r>
          </a:p>
          <a:p>
            <a:pPr algn="l" rtl="0">
              <a:lnSpc>
                <a:spcPct val="108000"/>
              </a:lnSpc>
            </a:pPr>
            <a:r>
              <a:rPr sz="1800" dirty="0">
                <a:solidFill>
                  <a:srgbClr val="E6E6E6"/>
                </a:solidFill>
                <a:latin typeface="Consolas"/>
              </a:rPr>
              <a:t>color2 = </a:t>
            </a:r>
            <a:r>
              <a:rPr sz="1800" dirty="0">
                <a:solidFill>
                  <a:srgbClr val="A6E22E"/>
                </a:solidFill>
                <a:latin typeface="Consolas"/>
              </a:rPr>
              <a:t>"orange"</a:t>
            </a:r>
          </a:p>
          <a:p>
            <a:pPr algn="l" rtl="0">
              <a:lnSpc>
                <a:spcPct val="108000"/>
              </a:lnSpc>
            </a:pPr>
            <a:r>
              <a:rPr sz="1800" dirty="0">
                <a:solidFill>
                  <a:srgbClr val="E6E6E6"/>
                </a:solidFill>
                <a:latin typeface="Consolas"/>
              </a:rPr>
              <a:t>color3 = </a:t>
            </a:r>
            <a:r>
              <a:rPr sz="1800" dirty="0">
                <a:solidFill>
                  <a:srgbClr val="A6E22E"/>
                </a:solidFill>
                <a:latin typeface="Consolas"/>
              </a:rPr>
              <a:t>"yellow"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>
                <a:solidFill>
                  <a:srgbClr val="2D9F5C"/>
                </a:solidFill>
                <a:latin typeface="Arial"/>
                <a:cs typeface="Arial"/>
              </a:rPr>
              <a:t>עם רשימה: </a:t>
            </a: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שורה אחת</a:t>
            </a:r>
          </a:p>
        </p:txBody>
      </p:sp>
      <p:sp>
        <p:nvSpPr>
          <p:cNvPr id="8" name="code-bg"/>
          <p:cNvSpPr/>
          <p:nvPr/>
        </p:nvSpPr>
        <p:spPr>
          <a:xfrm>
            <a:off x="548640" y="1737360"/>
            <a:ext cx="5486400" cy="16002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777240" y="1897379"/>
            <a:ext cx="5029200" cy="1280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800">
                <a:solidFill>
                  <a:srgbClr val="E6E6E6"/>
                </a:solidFill>
                <a:latin typeface="Consolas"/>
              </a:rPr>
              <a:t>colors = [</a:t>
            </a:r>
            <a:r>
              <a:rPr sz="1800">
                <a:solidFill>
                  <a:srgbClr val="A6E22E"/>
                </a:solidFill>
                <a:latin typeface="Consolas"/>
              </a:rPr>
              <a:t>"red"</a:t>
            </a:r>
            <a:r>
              <a:rPr sz="1800">
                <a:solidFill>
                  <a:srgbClr val="E6E6E6"/>
                </a:solidFill>
                <a:latin typeface="Consolas"/>
              </a:rPr>
              <a:t>, </a:t>
            </a:r>
            <a:r>
              <a:rPr sz="1800">
                <a:solidFill>
                  <a:srgbClr val="A6E22E"/>
                </a:solidFill>
                <a:latin typeface="Consolas"/>
              </a:rPr>
              <a:t>"orange"</a:t>
            </a:r>
            <a:r>
              <a:rPr sz="1800">
                <a:solidFill>
                  <a:srgbClr val="E6E6E6"/>
                </a:solidFill>
                <a:latin typeface="Consolas"/>
              </a:rPr>
              <a:t>, </a:t>
            </a:r>
            <a:r>
              <a:rPr sz="1800">
                <a:solidFill>
                  <a:srgbClr val="A6E22E"/>
                </a:solidFill>
                <a:latin typeface="Consolas"/>
              </a:rPr>
              <a:t>"yellow"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146304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2200" b="1" i="0">
                <a:solidFill>
                  <a:srgbClr val="1B4332"/>
                </a:solidFill>
                <a:latin typeface="Consolas"/>
              </a:rPr>
              <a:t>colors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91640" y="4572000"/>
            <a:ext cx="365760" cy="0"/>
          </a:xfrm>
          <a:prstGeom prst="line">
            <a:avLst/>
          </a:prstGeom>
          <a:ln w="31750">
            <a:solidFill>
              <a:srgbClr val="1B43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48840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FFD6D6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48840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"red"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30752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FFE5C2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30752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"orange"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12664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FFF5C2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12664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"yellow"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2664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4575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D6F2DF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94575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"green"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5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76488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D6EBFA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76488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"blue"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6488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91056" y="5550408"/>
            <a:ext cx="7863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 dirty="0">
                <a:solidFill>
                  <a:srgbClr val="2D9F5C"/>
                </a:solidFill>
                <a:latin typeface="Arial"/>
                <a:cs typeface="Arial"/>
              </a:rPr>
              <a:t>↑ אינדקס = המספר של כל קופסה. סופרים מאפס!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קופסאות בשורה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אינדקס: לכל איבר יש מספר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6</a:t>
            </a:r>
          </a:p>
        </p:txBody>
      </p:sp>
      <p:sp>
        <p:nvSpPr>
          <p:cNvPr id="4" name="code-bg"/>
          <p:cNvSpPr/>
          <p:nvPr/>
        </p:nvSpPr>
        <p:spPr>
          <a:xfrm>
            <a:off x="5852160" y="1280160"/>
            <a:ext cx="5788152" cy="3749039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6080760" y="1440180"/>
            <a:ext cx="5330952" cy="3428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 = [</a:t>
            </a:r>
            <a:r>
              <a:rPr sz="1900">
                <a:solidFill>
                  <a:srgbClr val="A6E22E"/>
                </a:solidFill>
                <a:latin typeface="Consolas"/>
              </a:rPr>
              <a:t>"red"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"orange"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"yellow"</a:t>
            </a:r>
            <a:r>
              <a:rPr sz="19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      </a:t>
            </a:r>
            <a:r>
              <a:rPr sz="1900">
                <a:solidFill>
                  <a:srgbClr val="A6E22E"/>
                </a:solidFill>
                <a:latin typeface="Consolas"/>
              </a:rPr>
              <a:t>"green"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"blue"</a:t>
            </a:r>
            <a:r>
              <a:rPr sz="19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(colors[</a:t>
            </a:r>
            <a:r>
              <a:rPr sz="1900">
                <a:solidFill>
                  <a:srgbClr val="FFD166"/>
                </a:solidFill>
                <a:latin typeface="Consolas"/>
              </a:rPr>
              <a:t>0</a:t>
            </a:r>
            <a:r>
              <a:rPr sz="1900">
                <a:solidFill>
                  <a:srgbClr val="E6E6E6"/>
                </a:solidFill>
                <a:latin typeface="Consolas"/>
              </a:rPr>
              <a:t>])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(colors[</a:t>
            </a:r>
            <a:r>
              <a:rPr sz="1900">
                <a:solidFill>
                  <a:srgbClr val="FFD166"/>
                </a:solidFill>
                <a:latin typeface="Consolas"/>
              </a:rPr>
              <a:t>2</a:t>
            </a:r>
            <a:r>
              <a:rPr sz="1900">
                <a:solidFill>
                  <a:srgbClr val="E6E6E6"/>
                </a:solidFill>
                <a:latin typeface="Consolas"/>
              </a:rPr>
              <a:t>])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(colors[-</a:t>
            </a:r>
            <a:r>
              <a:rPr sz="1900">
                <a:solidFill>
                  <a:srgbClr val="FFD166"/>
                </a:solidFill>
                <a:latin typeface="Consolas"/>
              </a:rPr>
              <a:t>1</a:t>
            </a:r>
            <a:r>
              <a:rPr sz="1900">
                <a:solidFill>
                  <a:srgbClr val="E6E6E6"/>
                </a:solidFill>
                <a:latin typeface="Consolas"/>
              </a:rPr>
              <a:t>])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7FDBFF"/>
                </a:solidFill>
                <a:latin typeface="Consolas"/>
              </a:rPr>
              <a:t>len</a:t>
            </a:r>
            <a:r>
              <a:rPr sz="1900">
                <a:solidFill>
                  <a:srgbClr val="E6E6E6"/>
                </a:solidFill>
                <a:latin typeface="Consolas"/>
              </a:rPr>
              <a:t>(colors))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(colors[</a:t>
            </a:r>
            <a:r>
              <a:rPr sz="1900">
                <a:solidFill>
                  <a:srgbClr val="FFD166"/>
                </a:solidFill>
                <a:latin typeface="Consolas"/>
              </a:rPr>
              <a:t>5</a:t>
            </a:r>
            <a:r>
              <a:rPr sz="1900">
                <a:solidFill>
                  <a:srgbClr val="E6E6E6"/>
                </a:solidFill>
                <a:latin typeface="Consolas"/>
              </a:rPr>
              <a:t>])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200" b="1" i="0">
                <a:solidFill>
                  <a:srgbClr val="1B4332"/>
                </a:solidFill>
                <a:latin typeface="Arial"/>
                <a:cs typeface="Arial"/>
              </a:rPr>
              <a:t>מה יודפס?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783080"/>
            <a:ext cx="512064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שאלו את עצמכם לפני שמריצים - ואז בדקו!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FD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863072" y="5486400"/>
            <a:ext cx="594359" cy="594359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5440679"/>
            <a:ext cx="9857232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700" b="1" i="0">
                <a:solidFill>
                  <a:srgbClr val="1B2B34"/>
                </a:solidFill>
                <a:latin typeface="Arial"/>
                <a:cs typeface="Arial"/>
              </a:rPr>
              <a:t>ברשימה של 5 איברים, האינדקס האחרון הוא 4. תמיד:</a:t>
            </a:r>
          </a:p>
          <a:p>
            <a:pPr algn="r" rtl="0">
              <a:spcAft>
                <a:spcPts val="200"/>
              </a:spcAft>
            </a:pPr>
            <a:r>
              <a:rPr sz="1700" b="1" i="0">
                <a:solidFill>
                  <a:srgbClr val="1B2B34"/>
                </a:solidFill>
                <a:latin typeface="Consolas"/>
              </a:rPr>
              <a:t>len(colors) - 1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משנים רשימה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7</a:t>
            </a:r>
          </a:p>
        </p:txBody>
      </p:sp>
      <p:sp>
        <p:nvSpPr>
          <p:cNvPr id="4" name="code-bg"/>
          <p:cNvSpPr/>
          <p:nvPr/>
        </p:nvSpPr>
        <p:spPr>
          <a:xfrm>
            <a:off x="5852160" y="1280160"/>
            <a:ext cx="5788152" cy="30175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6080760" y="1440180"/>
            <a:ext cx="5330952" cy="269747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 = [</a:t>
            </a:r>
            <a:r>
              <a:rPr sz="1900">
                <a:solidFill>
                  <a:srgbClr val="A6E22E"/>
                </a:solidFill>
                <a:latin typeface="Consolas"/>
              </a:rPr>
              <a:t>"red"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"green"</a:t>
            </a:r>
            <a:r>
              <a:rPr sz="19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colors.</a:t>
            </a:r>
            <a:r>
              <a:rPr sz="1900">
                <a:solidFill>
                  <a:srgbClr val="7FDBFF"/>
                </a:solidFill>
                <a:latin typeface="Consolas"/>
              </a:rPr>
              <a:t>append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A6E22E"/>
                </a:solidFill>
                <a:latin typeface="Consolas"/>
              </a:rPr>
              <a:t>"blue"</a:t>
            </a:r>
            <a:r>
              <a:rPr sz="19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8A93A6"/>
                </a:solidFill>
                <a:latin typeface="Consolas"/>
              </a:rPr>
              <a:t># ["red", "green", "blue"]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colors[</a:t>
            </a:r>
            <a:r>
              <a:rPr sz="1900">
                <a:solidFill>
                  <a:srgbClr val="FFD166"/>
                </a:solidFill>
                <a:latin typeface="Consolas"/>
              </a:rPr>
              <a:t>0</a:t>
            </a:r>
            <a:r>
              <a:rPr sz="1900">
                <a:solidFill>
                  <a:srgbClr val="E6E6E6"/>
                </a:solidFill>
                <a:latin typeface="Consolas"/>
              </a:rPr>
              <a:t>] = </a:t>
            </a:r>
            <a:r>
              <a:rPr sz="1900">
                <a:solidFill>
                  <a:srgbClr val="A6E22E"/>
                </a:solidFill>
                <a:latin typeface="Consolas"/>
              </a:rPr>
              <a:t>"pink"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8A93A6"/>
                </a:solidFill>
                <a:latin typeface="Consolas"/>
              </a:rPr>
              <a:t># ["pink", "green", "blue"]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02920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5074920" y="1435607"/>
            <a:ext cx="329184" cy="329184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23774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500" b="1" i="0">
                <a:solidFill>
                  <a:srgbClr val="2D9F5C"/>
                </a:solidFill>
                <a:latin typeface="Consolas"/>
              </a:rPr>
              <a:t>append(x)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280160"/>
            <a:ext cx="2331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מוסיף איבר לסוף הרשימה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502920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74920" y="2212848"/>
            <a:ext cx="329184" cy="329184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057400"/>
            <a:ext cx="23774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500" b="1" i="0">
                <a:solidFill>
                  <a:srgbClr val="FF9F1C"/>
                </a:solidFill>
                <a:latin typeface="Consolas"/>
              </a:rPr>
              <a:t>colors[0] = 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057400"/>
            <a:ext cx="2331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מחליף את האיבר במקום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39"/>
            <a:ext cx="502920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5074920" y="2990087"/>
            <a:ext cx="329184" cy="329184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2834639"/>
            <a:ext cx="23774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500" b="1" i="0">
                <a:solidFill>
                  <a:srgbClr val="118AB2"/>
                </a:solidFill>
                <a:latin typeface="Consolas"/>
              </a:rPr>
              <a:t>len(colors)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834639"/>
            <a:ext cx="2331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כמה איברים יש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11879"/>
            <a:ext cx="502920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5074920" y="3767328"/>
            <a:ext cx="329184" cy="329184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611879"/>
            <a:ext cx="23774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500" b="1" i="0">
                <a:solidFill>
                  <a:srgbClr val="8E44AD"/>
                </a:solidFill>
                <a:latin typeface="Consolas"/>
              </a:rPr>
              <a:t>random.choice(colors)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611879"/>
            <a:ext cx="2331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איבר אקראי - כבר מכירים!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709160"/>
            <a:ext cx="11091672" cy="1188720"/>
          </a:xfrm>
          <a:prstGeom prst="roundRect">
            <a:avLst>
              <a:gd name="adj" fmla="val 12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771632" y="4960620"/>
            <a:ext cx="685800" cy="68580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800600"/>
            <a:ext cx="9765792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800" b="1" i="0">
                <a:solidFill>
                  <a:srgbClr val="1B2B34"/>
                </a:solidFill>
                <a:latin typeface="Arial"/>
                <a:cs typeface="Arial"/>
              </a:rPr>
              <a:t>במשחק שלנו:</a:t>
            </a:r>
          </a:p>
          <a:p>
            <a:pPr algn="r" rtl="1">
              <a:spcAft>
                <a:spcPts val="200"/>
              </a:spcAft>
            </a:pPr>
            <a:r>
              <a:rPr lang="he-IL" sz="1800" b="0" i="0">
                <a:solidFill>
                  <a:srgbClr val="1B2B34"/>
                </a:solidFill>
                <a:latin typeface="Arial"/>
                <a:cs typeface="Arial"/>
              </a:rPr>
              <a:t>כל מכונית חדשה נכנסת לרשימה של המכוניות:</a:t>
            </a:r>
          </a:p>
          <a:p>
            <a:pPr algn="r" rtl="0">
              <a:spcAft>
                <a:spcPts val="200"/>
              </a:spcAft>
            </a:pPr>
            <a:r>
              <a:rPr sz="1800" b="1" i="0">
                <a:solidFill>
                  <a:srgbClr val="1B2B34"/>
                </a:solidFill>
                <a:latin typeface="Consolas"/>
              </a:rPr>
              <a:t>enemies.append(car)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לולאה על רשימה: כל איבר בתורו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8</a:t>
            </a:r>
          </a:p>
        </p:txBody>
      </p:sp>
      <p:sp>
        <p:nvSpPr>
          <p:cNvPr id="4" name="code-bg"/>
          <p:cNvSpPr/>
          <p:nvPr/>
        </p:nvSpPr>
        <p:spPr>
          <a:xfrm>
            <a:off x="4846320" y="1280160"/>
            <a:ext cx="6793992" cy="27432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5074920" y="1440180"/>
            <a:ext cx="6336792" cy="2423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 = [</a:t>
            </a:r>
            <a:r>
              <a:rPr sz="1900">
                <a:solidFill>
                  <a:srgbClr val="A6E22E"/>
                </a:solidFill>
                <a:latin typeface="Consolas"/>
              </a:rPr>
              <a:t>"red"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"orange"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"yellow"</a:t>
            </a:r>
            <a:r>
              <a:rPr sz="19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      </a:t>
            </a:r>
            <a:r>
              <a:rPr sz="1900">
                <a:solidFill>
                  <a:srgbClr val="A6E22E"/>
                </a:solidFill>
                <a:latin typeface="Consolas"/>
              </a:rPr>
              <a:t>"green"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"blue"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"purple"</a:t>
            </a:r>
            <a:r>
              <a:rPr sz="19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FF9F1C"/>
                </a:solidFill>
                <a:latin typeface="Consolas"/>
              </a:rPr>
              <a:t>for</a:t>
            </a:r>
            <a:r>
              <a:rPr sz="1900">
                <a:solidFill>
                  <a:srgbClr val="E6E6E6"/>
                </a:solidFill>
                <a:latin typeface="Consolas"/>
              </a:rPr>
              <a:t> </a:t>
            </a:r>
            <a:r>
              <a:rPr sz="1900" b="1">
                <a:solidFill>
                  <a:srgbClr val="FF6B9A"/>
                </a:solidFill>
                <a:latin typeface="Consolas"/>
              </a:rPr>
              <a:t>color</a:t>
            </a:r>
            <a:r>
              <a:rPr sz="1900">
                <a:solidFill>
                  <a:srgbClr val="E6E6E6"/>
                </a:solidFill>
                <a:latin typeface="Consolas"/>
              </a:rPr>
              <a:t> </a:t>
            </a:r>
            <a:r>
              <a:rPr sz="1900">
                <a:solidFill>
                  <a:srgbClr val="FF9F1C"/>
                </a:solidFill>
                <a:latin typeface="Consolas"/>
              </a:rPr>
              <a:t>in</a:t>
            </a:r>
            <a:r>
              <a:rPr sz="1900">
                <a:solidFill>
                  <a:srgbClr val="E6E6E6"/>
                </a:solidFill>
                <a:latin typeface="Consolas"/>
              </a:rPr>
              <a:t> colors: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t.</a:t>
            </a:r>
            <a:r>
              <a:rPr sz="1900" b="1">
                <a:solidFill>
                  <a:srgbClr val="FF6B9A"/>
                </a:solidFill>
                <a:latin typeface="Consolas"/>
              </a:rPr>
              <a:t>color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 b="1">
                <a:solidFill>
                  <a:srgbClr val="FF6B9A"/>
                </a:solidFill>
                <a:latin typeface="Consolas"/>
              </a:rPr>
              <a:t>color</a:t>
            </a:r>
            <a:r>
              <a:rPr sz="19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t.</a:t>
            </a:r>
            <a:r>
              <a:rPr sz="1900">
                <a:solidFill>
                  <a:srgbClr val="7FDBFF"/>
                </a:solidFill>
                <a:latin typeface="Consolas"/>
              </a:rPr>
              <a:t>circle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FFD166"/>
                </a:solidFill>
                <a:latin typeface="Consolas"/>
              </a:rPr>
              <a:t>60</a:t>
            </a:r>
            <a:r>
              <a:rPr sz="19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t.</a:t>
            </a:r>
            <a:r>
              <a:rPr sz="1900">
                <a:solidFill>
                  <a:srgbClr val="7FDBFF"/>
                </a:solidFill>
                <a:latin typeface="Consolas"/>
              </a:rPr>
              <a:t>left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FFD166"/>
                </a:solidFill>
                <a:latin typeface="Consolas"/>
              </a:rPr>
              <a:t>60</a:t>
            </a:r>
            <a:r>
              <a:rPr sz="19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6" name="pic-card"/>
          <p:cNvSpPr/>
          <p:nvPr/>
        </p:nvSpPr>
        <p:spPr>
          <a:xfrm>
            <a:off x="804672" y="1307592"/>
            <a:ext cx="2618707" cy="27340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lists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17320"/>
            <a:ext cx="2399251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46320" y="4251960"/>
            <a:ext cx="679399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800" b="1" i="0">
                <a:solidFill>
                  <a:srgbClr val="EF476F"/>
                </a:solidFill>
                <a:latin typeface="Consolas"/>
              </a:rPr>
              <a:t>‎color‎</a:t>
            </a:r>
            <a:r>
              <a:rPr lang="he-IL" sz="1800" b="0" i="0">
                <a:solidFill>
                  <a:srgbClr val="1B2B34"/>
                </a:solidFill>
                <a:latin typeface="Arial"/>
                <a:cs typeface="Arial"/>
              </a:rPr>
              <a:t> מקבל בכל סיבוב את האיבר הבא ברשימה: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94392" y="4800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994392" y="4800600"/>
            <a:ext cx="1645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he-IL" sz="1400" b="1" i="0">
                <a:solidFill>
                  <a:srgbClr val="1B2B34"/>
                </a:solidFill>
                <a:latin typeface="Arial"/>
                <a:cs typeface="Arial"/>
              </a:rPr>
              <a:t>סיבוב ראשון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2D9F5C"/>
                </a:solidFill>
                <a:latin typeface="Consolas"/>
              </a:rPr>
              <a:t>"red"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4800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4800600"/>
            <a:ext cx="1645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he-IL" sz="1400" b="1" i="0">
                <a:solidFill>
                  <a:srgbClr val="1B2B34"/>
                </a:solidFill>
                <a:latin typeface="Arial"/>
                <a:cs typeface="Arial"/>
              </a:rPr>
              <a:t>סיבוב שני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2D9F5C"/>
                </a:solidFill>
                <a:latin typeface="Consolas"/>
              </a:rPr>
              <a:t>"orange"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56248" y="4800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6248" y="4800600"/>
            <a:ext cx="1645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he-IL" sz="1400" b="1" i="0">
                <a:solidFill>
                  <a:srgbClr val="1B2B34"/>
                </a:solidFill>
                <a:latin typeface="Arial"/>
                <a:cs typeface="Arial"/>
              </a:rPr>
              <a:t>סיבוב שלישי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2D9F5C"/>
                </a:solidFill>
                <a:latin typeface="Consolas"/>
              </a:rPr>
              <a:t>"yellow"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37176" y="4800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37176" y="4800600"/>
            <a:ext cx="1645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he-IL" sz="1400" b="1" i="0">
                <a:solidFill>
                  <a:srgbClr val="1B2B34"/>
                </a:solidFill>
                <a:latin typeface="Arial"/>
                <a:cs typeface="Arial"/>
              </a:rPr>
              <a:t>וכך הלאה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2D9F5C"/>
                </a:solidFill>
                <a:latin typeface="Consolas"/>
              </a:rPr>
              <a:t>...</a:t>
            </a:r>
          </a:p>
        </p:txBody>
      </p:sp>
      <p:sp>
        <p:nvSpPr>
          <p:cNvPr id="17" name="file-tag"/>
          <p:cNvSpPr/>
          <p:nvPr/>
        </p:nvSpPr>
        <p:spPr>
          <a:xfrm>
            <a:off x="548640" y="571500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lists_demo.py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51960"/>
            <a:ext cx="402336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הריצו את הקובץ ונסו את האתגרים שבסופו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חידון: מה יודפס?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9</a:t>
            </a:r>
          </a:p>
        </p:txBody>
      </p:sp>
      <p:sp>
        <p:nvSpPr>
          <p:cNvPr id="4" name="Oval 3"/>
          <p:cNvSpPr/>
          <p:nvPr/>
        </p:nvSpPr>
        <p:spPr>
          <a:xfrm>
            <a:off x="10954512" y="1234440"/>
            <a:ext cx="548640" cy="5486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code-bg"/>
          <p:cNvSpPr/>
          <p:nvPr/>
        </p:nvSpPr>
        <p:spPr>
          <a:xfrm>
            <a:off x="8119872" y="1965960"/>
            <a:ext cx="3520440" cy="19202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8302752" y="2093976"/>
            <a:ext cx="3154680" cy="16642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nums = [</a:t>
            </a:r>
            <a:r>
              <a:rPr sz="1600">
                <a:solidFill>
                  <a:srgbClr val="FFD166"/>
                </a:solidFill>
                <a:latin typeface="Consolas"/>
              </a:rPr>
              <a:t>10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20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30</a:t>
            </a:r>
            <a:r>
              <a:rPr sz="16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print</a:t>
            </a:r>
            <a:r>
              <a:rPr sz="1600">
                <a:solidFill>
                  <a:srgbClr val="E6E6E6"/>
                </a:solidFill>
                <a:latin typeface="Consolas"/>
              </a:rPr>
              <a:t>(nums[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  <a:r>
              <a:rPr sz="1600">
                <a:solidFill>
                  <a:srgbClr val="E6E6E6"/>
                </a:solidFill>
                <a:latin typeface="Consolas"/>
              </a:rPr>
              <a:t>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4160520"/>
            <a:ext cx="3520440" cy="91440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 w="12700">
            <a:solidFill>
              <a:srgbClr val="BFE3C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9872" y="4160520"/>
            <a:ext cx="352044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3000" b="1" i="0">
                <a:solidFill>
                  <a:srgbClr val="2D9F5C"/>
                </a:solidFill>
                <a:latin typeface="Arial"/>
              </a:rPr>
              <a:t>?</a:t>
            </a:r>
          </a:p>
        </p:txBody>
      </p:sp>
      <p:sp>
        <p:nvSpPr>
          <p:cNvPr id="9" name="Oval 8"/>
          <p:cNvSpPr/>
          <p:nvPr/>
        </p:nvSpPr>
        <p:spPr>
          <a:xfrm>
            <a:off x="7168896" y="1234440"/>
            <a:ext cx="548640" cy="54864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code-bg"/>
          <p:cNvSpPr/>
          <p:nvPr/>
        </p:nvSpPr>
        <p:spPr>
          <a:xfrm>
            <a:off x="4334256" y="1965960"/>
            <a:ext cx="3520440" cy="19202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code"/>
          <p:cNvSpPr txBox="1"/>
          <p:nvPr/>
        </p:nvSpPr>
        <p:spPr>
          <a:xfrm>
            <a:off x="4517136" y="2093976"/>
            <a:ext cx="3154680" cy="16642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pets = [</a:t>
            </a:r>
            <a:r>
              <a:rPr sz="1600">
                <a:solidFill>
                  <a:srgbClr val="A6E22E"/>
                </a:solidFill>
                <a:latin typeface="Consolas"/>
              </a:rPr>
              <a:t>"cat"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"dog"</a:t>
            </a:r>
            <a:r>
              <a:rPr sz="16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pets.</a:t>
            </a:r>
            <a:r>
              <a:rPr sz="1600">
                <a:solidFill>
                  <a:srgbClr val="7FDBFF"/>
                </a:solidFill>
                <a:latin typeface="Consolas"/>
              </a:rPr>
              <a:t>append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A6E22E"/>
                </a:solidFill>
                <a:latin typeface="Consolas"/>
              </a:rPr>
              <a:t>"fish"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print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7FDBFF"/>
                </a:solidFill>
                <a:latin typeface="Consolas"/>
              </a:rPr>
              <a:t>len</a:t>
            </a:r>
            <a:r>
              <a:rPr sz="1600">
                <a:solidFill>
                  <a:srgbClr val="E6E6E6"/>
                </a:solidFill>
                <a:latin typeface="Consolas"/>
              </a:rPr>
              <a:t>(pets))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4160520"/>
            <a:ext cx="3520440" cy="91440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 w="12700">
            <a:solidFill>
              <a:srgbClr val="BFE3C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34256" y="4160520"/>
            <a:ext cx="352044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3000" b="1" i="0">
                <a:solidFill>
                  <a:srgbClr val="2D9F5C"/>
                </a:solidFill>
                <a:latin typeface="Arial"/>
              </a:rPr>
              <a:t>?</a:t>
            </a:r>
          </a:p>
        </p:txBody>
      </p:sp>
      <p:sp>
        <p:nvSpPr>
          <p:cNvPr id="14" name="Oval 13"/>
          <p:cNvSpPr/>
          <p:nvPr/>
        </p:nvSpPr>
        <p:spPr>
          <a:xfrm>
            <a:off x="3383280" y="1234440"/>
            <a:ext cx="548640" cy="54864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code-bg"/>
          <p:cNvSpPr/>
          <p:nvPr/>
        </p:nvSpPr>
        <p:spPr>
          <a:xfrm>
            <a:off x="548639" y="1965960"/>
            <a:ext cx="3520440" cy="19202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code"/>
          <p:cNvSpPr txBox="1"/>
          <p:nvPr/>
        </p:nvSpPr>
        <p:spPr>
          <a:xfrm>
            <a:off x="731519" y="2093976"/>
            <a:ext cx="3154680" cy="16642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x = [</a:t>
            </a:r>
            <a:r>
              <a:rPr sz="1600">
                <a:solidFill>
                  <a:srgbClr val="FFD166"/>
                </a:solidFill>
                <a:latin typeface="Consolas"/>
              </a:rPr>
              <a:t>5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6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7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8</a:t>
            </a:r>
            <a:r>
              <a:rPr sz="16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print</a:t>
            </a:r>
            <a:r>
              <a:rPr sz="1600">
                <a:solidFill>
                  <a:srgbClr val="E6E6E6"/>
                </a:solidFill>
                <a:latin typeface="Consolas"/>
              </a:rPr>
              <a:t>(x[-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  <a:r>
              <a:rPr sz="1600">
                <a:solidFill>
                  <a:srgbClr val="E6E6E6"/>
                </a:solidFill>
                <a:latin typeface="Consolas"/>
              </a:rPr>
              <a:t>] + x[</a:t>
            </a:r>
            <a:r>
              <a:rPr sz="1600">
                <a:solidFill>
                  <a:srgbClr val="FFD166"/>
                </a:solidFill>
                <a:latin typeface="Consolas"/>
              </a:rPr>
              <a:t>0</a:t>
            </a:r>
            <a:r>
              <a:rPr sz="1600">
                <a:solidFill>
                  <a:srgbClr val="E6E6E6"/>
                </a:solidFill>
                <a:latin typeface="Consolas"/>
              </a:rPr>
              <a:t>])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39" y="4160520"/>
            <a:ext cx="3520440" cy="91440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 w="12700">
            <a:solidFill>
              <a:srgbClr val="BFE3C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39" y="4160520"/>
            <a:ext cx="352044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3000" b="1" i="0">
                <a:solidFill>
                  <a:srgbClr val="2D9F5C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94960"/>
            <a:ext cx="1109167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0" i="0">
                <a:solidFill>
                  <a:srgbClr val="5F6F78"/>
                </a:solidFill>
                <a:latin typeface="Arial"/>
                <a:cs typeface="Arial"/>
              </a:rPr>
              <a:t>כתבו את התשובה במחברת - ואז מריצים ובודקים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38160" y="1463040"/>
            <a:ext cx="2926080" cy="2926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138160" y="1463040"/>
            <a:ext cx="2926080" cy="2926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0" b="1" i="0">
                <a:solidFill>
                  <a:srgbClr val="FFD166"/>
                </a:solidFill>
                <a:latin typeface="Arial"/>
              </a:rPr>
              <a:t>2</a:t>
            </a:r>
          </a:p>
        </p:txBody>
      </p:sp>
      <p:sp>
        <p:nvSpPr>
          <p:cNvPr id="4" name="Oval 3"/>
          <p:cNvSpPr/>
          <p:nvPr/>
        </p:nvSpPr>
        <p:spPr>
          <a:xfrm>
            <a:off x="10607040" y="1188720"/>
            <a:ext cx="502920" cy="50292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79" y="4069080"/>
            <a:ext cx="365760" cy="3657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5000" b="1" i="0">
                <a:solidFill>
                  <a:srgbClr val="FFFFFF"/>
                </a:solidFill>
                <a:latin typeface="Arial"/>
                <a:cs typeface="Arial"/>
              </a:rPr>
              <a:t>פונקציות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6949440" cy="4308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200" b="0" i="0" dirty="0">
                <a:solidFill>
                  <a:srgbClr val="CDE8D8"/>
                </a:solidFill>
                <a:latin typeface="Arial"/>
                <a:cs typeface="Arial"/>
              </a:rPr>
              <a:t>שימוש חוזר בבלוק של קוד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למה צריך פונקציות?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188720"/>
            <a:ext cx="5285232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 dirty="0">
                <a:solidFill>
                  <a:srgbClr val="EF476F"/>
                </a:solidFill>
                <a:latin typeface="Arial"/>
                <a:cs typeface="Arial"/>
              </a:rPr>
              <a:t>ציור 3 בתים בלי פונקציה: 30 שורות</a:t>
            </a:r>
          </a:p>
        </p:txBody>
      </p:sp>
      <p:sp>
        <p:nvSpPr>
          <p:cNvPr id="5" name="code-bg"/>
          <p:cNvSpPr/>
          <p:nvPr/>
        </p:nvSpPr>
        <p:spPr>
          <a:xfrm>
            <a:off x="6355080" y="1691640"/>
            <a:ext cx="5285232" cy="43434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6583680" y="1851660"/>
            <a:ext cx="4828032" cy="4023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he-IL" sz="1500">
                <a:solidFill>
                  <a:srgbClr val="8A93A6"/>
                </a:solidFill>
                <a:latin typeface="Consolas"/>
                <a:cs typeface="Arial"/>
              </a:rPr>
              <a:t># בית ראשון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goto</a:t>
            </a:r>
            <a:r>
              <a:rPr sz="1500">
                <a:solidFill>
                  <a:srgbClr val="E6E6E6"/>
                </a:solidFill>
                <a:latin typeface="Consolas"/>
              </a:rPr>
              <a:t>(-</a:t>
            </a:r>
            <a:r>
              <a:rPr sz="1500">
                <a:solidFill>
                  <a:srgbClr val="FFD166"/>
                </a:solidFill>
                <a:latin typeface="Consolas"/>
              </a:rPr>
              <a:t>250</a:t>
            </a:r>
            <a:r>
              <a:rPr sz="1500">
                <a:solidFill>
                  <a:srgbClr val="E6E6E6"/>
                </a:solidFill>
                <a:latin typeface="Consolas"/>
              </a:rPr>
              <a:t>, -</a:t>
            </a:r>
            <a:r>
              <a:rPr sz="1500">
                <a:solidFill>
                  <a:srgbClr val="FFD166"/>
                </a:solidFill>
                <a:latin typeface="Consolas"/>
              </a:rPr>
              <a:t>50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begin_fill</a:t>
            </a:r>
            <a:r>
              <a:rPr sz="15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for</a:t>
            </a:r>
            <a:r>
              <a:rPr sz="1500">
                <a:solidFill>
                  <a:srgbClr val="E6E6E6"/>
                </a:solidFill>
                <a:latin typeface="Consolas"/>
              </a:rPr>
              <a:t> i </a:t>
            </a:r>
            <a:r>
              <a:rPr sz="1500">
                <a:solidFill>
                  <a:srgbClr val="FF9F1C"/>
                </a:solidFill>
                <a:latin typeface="Consolas"/>
              </a:rPr>
              <a:t>in</a:t>
            </a:r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  <a:r>
              <a:rPr sz="1500">
                <a:solidFill>
                  <a:srgbClr val="7FDBFF"/>
                </a:solidFill>
                <a:latin typeface="Consolas"/>
              </a:rPr>
              <a:t>range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4</a:t>
            </a:r>
            <a:r>
              <a:rPr sz="15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t.</a:t>
            </a:r>
            <a:r>
              <a:rPr sz="1500">
                <a:solidFill>
                  <a:srgbClr val="7FDBFF"/>
                </a:solidFill>
                <a:latin typeface="Consolas"/>
              </a:rPr>
              <a:t>forward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80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t.</a:t>
            </a:r>
            <a:r>
              <a:rPr sz="1500">
                <a:solidFill>
                  <a:srgbClr val="7FDBFF"/>
                </a:solidFill>
                <a:latin typeface="Consolas"/>
              </a:rPr>
              <a:t>left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90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end_fill</a:t>
            </a:r>
            <a:r>
              <a:rPr sz="15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lang="he-IL" sz="1500">
                <a:solidFill>
                  <a:srgbClr val="8A93A6"/>
                </a:solidFill>
                <a:latin typeface="Consolas"/>
                <a:cs typeface="Arial"/>
              </a:rPr>
              <a:t># גג</a:t>
            </a:r>
          </a:p>
          <a:p>
            <a:pPr algn="l" rtl="0">
              <a:lnSpc>
                <a:spcPct val="108000"/>
              </a:lnSpc>
            </a:pPr>
            <a:r>
              <a:rPr lang="he-IL" sz="1500">
                <a:solidFill>
                  <a:srgbClr val="8A93A6"/>
                </a:solidFill>
                <a:latin typeface="Consolas"/>
                <a:cs typeface="Arial"/>
              </a:rPr>
              <a:t># בית שני - שוב אותו קוד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goto</a:t>
            </a:r>
            <a:r>
              <a:rPr sz="1500">
                <a:solidFill>
                  <a:srgbClr val="E6E6E6"/>
                </a:solidFill>
                <a:latin typeface="Consolas"/>
              </a:rPr>
              <a:t>(-</a:t>
            </a:r>
            <a:r>
              <a:rPr sz="1500">
                <a:solidFill>
                  <a:srgbClr val="FFD166"/>
                </a:solidFill>
                <a:latin typeface="Consolas"/>
              </a:rPr>
              <a:t>100</a:t>
            </a:r>
            <a:r>
              <a:rPr sz="1500">
                <a:solidFill>
                  <a:srgbClr val="E6E6E6"/>
                </a:solidFill>
                <a:latin typeface="Consolas"/>
              </a:rPr>
              <a:t>, -</a:t>
            </a:r>
            <a:r>
              <a:rPr sz="1500">
                <a:solidFill>
                  <a:srgbClr val="FFD166"/>
                </a:solidFill>
                <a:latin typeface="Consolas"/>
              </a:rPr>
              <a:t>50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begin_fill</a:t>
            </a:r>
            <a:r>
              <a:rPr sz="15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lang="he-IL" sz="1500">
                <a:solidFill>
                  <a:srgbClr val="8A93A6"/>
                </a:solidFill>
                <a:latin typeface="Consolas"/>
                <a:cs typeface="Arial"/>
              </a:rPr>
              <a:t># ועוד ועוד ועוד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440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>
                <a:solidFill>
                  <a:srgbClr val="2D9F5C"/>
                </a:solidFill>
                <a:latin typeface="Arial"/>
                <a:cs typeface="Arial"/>
              </a:rPr>
              <a:t>עם פונקציה: 3 שורות</a:t>
            </a:r>
          </a:p>
        </p:txBody>
      </p:sp>
      <p:sp>
        <p:nvSpPr>
          <p:cNvPr id="8" name="code-bg"/>
          <p:cNvSpPr/>
          <p:nvPr/>
        </p:nvSpPr>
        <p:spPr>
          <a:xfrm>
            <a:off x="548640" y="1691640"/>
            <a:ext cx="5440680" cy="1417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777240" y="1851660"/>
            <a:ext cx="4983480" cy="10972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(-</a:t>
            </a:r>
            <a:r>
              <a:rPr sz="1600">
                <a:solidFill>
                  <a:srgbClr val="FFD166"/>
                </a:solidFill>
                <a:latin typeface="Consolas"/>
              </a:rPr>
              <a:t>250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"khaki"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(-</a:t>
            </a:r>
            <a:r>
              <a:rPr sz="1600">
                <a:solidFill>
                  <a:srgbClr val="FFD166"/>
                </a:solidFill>
                <a:latin typeface="Consolas"/>
              </a:rPr>
              <a:t>100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"lightblue"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"pink"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0" name="pic-card"/>
          <p:cNvSpPr/>
          <p:nvPr/>
        </p:nvSpPr>
        <p:spPr>
          <a:xfrm>
            <a:off x="576072" y="3319272"/>
            <a:ext cx="2596896" cy="130761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funcs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29000"/>
            <a:ext cx="2377440" cy="1088155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5806440" y="3456432"/>
            <a:ext cx="155448" cy="15544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3337560"/>
            <a:ext cx="2423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לא חוזרים על קוד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4005072"/>
            <a:ext cx="155448" cy="15544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46120" y="3886200"/>
            <a:ext cx="2423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מתקנים במקום אחד</a:t>
            </a:r>
          </a:p>
        </p:txBody>
      </p:sp>
      <p:sp>
        <p:nvSpPr>
          <p:cNvPr id="16" name="Oval 15"/>
          <p:cNvSpPr/>
          <p:nvPr/>
        </p:nvSpPr>
        <p:spPr>
          <a:xfrm>
            <a:off x="5806440" y="4553712"/>
            <a:ext cx="155448" cy="15544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46120" y="4434840"/>
            <a:ext cx="2423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שם ברור = קוד קריא</a:t>
            </a:r>
          </a:p>
        </p:txBody>
      </p:sp>
      <p:sp>
        <p:nvSpPr>
          <p:cNvPr id="18" name="Oval 17"/>
          <p:cNvSpPr/>
          <p:nvPr/>
        </p:nvSpPr>
        <p:spPr>
          <a:xfrm>
            <a:off x="5806440" y="5102351"/>
            <a:ext cx="155448" cy="15544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46120" y="4983479"/>
            <a:ext cx="2423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משתמשים שוב ושוב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איך בונים פונקציה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65960"/>
            <a:ext cx="10424160" cy="23317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34440" y="2331720"/>
            <a:ext cx="9692640" cy="1737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rtl="0"/>
            <a:r>
              <a:rPr sz="2800">
                <a:solidFill>
                  <a:srgbClr val="FF9F1C"/>
                </a:solidFill>
                <a:latin typeface="Consolas"/>
              </a:rPr>
              <a:t>def</a:t>
            </a:r>
            <a:r>
              <a:rPr sz="2800">
                <a:solidFill>
                  <a:srgbClr val="E6E6E6"/>
                </a:solidFill>
                <a:latin typeface="Consolas"/>
              </a:rPr>
              <a:t> </a:t>
            </a:r>
            <a:r>
              <a:rPr sz="2800">
                <a:solidFill>
                  <a:srgbClr val="7FDBFF"/>
                </a:solidFill>
                <a:latin typeface="Consolas"/>
              </a:rPr>
              <a:t>draw_square</a:t>
            </a:r>
            <a:r>
              <a:rPr sz="2800">
                <a:solidFill>
                  <a:srgbClr val="E6E6E6"/>
                </a:solidFill>
                <a:latin typeface="Consolas"/>
              </a:rPr>
              <a:t>(size, color):</a:t>
            </a:r>
          </a:p>
          <a:p>
            <a:pPr algn="l" rtl="0"/>
            <a:r>
              <a:rPr sz="2800">
                <a:solidFill>
                  <a:srgbClr val="E6E6E6"/>
                </a:solidFill>
                <a:latin typeface="Consolas"/>
              </a:rPr>
              <a:t>    t.</a:t>
            </a:r>
            <a:r>
              <a:rPr sz="2800">
                <a:solidFill>
                  <a:srgbClr val="7FDBFF"/>
                </a:solidFill>
                <a:latin typeface="Consolas"/>
              </a:rPr>
              <a:t>color</a:t>
            </a:r>
            <a:r>
              <a:rPr sz="2800">
                <a:solidFill>
                  <a:srgbClr val="E6E6E6"/>
                </a:solidFill>
                <a:latin typeface="Consolas"/>
              </a:rPr>
              <a:t>(color)</a:t>
            </a:r>
          </a:p>
          <a:p>
            <a:pPr algn="l" rtl="0"/>
            <a:r>
              <a:rPr sz="2800">
                <a:solidFill>
                  <a:srgbClr val="E6E6E6"/>
                </a:solidFill>
                <a:latin typeface="Consolas"/>
              </a:rPr>
              <a:t>    </a:t>
            </a:r>
            <a:r>
              <a:rPr sz="2800">
                <a:solidFill>
                  <a:srgbClr val="FF9F1C"/>
                </a:solidFill>
                <a:latin typeface="Consolas"/>
              </a:rPr>
              <a:t>for</a:t>
            </a:r>
            <a:r>
              <a:rPr sz="2800">
                <a:solidFill>
                  <a:srgbClr val="E6E6E6"/>
                </a:solidFill>
                <a:latin typeface="Consolas"/>
              </a:rPr>
              <a:t> i </a:t>
            </a:r>
            <a:r>
              <a:rPr sz="2800">
                <a:solidFill>
                  <a:srgbClr val="FF9F1C"/>
                </a:solidFill>
                <a:latin typeface="Consolas"/>
              </a:rPr>
              <a:t>in</a:t>
            </a:r>
            <a:r>
              <a:rPr sz="2800">
                <a:solidFill>
                  <a:srgbClr val="E6E6E6"/>
                </a:solidFill>
                <a:latin typeface="Consolas"/>
              </a:rPr>
              <a:t> </a:t>
            </a:r>
            <a:r>
              <a:rPr sz="2800">
                <a:solidFill>
                  <a:srgbClr val="7FDBFF"/>
                </a:solidFill>
                <a:latin typeface="Consolas"/>
              </a:rPr>
              <a:t>range</a:t>
            </a:r>
            <a:r>
              <a:rPr sz="2800">
                <a:solidFill>
                  <a:srgbClr val="E6E6E6"/>
                </a:solidFill>
                <a:latin typeface="Consolas"/>
              </a:rPr>
              <a:t>(</a:t>
            </a:r>
            <a:r>
              <a:rPr sz="2800">
                <a:solidFill>
                  <a:srgbClr val="FFD166"/>
                </a:solidFill>
                <a:latin typeface="Consolas"/>
              </a:rPr>
              <a:t>4</a:t>
            </a:r>
            <a:r>
              <a:rPr sz="2800">
                <a:solidFill>
                  <a:srgbClr val="E6E6E6"/>
                </a:solidFill>
                <a:latin typeface="Consolas"/>
              </a:rPr>
              <a:t>): ...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2203703"/>
            <a:ext cx="586740" cy="54864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1527810" y="1481328"/>
            <a:ext cx="0" cy="722375"/>
          </a:xfrm>
          <a:prstGeom prst="line">
            <a:avLst/>
          </a:prstGeom>
          <a:ln w="25400">
            <a:solidFill>
              <a:srgbClr val="FF9F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0530" y="1078992"/>
            <a:ext cx="219456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>
                <a:solidFill>
                  <a:srgbClr val="FF9F1C"/>
                </a:solidFill>
                <a:latin typeface="Arial"/>
                <a:cs typeface="Arial"/>
              </a:rPr>
              <a:t>מילת המפתח def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6760" y="2203703"/>
            <a:ext cx="2151380" cy="54864"/>
          </a:xfrm>
          <a:prstGeom prst="roundRect">
            <a:avLst>
              <a:gd name="adj" fmla="val 50000"/>
            </a:avLst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3092450" y="1481328"/>
            <a:ext cx="0" cy="722375"/>
          </a:xfrm>
          <a:prstGeom prst="line">
            <a:avLst/>
          </a:prstGeom>
          <a:ln w="25400">
            <a:solidFill>
              <a:srgbClr val="118A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903730" y="1078992"/>
            <a:ext cx="23774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>
                <a:solidFill>
                  <a:srgbClr val="118AB2"/>
                </a:solidFill>
                <a:latin typeface="Arial"/>
                <a:cs typeface="Arial"/>
              </a:rPr>
              <a:t>שם הפונקציה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3720" y="2203703"/>
            <a:ext cx="2151380" cy="54864"/>
          </a:xfrm>
          <a:prstGeom prst="roundRect">
            <a:avLst>
              <a:gd name="adj" fmla="val 50000"/>
            </a:avLst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 flipV="1">
            <a:off x="5439410" y="1481328"/>
            <a:ext cx="0" cy="722375"/>
          </a:xfrm>
          <a:prstGeom prst="line">
            <a:avLst/>
          </a:prstGeom>
          <a:ln w="25400">
            <a:solidFill>
              <a:srgbClr val="EF4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50690" y="1078992"/>
            <a:ext cx="23774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>
                <a:solidFill>
                  <a:srgbClr val="EF476F"/>
                </a:solidFill>
                <a:latin typeface="Arial"/>
                <a:cs typeface="Arial"/>
              </a:rPr>
              <a:t>פרמטרים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10680" y="2203703"/>
            <a:ext cx="195580" cy="54864"/>
          </a:xfrm>
          <a:prstGeom prst="roundRect">
            <a:avLst>
              <a:gd name="adj" fmla="val 50000"/>
            </a:avLst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6808470" y="1481328"/>
            <a:ext cx="0" cy="722375"/>
          </a:xfrm>
          <a:prstGeom prst="line">
            <a:avLst/>
          </a:prstGeom>
          <a:ln w="25400">
            <a:solidFill>
              <a:srgbClr val="2D9F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31230" y="1078992"/>
            <a:ext cx="15544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>
                <a:solidFill>
                  <a:srgbClr val="2D9F5C"/>
                </a:solidFill>
                <a:latin typeface="Arial"/>
                <a:cs typeface="Arial"/>
              </a:rPr>
              <a:t>נקודתיים!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2852928"/>
            <a:ext cx="64008" cy="100584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389120"/>
            <a:ext cx="36576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lang="he-IL" sz="1500" b="1" i="0">
                <a:solidFill>
                  <a:srgbClr val="B58100"/>
                </a:solidFill>
                <a:latin typeface="Arial"/>
                <a:cs typeface="Arial"/>
              </a:rPr>
              <a:t>ארבעה רווחים = גוף הפונקציה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526280"/>
            <a:ext cx="578815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>
                <a:solidFill>
                  <a:srgbClr val="1B4332"/>
                </a:solidFill>
                <a:latin typeface="Arial"/>
                <a:cs typeface="Arial"/>
              </a:rPr>
              <a:t>קריאה לפונקציה</a:t>
            </a:r>
          </a:p>
        </p:txBody>
      </p:sp>
      <p:sp>
        <p:nvSpPr>
          <p:cNvPr id="21" name="code-bg"/>
          <p:cNvSpPr/>
          <p:nvPr/>
        </p:nvSpPr>
        <p:spPr>
          <a:xfrm>
            <a:off x="5852160" y="5029200"/>
            <a:ext cx="5788152" cy="9601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code"/>
          <p:cNvSpPr txBox="1"/>
          <p:nvPr/>
        </p:nvSpPr>
        <p:spPr>
          <a:xfrm>
            <a:off x="6080760" y="5189220"/>
            <a:ext cx="5330952" cy="6400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2200">
                <a:solidFill>
                  <a:srgbClr val="7FDBFF"/>
                </a:solidFill>
                <a:latin typeface="Consolas"/>
              </a:rPr>
              <a:t>draw_square</a:t>
            </a:r>
            <a:r>
              <a:rPr sz="2200">
                <a:solidFill>
                  <a:srgbClr val="E6E6E6"/>
                </a:solidFill>
                <a:latin typeface="Consolas"/>
              </a:rPr>
              <a:t>(</a:t>
            </a:r>
            <a:r>
              <a:rPr sz="2200">
                <a:solidFill>
                  <a:srgbClr val="FFD166"/>
                </a:solidFill>
                <a:latin typeface="Consolas"/>
              </a:rPr>
              <a:t>100</a:t>
            </a:r>
            <a:r>
              <a:rPr sz="2200">
                <a:solidFill>
                  <a:srgbClr val="E6E6E6"/>
                </a:solidFill>
                <a:latin typeface="Consolas"/>
              </a:rPr>
              <a:t>, </a:t>
            </a:r>
            <a:r>
              <a:rPr sz="2200">
                <a:solidFill>
                  <a:srgbClr val="A6E22E"/>
                </a:solidFill>
                <a:latin typeface="Consolas"/>
              </a:rPr>
              <a:t>"red"</a:t>
            </a:r>
            <a:r>
              <a:rPr sz="22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983480"/>
            <a:ext cx="51206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def רק מלמד את פייתון מילה חדשה. הקוד שבפנים רץ רק כשקוראים לפונקציה בשם שלה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פרמטרים: אותה פונקציה, תוצאה אחרת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13</a:t>
            </a:r>
          </a:p>
        </p:txBody>
      </p:sp>
      <p:sp>
        <p:nvSpPr>
          <p:cNvPr id="4" name="code-bg"/>
          <p:cNvSpPr/>
          <p:nvPr/>
        </p:nvSpPr>
        <p:spPr>
          <a:xfrm>
            <a:off x="548640" y="1280160"/>
            <a:ext cx="11091672" cy="12344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777240" y="1440180"/>
            <a:ext cx="10634472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2200">
                <a:solidFill>
                  <a:srgbClr val="FF9F1C"/>
                </a:solidFill>
                <a:latin typeface="Consolas"/>
              </a:rPr>
              <a:t>def</a:t>
            </a:r>
            <a:r>
              <a:rPr sz="2200">
                <a:solidFill>
                  <a:srgbClr val="E6E6E6"/>
                </a:solidFill>
                <a:latin typeface="Consolas"/>
              </a:rPr>
              <a:t> </a:t>
            </a:r>
            <a:r>
              <a:rPr sz="2200">
                <a:solidFill>
                  <a:srgbClr val="7FDBFF"/>
                </a:solidFill>
                <a:latin typeface="Consolas"/>
              </a:rPr>
              <a:t>draw_house</a:t>
            </a:r>
            <a:r>
              <a:rPr sz="2200">
                <a:solidFill>
                  <a:srgbClr val="E6E6E6"/>
                </a:solidFill>
                <a:latin typeface="Consolas"/>
              </a:rPr>
              <a:t>(</a:t>
            </a:r>
            <a:r>
              <a:rPr sz="2200" b="1">
                <a:solidFill>
                  <a:srgbClr val="FF6B9A"/>
                </a:solidFill>
                <a:latin typeface="Consolas"/>
              </a:rPr>
              <a:t>x</a:t>
            </a:r>
            <a:r>
              <a:rPr sz="2200">
                <a:solidFill>
                  <a:srgbClr val="E6E6E6"/>
                </a:solidFill>
                <a:latin typeface="Consolas"/>
              </a:rPr>
              <a:t>, </a:t>
            </a:r>
            <a:r>
              <a:rPr sz="2200" b="1">
                <a:solidFill>
                  <a:srgbClr val="FF6B9A"/>
                </a:solidFill>
                <a:latin typeface="Consolas"/>
              </a:rPr>
              <a:t>y</a:t>
            </a:r>
            <a:r>
              <a:rPr sz="2200">
                <a:solidFill>
                  <a:srgbClr val="E6E6E6"/>
                </a:solidFill>
                <a:latin typeface="Consolas"/>
              </a:rPr>
              <a:t>, </a:t>
            </a:r>
            <a:r>
              <a:rPr sz="2200" b="1">
                <a:solidFill>
                  <a:srgbClr val="FF6B9A"/>
                </a:solidFill>
                <a:latin typeface="Consolas"/>
              </a:rPr>
              <a:t>color</a:t>
            </a:r>
            <a:r>
              <a:rPr sz="22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 rtl="0">
              <a:lnSpc>
                <a:spcPct val="108000"/>
              </a:lnSpc>
            </a:pPr>
            <a:r>
              <a:rPr sz="2200">
                <a:solidFill>
                  <a:srgbClr val="E6E6E6"/>
                </a:solidFill>
                <a:latin typeface="Consolas"/>
              </a:rPr>
              <a:t>   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4805" y="2641609"/>
            <a:ext cx="178308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800" b="1" i="0" dirty="0">
                <a:solidFill>
                  <a:srgbClr val="5F6F78"/>
                </a:solidFill>
                <a:latin typeface="Arial"/>
                <a:cs typeface="Arial"/>
              </a:rPr>
              <a:t>פרמטרים</a:t>
            </a:r>
            <a:r>
              <a:rPr lang="he-IL" sz="1700" b="1" i="0" dirty="0">
                <a:solidFill>
                  <a:srgbClr val="5F6F78"/>
                </a:solidFill>
                <a:latin typeface="Arial"/>
                <a:cs typeface="Arial"/>
              </a:rPr>
              <a:t>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097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6B9A"/>
                </a:solidFill>
                <a:latin typeface="Consolas"/>
              </a:rPr>
              <a:t>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743200"/>
            <a:ext cx="1097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6B9A"/>
                </a:solidFill>
                <a:latin typeface="Consolas"/>
              </a:rPr>
              <a:t>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743200"/>
            <a:ext cx="1783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6B9A"/>
                </a:solidFill>
                <a:latin typeface="Consolas"/>
              </a:rPr>
              <a:t>color</a:t>
            </a:r>
          </a:p>
        </p:txBody>
      </p:sp>
      <p:sp>
        <p:nvSpPr>
          <p:cNvPr id="10" name="code-bg"/>
          <p:cNvSpPr/>
          <p:nvPr/>
        </p:nvSpPr>
        <p:spPr>
          <a:xfrm>
            <a:off x="6035040" y="3200400"/>
            <a:ext cx="5605272" cy="640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code"/>
          <p:cNvSpPr txBox="1"/>
          <p:nvPr/>
        </p:nvSpPr>
        <p:spPr>
          <a:xfrm>
            <a:off x="6199631" y="3315614"/>
            <a:ext cx="5276088" cy="40965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(-</a:t>
            </a:r>
            <a:r>
              <a:rPr sz="1600">
                <a:solidFill>
                  <a:srgbClr val="FFD166"/>
                </a:solidFill>
                <a:latin typeface="Consolas"/>
              </a:rPr>
              <a:t>250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"khaki"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937760" y="3520440"/>
            <a:ext cx="1005840" cy="0"/>
          </a:xfrm>
          <a:prstGeom prst="line">
            <a:avLst/>
          </a:prstGeom>
          <a:ln w="25400">
            <a:solidFill>
              <a:srgbClr val="B7C4C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94360" y="3273552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273552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-250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3273552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83080" y="3273552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63239" y="3273552"/>
            <a:ext cx="1691639" cy="502920"/>
          </a:xfrm>
          <a:prstGeom prst="roundRect">
            <a:avLst>
              <a:gd name="adj" fmla="val 20000"/>
            </a:avLst>
          </a:prstGeom>
          <a:solidFill>
            <a:srgbClr val="F0E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17520" y="3273552"/>
            <a:ext cx="17830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"khaki"</a:t>
            </a:r>
          </a:p>
        </p:txBody>
      </p:sp>
      <p:sp>
        <p:nvSpPr>
          <p:cNvPr id="19" name="code-bg"/>
          <p:cNvSpPr/>
          <p:nvPr/>
        </p:nvSpPr>
        <p:spPr>
          <a:xfrm>
            <a:off x="6035040" y="3977639"/>
            <a:ext cx="5605272" cy="640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code"/>
          <p:cNvSpPr txBox="1"/>
          <p:nvPr/>
        </p:nvSpPr>
        <p:spPr>
          <a:xfrm>
            <a:off x="6199631" y="4092854"/>
            <a:ext cx="5276088" cy="40965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(-</a:t>
            </a:r>
            <a:r>
              <a:rPr sz="1600">
                <a:solidFill>
                  <a:srgbClr val="FFD166"/>
                </a:solidFill>
                <a:latin typeface="Consolas"/>
              </a:rPr>
              <a:t>100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"lightblue"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937760" y="4297679"/>
            <a:ext cx="1005840" cy="0"/>
          </a:xfrm>
          <a:prstGeom prst="line">
            <a:avLst/>
          </a:prstGeom>
          <a:ln w="25400">
            <a:solidFill>
              <a:srgbClr val="B7C4C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4050791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4050791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-100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4050791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783080" y="4050791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63239" y="4050791"/>
            <a:ext cx="1691639" cy="502920"/>
          </a:xfrm>
          <a:prstGeom prst="roundRect">
            <a:avLst>
              <a:gd name="adj" fmla="val 20000"/>
            </a:avLst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17520" y="4050791"/>
            <a:ext cx="17830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"lightblue"</a:t>
            </a:r>
          </a:p>
        </p:txBody>
      </p:sp>
      <p:sp>
        <p:nvSpPr>
          <p:cNvPr id="28" name="code-bg"/>
          <p:cNvSpPr/>
          <p:nvPr/>
        </p:nvSpPr>
        <p:spPr>
          <a:xfrm>
            <a:off x="6035040" y="4754880"/>
            <a:ext cx="5605272" cy="640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ode"/>
          <p:cNvSpPr txBox="1"/>
          <p:nvPr/>
        </p:nvSpPr>
        <p:spPr>
          <a:xfrm>
            <a:off x="6199631" y="4870094"/>
            <a:ext cx="5276088" cy="40965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"pink"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4937760" y="5074920"/>
            <a:ext cx="1005840" cy="0"/>
          </a:xfrm>
          <a:prstGeom prst="line">
            <a:avLst/>
          </a:prstGeom>
          <a:ln w="25400">
            <a:solidFill>
              <a:srgbClr val="B7C4C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94360" y="4828032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828032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50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28800" y="4828032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783080" y="4828032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-50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63239" y="4828032"/>
            <a:ext cx="1691639" cy="502920"/>
          </a:xfrm>
          <a:prstGeom prst="roundRect">
            <a:avLst>
              <a:gd name="adj" fmla="val 20000"/>
            </a:avLst>
          </a:prstGeom>
          <a:solidFill>
            <a:srgbClr val="FFC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17520" y="4828032"/>
            <a:ext cx="17830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"pink"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הערכים בקריאה נכנסים לפרמטרים לפי הסדר: הראשון ל-x, השני ל-y, השלישי ל-color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return: פונקציה שמחזירה תשובה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14</a:t>
            </a:r>
          </a:p>
        </p:txBody>
      </p:sp>
      <p:sp>
        <p:nvSpPr>
          <p:cNvPr id="4" name="code-bg"/>
          <p:cNvSpPr/>
          <p:nvPr/>
        </p:nvSpPr>
        <p:spPr>
          <a:xfrm>
            <a:off x="5852160" y="1280160"/>
            <a:ext cx="5788152" cy="20574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6080760" y="1440180"/>
            <a:ext cx="5330952" cy="1737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FF9F1C"/>
                </a:solidFill>
                <a:latin typeface="Consolas"/>
              </a:rPr>
              <a:t>def</a:t>
            </a:r>
            <a:r>
              <a:rPr sz="1900">
                <a:solidFill>
                  <a:srgbClr val="E6E6E6"/>
                </a:solidFill>
                <a:latin typeface="Consolas"/>
              </a:rPr>
              <a:t> </a:t>
            </a:r>
            <a:r>
              <a:rPr sz="1900">
                <a:solidFill>
                  <a:srgbClr val="7FDBFF"/>
                </a:solidFill>
                <a:latin typeface="Consolas"/>
              </a:rPr>
              <a:t>area</a:t>
            </a:r>
            <a:r>
              <a:rPr sz="1900">
                <a:solidFill>
                  <a:srgbClr val="E6E6E6"/>
                </a:solidFill>
                <a:latin typeface="Consolas"/>
              </a:rPr>
              <a:t>(width, height):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result = width * height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</a:t>
            </a:r>
            <a:r>
              <a:rPr sz="1900">
                <a:solidFill>
                  <a:srgbClr val="FF9F1C"/>
                </a:solidFill>
                <a:latin typeface="Consolas"/>
              </a:rPr>
              <a:t>return</a:t>
            </a:r>
            <a:r>
              <a:rPr sz="1900">
                <a:solidFill>
                  <a:srgbClr val="E6E6E6"/>
                </a:solidFill>
                <a:latin typeface="Consolas"/>
              </a:rPr>
              <a:t> result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7FDBFF"/>
                </a:solidFill>
                <a:latin typeface="Consolas"/>
              </a:rPr>
              <a:t>area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FFD166"/>
                </a:solidFill>
                <a:latin typeface="Consolas"/>
              </a:rPr>
              <a:t>80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FFD166"/>
                </a:solidFill>
                <a:latin typeface="Consolas"/>
              </a:rPr>
              <a:t>80</a:t>
            </a:r>
            <a:r>
              <a:rPr sz="1900">
                <a:solidFill>
                  <a:srgbClr val="E6E6E6"/>
                </a:solidFill>
                <a:latin typeface="Consolas"/>
              </a:rPr>
              <a:t>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74519" y="2148840"/>
            <a:ext cx="2194560" cy="1371600"/>
          </a:xfrm>
          <a:prstGeom prst="roundRect">
            <a:avLst>
              <a:gd name="adj" fmla="val 15000"/>
            </a:avLst>
          </a:prstGeom>
          <a:solidFill>
            <a:srgbClr val="FF9F1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4519" y="2148840"/>
            <a:ext cx="2194560" cy="1371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onsolas"/>
              </a:rPr>
              <a:t>area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1234440"/>
            <a:ext cx="731520" cy="502920"/>
          </a:xfrm>
          <a:prstGeom prst="roundRect">
            <a:avLst>
              <a:gd name="adj" fmla="val 3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03120" y="1234440"/>
            <a:ext cx="7315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80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1755648"/>
            <a:ext cx="0" cy="347472"/>
          </a:xfrm>
          <a:prstGeom prst="line">
            <a:avLst/>
          </a:prstGeom>
          <a:ln w="31750">
            <a:solidFill>
              <a:srgbClr val="118A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54679" y="1234440"/>
            <a:ext cx="731520" cy="502920"/>
          </a:xfrm>
          <a:prstGeom prst="roundRect">
            <a:avLst>
              <a:gd name="adj" fmla="val 3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54679" y="1234440"/>
            <a:ext cx="7315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80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20440" y="1755648"/>
            <a:ext cx="0" cy="347472"/>
          </a:xfrm>
          <a:prstGeom prst="line">
            <a:avLst/>
          </a:prstGeom>
          <a:ln w="31750">
            <a:solidFill>
              <a:srgbClr val="118A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971800" y="3547872"/>
            <a:ext cx="0" cy="429767"/>
          </a:xfrm>
          <a:prstGeom prst="line">
            <a:avLst/>
          </a:prstGeom>
          <a:ln w="31750">
            <a:solidFill>
              <a:srgbClr val="2D9F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240280" y="4023360"/>
            <a:ext cx="1463040" cy="548640"/>
          </a:xfrm>
          <a:prstGeom prst="roundRect">
            <a:avLst>
              <a:gd name="adj" fmla="val 30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240280" y="4023360"/>
            <a:ext cx="14630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1" i="0">
                <a:solidFill>
                  <a:srgbClr val="2D9F5C"/>
                </a:solidFill>
                <a:latin typeface="Consolas"/>
              </a:rPr>
              <a:t>6400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234440"/>
            <a:ext cx="164592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 dirty="0">
                <a:solidFill>
                  <a:srgbClr val="118AB2"/>
                </a:solidFill>
                <a:latin typeface="Arial"/>
                <a:cs typeface="Arial"/>
              </a:rPr>
              <a:t>נכנס פרמטרים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23360"/>
            <a:ext cx="17373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2D9F5C"/>
                </a:solidFill>
                <a:latin typeface="Arial"/>
                <a:cs typeface="Arial"/>
              </a:rPr>
              <a:t>חוזר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520440"/>
            <a:ext cx="578815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800" b="1" i="0">
                <a:solidFill>
                  <a:srgbClr val="1B2B34"/>
                </a:solidFill>
                <a:latin typeface="Arial"/>
                <a:cs typeface="Arial"/>
              </a:rPr>
              <a:t>את התשובה אפשר לשמור ולחשב איתה:</a:t>
            </a:r>
          </a:p>
        </p:txBody>
      </p:sp>
      <p:sp>
        <p:nvSpPr>
          <p:cNvPr id="20" name="code-bg"/>
          <p:cNvSpPr/>
          <p:nvPr/>
        </p:nvSpPr>
        <p:spPr>
          <a:xfrm>
            <a:off x="5852160" y="4023360"/>
            <a:ext cx="5788152" cy="9144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code"/>
          <p:cNvSpPr txBox="1"/>
          <p:nvPr/>
        </p:nvSpPr>
        <p:spPr>
          <a:xfrm>
            <a:off x="6080760" y="4183380"/>
            <a:ext cx="5330952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big = </a:t>
            </a:r>
            <a:r>
              <a:rPr sz="1700">
                <a:solidFill>
                  <a:srgbClr val="7FDBFF"/>
                </a:solidFill>
                <a:latin typeface="Consolas"/>
              </a:rPr>
              <a:t>area</a:t>
            </a:r>
            <a:r>
              <a:rPr sz="1700">
                <a:solidFill>
                  <a:srgbClr val="E6E6E6"/>
                </a:solidFill>
                <a:latin typeface="Consolas"/>
              </a:rPr>
              <a:t>(</a:t>
            </a:r>
            <a:r>
              <a:rPr sz="1700">
                <a:solidFill>
                  <a:srgbClr val="FFD166"/>
                </a:solidFill>
                <a:latin typeface="Consolas"/>
              </a:rPr>
              <a:t>100</a:t>
            </a:r>
            <a:r>
              <a:rPr sz="1700">
                <a:solidFill>
                  <a:srgbClr val="E6E6E6"/>
                </a:solidFill>
                <a:latin typeface="Consolas"/>
              </a:rPr>
              <a:t>, </a:t>
            </a:r>
            <a:r>
              <a:rPr sz="1700">
                <a:solidFill>
                  <a:srgbClr val="FFD166"/>
                </a:solidFill>
                <a:latin typeface="Consolas"/>
              </a:rPr>
              <a:t>200</a:t>
            </a:r>
            <a:r>
              <a:rPr sz="1700">
                <a:solidFill>
                  <a:srgbClr val="E6E6E6"/>
                </a:solidFill>
                <a:latin typeface="Consolas"/>
              </a:rPr>
              <a:t>) + </a:t>
            </a:r>
            <a:r>
              <a:rPr sz="1700">
                <a:solidFill>
                  <a:srgbClr val="7FDBFF"/>
                </a:solidFill>
                <a:latin typeface="Consolas"/>
              </a:rPr>
              <a:t>area</a:t>
            </a:r>
            <a:r>
              <a:rPr sz="1700">
                <a:solidFill>
                  <a:srgbClr val="E6E6E6"/>
                </a:solidFill>
                <a:latin typeface="Consolas"/>
              </a:rPr>
              <a:t>(</a:t>
            </a:r>
            <a:r>
              <a:rPr sz="1700">
                <a:solidFill>
                  <a:srgbClr val="FFD166"/>
                </a:solidFill>
                <a:latin typeface="Consolas"/>
              </a:rPr>
              <a:t>10</a:t>
            </a:r>
            <a:r>
              <a:rPr sz="1700">
                <a:solidFill>
                  <a:srgbClr val="E6E6E6"/>
                </a:solidFill>
                <a:latin typeface="Consolas"/>
              </a:rPr>
              <a:t>, </a:t>
            </a:r>
            <a:r>
              <a:rPr sz="1700">
                <a:solidFill>
                  <a:srgbClr val="FFD166"/>
                </a:solidFill>
                <a:latin typeface="Consolas"/>
              </a:rPr>
              <a:t>10</a:t>
            </a:r>
            <a:r>
              <a:rPr sz="17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6636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817352" y="5303520"/>
            <a:ext cx="640080" cy="64008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257800"/>
            <a:ext cx="9811512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sz="1700" b="1" i="0">
                <a:solidFill>
                  <a:srgbClr val="1B2B34"/>
                </a:solidFill>
                <a:latin typeface="Consolas"/>
              </a:rPr>
              <a:t>‎print‎</a:t>
            </a: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 מראה על המסך ונעלם.  </a:t>
            </a:r>
            <a:r>
              <a:rPr sz="1700" b="1" i="0">
                <a:solidFill>
                  <a:srgbClr val="1B2B34"/>
                </a:solidFill>
                <a:latin typeface="Consolas"/>
              </a:rPr>
              <a:t>‎return‎</a:t>
            </a: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 מחזיר ערך לתוכנית, ואפשר להמשיך לעבוד איתו.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משתנים מקומיים וגלובליים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0" y="1234440"/>
            <a:ext cx="5788152" cy="3794760"/>
          </a:xfrm>
          <a:prstGeom prst="roundRect">
            <a:avLst>
              <a:gd name="adj" fmla="val 5000"/>
            </a:avLst>
          </a:prstGeom>
          <a:solidFill>
            <a:srgbClr val="E9F7EF"/>
          </a:solidFill>
          <a:ln w="19050">
            <a:solidFill>
              <a:srgbClr val="9FD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0" y="1298448"/>
            <a:ext cx="5486400" cy="3231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1" i="0" dirty="0">
                <a:solidFill>
                  <a:srgbClr val="2D9F5C"/>
                </a:solidFill>
                <a:latin typeface="Arial"/>
                <a:cs typeface="Arial"/>
              </a:rPr>
              <a:t>משתנה גלובלי</a:t>
            </a:r>
          </a:p>
        </p:txBody>
      </p:sp>
      <p:sp>
        <p:nvSpPr>
          <p:cNvPr id="6" name="code-bg"/>
          <p:cNvSpPr/>
          <p:nvPr/>
        </p:nvSpPr>
        <p:spPr>
          <a:xfrm>
            <a:off x="6080760" y="1737360"/>
            <a:ext cx="5330952" cy="5486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6217920" y="1833372"/>
            <a:ext cx="5056632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score = </a:t>
            </a:r>
            <a:r>
              <a:rPr sz="1700">
                <a:solidFill>
                  <a:srgbClr val="FFD166"/>
                </a:solidFill>
                <a:latin typeface="Consolas"/>
              </a:rPr>
              <a:t>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2514600"/>
            <a:ext cx="5330952" cy="233172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 w="19050">
            <a:solidFill>
              <a:srgbClr val="F5C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2560320"/>
            <a:ext cx="5074920" cy="3231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1" i="0" dirty="0">
                <a:solidFill>
                  <a:srgbClr val="C77700"/>
                </a:solidFill>
                <a:latin typeface="Arial"/>
                <a:cs typeface="Arial"/>
              </a:rPr>
              <a:t>בתוך הפונקציה</a:t>
            </a:r>
          </a:p>
        </p:txBody>
      </p:sp>
      <p:sp>
        <p:nvSpPr>
          <p:cNvPr id="10" name="code-bg"/>
          <p:cNvSpPr/>
          <p:nvPr/>
        </p:nvSpPr>
        <p:spPr>
          <a:xfrm>
            <a:off x="6217920" y="2971800"/>
            <a:ext cx="5056632" cy="16916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code"/>
          <p:cNvSpPr txBox="1"/>
          <p:nvPr/>
        </p:nvSpPr>
        <p:spPr>
          <a:xfrm>
            <a:off x="6355080" y="3067812"/>
            <a:ext cx="2563202" cy="104868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 dirty="0">
                <a:solidFill>
                  <a:srgbClr val="FF9F1C"/>
                </a:solidFill>
                <a:latin typeface="Consolas"/>
              </a:rPr>
              <a:t>def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7FDBFF"/>
                </a:solidFill>
                <a:latin typeface="Consolas"/>
              </a:rPr>
              <a:t>add_point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():</a:t>
            </a:r>
          </a:p>
          <a:p>
            <a:pPr>
              <a:lnSpc>
                <a:spcPct val="108000"/>
              </a:lnSpc>
            </a:pPr>
            <a:r>
              <a:rPr sz="16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1600" b="1" dirty="0">
                <a:solidFill>
                  <a:srgbClr val="FF6B9A"/>
                </a:solidFill>
                <a:latin typeface="Consolas"/>
              </a:rPr>
              <a:t>global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 score</a:t>
            </a:r>
            <a:r>
              <a:rPr lang="en-US" sz="1600" dirty="0">
                <a:solidFill>
                  <a:srgbClr val="E6E6E6"/>
                </a:solidFill>
                <a:latin typeface="Consolas"/>
              </a:rPr>
              <a:t> </a:t>
            </a:r>
            <a:r>
              <a:rPr lang="he-IL" sz="1600" dirty="0">
                <a:solidFill>
                  <a:srgbClr val="8A93A6"/>
                </a:solidFill>
                <a:latin typeface="Consolas"/>
                <a:cs typeface="Arial"/>
              </a:rPr>
              <a:t># גלובלי</a:t>
            </a:r>
            <a:endParaRPr sz="1600" dirty="0">
              <a:solidFill>
                <a:srgbClr val="E6E6E6"/>
              </a:solidFill>
              <a:latin typeface="Consolas"/>
            </a:endParaRPr>
          </a:p>
          <a:p>
            <a:pPr algn="l" rtl="0">
              <a:lnSpc>
                <a:spcPct val="108000"/>
              </a:lnSpc>
            </a:pPr>
            <a:r>
              <a:rPr sz="1600" dirty="0">
                <a:solidFill>
                  <a:srgbClr val="E6E6E6"/>
                </a:solidFill>
                <a:latin typeface="Consolas"/>
              </a:rPr>
              <a:t>    score = score + </a:t>
            </a:r>
            <a:r>
              <a:rPr sz="1600" dirty="0">
                <a:solidFill>
                  <a:srgbClr val="FFD166"/>
                </a:solidFill>
                <a:latin typeface="Consolas"/>
              </a:rPr>
              <a:t>1</a:t>
            </a:r>
          </a:p>
          <a:p>
            <a:pPr algn="l" rtl="0">
              <a:lnSpc>
                <a:spcPct val="108000"/>
              </a:lnSpc>
            </a:pPr>
            <a:r>
              <a:rPr sz="1600" dirty="0">
                <a:solidFill>
                  <a:srgbClr val="E6E6E6"/>
                </a:solidFill>
                <a:latin typeface="Consolas"/>
              </a:rPr>
              <a:t>    bonus = </a:t>
            </a:r>
            <a:r>
              <a:rPr sz="1600" dirty="0">
                <a:solidFill>
                  <a:srgbClr val="FFD166"/>
                </a:solidFill>
                <a:latin typeface="Consolas"/>
              </a:rPr>
              <a:t>5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  </a:t>
            </a:r>
            <a:r>
              <a:rPr lang="he-IL" sz="1600" dirty="0">
                <a:solidFill>
                  <a:srgbClr val="8A93A6"/>
                </a:solidFill>
                <a:latin typeface="Consolas"/>
                <a:cs typeface="Arial"/>
              </a:rPr>
              <a:t># מקומי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34440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029200" y="1600200"/>
            <a:ext cx="365760" cy="36576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123444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מקומי: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משתנה שנוצר בתוך פונקציה קיים רק בתוכה, ונמחק כשהיא נגמרת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14600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val 15"/>
          <p:cNvSpPr/>
          <p:nvPr/>
        </p:nvSpPr>
        <p:spPr>
          <a:xfrm>
            <a:off x="5029200" y="2880360"/>
            <a:ext cx="365760" cy="3657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251460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גלובלי: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משתנה של כל התוכנית - כל פונקציה יכולה לקרוא אותו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5029200" y="4160520"/>
            <a:ext cx="365760" cy="36576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379476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כדי לשנות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 משתנה גלובלי מתוך פונקציה - כותבים </a:t>
            </a:r>
            <a:r>
              <a:rPr sz="1600" b="1" i="0">
                <a:solidFill>
                  <a:srgbClr val="1B2B34"/>
                </a:solidFill>
                <a:latin typeface="Consolas"/>
              </a:rPr>
              <a:t>‎global‎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 בהתחלה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12000"/>
            </a:avLst>
          </a:prstGeom>
          <a:solidFill>
            <a:srgbClr val="FD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908792" y="5394960"/>
            <a:ext cx="548640" cy="54864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5349240"/>
            <a:ext cx="9902952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שכחתם global?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תקבלו שגיאה </a:t>
            </a:r>
            <a:r>
              <a:rPr sz="1600" b="1" i="0">
                <a:solidFill>
                  <a:srgbClr val="1B2B34"/>
                </a:solidFill>
                <a:latin typeface="Consolas"/>
              </a:rPr>
              <a:t>‎UnboundLocalError‎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 - עכשיו אתם יודעים למה!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תורכם: מתרגלים פונקציות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16</a:t>
            </a:r>
          </a:p>
        </p:txBody>
      </p:sp>
      <p:sp>
        <p:nvSpPr>
          <p:cNvPr id="4" name="pic-card"/>
          <p:cNvSpPr/>
          <p:nvPr/>
        </p:nvSpPr>
        <p:spPr>
          <a:xfrm>
            <a:off x="576072" y="1307592"/>
            <a:ext cx="4425696" cy="214465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funcs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4206240" cy="192519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325880"/>
            <a:ext cx="6153912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0" y="1444752"/>
            <a:ext cx="548640" cy="5486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537528"/>
            <a:ext cx="5166360" cy="35394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הוסיפו בית רביעי בצבע צהוב - בשורה אחת בלבד!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2258568"/>
            <a:ext cx="6153912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10972800" y="2377439"/>
            <a:ext cx="548640" cy="54864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470216"/>
            <a:ext cx="5166360" cy="35394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שנו את גודל הריבועים: קלט מהמשתמש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91256"/>
            <a:ext cx="6153912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972800" y="3310128"/>
            <a:ext cx="548640" cy="54864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191256"/>
            <a:ext cx="516636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כתבו פונקציה </a:t>
            </a:r>
            <a:r>
              <a:rPr lang="he-IL" sz="1700" b="0" i="0" dirty="0" err="1">
                <a:solidFill>
                  <a:srgbClr val="1B2B34"/>
                </a:solidFill>
                <a:latin typeface="Arial"/>
                <a:cs typeface="Arial"/>
              </a:rPr>
              <a:t>draw_sun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(x, y, </a:t>
            </a:r>
            <a:r>
              <a:rPr lang="he-IL" sz="1700" b="0" i="0" dirty="0" err="1">
                <a:solidFill>
                  <a:srgbClr val="1B2B34"/>
                </a:solidFill>
                <a:latin typeface="Arial"/>
                <a:cs typeface="Arial"/>
              </a:rPr>
              <a:t>size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)</a:t>
            </a:r>
          </a:p>
        </p:txBody>
      </p:sp>
      <p:sp>
        <p:nvSpPr>
          <p:cNvPr id="18" name="file-tag"/>
          <p:cNvSpPr/>
          <p:nvPr/>
        </p:nvSpPr>
        <p:spPr>
          <a:xfrm>
            <a:off x="548640" y="5623560"/>
            <a:ext cx="292608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functions_demo.py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38160" y="1463040"/>
            <a:ext cx="2926080" cy="2926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138160" y="1463040"/>
            <a:ext cx="2926080" cy="2926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0" b="1" i="0">
                <a:solidFill>
                  <a:srgbClr val="FFD166"/>
                </a:solidFill>
                <a:latin typeface="Arial"/>
              </a:rPr>
              <a:t>3</a:t>
            </a:r>
          </a:p>
        </p:txBody>
      </p:sp>
      <p:sp>
        <p:nvSpPr>
          <p:cNvPr id="4" name="Oval 3"/>
          <p:cNvSpPr/>
          <p:nvPr/>
        </p:nvSpPr>
        <p:spPr>
          <a:xfrm>
            <a:off x="10607040" y="1188720"/>
            <a:ext cx="502920" cy="50292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79" y="4069080"/>
            <a:ext cx="365760" cy="3657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5000" b="1" i="0">
                <a:solidFill>
                  <a:srgbClr val="FFFFFF"/>
                </a:solidFill>
                <a:latin typeface="Arial"/>
                <a:cs typeface="Arial"/>
              </a:rPr>
              <a:t>בונים משחק מרוץ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המשחק שנבנה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18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170431"/>
            <a:ext cx="3604053" cy="49743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3384597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1457432" y="1536192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0" y="1417320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נוהגים בין 3 נתיבים עם </a:t>
            </a:r>
            <a:r>
              <a:rPr lang="he-IL" sz="2000" b="1" i="0">
                <a:solidFill>
                  <a:srgbClr val="1B2B34"/>
                </a:solidFill>
                <a:latin typeface="Segoe UI Symbol"/>
                <a:cs typeface="Segoe UI Symbol"/>
              </a:rPr>
              <a:t>← →</a:t>
            </a:r>
          </a:p>
        </p:txBody>
      </p:sp>
      <p:sp>
        <p:nvSpPr>
          <p:cNvPr id="8" name="Oval 7"/>
          <p:cNvSpPr/>
          <p:nvPr/>
        </p:nvSpPr>
        <p:spPr>
          <a:xfrm>
            <a:off x="11457432" y="2194560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0" y="2075688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מכוניות באות מולכם בנתיבים אקראיים</a:t>
            </a:r>
          </a:p>
        </p:txBody>
      </p:sp>
      <p:sp>
        <p:nvSpPr>
          <p:cNvPr id="10" name="Oval 9"/>
          <p:cNvSpPr/>
          <p:nvPr/>
        </p:nvSpPr>
        <p:spPr>
          <a:xfrm>
            <a:off x="11457432" y="2852928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0" y="2734056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כל מכונית שעוברת = נקודה</a:t>
            </a:r>
          </a:p>
        </p:txBody>
      </p:sp>
      <p:sp>
        <p:nvSpPr>
          <p:cNvPr id="12" name="Oval 11"/>
          <p:cNvSpPr/>
          <p:nvPr/>
        </p:nvSpPr>
        <p:spPr>
          <a:xfrm>
            <a:off x="11457432" y="3511296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0" y="3392424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המשחק נהיה מהיר יותר ויותר</a:t>
            </a:r>
          </a:p>
        </p:txBody>
      </p:sp>
      <p:sp>
        <p:nvSpPr>
          <p:cNvPr id="14" name="Oval 13"/>
          <p:cNvSpPr/>
          <p:nvPr/>
        </p:nvSpPr>
        <p:spPr>
          <a:xfrm>
            <a:off x="11457432" y="4169663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0" y="4050791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התנגשות = סוף המשחק 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4937760"/>
            <a:ext cx="6153912" cy="1097280"/>
          </a:xfrm>
          <a:prstGeom prst="roundRect">
            <a:avLst>
              <a:gd name="adj" fmla="val 12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771632" y="5143500"/>
            <a:ext cx="685800" cy="68580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5178623"/>
            <a:ext cx="4828032" cy="61555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700" b="1" i="0" dirty="0">
                <a:solidFill>
                  <a:srgbClr val="1B2B34"/>
                </a:solidFill>
                <a:latin typeface="Arial"/>
                <a:cs typeface="Arial"/>
              </a:rPr>
              <a:t>בונים בשלבים: 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כל שלב = קובץ. נתקעתם? פותחים את הקובץ של השלב הבא.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מפת הפונקציות של המשחק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13639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2D9F5C"/>
                </a:solidFill>
                <a:latin typeface="Arial"/>
                <a:cs typeface="Arial"/>
              </a:rPr>
              <a:t>ציור והכנה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173736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78240" y="173736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draw_road()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0" y="274320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7BC89A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0" y="274320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draw_rect(...)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76688" y="2322576"/>
            <a:ext cx="0" cy="393192"/>
          </a:xfrm>
          <a:prstGeom prst="line">
            <a:avLst/>
          </a:prstGeom>
          <a:ln w="25400">
            <a:solidFill>
              <a:srgbClr val="2D9F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778240" y="384048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0" y="384048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make_car(...)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484632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7BC89A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78240" y="48463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car_shape(color)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076688" y="4425696"/>
            <a:ext cx="0" cy="393192"/>
          </a:xfrm>
          <a:prstGeom prst="line">
            <a:avLst/>
          </a:prstGeom>
          <a:ln w="25400">
            <a:solidFill>
              <a:srgbClr val="2D9F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120640" y="1188720"/>
            <a:ext cx="2926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118AB2"/>
                </a:solidFill>
                <a:latin typeface="Arial"/>
                <a:cs typeface="Arial"/>
              </a:rPr>
              <a:t>מקלדת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1737360"/>
            <a:ext cx="2468880" cy="566928"/>
          </a:xfrm>
          <a:prstGeom prst="roundRect">
            <a:avLst>
              <a:gd name="adj" fmla="val 3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49240" y="173736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move_left()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2743200"/>
            <a:ext cx="2468880" cy="566928"/>
          </a:xfrm>
          <a:prstGeom prst="roundRect">
            <a:avLst>
              <a:gd name="adj" fmla="val 3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49240" y="274320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move_right()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429000"/>
            <a:ext cx="292608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1" i="0">
                <a:solidFill>
                  <a:srgbClr val="5F6F78"/>
                </a:solidFill>
                <a:latin typeface="Consolas"/>
              </a:rPr>
              <a:t>‎onkey‎</a:t>
            </a:r>
            <a:r>
              <a:rPr lang="he-IL" sz="1400" b="0" i="0">
                <a:solidFill>
                  <a:srgbClr val="5F6F78"/>
                </a:solidFill>
                <a:latin typeface="Arial"/>
                <a:cs typeface="Arial"/>
              </a:rPr>
              <a:t> מפעיל אותן כשלוחצים על חץ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188720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EF476F"/>
                </a:solidFill>
                <a:latin typeface="Arial"/>
                <a:cs typeface="Arial"/>
              </a:rPr>
              <a:t>לולאת המשחק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1737360"/>
            <a:ext cx="2834640" cy="566928"/>
          </a:xfrm>
          <a:prstGeom prst="roundRect">
            <a:avLst>
              <a:gd name="adj" fmla="val 30000"/>
            </a:avLst>
          </a:prstGeom>
          <a:solidFill>
            <a:srgbClr val="EF476F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34440" y="1737360"/>
            <a:ext cx="28346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onsolas"/>
              </a:rPr>
              <a:t>game_loop()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737360" y="2743200"/>
            <a:ext cx="2651760" cy="530352"/>
          </a:xfrm>
          <a:prstGeom prst="roundRect">
            <a:avLst>
              <a:gd name="adj" fmla="val 30000"/>
            </a:avLst>
          </a:prstGeom>
          <a:solidFill>
            <a:srgbClr val="F6A5B8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737360" y="2743200"/>
            <a:ext cx="26517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move_lines()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97280" y="3008376"/>
            <a:ext cx="594360" cy="0"/>
          </a:xfrm>
          <a:prstGeom prst="line">
            <a:avLst/>
          </a:prstGeom>
          <a:ln w="2540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737360" y="3520440"/>
            <a:ext cx="2651760" cy="530352"/>
          </a:xfrm>
          <a:prstGeom prst="roundRect">
            <a:avLst>
              <a:gd name="adj" fmla="val 30000"/>
            </a:avLst>
          </a:prstGeom>
          <a:solidFill>
            <a:srgbClr val="F6A5B8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37360" y="3520440"/>
            <a:ext cx="26517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move_enemy()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97280" y="3785615"/>
            <a:ext cx="594360" cy="0"/>
          </a:xfrm>
          <a:prstGeom prst="line">
            <a:avLst/>
          </a:prstGeom>
          <a:ln w="2540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737360" y="4297680"/>
            <a:ext cx="2651760" cy="530352"/>
          </a:xfrm>
          <a:prstGeom prst="roundRect">
            <a:avLst>
              <a:gd name="adj" fmla="val 30000"/>
            </a:avLst>
          </a:prstGeom>
          <a:solidFill>
            <a:srgbClr val="F6A5B8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737360" y="4297680"/>
            <a:ext cx="26517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crashed(a, b)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97280" y="4562856"/>
            <a:ext cx="594360" cy="0"/>
          </a:xfrm>
          <a:prstGeom prst="line">
            <a:avLst/>
          </a:prstGeom>
          <a:ln w="2540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737360" y="5074920"/>
            <a:ext cx="2651760" cy="530352"/>
          </a:xfrm>
          <a:prstGeom prst="roundRect">
            <a:avLst>
              <a:gd name="adj" fmla="val 30000"/>
            </a:avLst>
          </a:prstGeom>
          <a:solidFill>
            <a:srgbClr val="F6A5B8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737360" y="5074920"/>
            <a:ext cx="26517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show_score()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97280" y="5340096"/>
            <a:ext cx="594360" cy="0"/>
          </a:xfrm>
          <a:prstGeom prst="line">
            <a:avLst/>
          </a:prstGeom>
          <a:ln w="2540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97280" y="2304288"/>
            <a:ext cx="0" cy="3035808"/>
          </a:xfrm>
          <a:prstGeom prst="line">
            <a:avLst/>
          </a:prstGeom>
          <a:ln w="25400">
            <a:solidFill>
              <a:srgbClr val="EF4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315968" y="1810512"/>
            <a:ext cx="658368" cy="438912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15968" y="1810512"/>
            <a:ext cx="65836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1B2B34"/>
                </a:solidFill>
                <a:latin typeface="Segoe UI Symbol"/>
              </a:rPr>
              <a:t>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כל פונקציה עושה דבר אחד קטן - וביחד הן משחק שלם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5 שלבים למשחק שלם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20</a:t>
            </a:r>
          </a:p>
        </p:txBody>
      </p:sp>
      <p:sp>
        <p:nvSpPr>
          <p:cNvPr id="4" name="Oval 3"/>
          <p:cNvSpPr/>
          <p:nvPr/>
        </p:nvSpPr>
        <p:spPr>
          <a:xfrm>
            <a:off x="10154412" y="1417320"/>
            <a:ext cx="914400" cy="91440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82912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כביש ומכונית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82912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draw_road, make_car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2912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car1.py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9400032" y="1874519"/>
            <a:ext cx="1645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895844" y="1417320"/>
            <a:ext cx="914400" cy="91440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4344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נהיגה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4344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onkey, 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4344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car2.py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141464" y="1874519"/>
            <a:ext cx="1645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637276" y="1417320"/>
            <a:ext cx="914400" cy="91440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5776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תנועה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game_loop, ontimer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car3.py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4882896" y="1874519"/>
            <a:ext cx="1645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378708" y="1417320"/>
            <a:ext cx="914400" cy="91440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07208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התנגשות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7208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crashed, return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7208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car4.py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624328" y="1874519"/>
            <a:ext cx="1645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120140" y="1417320"/>
            <a:ext cx="914400" cy="9144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ניקוד ורשימה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enemies,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car5.py</a:t>
            </a:r>
          </a:p>
        </p:txBody>
      </p:sp>
      <p:pic>
        <p:nvPicPr>
          <p:cNvPr id="28" name="Picture 27" descr="strip_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5476" y="4343400"/>
            <a:ext cx="6858000" cy="166720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1: כביש ומכונית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21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20640" y="1280160"/>
            <a:ext cx="6519672" cy="24231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440180"/>
            <a:ext cx="6062472" cy="21031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 b="1">
                <a:solidFill>
                  <a:srgbClr val="FF6B9A"/>
                </a:solidFill>
                <a:latin typeface="Consolas"/>
              </a:rPr>
              <a:t>LANES</a:t>
            </a:r>
            <a:r>
              <a:rPr sz="1600">
                <a:solidFill>
                  <a:srgbClr val="E6E6E6"/>
                </a:solidFill>
                <a:latin typeface="Consolas"/>
              </a:rPr>
              <a:t> = [-</a:t>
            </a:r>
            <a:r>
              <a:rPr sz="1600">
                <a:solidFill>
                  <a:srgbClr val="FFD166"/>
                </a:solidFill>
                <a:latin typeface="Consolas"/>
              </a:rPr>
              <a:t>120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120</a:t>
            </a:r>
            <a:r>
              <a:rPr sz="16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6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FF9F1C"/>
                </a:solidFill>
                <a:latin typeface="Consolas"/>
              </a:rPr>
              <a:t>def</a:t>
            </a: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  <a:r>
              <a:rPr sz="1600">
                <a:solidFill>
                  <a:srgbClr val="7FDBFF"/>
                </a:solidFill>
                <a:latin typeface="Consolas"/>
              </a:rPr>
              <a:t>make_car</a:t>
            </a:r>
            <a:r>
              <a:rPr sz="1600">
                <a:solidFill>
                  <a:srgbClr val="E6E6E6"/>
                </a:solidFill>
                <a:latin typeface="Consolas"/>
              </a:rPr>
              <a:t>(color, x, y, heading):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car = turtle.</a:t>
            </a:r>
            <a:r>
              <a:rPr sz="1600">
                <a:solidFill>
                  <a:srgbClr val="7FDBFF"/>
                </a:solidFill>
                <a:latin typeface="Consolas"/>
              </a:rPr>
              <a:t>Turtle</a:t>
            </a:r>
            <a:r>
              <a:rPr sz="16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car.</a:t>
            </a:r>
            <a:r>
              <a:rPr sz="1600">
                <a:solidFill>
                  <a:srgbClr val="7FDBFF"/>
                </a:solidFill>
                <a:latin typeface="Consolas"/>
              </a:rPr>
              <a:t>shape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7FDBFF"/>
                </a:solidFill>
                <a:latin typeface="Consolas"/>
              </a:rPr>
              <a:t>car_shape</a:t>
            </a:r>
            <a:r>
              <a:rPr sz="1600">
                <a:solidFill>
                  <a:srgbClr val="E6E6E6"/>
                </a:solidFill>
                <a:latin typeface="Consolas"/>
              </a:rPr>
              <a:t>(color))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...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</a:t>
            </a:r>
            <a:r>
              <a:rPr sz="1600">
                <a:solidFill>
                  <a:srgbClr val="FF9F1C"/>
                </a:solidFill>
                <a:latin typeface="Consolas"/>
              </a:rPr>
              <a:t>return</a:t>
            </a:r>
            <a:r>
              <a:rPr sz="1600">
                <a:solidFill>
                  <a:srgbClr val="E6E6E6"/>
                </a:solidFill>
                <a:latin typeface="Consolas"/>
              </a:rPr>
              <a:t> car</a:t>
            </a:r>
          </a:p>
        </p:txBody>
      </p:sp>
      <p:sp>
        <p:nvSpPr>
          <p:cNvPr id="8" name="code-bg"/>
          <p:cNvSpPr/>
          <p:nvPr/>
        </p:nvSpPr>
        <p:spPr>
          <a:xfrm>
            <a:off x="5120640" y="3886200"/>
            <a:ext cx="6519672" cy="7772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5349240" y="4046220"/>
            <a:ext cx="6062472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player = </a:t>
            </a:r>
            <a:r>
              <a:rPr sz="1600">
                <a:solidFill>
                  <a:srgbClr val="7FDBFF"/>
                </a:solidFill>
                <a:latin typeface="Consolas"/>
              </a:rPr>
              <a:t>make_car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A6E22E"/>
                </a:solidFill>
                <a:latin typeface="Consolas"/>
              </a:rPr>
              <a:t>"red"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 b="1">
                <a:solidFill>
                  <a:srgbClr val="FF6B9A"/>
                </a:solidFill>
                <a:latin typeface="Consolas"/>
              </a:rPr>
              <a:t>LANES</a:t>
            </a:r>
            <a:r>
              <a:rPr sz="1600">
                <a:solidFill>
                  <a:srgbClr val="E6E6E6"/>
                </a:solidFill>
                <a:latin typeface="Consolas"/>
              </a:rPr>
              <a:t>[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  <a:r>
              <a:rPr sz="1600">
                <a:solidFill>
                  <a:srgbClr val="E6E6E6"/>
                </a:solidFill>
                <a:latin typeface="Consolas"/>
              </a:rPr>
              <a:t>], -</a:t>
            </a:r>
            <a:r>
              <a:rPr sz="1600">
                <a:solidFill>
                  <a:srgbClr val="FFD166"/>
                </a:solidFill>
                <a:latin typeface="Consolas"/>
              </a:rPr>
              <a:t>250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90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4892040"/>
            <a:ext cx="2057400" cy="77724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20640" y="4892040"/>
            <a:ext cx="205740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400" b="1" i="0">
                <a:solidFill>
                  <a:srgbClr val="2D9F5C"/>
                </a:solidFill>
                <a:latin typeface="Consolas"/>
              </a:rPr>
              <a:t>LANES[0]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-120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42631" y="4892040"/>
            <a:ext cx="2057400" cy="77724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42631" y="4892040"/>
            <a:ext cx="205740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400" b="1" i="0">
                <a:solidFill>
                  <a:srgbClr val="2D9F5C"/>
                </a:solidFill>
                <a:latin typeface="Consolas"/>
              </a:rPr>
              <a:t>LANES[1]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4624" y="4892040"/>
            <a:ext cx="2057400" cy="77724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64624" y="4892040"/>
            <a:ext cx="205740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400" b="1" i="0">
                <a:solidFill>
                  <a:srgbClr val="2D9F5C"/>
                </a:solidFill>
                <a:latin typeface="Consolas"/>
              </a:rPr>
              <a:t>LANES[2]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120</a:t>
            </a:r>
          </a:p>
        </p:txBody>
      </p:sp>
      <p:sp>
        <p:nvSpPr>
          <p:cNvPr id="16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car1.py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2: נוהגים עם החיצים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22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20640" y="1280160"/>
            <a:ext cx="6519672" cy="29718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440180"/>
            <a:ext cx="6062472" cy="2651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 b="1">
                <a:solidFill>
                  <a:srgbClr val="FF6B9A"/>
                </a:solidFill>
                <a:latin typeface="Consolas"/>
              </a:rPr>
              <a:t>lane</a:t>
            </a:r>
            <a:r>
              <a:rPr sz="1600">
                <a:solidFill>
                  <a:srgbClr val="E6E6E6"/>
                </a:solidFill>
                <a:latin typeface="Consolas"/>
              </a:rPr>
              <a:t> = 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</a:p>
          <a:p>
            <a:pPr algn="l" rtl="0">
              <a:lnSpc>
                <a:spcPct val="108000"/>
              </a:lnSpc>
            </a:pPr>
            <a:r>
              <a:rPr sz="16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FF9F1C"/>
                </a:solidFill>
                <a:latin typeface="Consolas"/>
              </a:rPr>
              <a:t>def</a:t>
            </a: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  <a:r>
              <a:rPr sz="1600">
                <a:solidFill>
                  <a:srgbClr val="7FDBFF"/>
                </a:solidFill>
                <a:latin typeface="Consolas"/>
              </a:rPr>
              <a:t>move_left</a:t>
            </a:r>
            <a:r>
              <a:rPr sz="1600">
                <a:solidFill>
                  <a:srgbClr val="E6E6E6"/>
                </a:solidFill>
                <a:latin typeface="Consolas"/>
              </a:rPr>
              <a:t>():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</a:t>
            </a:r>
            <a:r>
              <a:rPr sz="1600">
                <a:solidFill>
                  <a:srgbClr val="FF9F1C"/>
                </a:solidFill>
                <a:latin typeface="Consolas"/>
              </a:rPr>
              <a:t>global</a:t>
            </a: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  <a:r>
              <a:rPr sz="1600" b="1">
                <a:solidFill>
                  <a:srgbClr val="FF6B9A"/>
                </a:solidFill>
                <a:latin typeface="Consolas"/>
              </a:rPr>
              <a:t>lane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</a:t>
            </a:r>
            <a:r>
              <a:rPr sz="1600">
                <a:solidFill>
                  <a:srgbClr val="FF9F1C"/>
                </a:solidFill>
                <a:latin typeface="Consolas"/>
              </a:rPr>
              <a:t>if</a:t>
            </a: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  <a:r>
              <a:rPr sz="1600" b="1">
                <a:solidFill>
                  <a:srgbClr val="FF6B9A"/>
                </a:solidFill>
                <a:latin typeface="Consolas"/>
              </a:rPr>
              <a:t>lane</a:t>
            </a:r>
            <a:r>
              <a:rPr sz="1600">
                <a:solidFill>
                  <a:srgbClr val="E6E6E6"/>
                </a:solidFill>
                <a:latin typeface="Consolas"/>
              </a:rPr>
              <a:t> &gt; </a:t>
            </a:r>
            <a:r>
              <a:rPr sz="1600">
                <a:solidFill>
                  <a:srgbClr val="FFD166"/>
                </a:solidFill>
                <a:latin typeface="Consolas"/>
              </a:rPr>
              <a:t>0</a:t>
            </a:r>
            <a:r>
              <a:rPr sz="16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    </a:t>
            </a:r>
            <a:r>
              <a:rPr sz="1600" b="1">
                <a:solidFill>
                  <a:srgbClr val="FF6B9A"/>
                </a:solidFill>
                <a:latin typeface="Consolas"/>
              </a:rPr>
              <a:t>lane</a:t>
            </a:r>
            <a:r>
              <a:rPr sz="1600">
                <a:solidFill>
                  <a:srgbClr val="E6E6E6"/>
                </a:solidFill>
                <a:latin typeface="Consolas"/>
              </a:rPr>
              <a:t> = </a:t>
            </a:r>
            <a:r>
              <a:rPr sz="1600" b="1">
                <a:solidFill>
                  <a:srgbClr val="FF6B9A"/>
                </a:solidFill>
                <a:latin typeface="Consolas"/>
              </a:rPr>
              <a:t>lane</a:t>
            </a:r>
            <a:r>
              <a:rPr sz="1600">
                <a:solidFill>
                  <a:srgbClr val="E6E6E6"/>
                </a:solidFill>
                <a:latin typeface="Consolas"/>
              </a:rPr>
              <a:t> - 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    player.</a:t>
            </a:r>
            <a:r>
              <a:rPr sz="1600">
                <a:solidFill>
                  <a:srgbClr val="7FDBFF"/>
                </a:solidFill>
                <a:latin typeface="Consolas"/>
              </a:rPr>
              <a:t>setx</a:t>
            </a:r>
            <a:r>
              <a:rPr sz="1600">
                <a:solidFill>
                  <a:srgbClr val="E6E6E6"/>
                </a:solidFill>
                <a:latin typeface="Consolas"/>
              </a:rPr>
              <a:t>(LANES[</a:t>
            </a:r>
            <a:r>
              <a:rPr sz="1600" b="1">
                <a:solidFill>
                  <a:srgbClr val="FF6B9A"/>
                </a:solidFill>
                <a:latin typeface="Consolas"/>
              </a:rPr>
              <a:t>lane</a:t>
            </a:r>
            <a:r>
              <a:rPr sz="1600">
                <a:solidFill>
                  <a:srgbClr val="E6E6E6"/>
                </a:solidFill>
                <a:latin typeface="Consolas"/>
              </a:rPr>
              <a:t>])</a:t>
            </a:r>
          </a:p>
          <a:p>
            <a:pPr algn="l" rtl="0">
              <a:lnSpc>
                <a:spcPct val="108000"/>
              </a:lnSpc>
            </a:pPr>
            <a:r>
              <a:rPr sz="16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screen.</a:t>
            </a:r>
            <a:r>
              <a:rPr sz="1600">
                <a:solidFill>
                  <a:srgbClr val="7FDBFF"/>
                </a:solidFill>
                <a:latin typeface="Consolas"/>
              </a:rPr>
              <a:t>onkey</a:t>
            </a:r>
            <a:r>
              <a:rPr sz="1600">
                <a:solidFill>
                  <a:srgbClr val="E6E6E6"/>
                </a:solidFill>
                <a:latin typeface="Consolas"/>
              </a:rPr>
              <a:t>(move_left, </a:t>
            </a:r>
            <a:r>
              <a:rPr sz="1600">
                <a:solidFill>
                  <a:srgbClr val="A6E22E"/>
                </a:solidFill>
                <a:latin typeface="Consolas"/>
              </a:rPr>
              <a:t>"Left"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4480560"/>
            <a:ext cx="2057400" cy="64008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20640" y="4480560"/>
            <a:ext cx="2057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2D9F5C"/>
                </a:solidFill>
                <a:latin typeface="Consolas"/>
              </a:rPr>
              <a:t>lane =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42631" y="4480560"/>
            <a:ext cx="2057400" cy="640080"/>
          </a:xfrm>
          <a:prstGeom prst="roundRect">
            <a:avLst>
              <a:gd name="adj" fmla="val 15000"/>
            </a:avLst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42631" y="4480560"/>
            <a:ext cx="2057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lane =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4624" y="4480560"/>
            <a:ext cx="2057400" cy="64008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64624" y="4480560"/>
            <a:ext cx="2057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2D9F5C"/>
                </a:solidFill>
                <a:latin typeface="Consolas"/>
              </a:rPr>
              <a:t>lane = 2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172200" y="5349240"/>
            <a:ext cx="914400" cy="0"/>
          </a:xfrm>
          <a:prstGeom prst="line">
            <a:avLst/>
          </a:prstGeom>
          <a:ln w="3175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863840" y="5349240"/>
            <a:ext cx="914400" cy="0"/>
          </a:xfrm>
          <a:prstGeom prst="line">
            <a:avLst/>
          </a:prstGeom>
          <a:ln w="3175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20640" y="5440680"/>
            <a:ext cx="65196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500" b="1" i="0">
                <a:solidFill>
                  <a:srgbClr val="5F6F78"/>
                </a:solidFill>
                <a:latin typeface="Consolas"/>
              </a:rPr>
              <a:t>‎lane‎</a:t>
            </a:r>
            <a:r>
              <a:rPr lang="he-IL" sz="1500" b="0" i="0">
                <a:solidFill>
                  <a:srgbClr val="5F6F78"/>
                </a:solidFill>
                <a:latin typeface="Arial"/>
                <a:cs typeface="Arial"/>
              </a:rPr>
              <a:t> הוא האינדקס ברשימה. ה-if שומר שלא ניסע מחוץ לכביש</a:t>
            </a:r>
          </a:p>
        </p:txBody>
      </p:sp>
      <p:sp>
        <p:nvSpPr>
          <p:cNvPr id="17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car2.py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3: לולאת המשחק - הכביש זז!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23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20640" y="1280160"/>
            <a:ext cx="6519672" cy="18288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440180"/>
            <a:ext cx="6062472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FF9F1C"/>
                </a:solidFill>
                <a:latin typeface="Consolas"/>
              </a:rPr>
              <a:t>def</a:t>
            </a:r>
            <a:r>
              <a:rPr sz="1700">
                <a:solidFill>
                  <a:srgbClr val="E6E6E6"/>
                </a:solidFill>
                <a:latin typeface="Consolas"/>
              </a:rPr>
              <a:t> </a:t>
            </a:r>
            <a:r>
              <a:rPr sz="1700" b="1">
                <a:solidFill>
                  <a:srgbClr val="FF6B9A"/>
                </a:solidFill>
                <a:latin typeface="Consolas"/>
              </a:rPr>
              <a:t>game_loop</a:t>
            </a:r>
            <a:r>
              <a:rPr sz="1700">
                <a:solidFill>
                  <a:srgbClr val="E6E6E6"/>
                </a:solidFill>
                <a:latin typeface="Consolas"/>
              </a:rPr>
              <a:t>():</a:t>
            </a:r>
          </a:p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    </a:t>
            </a:r>
            <a:r>
              <a:rPr sz="1700">
                <a:solidFill>
                  <a:srgbClr val="7FDBFF"/>
                </a:solidFill>
                <a:latin typeface="Consolas"/>
              </a:rPr>
              <a:t>move_lines</a:t>
            </a:r>
            <a:r>
              <a:rPr sz="17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    </a:t>
            </a:r>
            <a:r>
              <a:rPr sz="1700">
                <a:solidFill>
                  <a:srgbClr val="7FDBFF"/>
                </a:solidFill>
                <a:latin typeface="Consolas"/>
              </a:rPr>
              <a:t>move_enemy</a:t>
            </a:r>
            <a:r>
              <a:rPr sz="17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    screen.</a:t>
            </a:r>
            <a:r>
              <a:rPr sz="1700">
                <a:solidFill>
                  <a:srgbClr val="7FDBFF"/>
                </a:solidFill>
                <a:latin typeface="Consolas"/>
              </a:rPr>
              <a:t>update</a:t>
            </a:r>
            <a:r>
              <a:rPr sz="17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    screen.</a:t>
            </a:r>
            <a:r>
              <a:rPr sz="1700">
                <a:solidFill>
                  <a:srgbClr val="7FDBFF"/>
                </a:solidFill>
                <a:latin typeface="Consolas"/>
              </a:rPr>
              <a:t>ontimer</a:t>
            </a:r>
            <a:r>
              <a:rPr sz="1700">
                <a:solidFill>
                  <a:srgbClr val="E6E6E6"/>
                </a:solidFill>
                <a:latin typeface="Consolas"/>
              </a:rPr>
              <a:t>(</a:t>
            </a:r>
            <a:r>
              <a:rPr sz="1700" b="1">
                <a:solidFill>
                  <a:srgbClr val="FF6B9A"/>
                </a:solidFill>
                <a:latin typeface="Consolas"/>
              </a:rPr>
              <a:t>game_loop</a:t>
            </a:r>
            <a:r>
              <a:rPr sz="1700">
                <a:solidFill>
                  <a:srgbClr val="E6E6E6"/>
                </a:solidFill>
                <a:latin typeface="Consolas"/>
              </a:rPr>
              <a:t>, </a:t>
            </a:r>
            <a:r>
              <a:rPr sz="1700">
                <a:solidFill>
                  <a:srgbClr val="FFD166"/>
                </a:solidFill>
                <a:latin typeface="Consolas"/>
              </a:rPr>
              <a:t>20</a:t>
            </a:r>
            <a:r>
              <a:rPr sz="17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28632" y="3429000"/>
            <a:ext cx="2011680" cy="822960"/>
          </a:xfrm>
          <a:prstGeom prst="roundRect">
            <a:avLst>
              <a:gd name="adj" fmla="val 2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28632" y="34290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500" b="1" i="0">
                <a:solidFill>
                  <a:srgbClr val="FFFFFF"/>
                </a:solidFill>
                <a:latin typeface="Arial"/>
                <a:cs typeface="Arial"/>
              </a:rPr>
              <a:t>מזיזים הכול קצת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9400032" y="3840480"/>
            <a:ext cx="210312" cy="0"/>
          </a:xfrm>
          <a:prstGeom prst="line">
            <a:avLst/>
          </a:prstGeom>
          <a:ln w="2540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70064" y="3429000"/>
            <a:ext cx="2011680" cy="822960"/>
          </a:xfrm>
          <a:prstGeom prst="roundRect">
            <a:avLst>
              <a:gd name="adj" fmla="val 2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70064" y="34290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500" b="1" i="0">
                <a:solidFill>
                  <a:srgbClr val="FFFFFF"/>
                </a:solidFill>
                <a:latin typeface="Arial"/>
                <a:cs typeface="Arial"/>
              </a:rPr>
              <a:t>מציירים את המסך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141464" y="3840480"/>
            <a:ext cx="210312" cy="0"/>
          </a:xfrm>
          <a:prstGeom prst="line">
            <a:avLst/>
          </a:prstGeom>
          <a:ln w="2540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11496" y="3429000"/>
            <a:ext cx="2011680" cy="822960"/>
          </a:xfrm>
          <a:prstGeom prst="roundRect">
            <a:avLst>
              <a:gd name="adj" fmla="val 20000"/>
            </a:avLst>
          </a:prstGeom>
          <a:solidFill>
            <a:srgbClr val="FF9F1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11496" y="34290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500" b="1" i="0">
                <a:solidFill>
                  <a:srgbClr val="FFFFFF"/>
                </a:solidFill>
                <a:latin typeface="Arial"/>
                <a:cs typeface="Arial"/>
              </a:rPr>
              <a:t>מחכים 20 אלפיות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9240" y="4270248"/>
            <a:ext cx="0" cy="256032"/>
          </a:xfrm>
          <a:prstGeom prst="line">
            <a:avLst/>
          </a:prstGeom>
          <a:ln w="25400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349240" y="4526280"/>
            <a:ext cx="5285232" cy="0"/>
          </a:xfrm>
          <a:prstGeom prst="line">
            <a:avLst/>
          </a:prstGeom>
          <a:ln w="25400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0634472" y="4279392"/>
            <a:ext cx="0" cy="246888"/>
          </a:xfrm>
          <a:prstGeom prst="line">
            <a:avLst/>
          </a:prstGeom>
          <a:ln w="2540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120640" y="4663440"/>
            <a:ext cx="6519672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50 תמונות בשנייה = תנועה חלקה, כמו ספר דפדוף</a:t>
            </a:r>
          </a:p>
        </p:txBody>
      </p:sp>
      <p:sp>
        <p:nvSpPr>
          <p:cNvPr id="20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car3.py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4: זיהוי התנגשות 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24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20640" y="1280160"/>
            <a:ext cx="6519672" cy="18288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440180"/>
            <a:ext cx="6062472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FF9F1C"/>
                </a:solidFill>
                <a:latin typeface="Consolas"/>
              </a:rPr>
              <a:t>def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7FDBFF"/>
                </a:solidFill>
                <a:latin typeface="Consolas"/>
              </a:rPr>
              <a:t>crashed</a:t>
            </a:r>
            <a:r>
              <a:rPr sz="1400">
                <a:solidFill>
                  <a:srgbClr val="E6E6E6"/>
                </a:solidFill>
                <a:latin typeface="Consolas"/>
              </a:rPr>
              <a:t>(car1, car2):</a:t>
            </a:r>
          </a:p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close_x = </a:t>
            </a:r>
            <a:r>
              <a:rPr sz="1400">
                <a:solidFill>
                  <a:srgbClr val="7FDBFF"/>
                </a:solidFill>
                <a:latin typeface="Consolas"/>
              </a:rPr>
              <a:t>abs</a:t>
            </a:r>
            <a:r>
              <a:rPr sz="1400">
                <a:solidFill>
                  <a:srgbClr val="E6E6E6"/>
                </a:solidFill>
                <a:latin typeface="Consolas"/>
              </a:rPr>
              <a:t>(car1.</a:t>
            </a:r>
            <a:r>
              <a:rPr sz="1400">
                <a:solidFill>
                  <a:srgbClr val="7FDBFF"/>
                </a:solidFill>
                <a:latin typeface="Consolas"/>
              </a:rPr>
              <a:t>xcor</a:t>
            </a:r>
            <a:r>
              <a:rPr sz="1400">
                <a:solidFill>
                  <a:srgbClr val="E6E6E6"/>
                </a:solidFill>
                <a:latin typeface="Consolas"/>
              </a:rPr>
              <a:t>() - car2.</a:t>
            </a:r>
            <a:r>
              <a:rPr sz="1400">
                <a:solidFill>
                  <a:srgbClr val="7FDBFF"/>
                </a:solidFill>
                <a:latin typeface="Consolas"/>
              </a:rPr>
              <a:t>xcor</a:t>
            </a:r>
            <a:r>
              <a:rPr sz="1400">
                <a:solidFill>
                  <a:srgbClr val="E6E6E6"/>
                </a:solidFill>
                <a:latin typeface="Consolas"/>
              </a:rPr>
              <a:t>()) &lt; </a:t>
            </a:r>
            <a:r>
              <a:rPr sz="1400">
                <a:solidFill>
                  <a:srgbClr val="FFD166"/>
                </a:solidFill>
                <a:latin typeface="Consolas"/>
              </a:rPr>
              <a:t>36</a:t>
            </a:r>
          </a:p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close_y = </a:t>
            </a:r>
            <a:r>
              <a:rPr sz="1400">
                <a:solidFill>
                  <a:srgbClr val="7FDBFF"/>
                </a:solidFill>
                <a:latin typeface="Consolas"/>
              </a:rPr>
              <a:t>abs</a:t>
            </a:r>
            <a:r>
              <a:rPr sz="1400">
                <a:solidFill>
                  <a:srgbClr val="E6E6E6"/>
                </a:solidFill>
                <a:latin typeface="Consolas"/>
              </a:rPr>
              <a:t>(car1.</a:t>
            </a:r>
            <a:r>
              <a:rPr sz="1400">
                <a:solidFill>
                  <a:srgbClr val="7FDBFF"/>
                </a:solidFill>
                <a:latin typeface="Consolas"/>
              </a:rPr>
              <a:t>ycor</a:t>
            </a:r>
            <a:r>
              <a:rPr sz="1400">
                <a:solidFill>
                  <a:srgbClr val="E6E6E6"/>
                </a:solidFill>
                <a:latin typeface="Consolas"/>
              </a:rPr>
              <a:t>() - car2.</a:t>
            </a:r>
            <a:r>
              <a:rPr sz="1400">
                <a:solidFill>
                  <a:srgbClr val="7FDBFF"/>
                </a:solidFill>
                <a:latin typeface="Consolas"/>
              </a:rPr>
              <a:t>ycor</a:t>
            </a:r>
            <a:r>
              <a:rPr sz="1400">
                <a:solidFill>
                  <a:srgbClr val="E6E6E6"/>
                </a:solidFill>
                <a:latin typeface="Consolas"/>
              </a:rPr>
              <a:t>()) &lt; </a:t>
            </a:r>
            <a:r>
              <a:rPr sz="1400">
                <a:solidFill>
                  <a:srgbClr val="FFD166"/>
                </a:solidFill>
                <a:latin typeface="Consolas"/>
              </a:rPr>
              <a:t>64</a:t>
            </a:r>
          </a:p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 b="1">
                <a:solidFill>
                  <a:srgbClr val="FF6B9A"/>
                </a:solidFill>
                <a:latin typeface="Consolas"/>
              </a:rPr>
              <a:t>return</a:t>
            </a:r>
            <a:r>
              <a:rPr sz="1400">
                <a:solidFill>
                  <a:srgbClr val="E6E6E6"/>
                </a:solidFill>
                <a:latin typeface="Consolas"/>
              </a:rPr>
              <a:t> close_x </a:t>
            </a:r>
            <a:r>
              <a:rPr sz="1400">
                <a:solidFill>
                  <a:srgbClr val="FF9F1C"/>
                </a:solidFill>
                <a:latin typeface="Consolas"/>
              </a:rPr>
              <a:t>and</a:t>
            </a:r>
            <a:r>
              <a:rPr sz="1400">
                <a:solidFill>
                  <a:srgbClr val="E6E6E6"/>
                </a:solidFill>
                <a:latin typeface="Consolas"/>
              </a:rPr>
              <a:t> close_y</a:t>
            </a:r>
          </a:p>
        </p:txBody>
      </p:sp>
      <p:sp>
        <p:nvSpPr>
          <p:cNvPr id="8" name="code-bg"/>
          <p:cNvSpPr/>
          <p:nvPr/>
        </p:nvSpPr>
        <p:spPr>
          <a:xfrm>
            <a:off x="5120640" y="3291840"/>
            <a:ext cx="6519672" cy="11430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5349240" y="3451860"/>
            <a:ext cx="6062472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FF9F1C"/>
                </a:solidFill>
                <a:latin typeface="Consolas"/>
              </a:rPr>
              <a:t>if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7FDBFF"/>
                </a:solidFill>
                <a:latin typeface="Consolas"/>
              </a:rPr>
              <a:t>crashed</a:t>
            </a:r>
            <a:r>
              <a:rPr sz="1400">
                <a:solidFill>
                  <a:srgbClr val="E6E6E6"/>
                </a:solidFill>
                <a:latin typeface="Consolas"/>
              </a:rPr>
              <a:t>(player, enemy):</a:t>
            </a:r>
          </a:p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writer.</a:t>
            </a:r>
            <a:r>
              <a:rPr sz="1400">
                <a:solidFill>
                  <a:srgbClr val="7FDBFF"/>
                </a:solidFill>
                <a:latin typeface="Consolas"/>
              </a:rPr>
              <a:t>write</a:t>
            </a:r>
            <a:r>
              <a:rPr sz="1400">
                <a:solidFill>
                  <a:srgbClr val="E6E6E6"/>
                </a:solidFill>
                <a:latin typeface="Consolas"/>
              </a:rPr>
              <a:t>(</a:t>
            </a:r>
            <a:r>
              <a:rPr sz="1400">
                <a:solidFill>
                  <a:srgbClr val="A6E22E"/>
                </a:solidFill>
                <a:latin typeface="Consolas"/>
              </a:rPr>
              <a:t>"CRASH!"</a:t>
            </a:r>
            <a:r>
              <a:rPr sz="1400">
                <a:solidFill>
                  <a:srgbClr val="E6E6E6"/>
                </a:solidFill>
                <a:latin typeface="Consolas"/>
              </a:rPr>
              <a:t>, ...)</a:t>
            </a:r>
          </a:p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FF9F1C"/>
                </a:solidFill>
                <a:latin typeface="Consolas"/>
              </a:rPr>
              <a:t>else</a:t>
            </a:r>
            <a:r>
              <a:rPr sz="14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screen.</a:t>
            </a:r>
            <a:r>
              <a:rPr sz="1400">
                <a:solidFill>
                  <a:srgbClr val="7FDBFF"/>
                </a:solidFill>
                <a:latin typeface="Consolas"/>
              </a:rPr>
              <a:t>ontimer</a:t>
            </a:r>
            <a:r>
              <a:rPr sz="1400">
                <a:solidFill>
                  <a:srgbClr val="E6E6E6"/>
                </a:solidFill>
                <a:latin typeface="Consolas"/>
              </a:rPr>
              <a:t>(game_loop, </a:t>
            </a:r>
            <a:r>
              <a:rPr sz="1400">
                <a:solidFill>
                  <a:srgbClr val="FFD166"/>
                </a:solidFill>
                <a:latin typeface="Consolas"/>
              </a:rPr>
              <a:t>20</a:t>
            </a:r>
            <a:r>
              <a:rPr sz="14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95560" y="4617720"/>
            <a:ext cx="548640" cy="960120"/>
          </a:xfrm>
          <a:prstGeom prst="roundRect">
            <a:avLst>
              <a:gd name="adj" fmla="val 10000"/>
            </a:avLst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469880" y="5074920"/>
            <a:ext cx="548640" cy="960120"/>
          </a:xfrm>
          <a:prstGeom prst="roundRect">
            <a:avLst>
              <a:gd name="adj" fmla="val 1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20640" y="4617720"/>
            <a:ext cx="489204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3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‎abs‎</a:t>
            </a: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 = מרחק בלי מינוס</a:t>
            </a:r>
          </a:p>
          <a:p>
            <a:pPr algn="r" rtl="1">
              <a:spcAft>
                <a:spcPts val="3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קרובות גם ב-x וגם ב-y? ← נגעו!</a:t>
            </a:r>
          </a:p>
          <a:p>
            <a:pPr algn="r" rtl="1">
              <a:spcAft>
                <a:spcPts val="3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הפונקציה מחזירה </a:t>
            </a:r>
            <a:r>
              <a:rPr sz="1500" b="1" i="0">
                <a:solidFill>
                  <a:srgbClr val="2D9F5C"/>
                </a:solidFill>
                <a:latin typeface="Consolas"/>
              </a:rPr>
              <a:t>‎True‎</a:t>
            </a: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 או </a:t>
            </a:r>
            <a:r>
              <a:rPr sz="1500" b="1" i="0">
                <a:solidFill>
                  <a:srgbClr val="EF476F"/>
                </a:solidFill>
                <a:latin typeface="Consolas"/>
              </a:rPr>
              <a:t>‎False‎</a:t>
            </a:r>
          </a:p>
        </p:txBody>
      </p:sp>
      <p:sp>
        <p:nvSpPr>
          <p:cNvPr id="13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car4.py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5: הרבה מכוניות + ניקוד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25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20640" y="1280160"/>
            <a:ext cx="6519672" cy="13716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440180"/>
            <a:ext cx="6062472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 b="1">
                <a:solidFill>
                  <a:srgbClr val="FF6B9A"/>
                </a:solidFill>
                <a:latin typeface="Consolas"/>
              </a:rPr>
              <a:t>enemies</a:t>
            </a:r>
            <a:r>
              <a:rPr sz="1500">
                <a:solidFill>
                  <a:srgbClr val="E6E6E6"/>
                </a:solidFill>
                <a:latin typeface="Consolas"/>
              </a:rPr>
              <a:t> = []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for</a:t>
            </a:r>
            <a:r>
              <a:rPr sz="1500">
                <a:solidFill>
                  <a:srgbClr val="E6E6E6"/>
                </a:solidFill>
                <a:latin typeface="Consolas"/>
              </a:rPr>
              <a:t> i </a:t>
            </a:r>
            <a:r>
              <a:rPr sz="1500">
                <a:solidFill>
                  <a:srgbClr val="FF9F1C"/>
                </a:solidFill>
                <a:latin typeface="Consolas"/>
              </a:rPr>
              <a:t>in</a:t>
            </a:r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  <a:r>
              <a:rPr sz="1500">
                <a:solidFill>
                  <a:srgbClr val="7FDBFF"/>
                </a:solidFill>
                <a:latin typeface="Consolas"/>
              </a:rPr>
              <a:t>range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3</a:t>
            </a:r>
            <a:r>
              <a:rPr sz="15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enemy = </a:t>
            </a:r>
            <a:r>
              <a:rPr sz="1500">
                <a:solidFill>
                  <a:srgbClr val="7FDBFF"/>
                </a:solidFill>
                <a:latin typeface="Consolas"/>
              </a:rPr>
              <a:t>make_car</a:t>
            </a:r>
            <a:r>
              <a:rPr sz="1500">
                <a:solidFill>
                  <a:srgbClr val="E6E6E6"/>
                </a:solidFill>
                <a:latin typeface="Consolas"/>
              </a:rPr>
              <a:t>(random.</a:t>
            </a:r>
            <a:r>
              <a:rPr sz="1500">
                <a:solidFill>
                  <a:srgbClr val="7FDBFF"/>
                </a:solidFill>
                <a:latin typeface="Consolas"/>
              </a:rPr>
              <a:t>choice</a:t>
            </a:r>
            <a:r>
              <a:rPr sz="1500">
                <a:solidFill>
                  <a:srgbClr val="E6E6E6"/>
                </a:solidFill>
                <a:latin typeface="Consolas"/>
              </a:rPr>
              <a:t>(COLORS), ...)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</a:t>
            </a:r>
            <a:r>
              <a:rPr sz="1500" b="1">
                <a:solidFill>
                  <a:srgbClr val="FF6B9A"/>
                </a:solidFill>
                <a:latin typeface="Consolas"/>
              </a:rPr>
              <a:t>enemies</a:t>
            </a:r>
            <a:r>
              <a:rPr sz="1500">
                <a:solidFill>
                  <a:srgbClr val="E6E6E6"/>
                </a:solidFill>
                <a:latin typeface="Consolas"/>
              </a:rPr>
              <a:t>.</a:t>
            </a:r>
            <a:r>
              <a:rPr sz="1500">
                <a:solidFill>
                  <a:srgbClr val="7FDBFF"/>
                </a:solidFill>
                <a:latin typeface="Consolas"/>
              </a:rPr>
              <a:t>append</a:t>
            </a:r>
            <a:r>
              <a:rPr sz="1500">
                <a:solidFill>
                  <a:srgbClr val="E6E6E6"/>
                </a:solidFill>
                <a:latin typeface="Consolas"/>
              </a:rPr>
              <a:t>(enemy)</a:t>
            </a:r>
          </a:p>
        </p:txBody>
      </p:sp>
      <p:sp>
        <p:nvSpPr>
          <p:cNvPr id="8" name="code-bg"/>
          <p:cNvSpPr/>
          <p:nvPr/>
        </p:nvSpPr>
        <p:spPr>
          <a:xfrm>
            <a:off x="5120640" y="2788920"/>
            <a:ext cx="6519672" cy="22860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5349240" y="2948939"/>
            <a:ext cx="6062472" cy="1965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for</a:t>
            </a:r>
            <a:r>
              <a:rPr sz="1500">
                <a:solidFill>
                  <a:srgbClr val="E6E6E6"/>
                </a:solidFill>
                <a:latin typeface="Consolas"/>
              </a:rPr>
              <a:t> enemy </a:t>
            </a:r>
            <a:r>
              <a:rPr sz="1500">
                <a:solidFill>
                  <a:srgbClr val="FF9F1C"/>
                </a:solidFill>
                <a:latin typeface="Consolas"/>
              </a:rPr>
              <a:t>in</a:t>
            </a:r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  <a:r>
              <a:rPr sz="1500" b="1">
                <a:solidFill>
                  <a:srgbClr val="FF6B9A"/>
                </a:solidFill>
                <a:latin typeface="Consolas"/>
              </a:rPr>
              <a:t>enemies</a:t>
            </a:r>
            <a:r>
              <a:rPr sz="15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enemy.</a:t>
            </a:r>
            <a:r>
              <a:rPr sz="1500">
                <a:solidFill>
                  <a:srgbClr val="7FDBFF"/>
                </a:solidFill>
                <a:latin typeface="Consolas"/>
              </a:rPr>
              <a:t>sety</a:t>
            </a:r>
            <a:r>
              <a:rPr sz="1500">
                <a:solidFill>
                  <a:srgbClr val="E6E6E6"/>
                </a:solidFill>
                <a:latin typeface="Consolas"/>
              </a:rPr>
              <a:t>(enemy.</a:t>
            </a:r>
            <a:r>
              <a:rPr sz="1500">
                <a:solidFill>
                  <a:srgbClr val="7FDBFF"/>
                </a:solidFill>
                <a:latin typeface="Consolas"/>
              </a:rPr>
              <a:t>ycor</a:t>
            </a:r>
            <a:r>
              <a:rPr sz="1500">
                <a:solidFill>
                  <a:srgbClr val="E6E6E6"/>
                </a:solidFill>
                <a:latin typeface="Consolas"/>
              </a:rPr>
              <a:t>() - </a:t>
            </a:r>
            <a:r>
              <a:rPr sz="1500" b="1">
                <a:solidFill>
                  <a:srgbClr val="FF6B9A"/>
                </a:solidFill>
                <a:latin typeface="Consolas"/>
              </a:rPr>
              <a:t>speed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</a:t>
            </a:r>
            <a:r>
              <a:rPr sz="1500">
                <a:solidFill>
                  <a:srgbClr val="FF9F1C"/>
                </a:solidFill>
                <a:latin typeface="Consolas"/>
              </a:rPr>
              <a:t>if</a:t>
            </a:r>
            <a:r>
              <a:rPr sz="1500">
                <a:solidFill>
                  <a:srgbClr val="E6E6E6"/>
                </a:solidFill>
                <a:latin typeface="Consolas"/>
              </a:rPr>
              <a:t> enemy.</a:t>
            </a:r>
            <a:r>
              <a:rPr sz="1500">
                <a:solidFill>
                  <a:srgbClr val="7FDBFF"/>
                </a:solidFill>
                <a:latin typeface="Consolas"/>
              </a:rPr>
              <a:t>ycor</a:t>
            </a:r>
            <a:r>
              <a:rPr sz="1500">
                <a:solidFill>
                  <a:srgbClr val="E6E6E6"/>
                </a:solidFill>
                <a:latin typeface="Consolas"/>
              </a:rPr>
              <a:t>() &lt; -</a:t>
            </a:r>
            <a:r>
              <a:rPr sz="1500">
                <a:solidFill>
                  <a:srgbClr val="FFD166"/>
                </a:solidFill>
                <a:latin typeface="Consolas"/>
              </a:rPr>
              <a:t>400</a:t>
            </a:r>
            <a:r>
              <a:rPr sz="15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    </a:t>
            </a:r>
            <a:r>
              <a:rPr sz="1500">
                <a:solidFill>
                  <a:srgbClr val="7FDBFF"/>
                </a:solidFill>
                <a:latin typeface="Consolas"/>
              </a:rPr>
              <a:t>reset_enemy</a:t>
            </a:r>
            <a:r>
              <a:rPr sz="1500">
                <a:solidFill>
                  <a:srgbClr val="E6E6E6"/>
                </a:solidFill>
                <a:latin typeface="Consolas"/>
              </a:rPr>
              <a:t>(enemy)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    </a:t>
            </a:r>
            <a:r>
              <a:rPr sz="1500" b="1">
                <a:solidFill>
                  <a:srgbClr val="FF6B9A"/>
                </a:solidFill>
                <a:latin typeface="Consolas"/>
              </a:rPr>
              <a:t>score</a:t>
            </a:r>
            <a:r>
              <a:rPr sz="1500">
                <a:solidFill>
                  <a:srgbClr val="E6E6E6"/>
                </a:solidFill>
                <a:latin typeface="Consolas"/>
              </a:rPr>
              <a:t> = </a:t>
            </a:r>
            <a:r>
              <a:rPr sz="1500" b="1">
                <a:solidFill>
                  <a:srgbClr val="FF6B9A"/>
                </a:solidFill>
                <a:latin typeface="Consolas"/>
              </a:rPr>
              <a:t>score</a:t>
            </a:r>
            <a:r>
              <a:rPr sz="1500">
                <a:solidFill>
                  <a:srgbClr val="E6E6E6"/>
                </a:solidFill>
                <a:latin typeface="Consolas"/>
              </a:rPr>
              <a:t> + </a:t>
            </a:r>
            <a:r>
              <a:rPr sz="1500">
                <a:solidFill>
                  <a:srgbClr val="FFD166"/>
                </a:solidFill>
                <a:latin typeface="Consolas"/>
              </a:rPr>
              <a:t>1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    </a:t>
            </a:r>
            <a:r>
              <a:rPr sz="1500" b="1">
                <a:solidFill>
                  <a:srgbClr val="FF6B9A"/>
                </a:solidFill>
                <a:latin typeface="Consolas"/>
              </a:rPr>
              <a:t>speed</a:t>
            </a:r>
            <a:r>
              <a:rPr sz="1500">
                <a:solidFill>
                  <a:srgbClr val="E6E6E6"/>
                </a:solidFill>
                <a:latin typeface="Consolas"/>
              </a:rPr>
              <a:t> = </a:t>
            </a:r>
            <a:r>
              <a:rPr sz="1500" b="1">
                <a:solidFill>
                  <a:srgbClr val="FF6B9A"/>
                </a:solidFill>
                <a:latin typeface="Consolas"/>
              </a:rPr>
              <a:t>speed</a:t>
            </a:r>
            <a:r>
              <a:rPr sz="1500">
                <a:solidFill>
                  <a:srgbClr val="E6E6E6"/>
                </a:solidFill>
                <a:latin typeface="Consolas"/>
              </a:rPr>
              <a:t> + </a:t>
            </a:r>
            <a:r>
              <a:rPr sz="1500">
                <a:solidFill>
                  <a:srgbClr val="FFD166"/>
                </a:solidFill>
                <a:latin typeface="Consolas"/>
              </a:rPr>
              <a:t>0.3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</a:t>
            </a:r>
            <a:r>
              <a:rPr sz="1500">
                <a:solidFill>
                  <a:srgbClr val="FF9F1C"/>
                </a:solidFill>
                <a:latin typeface="Consolas"/>
              </a:rPr>
              <a:t>if</a:t>
            </a:r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  <a:r>
              <a:rPr sz="1500">
                <a:solidFill>
                  <a:srgbClr val="7FDBFF"/>
                </a:solidFill>
                <a:latin typeface="Consolas"/>
              </a:rPr>
              <a:t>crashed</a:t>
            </a:r>
            <a:r>
              <a:rPr sz="1500">
                <a:solidFill>
                  <a:srgbClr val="E6E6E6"/>
                </a:solidFill>
                <a:latin typeface="Consolas"/>
              </a:rPr>
              <a:t>(player, enemy):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    game_over = </a:t>
            </a:r>
            <a:r>
              <a:rPr sz="1500">
                <a:solidFill>
                  <a:srgbClr val="FF9F1C"/>
                </a:solidFill>
                <a:latin typeface="Consolas"/>
              </a:rPr>
              <a:t>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5212080"/>
            <a:ext cx="6519672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5F6F78"/>
                </a:solidFill>
                <a:latin typeface="Arial"/>
                <a:cs typeface="Arial"/>
              </a:rPr>
              <a:t>רוצים עוד מכוניות? משנים רק מספר אחד בלולאה - הרשימה עושה את השאר</a:t>
            </a:r>
          </a:p>
        </p:txBody>
      </p:sp>
      <p:sp>
        <p:nvSpPr>
          <p:cNvPr id="11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car5.py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אתגרים: שדרגו את המשחק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19872" y="132588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348472" y="1554480"/>
            <a:ext cx="3063240" cy="685800"/>
          </a:xfrm>
          <a:prstGeom prst="roundRect">
            <a:avLst>
              <a:gd name="adj" fmla="val 50000"/>
            </a:avLst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48472" y="1554480"/>
            <a:ext cx="306324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200" b="1" i="0">
                <a:solidFill>
                  <a:srgbClr val="FFFFFF"/>
                </a:solidFill>
                <a:latin typeface="Arial"/>
                <a:cs typeface="Arial"/>
              </a:rPr>
              <a:t>★  קל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2743200"/>
            <a:ext cx="201168" cy="201168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48472" y="25603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צבעים חדשים ברשימה COLORS</a:t>
            </a:r>
          </a:p>
        </p:txBody>
      </p:sp>
      <p:sp>
        <p:nvSpPr>
          <p:cNvPr id="9" name="Oval 8"/>
          <p:cNvSpPr/>
          <p:nvPr/>
        </p:nvSpPr>
        <p:spPr>
          <a:xfrm>
            <a:off x="11137392" y="3657600"/>
            <a:ext cx="201168" cy="201168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34747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מכונית בצבע שלכם</a:t>
            </a:r>
          </a:p>
        </p:txBody>
      </p:sp>
      <p:sp>
        <p:nvSpPr>
          <p:cNvPr id="11" name="Oval 10"/>
          <p:cNvSpPr/>
          <p:nvPr/>
        </p:nvSpPr>
        <p:spPr>
          <a:xfrm>
            <a:off x="11137392" y="4572000"/>
            <a:ext cx="201168" cy="201168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43891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מהירות התחלתית אחרת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32588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62856" y="1554480"/>
            <a:ext cx="3063240" cy="68580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1554480"/>
            <a:ext cx="306324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200" b="1" i="0">
                <a:solidFill>
                  <a:srgbClr val="FFFFFF"/>
                </a:solidFill>
                <a:latin typeface="Arial"/>
                <a:cs typeface="Arial"/>
              </a:rPr>
              <a:t>★★  בינוני</a:t>
            </a:r>
          </a:p>
        </p:txBody>
      </p:sp>
      <p:sp>
        <p:nvSpPr>
          <p:cNvPr id="16" name="Oval 15"/>
          <p:cNvSpPr/>
          <p:nvPr/>
        </p:nvSpPr>
        <p:spPr>
          <a:xfrm>
            <a:off x="7351775" y="2743200"/>
            <a:ext cx="201168" cy="20116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62856" y="25603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נתיב רביעי וכביש רחב יותר</a:t>
            </a:r>
          </a:p>
        </p:txBody>
      </p:sp>
      <p:sp>
        <p:nvSpPr>
          <p:cNvPr id="18" name="Oval 17"/>
          <p:cNvSpPr/>
          <p:nvPr/>
        </p:nvSpPr>
        <p:spPr>
          <a:xfrm>
            <a:off x="7351775" y="3657600"/>
            <a:ext cx="201168" cy="20116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34747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שומרים את השיא הכי גבוה</a:t>
            </a:r>
          </a:p>
        </p:txBody>
      </p:sp>
      <p:sp>
        <p:nvSpPr>
          <p:cNvPr id="20" name="Oval 19"/>
          <p:cNvSpPr/>
          <p:nvPr/>
        </p:nvSpPr>
        <p:spPr>
          <a:xfrm>
            <a:off x="7351775" y="4572000"/>
            <a:ext cx="201168" cy="20116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62856" y="43891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רקע משתנה כל 10 נקודות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39" y="132588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7239" y="1554480"/>
            <a:ext cx="3063240" cy="685800"/>
          </a:xfrm>
          <a:prstGeom prst="roundRect">
            <a:avLst>
              <a:gd name="adj" fmla="val 50000"/>
            </a:avLst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39" y="1554480"/>
            <a:ext cx="306324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200" b="1" i="0">
                <a:solidFill>
                  <a:srgbClr val="FFFFFF"/>
                </a:solidFill>
                <a:latin typeface="Arial"/>
                <a:cs typeface="Arial"/>
              </a:rPr>
              <a:t>★★★  אלופים</a:t>
            </a:r>
          </a:p>
        </p:txBody>
      </p:sp>
      <p:sp>
        <p:nvSpPr>
          <p:cNvPr id="25" name="Oval 24"/>
          <p:cNvSpPr/>
          <p:nvPr/>
        </p:nvSpPr>
        <p:spPr>
          <a:xfrm>
            <a:off x="3566160" y="2743200"/>
            <a:ext cx="201168" cy="20116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39" y="25603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3 חיים במקום 1</a:t>
            </a:r>
          </a:p>
        </p:txBody>
      </p:sp>
      <p:sp>
        <p:nvSpPr>
          <p:cNvPr id="27" name="Oval 26"/>
          <p:cNvSpPr/>
          <p:nvPr/>
        </p:nvSpPr>
        <p:spPr>
          <a:xfrm>
            <a:off x="3566160" y="3657600"/>
            <a:ext cx="201168" cy="20116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39" y="34747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מטבעות לאיסוף = בונוס</a:t>
            </a:r>
          </a:p>
        </p:txBody>
      </p:sp>
      <p:sp>
        <p:nvSpPr>
          <p:cNvPr id="29" name="Oval 28"/>
          <p:cNvSpPr/>
          <p:nvPr/>
        </p:nvSpPr>
        <p:spPr>
          <a:xfrm>
            <a:off x="3566160" y="4572000"/>
            <a:ext cx="201168" cy="20116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39" y="43891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רווח = משחק חדש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רמזים לאתגרים נמצאים בסוף הקובץ </a:t>
            </a:r>
            <a:r>
              <a:rPr sz="1600" b="1" i="0">
                <a:solidFill>
                  <a:srgbClr val="5F6F78"/>
                </a:solidFill>
                <a:latin typeface="Consolas"/>
              </a:rPr>
              <a:t>‎car5.py‎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4400" b="1" i="0">
                <a:solidFill>
                  <a:srgbClr val="FFFFFF"/>
                </a:solidFill>
                <a:latin typeface="Arial"/>
                <a:cs typeface="Arial"/>
              </a:rPr>
              <a:t>מה למדנו היום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119872" y="164592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9468612" y="1874519"/>
            <a:ext cx="822960" cy="82296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19872" y="2788920"/>
            <a:ext cx="35204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FFFFFF"/>
                </a:solidFill>
                <a:latin typeface="Arial"/>
                <a:cs typeface="Arial"/>
              </a:rPr>
              <a:t>רשימות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94192" y="3383280"/>
            <a:ext cx="297180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אינדקס מתחיל מאפס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append, len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for x in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64592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5682996" y="1874519"/>
            <a:ext cx="822960" cy="8229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4256" y="2788920"/>
            <a:ext cx="35204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FFFFFF"/>
                </a:solidFill>
                <a:latin typeface="Arial"/>
                <a:cs typeface="Arial"/>
              </a:rPr>
              <a:t>פונקציות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383280"/>
            <a:ext cx="297180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def + פרמטרים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return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global / מקומי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39" y="164592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97379" y="1874519"/>
            <a:ext cx="822960" cy="82296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39" y="2788920"/>
            <a:ext cx="35204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FFFFFF"/>
                </a:solidFill>
                <a:latin typeface="Arial"/>
                <a:cs typeface="Arial"/>
              </a:rPr>
              <a:t>משחק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383280"/>
            <a:ext cx="297180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לולאת משחק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זיהוי התנגשות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ניקוד ומהירות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000" b="1" i="0">
                <a:solidFill>
                  <a:srgbClr val="FFD166"/>
                </a:solidFill>
                <a:latin typeface="Arial"/>
                <a:cs typeface="Arial"/>
              </a:rPr>
              <a:t>בפעם הבאה: </a:t>
            </a:r>
            <a:r>
              <a:rPr lang="he-IL" sz="2000" b="0" i="0">
                <a:solidFill>
                  <a:srgbClr val="FFFFFF"/>
                </a:solidFill>
                <a:latin typeface="Arial"/>
                <a:cs typeface="Arial"/>
              </a:rPr>
              <a:t>מוסיפים למשחק משהו משלכם - תביאו רעיון!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3105</Words>
  <Application>Microsoft Office PowerPoint</Application>
  <PresentationFormat>Widescreen</PresentationFormat>
  <Paragraphs>427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Consolas</vt:lpstr>
      <vt:lpstr>Segoe UI 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 Livne</cp:lastModifiedBy>
  <cp:revision>7</cp:revision>
  <dcterms:created xsi:type="dcterms:W3CDTF">2013-01-27T09:14:16Z</dcterms:created>
  <dcterms:modified xsi:type="dcterms:W3CDTF">2026-10-10T17:03:17Z</dcterms:modified>
  <cp:category/>
</cp:coreProperties>
</file>