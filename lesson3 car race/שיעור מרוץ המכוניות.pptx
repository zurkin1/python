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4" r:id="rId21"/>
    <p:sldId id="285" r:id="rId22"/>
    <p:sldId id="275" r:id="rId23"/>
    <p:sldId id="276" r:id="rId24"/>
    <p:sldId id="277" r:id="rId25"/>
    <p:sldId id="286" r:id="rId26"/>
    <p:sldId id="278" r:id="rId27"/>
    <p:sldId id="279" r:id="rId28"/>
    <p:sldId id="280" r:id="rId29"/>
    <p:sldId id="281" r:id="rId30"/>
    <p:sldId id="283" r:id="rId31"/>
    <p:sldId id="28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65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פתיחה (1 דק'). הראו את המשחק המוגמר (car5.py) כבר עכשיו - זה ה'פרס' של סוף השיעור. אמרו: כדי לבנות אותו צריך שני כלים חדשים - רשימות ופונקציות.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שאלו את הכיתה על כל כרטיס: מה זה עושה? איפה השתמשנו בזה (תפסו את הצב, ציור עם חיצים)? ontimer הוא הבסיס של לולאת המשחק שנבנה היום.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דק'. כל חלק מגיע עם קובץ תרגול. בחלק 3 כל קובץ הוא שלב במשחק - car1 עד car5. אם מישהו נתקע בשלב, הוא פשוט פותח את הקובץ של השלב הבא.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מעבר לחלק הרשימות (~20 דק' כולל תרגול).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דק'. משתנה = קופסה אחת. רשימה = שורה של קופסאות עם שם אחד. סוגריים מרובעים [ ] ופסיקים בין האיברים. אפשר לשים ברשימה מספרים, מחרוזות, ואפילו צבים (נראה במשחק!). הדגישו: האינדקס מתחיל מ-0 - זה הבאג מספר 1 של מתחילים.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דק'. שאלו את הכיתה מה יודפס בכל שורה לפני שחושפים. 1- הוא קיצור לאיבר האחרון. colors[5] נותן IndexError - שגיאה שתראו הרבה; קוראים אותה ולא נבהלים. את len(LANES) - 1 נפגוש בשלב 2 של המשחק.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append = 'הוסף לסוף'. השמה לאינדקס מחליפה איבר. random.choice הם כבר מכירים מחלק 1 - עכשיו הם מבינים שזו פשוט רשימה.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 הסבר + 5 דק' תרגול. השוו ל-for i in range(4): - שם i מקבל 0,1,2,3, וכאן color מקבל את הצבעים. הלולאה רצה פעם אחת לכל איבר, לא משנה כמה יש. תנו להם להריץ את lists_demo.py ולעשות אתגרים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התשובות: 1) 20 (אינדקס 1 = האיבר השני)  2) 3  3) 8 + 5 = 13. אפשר להפוך לתחרות קטנה: מי שעונה נכון על שלושתן.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מעבר לחלק הפונקציות (~25 דק' כולל תרגול). שאלו: כבר השתמשנו בפונקציות? כן! print, forward, randint - מישהו אחר כתב אותן. היום נכתוב את שלנו.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כמו בלולאות בחלק 1: מתכנתים עצלנים! לולאה חוזרת על קוד באותו מקום, פונקציה מאפשרת להשתמש בקוד מכל מקום בתוכנית, וכל פעם עם ערכים אחרים. אם יש באג בציור הבית - מתקנים פעם אחת בתוך הפונקציה וכל הבתים מתוקנים.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דק'. עברו על כל חלק: def, שם (באנגלית, בלי רווחים, מתאר מה הפונקציה עושה), סוגריים עם פרמטרים, נקודתיים, הזחה. חשוב מאוד: הגדרה לא מריצה כלום! רק הקריאה draw_square(100, "red") מריצה. טעות נפוצה: להגדיר פונקציה ולשכוח לקרוא לה - ואז 'לא קורה כלום'.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פרמטר = משתנה שהפונקציה מקבלת מבחוץ. הסדר חשוב! שאלו: מה יקרה אם נכתוב draw_house("pink", -250, -50)? (שגיאה - goto לא יודע מה לעשות עם "pink").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דק'. כמו מכונה: נכנסים ערכים, יוצאת תשובה. random.randint היא פונקציה שמחזירה ערך - כבר השתמשנו בזה! return גם מסיים את הפונקציה - שורות אחריו לא ירוצו. במשחק: make_car מחזירה מכונית חדשה, ו-crashed מחזירה True או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דק'. משל: הפונקציה היא חדר עם דלת סגורה. מה שנולד בחדר (bonus) נשאר בחדר. משתנה מהסלון (score) רואים מכל חדר, אבל כדי לשנות אותו צריך 'אישור' - global. בחלק 1 ראינו global ב-turtle_game.py. במשחק היום: global lane, global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דק' תרגול. מי שמסיים את 1-2 ממשיך ל-3. פתרון לאתגר 2:</a:t>
            </a:r>
          </a:p>
          <a:p>
            <a:r>
              <a:t>colors = ["khaki", "lightblue", "pink", "lightgreen"]</a:t>
            </a:r>
          </a:p>
          <a:p>
            <a:r>
              <a:t>for i in range(len(colors)):</a:t>
            </a:r>
          </a:p>
          <a:p>
            <a:r>
              <a:t>    draw_house(-250 + i * 150, -50, colors[i])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מעבר לחלק המשחק (~50 דק').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דק'. הריצו את car5.py מול הכיתה ותנו למתנדב לשחק דקה. שאלו: מאיזה חלקים המשחק בנוי? (כביש, מכונית, מקלדת, מכוניות זזות, התנגשות, ניקוד) - זה בדיוק סדר השלבים.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זו התמונה הגדולה. game_loop היא 'הלב' - רצה 50 פעמים בשנייה וקוראת לפונקציות קטנות. move_left/right רצות רק כשלוחצים על מקש. make_car יוצרת צב שהצורה שלו היא תמונת gif של מכונית.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36BC-312F-4DF0-C8BC-1245777E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C5328-EC49-2F63-DA48-74E7B04C6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80FA0-59FF-AD18-20EF-F5426E615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זו התמונה הגדולה. game_loop היא 'הלב' - רצה 50 פעמים בשנייה וקוראת לפונקציות קטנות. move_left/right רצות רק כשלוחצים על מקש. make_car יוצרת צב שהצורה שלו היא תמונת gif של מכונית.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AD7B7-1B92-7532-10ED-C68D03F8C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54074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2014-BEF0-D862-EFA4-B569367F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B395F-C036-375A-5A0F-A1DC33E07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234C9-FF4A-20BC-9E1B-3B0862BB7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זו התמונה הגדולה. game_loop היא 'הלב' - רצה 50 פעמים בשנייה וקוראת לפונקציות קטנות. move_left/right רצות רק כשלוחצים על מקש. make_car יוצרת צב שהצורה שלו היא תמונת gif של מכונית.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99D11-4BB1-C465-1129-5B5F8D703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175271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דק'. בכל שלב: מראים את השקף, מריצים את הקובץ, מסבירים את הקוד החדש (מסומן ב-🆕 בקובץ), ואז 5-7 דקות לאתגרים שבסוף הקובץ.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דק'. שני דברים חדשים: 1) LANES - רשימה של מיקומי x של הנתיבים. 2) make_car - פונקציה עם 3 פרמטרים שמחזירה (return) צב חדש. register_shape טוען תמונת gif, ו-car.shape(image) הופך את הצב לתמונה. תמונות לא מסתובבות עם הצב - לכן יש תמונה שפונה למעלה (player.gif) ותמונות שפונות למטה (enemy_...gif). קבצי ה-gif חייבים להיות באותה תיקייה עם הקוד. screen.tracer(0) מכבה את האנימציה - הציור מופיע בבת אחת עם screen.update(). אתגרים: להחליף תמונה, להעביר נתיב, להוסיף מכונית כחולה.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דק'. כל מכונית במשחק היא אובייקט צב רגיל. לצב יש שני חלקים: 1) האובייקט - מיקום, כיוון ועט; את זה התוכנית מזיזה עם goto ו-sety וקוראת עם xcor ו-ycor. 2) המראה - הצורה שמציירים על המסך. car.shape("player.gif") מחליף רק את המראה: במקום החץ או הצב מצוירת התמונה, ואין צב מוסתר מתחתיה. הנקודה של הצב (הנקודה הוורודה) היא מרכז התמונה - לכן crashed משווה בין מרכזי המכוניות. משל: register_shape מוסיף תחפושת לארון של המסך, ו-shape הוא צב אחד שלובש אותה.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10B7-458E-CE1A-5D25-23311300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B6847-D80D-7FB2-EAB4-BDCA3D65D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197D7-0DF8-66D4-31F6-BC04898B1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דק'. lane הוא משתנה גלובלי - לכן global בתוך הפונקציה. move_right בודקת lane &lt; len(LANES) - 1, כלומר 'לא באינדקס האחרון'. שאלו: למה לא כתבנו פשוט lane &lt; 2? (כי אם נוסיף נתיב לרשימה, הקוד ימשיך לעבוד). screen.listen() חובה - אחרת המסך לא שומע את המקלדת.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AC0A-4826-D48C-3B3E-6CA729D3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88345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דק'. lane הוא משתנה גלובלי - לכן global בתוך הפונקציה. move_right בודקת lane &lt; len(LANES) - 1, כלומר 'לא באינדקס האחרון'. שאלו: למה לא כתבנו פשוט lane &lt; 2? (כי אם נוסיף נתיב לרשימה, הקוד ימשיך לעבוד). screen.listen() חובה - אחרת המסך לא שומע את המקלדת.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דק'. זה הרעיון הכי חשוב במשחקים: לולאת משחק. game_loop קוראת לעצמה דרך ontimer כל 20 אלפיות שנייה - כמו tick בתפסו את הצב, רק הרבה יותר מהר. הכביש לא באמת זז - הקווים זזים למטה וחוזרים למעלה (move_lines עם for על רשימת הקווים). move_enemy: כשהמכונית יוצאת למטה היא חוזרת למעלה בנתיב אקראי - random.choice(LANES).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דק'. abs מחזירה ערך מוחלט: abs(-5) = 5. שתי מכוניות נוגעות אם המרחק ביניהן ב-x קטן מרוחב מכונית (36) וגם ב-y קטן מאורך מכונית (64). שימו לב: crashed מחזירה ערך בוליאני - וזה מה שה-if בודק. אם התנגשנו - לא קוראים שוב ל-ontimer, ולכן הלולאה נעצרת. פשוט וחכם.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דק'. כאן הכול מתחבר: רשימת מכוניות (enemies), לולאת for שעוברת על כולן, פונקציות (reset_enemy, crashed), ומשתנים גלובליים (score, speed, game_over). שאלו: מה צריך לשנות כדי שיהיו 5 מכוניות? (רק range(5)). זה הכוח של רשימות.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דק'. שאלו כל תלמיד: מה הדבר הכי מגניב שלמדתם היום? שיעורי בית: לבחור אתגר אחד מהשקף הקודם ולהגיש את car5.py המשודרג.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זמן שנשאר. כל תלמיד בוחר רמה. אתגר החיים: משתנה lives = 3, ובהתנגשות lives = lives - 1 ו-reset_enemy(enemy) כדי שהמכונית תיעלם; game_over רק כש-lives ==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868680"/>
            <a:ext cx="5120640" cy="51206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ca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1417320"/>
            <a:ext cx="2863890" cy="40233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74920" y="731520"/>
            <a:ext cx="502920" cy="50292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0" y="4937760"/>
            <a:ext cx="347472" cy="347472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869608"/>
            <a:ext cx="5349240" cy="10156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6000" b="1" i="0" dirty="0">
                <a:solidFill>
                  <a:srgbClr val="FFFFFF"/>
                </a:solidFill>
                <a:latin typeface="Arial"/>
                <a:cs typeface="Arial"/>
              </a:rPr>
              <a:t>שיעור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971800"/>
            <a:ext cx="534924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600" b="0" i="0" dirty="0">
                <a:solidFill>
                  <a:srgbClr val="FFD166"/>
                </a:solidFill>
                <a:latin typeface="Arial"/>
                <a:cs typeface="Arial"/>
              </a:rPr>
              <a:t>רשימות, פונקציות ומשחק </a:t>
            </a:r>
            <a:r>
              <a:rPr lang="he-IL" sz="2600" b="0" i="0" dirty="0" err="1">
                <a:solidFill>
                  <a:srgbClr val="FFD166"/>
                </a:solidFill>
                <a:latin typeface="Arial"/>
                <a:cs typeface="Arial"/>
              </a:rPr>
              <a:t>בפייתון</a:t>
            </a:r>
            <a:endParaRPr lang="he-IL" sz="2600" b="0" i="0" dirty="0">
              <a:solidFill>
                <a:srgbClr val="FFD166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3794760"/>
            <a:ext cx="5349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CDE8D8"/>
                </a:solidFill>
                <a:latin typeface="Arial"/>
                <a:cs typeface="Arial"/>
              </a:rPr>
              <a:t>היום נלמד שני כלים חזקים של מתכנתים - ונשתמש בהם כדי לבנות משחק מרוץ אמיתי!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997" y="67642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dirty="0">
                <a:solidFill>
                  <a:srgbClr val="5F6F78"/>
                </a:solidFill>
                <a:latin typeface="Arial"/>
                <a:cs typeface="Arial"/>
              </a:rPr>
              <a:t>ארבעה דברים שנצטרך היום במשחק: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</a:t>
            </a:r>
          </a:p>
        </p:txBody>
      </p:sp>
      <p:sp>
        <p:nvSpPr>
          <p:cNvPr id="5" name="recap-card"/>
          <p:cNvSpPr/>
          <p:nvPr/>
        </p:nvSpPr>
        <p:spPr>
          <a:xfrm>
            <a:off x="9034272" y="178308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9834372" y="2057400"/>
            <a:ext cx="1005840" cy="100584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egoe UI Symbol"/>
              </a:rPr>
              <a:t>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4272" y="3200400"/>
            <a:ext cx="2606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400" b="1" i="0">
                <a:solidFill>
                  <a:srgbClr val="1B2B34"/>
                </a:solidFill>
                <a:latin typeface="Arial"/>
                <a:cs typeface="Arial"/>
              </a:rPr>
              <a:t>לולאה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4272" y="3703320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חזור כמה פעמים</a:t>
            </a:r>
          </a:p>
        </p:txBody>
      </p:sp>
      <p:sp>
        <p:nvSpPr>
          <p:cNvPr id="9" name="code-bg"/>
          <p:cNvSpPr/>
          <p:nvPr/>
        </p:nvSpPr>
        <p:spPr>
          <a:xfrm>
            <a:off x="9217152" y="4343400"/>
            <a:ext cx="2240280" cy="13258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code"/>
          <p:cNvSpPr txBox="1"/>
          <p:nvPr/>
        </p:nvSpPr>
        <p:spPr>
          <a:xfrm>
            <a:off x="9354312" y="4439412"/>
            <a:ext cx="1965960" cy="11338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FF9F1C"/>
                </a:solidFill>
                <a:latin typeface="Consolas"/>
              </a:rPr>
              <a:t>for</a:t>
            </a:r>
            <a:r>
              <a:rPr sz="1500">
                <a:solidFill>
                  <a:srgbClr val="E6E6E6"/>
                </a:solidFill>
                <a:latin typeface="Consolas"/>
              </a:rPr>
              <a:t> i </a:t>
            </a:r>
            <a:r>
              <a:rPr sz="1500">
                <a:solidFill>
                  <a:srgbClr val="FF9F1C"/>
                </a:solidFill>
                <a:latin typeface="Consolas"/>
              </a:rPr>
              <a:t>in</a:t>
            </a:r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  <a:r>
              <a:rPr sz="1500">
                <a:solidFill>
                  <a:srgbClr val="7FDBFF"/>
                </a:solidFill>
                <a:latin typeface="Consolas"/>
              </a:rPr>
              <a:t>range</a:t>
            </a:r>
            <a:r>
              <a:rPr sz="1500">
                <a:solidFill>
                  <a:srgbClr val="E6E6E6"/>
                </a:solidFill>
                <a:latin typeface="Consolas"/>
              </a:rPr>
              <a:t>(</a:t>
            </a:r>
            <a:r>
              <a:rPr sz="1500">
                <a:solidFill>
                  <a:srgbClr val="FFD166"/>
                </a:solidFill>
                <a:latin typeface="Consolas"/>
              </a:rPr>
              <a:t>4</a:t>
            </a:r>
            <a:r>
              <a:rPr sz="1500">
                <a:solidFill>
                  <a:srgbClr val="E6E6E6"/>
                </a:solidFill>
                <a:latin typeface="Consolas"/>
              </a:rPr>
              <a:t>):</a:t>
            </a:r>
          </a:p>
        </p:txBody>
      </p:sp>
      <p:sp>
        <p:nvSpPr>
          <p:cNvPr id="11" name="recap-card"/>
          <p:cNvSpPr/>
          <p:nvPr/>
        </p:nvSpPr>
        <p:spPr>
          <a:xfrm>
            <a:off x="6206032" y="178308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06132" y="2057400"/>
            <a:ext cx="1005840" cy="100584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egoe UI Symbo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6032" y="3200400"/>
            <a:ext cx="2606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400" b="1" i="0">
                <a:solidFill>
                  <a:srgbClr val="1B2B34"/>
                </a:solidFill>
                <a:latin typeface="Arial"/>
                <a:cs typeface="Arial"/>
              </a:rPr>
              <a:t>תנאי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6032" y="3703320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המחשב מחליט</a:t>
            </a:r>
          </a:p>
        </p:txBody>
      </p:sp>
      <p:sp>
        <p:nvSpPr>
          <p:cNvPr id="15" name="code-bg"/>
          <p:cNvSpPr/>
          <p:nvPr/>
        </p:nvSpPr>
        <p:spPr>
          <a:xfrm>
            <a:off x="6388912" y="4343400"/>
            <a:ext cx="2240280" cy="13258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code"/>
          <p:cNvSpPr txBox="1"/>
          <p:nvPr/>
        </p:nvSpPr>
        <p:spPr>
          <a:xfrm>
            <a:off x="6526072" y="4439412"/>
            <a:ext cx="1965960" cy="11338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FF9F1C"/>
                </a:solidFill>
                <a:latin typeface="Consolas"/>
              </a:rPr>
              <a:t>if</a:t>
            </a:r>
            <a:r>
              <a:rPr sz="1500">
                <a:solidFill>
                  <a:srgbClr val="E6E6E6"/>
                </a:solidFill>
                <a:latin typeface="Consolas"/>
              </a:rPr>
              <a:t> x &gt; </a:t>
            </a:r>
            <a:r>
              <a:rPr sz="1500">
                <a:solidFill>
                  <a:srgbClr val="FFD166"/>
                </a:solidFill>
                <a:latin typeface="Consolas"/>
              </a:rPr>
              <a:t>100</a:t>
            </a:r>
            <a:r>
              <a:rPr sz="1500">
                <a:solidFill>
                  <a:srgbClr val="E6E6E6"/>
                </a:solidFill>
                <a:latin typeface="Consolas"/>
              </a:rPr>
              <a:t>:</a:t>
            </a:r>
          </a:p>
        </p:txBody>
      </p:sp>
      <p:sp>
        <p:nvSpPr>
          <p:cNvPr id="17" name="recap-card"/>
          <p:cNvSpPr/>
          <p:nvPr/>
        </p:nvSpPr>
        <p:spPr>
          <a:xfrm>
            <a:off x="3377793" y="178308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77893" y="2057400"/>
            <a:ext cx="1005840" cy="1005840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egoe UI Symbol"/>
              </a:rPr>
              <a:t>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7793" y="3200400"/>
            <a:ext cx="2606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400" b="1" i="0">
                <a:solidFill>
                  <a:srgbClr val="1B2B34"/>
                </a:solidFill>
                <a:latin typeface="Arial"/>
                <a:cs typeface="Arial"/>
              </a:rPr>
              <a:t>מקלדת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793" y="3703320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חץ = פעולה</a:t>
            </a:r>
          </a:p>
        </p:txBody>
      </p:sp>
      <p:sp>
        <p:nvSpPr>
          <p:cNvPr id="21" name="code-bg"/>
          <p:cNvSpPr/>
          <p:nvPr/>
        </p:nvSpPr>
        <p:spPr>
          <a:xfrm>
            <a:off x="3560673" y="4343400"/>
            <a:ext cx="2240280" cy="13258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code"/>
          <p:cNvSpPr txBox="1"/>
          <p:nvPr/>
        </p:nvSpPr>
        <p:spPr>
          <a:xfrm>
            <a:off x="3697833" y="4439412"/>
            <a:ext cx="1965960" cy="11338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7FDBFF"/>
                </a:solidFill>
                <a:latin typeface="Consolas"/>
              </a:rPr>
              <a:t>onkey</a:t>
            </a:r>
            <a:r>
              <a:rPr sz="1500">
                <a:solidFill>
                  <a:srgbClr val="E6E6E6"/>
                </a:solidFill>
                <a:latin typeface="Consolas"/>
              </a:rPr>
              <a:t>(go, </a:t>
            </a:r>
            <a:r>
              <a:rPr sz="1500">
                <a:solidFill>
                  <a:srgbClr val="A6E22E"/>
                </a:solidFill>
                <a:latin typeface="Consolas"/>
              </a:rPr>
              <a:t>"Up"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3" name="recap-card"/>
          <p:cNvSpPr/>
          <p:nvPr/>
        </p:nvSpPr>
        <p:spPr>
          <a:xfrm>
            <a:off x="549554" y="178308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349654" y="2057400"/>
            <a:ext cx="1005840" cy="10058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egoe UI Symbol"/>
              </a:rPr>
              <a:t>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" y="3200400"/>
            <a:ext cx="260604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400" b="1" i="0" dirty="0">
                <a:solidFill>
                  <a:srgbClr val="1B2B34"/>
                </a:solidFill>
                <a:latin typeface="Arial"/>
                <a:cs typeface="Arial"/>
              </a:rPr>
              <a:t>טיימר</a:t>
            </a:r>
            <a:r>
              <a:rPr lang="he-IL" sz="2400" b="1" dirty="0">
                <a:solidFill>
                  <a:srgbClr val="1B2B34"/>
                </a:solidFill>
                <a:latin typeface="Arial"/>
                <a:cs typeface="Arial"/>
              </a:rPr>
              <a:t> (תכף נלמד)</a:t>
            </a:r>
            <a:endParaRPr lang="he-IL" sz="2400" b="1" i="0" dirty="0">
              <a:solidFill>
                <a:srgbClr val="1B2B34"/>
              </a:solidFill>
              <a:latin typeface="Arial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9554" y="3703320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הפעל עוד מעט</a:t>
            </a:r>
          </a:p>
        </p:txBody>
      </p:sp>
      <p:sp>
        <p:nvSpPr>
          <p:cNvPr id="27" name="code-bg"/>
          <p:cNvSpPr/>
          <p:nvPr/>
        </p:nvSpPr>
        <p:spPr>
          <a:xfrm>
            <a:off x="732434" y="4343400"/>
            <a:ext cx="2240280" cy="13258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code"/>
          <p:cNvSpPr txBox="1"/>
          <p:nvPr/>
        </p:nvSpPr>
        <p:spPr>
          <a:xfrm>
            <a:off x="869594" y="4439412"/>
            <a:ext cx="1965960" cy="11338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7FDBFF"/>
                </a:solidFill>
                <a:latin typeface="Consolas"/>
              </a:rPr>
              <a:t>ontimer</a:t>
            </a:r>
            <a:r>
              <a:rPr sz="1500">
                <a:solidFill>
                  <a:srgbClr val="E6E6E6"/>
                </a:solidFill>
                <a:latin typeface="Consolas"/>
              </a:rPr>
              <a:t>(tick, </a:t>
            </a:r>
            <a:r>
              <a:rPr sz="1500">
                <a:solidFill>
                  <a:srgbClr val="FFD166"/>
                </a:solidFill>
                <a:latin typeface="Consolas"/>
              </a:rPr>
              <a:t>1000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השיעור של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9491472" y="1463040"/>
            <a:ext cx="1005840" cy="100584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48472" y="2651760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1B2B34"/>
                </a:solidFill>
                <a:latin typeface="Arial"/>
                <a:cs typeface="Arial"/>
              </a:rPr>
              <a:t>רשימות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8472" y="320040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0" i="0">
                <a:solidFill>
                  <a:srgbClr val="5F6F78"/>
                </a:solidFill>
                <a:latin typeface="Consolas"/>
              </a:rPr>
              <a:t>[ ] , append, 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2" y="361188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lists_demo.py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845552" y="1965960"/>
            <a:ext cx="3931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586984" y="1463040"/>
            <a:ext cx="1005840" cy="100584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651760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1B2B34"/>
                </a:solidFill>
                <a:latin typeface="Arial"/>
                <a:cs typeface="Arial"/>
              </a:rPr>
              <a:t>פונקציות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320040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0" i="0">
                <a:solidFill>
                  <a:srgbClr val="5F6F78"/>
                </a:solidFill>
                <a:latin typeface="Consolas"/>
              </a:rPr>
              <a:t>def, return,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61188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functions_demo.py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941064" y="1965960"/>
            <a:ext cx="3931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682495" y="1463040"/>
            <a:ext cx="1005840" cy="100584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" y="2651760"/>
            <a:ext cx="3291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1B2B34"/>
                </a:solidFill>
                <a:latin typeface="Arial"/>
                <a:cs typeface="Arial"/>
              </a:rPr>
              <a:t>מרוץ מכוניות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" y="320040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0" i="0">
                <a:solidFill>
                  <a:srgbClr val="5F6F78"/>
                </a:solidFill>
                <a:latin typeface="Consolas"/>
              </a:rPr>
              <a:t>5 שלבים, משחק שלם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" y="361188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car1.py ... car5.py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71632" y="5097779"/>
            <a:ext cx="685800" cy="6858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983479"/>
            <a:ext cx="9765792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700" b="1" i="0">
                <a:solidFill>
                  <a:srgbClr val="1B2B34"/>
                </a:solidFill>
                <a:latin typeface="Arial"/>
                <a:cs typeface="Arial"/>
              </a:rPr>
              <a:t>הכלל של היום:</a:t>
            </a:r>
          </a:p>
          <a:p>
            <a:pPr algn="r" rtl="1">
              <a:spcAft>
                <a:spcPts val="2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קודם מבינים כלי חדש על דוגמה קטנה - ואז משתמשים בו במשחק.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1463040"/>
            <a:ext cx="2926080" cy="2926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0" y="1463040"/>
            <a:ext cx="292608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0" b="1" i="0">
                <a:solidFill>
                  <a:srgbClr val="FFD166"/>
                </a:solidFill>
                <a:latin typeface="Arial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10607040" y="1188720"/>
            <a:ext cx="502920" cy="50292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4069080"/>
            <a:ext cx="365760" cy="36576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9494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5000" b="1" i="0">
                <a:solidFill>
                  <a:srgbClr val="FFFFFF"/>
                </a:solidFill>
                <a:latin typeface="Arial"/>
                <a:cs typeface="Arial"/>
              </a:rPr>
              <a:t>רשימות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200" b="0" i="0">
                <a:solidFill>
                  <a:srgbClr val="CDE8D8"/>
                </a:solidFill>
                <a:latin typeface="Arial"/>
                <a:cs typeface="Arial"/>
              </a:rPr>
              <a:t>איך שומרים הרבה ערכים במשתנה אחד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רשימה = הרבה ערכים במשתנה אחד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234440"/>
            <a:ext cx="51480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1" i="0">
                <a:solidFill>
                  <a:srgbClr val="EF476F"/>
                </a:solidFill>
                <a:latin typeface="Arial"/>
                <a:cs typeface="Arial"/>
              </a:rPr>
              <a:t>בלי רשימה: </a:t>
            </a: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משתנה לכל צבע</a:t>
            </a:r>
          </a:p>
        </p:txBody>
      </p:sp>
      <p:sp>
        <p:nvSpPr>
          <p:cNvPr id="5" name="code-bg"/>
          <p:cNvSpPr/>
          <p:nvPr/>
        </p:nvSpPr>
        <p:spPr>
          <a:xfrm>
            <a:off x="6492240" y="1737360"/>
            <a:ext cx="5148072" cy="1600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"/>
          <p:cNvSpPr txBox="1"/>
          <p:nvPr/>
        </p:nvSpPr>
        <p:spPr>
          <a:xfrm>
            <a:off x="6720840" y="1897379"/>
            <a:ext cx="2152833" cy="882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800" dirty="0">
                <a:solidFill>
                  <a:srgbClr val="E6E6E6"/>
                </a:solidFill>
                <a:latin typeface="Consolas"/>
              </a:rPr>
              <a:t>color1 = </a:t>
            </a:r>
            <a:r>
              <a:rPr sz="1800" dirty="0">
                <a:solidFill>
                  <a:srgbClr val="A6E22E"/>
                </a:solidFill>
                <a:latin typeface="Consolas"/>
              </a:rPr>
              <a:t>"red"</a:t>
            </a:r>
          </a:p>
          <a:p>
            <a:pPr algn="l" rtl="0">
              <a:lnSpc>
                <a:spcPct val="108000"/>
              </a:lnSpc>
            </a:pPr>
            <a:r>
              <a:rPr sz="1800" dirty="0">
                <a:solidFill>
                  <a:srgbClr val="E6E6E6"/>
                </a:solidFill>
                <a:latin typeface="Consolas"/>
              </a:rPr>
              <a:t>color2 = </a:t>
            </a:r>
            <a:r>
              <a:rPr sz="1800" dirty="0">
                <a:solidFill>
                  <a:srgbClr val="A6E22E"/>
                </a:solidFill>
                <a:latin typeface="Consolas"/>
              </a:rPr>
              <a:t>"orange"</a:t>
            </a:r>
          </a:p>
          <a:p>
            <a:pPr algn="l" rtl="0">
              <a:lnSpc>
                <a:spcPct val="108000"/>
              </a:lnSpc>
            </a:pPr>
            <a:r>
              <a:rPr sz="1800" dirty="0">
                <a:solidFill>
                  <a:srgbClr val="E6E6E6"/>
                </a:solidFill>
                <a:latin typeface="Consolas"/>
              </a:rPr>
              <a:t>color3 = </a:t>
            </a:r>
            <a:r>
              <a:rPr sz="1800" dirty="0">
                <a:solidFill>
                  <a:srgbClr val="A6E22E"/>
                </a:solidFill>
                <a:latin typeface="Consolas"/>
              </a:rPr>
              <a:t>"yellow"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1" i="0">
                <a:solidFill>
                  <a:srgbClr val="2D9F5C"/>
                </a:solidFill>
                <a:latin typeface="Arial"/>
                <a:cs typeface="Arial"/>
              </a:rPr>
              <a:t>עם רשימה: </a:t>
            </a: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שורה אחת</a:t>
            </a:r>
          </a:p>
        </p:txBody>
      </p:sp>
      <p:sp>
        <p:nvSpPr>
          <p:cNvPr id="8" name="code-bg"/>
          <p:cNvSpPr/>
          <p:nvPr/>
        </p:nvSpPr>
        <p:spPr>
          <a:xfrm>
            <a:off x="548640" y="173736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777240" y="1897379"/>
            <a:ext cx="5029200" cy="1280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800">
                <a:solidFill>
                  <a:srgbClr val="E6E6E6"/>
                </a:solidFill>
                <a:latin typeface="Consolas"/>
              </a:rPr>
              <a:t>colors = [</a:t>
            </a:r>
            <a:r>
              <a:rPr sz="1800">
                <a:solidFill>
                  <a:srgbClr val="A6E22E"/>
                </a:solidFill>
                <a:latin typeface="Consolas"/>
              </a:rPr>
              <a:t>"red"</a:t>
            </a:r>
            <a:r>
              <a:rPr sz="1800">
                <a:solidFill>
                  <a:srgbClr val="E6E6E6"/>
                </a:solidFill>
                <a:latin typeface="Consolas"/>
              </a:rPr>
              <a:t>, </a:t>
            </a:r>
            <a:r>
              <a:rPr sz="1800">
                <a:solidFill>
                  <a:srgbClr val="A6E22E"/>
                </a:solidFill>
                <a:latin typeface="Consolas"/>
              </a:rPr>
              <a:t>"orange"</a:t>
            </a:r>
            <a:r>
              <a:rPr sz="1800">
                <a:solidFill>
                  <a:srgbClr val="E6E6E6"/>
                </a:solidFill>
                <a:latin typeface="Consolas"/>
              </a:rPr>
              <a:t>, </a:t>
            </a:r>
            <a:r>
              <a:rPr sz="1800">
                <a:solidFill>
                  <a:srgbClr val="A6E22E"/>
                </a:solidFill>
                <a:latin typeface="Consolas"/>
              </a:rPr>
              <a:t>"yellow"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4630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2200" b="1" i="0">
                <a:solidFill>
                  <a:srgbClr val="1B4332"/>
                </a:solidFill>
                <a:latin typeface="Consolas"/>
              </a:rPr>
              <a:t>colors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4572000"/>
            <a:ext cx="365760" cy="0"/>
          </a:xfrm>
          <a:prstGeom prst="line">
            <a:avLst/>
          </a:prstGeom>
          <a:ln w="31750">
            <a:solidFill>
              <a:srgbClr val="1B43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48840" y="4069080"/>
            <a:ext cx="1417320" cy="1005840"/>
          </a:xfrm>
          <a:prstGeom prst="roundRect">
            <a:avLst>
              <a:gd name="adj" fmla="val 10000"/>
            </a:avLst>
          </a:prstGeom>
          <a:solidFill>
            <a:srgbClr val="FFD6D6"/>
          </a:solidFill>
          <a:ln w="12700">
            <a:solidFill>
              <a:srgbClr val="B7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0" i="0">
                <a:solidFill>
                  <a:srgbClr val="1B2B34"/>
                </a:solidFill>
                <a:latin typeface="Consolas"/>
              </a:rPr>
              <a:t>"red"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16636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2D9F5C"/>
                </a:solidFill>
                <a:latin typeface="Arial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0752" y="4069080"/>
            <a:ext cx="1417320" cy="1005840"/>
          </a:xfrm>
          <a:prstGeom prst="roundRect">
            <a:avLst>
              <a:gd name="adj" fmla="val 10000"/>
            </a:avLst>
          </a:prstGeom>
          <a:solidFill>
            <a:srgbClr val="FFE5C2"/>
          </a:solidFill>
          <a:ln w="12700">
            <a:solidFill>
              <a:srgbClr val="B7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0" i="0">
                <a:solidFill>
                  <a:srgbClr val="1B2B34"/>
                </a:solidFill>
                <a:latin typeface="Consolas"/>
              </a:rPr>
              <a:t>"orange"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516636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2D9F5C"/>
                </a:solidFill>
                <a:latin typeface="Arial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2664" y="4069080"/>
            <a:ext cx="1417320" cy="1005840"/>
          </a:xfrm>
          <a:prstGeom prst="roundRect">
            <a:avLst>
              <a:gd name="adj" fmla="val 10000"/>
            </a:avLst>
          </a:prstGeom>
          <a:solidFill>
            <a:srgbClr val="FFF5C2"/>
          </a:solidFill>
          <a:ln w="12700">
            <a:solidFill>
              <a:srgbClr val="B7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2664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0" i="0">
                <a:solidFill>
                  <a:srgbClr val="1B2B34"/>
                </a:solidFill>
                <a:latin typeface="Consolas"/>
              </a:rPr>
              <a:t>"yellow"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516636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2D9F5C"/>
                </a:solidFill>
                <a:latin typeface="Arial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4575" y="4069080"/>
            <a:ext cx="1417320" cy="1005840"/>
          </a:xfrm>
          <a:prstGeom prst="roundRect">
            <a:avLst>
              <a:gd name="adj" fmla="val 10000"/>
            </a:avLst>
          </a:prstGeom>
          <a:solidFill>
            <a:srgbClr val="D6F2DF"/>
          </a:solidFill>
          <a:ln w="12700">
            <a:solidFill>
              <a:srgbClr val="B7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5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0" i="0">
                <a:solidFill>
                  <a:srgbClr val="1B2B34"/>
                </a:solidFill>
                <a:latin typeface="Consolas"/>
              </a:rPr>
              <a:t>"green"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5" y="516636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2D9F5C"/>
                </a:solidFill>
                <a:latin typeface="Arial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6488" y="4069080"/>
            <a:ext cx="1417320" cy="1005840"/>
          </a:xfrm>
          <a:prstGeom prst="roundRect">
            <a:avLst>
              <a:gd name="adj" fmla="val 10000"/>
            </a:avLst>
          </a:prstGeom>
          <a:solidFill>
            <a:srgbClr val="D6EBFA"/>
          </a:solidFill>
          <a:ln w="12700">
            <a:solidFill>
              <a:srgbClr val="B7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76488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0" i="0">
                <a:solidFill>
                  <a:srgbClr val="1B2B34"/>
                </a:solidFill>
                <a:latin typeface="Consolas"/>
              </a:rPr>
              <a:t>"blue"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516636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2D9F5C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5554979"/>
            <a:ext cx="7863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1" i="0" dirty="0">
                <a:solidFill>
                  <a:srgbClr val="2D9F5C"/>
                </a:solidFill>
                <a:latin typeface="Arial"/>
                <a:cs typeface="Arial"/>
              </a:rPr>
              <a:t>↑ אינדקס = המספר של כל קופסה. סופרים מאפס!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069080"/>
            <a:ext cx="14173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קופסאות בשורה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אינדקס: לכל איבר יש מספר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6</a:t>
            </a:r>
          </a:p>
        </p:txBody>
      </p:sp>
      <p:sp>
        <p:nvSpPr>
          <p:cNvPr id="4" name="code-bg"/>
          <p:cNvSpPr/>
          <p:nvPr/>
        </p:nvSpPr>
        <p:spPr>
          <a:xfrm>
            <a:off x="5852160" y="1280160"/>
            <a:ext cx="5788152" cy="3749039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code"/>
          <p:cNvSpPr txBox="1"/>
          <p:nvPr/>
        </p:nvSpPr>
        <p:spPr>
          <a:xfrm>
            <a:off x="6080760" y="1440180"/>
            <a:ext cx="5330952" cy="3428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colors = [</a:t>
            </a:r>
            <a:r>
              <a:rPr sz="1900">
                <a:solidFill>
                  <a:srgbClr val="A6E22E"/>
                </a:solidFill>
                <a:latin typeface="Consolas"/>
              </a:rPr>
              <a:t>"red"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"orange"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"yellow"</a:t>
            </a:r>
            <a:r>
              <a:rPr sz="19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      </a:t>
            </a:r>
            <a:r>
              <a:rPr sz="1900">
                <a:solidFill>
                  <a:srgbClr val="A6E22E"/>
                </a:solidFill>
                <a:latin typeface="Consolas"/>
              </a:rPr>
              <a:t>"green"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"blue"</a:t>
            </a:r>
            <a:r>
              <a:rPr sz="19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90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(colors[</a:t>
            </a:r>
            <a:r>
              <a:rPr sz="1900">
                <a:solidFill>
                  <a:srgbClr val="FFD166"/>
                </a:solidFill>
                <a:latin typeface="Consolas"/>
              </a:rPr>
              <a:t>0</a:t>
            </a:r>
            <a:r>
              <a:rPr sz="1900">
                <a:solidFill>
                  <a:srgbClr val="E6E6E6"/>
                </a:solidFill>
                <a:latin typeface="Consolas"/>
              </a:rPr>
              <a:t>])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(colors[</a:t>
            </a:r>
            <a:r>
              <a:rPr sz="1900">
                <a:solidFill>
                  <a:srgbClr val="FFD166"/>
                </a:solidFill>
                <a:latin typeface="Consolas"/>
              </a:rPr>
              <a:t>2</a:t>
            </a:r>
            <a:r>
              <a:rPr sz="1900">
                <a:solidFill>
                  <a:srgbClr val="E6E6E6"/>
                </a:solidFill>
                <a:latin typeface="Consolas"/>
              </a:rPr>
              <a:t>])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(colors[-</a:t>
            </a:r>
            <a:r>
              <a:rPr sz="1900">
                <a:solidFill>
                  <a:srgbClr val="FFD166"/>
                </a:solidFill>
                <a:latin typeface="Consolas"/>
              </a:rPr>
              <a:t>1</a:t>
            </a:r>
            <a:r>
              <a:rPr sz="1900">
                <a:solidFill>
                  <a:srgbClr val="E6E6E6"/>
                </a:solidFill>
                <a:latin typeface="Consolas"/>
              </a:rPr>
              <a:t>])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7FDBFF"/>
                </a:solidFill>
                <a:latin typeface="Consolas"/>
              </a:rPr>
              <a:t>len</a:t>
            </a:r>
            <a:r>
              <a:rPr sz="1900">
                <a:solidFill>
                  <a:srgbClr val="E6E6E6"/>
                </a:solidFill>
                <a:latin typeface="Consolas"/>
              </a:rPr>
              <a:t>(colors))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(colors[</a:t>
            </a:r>
            <a:r>
              <a:rPr sz="1900">
                <a:solidFill>
                  <a:srgbClr val="FFD166"/>
                </a:solidFill>
                <a:latin typeface="Consolas"/>
              </a:rPr>
              <a:t>5</a:t>
            </a:r>
            <a:r>
              <a:rPr sz="1900">
                <a:solidFill>
                  <a:srgbClr val="E6E6E6"/>
                </a:solidFill>
                <a:latin typeface="Consolas"/>
              </a:rPr>
              <a:t>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200" b="1" i="0">
                <a:solidFill>
                  <a:srgbClr val="1B4332"/>
                </a:solidFill>
                <a:latin typeface="Arial"/>
                <a:cs typeface="Arial"/>
              </a:rPr>
              <a:t>מה יודפס?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783080"/>
            <a:ext cx="5120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5F6F78"/>
                </a:solidFill>
                <a:latin typeface="Arial"/>
                <a:cs typeface="Arial"/>
              </a:rPr>
              <a:t>שאלו את עצמכם לפני שמריצים - ואז בדקו!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63072" y="5486400"/>
            <a:ext cx="594359" cy="594359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440679"/>
            <a:ext cx="9857232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700" b="1" i="0">
                <a:solidFill>
                  <a:srgbClr val="1B2B34"/>
                </a:solidFill>
                <a:latin typeface="Arial"/>
                <a:cs typeface="Arial"/>
              </a:rPr>
              <a:t>ברשימה של 5 איברים, האינדקס האחרון הוא 4. תמיד:</a:t>
            </a:r>
          </a:p>
          <a:p>
            <a:pPr algn="r" rtl="0">
              <a:spcAft>
                <a:spcPts val="200"/>
              </a:spcAft>
            </a:pPr>
            <a:r>
              <a:rPr sz="1700" b="1" i="0">
                <a:solidFill>
                  <a:srgbClr val="1B2B34"/>
                </a:solidFill>
                <a:latin typeface="Consolas"/>
              </a:rPr>
              <a:t>len(colors) - 1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משנים רשימה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7</a:t>
            </a:r>
          </a:p>
        </p:txBody>
      </p:sp>
      <p:sp>
        <p:nvSpPr>
          <p:cNvPr id="4" name="code-bg"/>
          <p:cNvSpPr/>
          <p:nvPr/>
        </p:nvSpPr>
        <p:spPr>
          <a:xfrm>
            <a:off x="5852160" y="1280160"/>
            <a:ext cx="5788152" cy="3017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code"/>
          <p:cNvSpPr txBox="1"/>
          <p:nvPr/>
        </p:nvSpPr>
        <p:spPr>
          <a:xfrm>
            <a:off x="6080760" y="1440180"/>
            <a:ext cx="5330952" cy="26974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colors = [</a:t>
            </a:r>
            <a:r>
              <a:rPr sz="1900">
                <a:solidFill>
                  <a:srgbClr val="A6E22E"/>
                </a:solidFill>
                <a:latin typeface="Consolas"/>
              </a:rPr>
              <a:t>"red"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"green"</a:t>
            </a:r>
            <a:r>
              <a:rPr sz="19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90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colors.</a:t>
            </a:r>
            <a:r>
              <a:rPr sz="1900">
                <a:solidFill>
                  <a:srgbClr val="7FDBFF"/>
                </a:solidFill>
                <a:latin typeface="Consolas"/>
              </a:rPr>
              <a:t>append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A6E22E"/>
                </a:solidFill>
                <a:latin typeface="Consolas"/>
              </a:rPr>
              <a:t>"blue"</a:t>
            </a:r>
            <a:r>
              <a:rPr sz="19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8A93A6"/>
                </a:solidFill>
                <a:latin typeface="Consolas"/>
              </a:rPr>
              <a:t># ["red", "green", "blue"]</a:t>
            </a:r>
          </a:p>
          <a:p>
            <a:pPr algn="l" rtl="0">
              <a:lnSpc>
                <a:spcPct val="108000"/>
              </a:lnSpc>
            </a:pPr>
            <a:r>
              <a:rPr sz="190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colors[</a:t>
            </a:r>
            <a:r>
              <a:rPr sz="1900">
                <a:solidFill>
                  <a:srgbClr val="FFD166"/>
                </a:solidFill>
                <a:latin typeface="Consolas"/>
              </a:rPr>
              <a:t>0</a:t>
            </a:r>
            <a:r>
              <a:rPr sz="1900">
                <a:solidFill>
                  <a:srgbClr val="E6E6E6"/>
                </a:solidFill>
                <a:latin typeface="Consolas"/>
              </a:rPr>
              <a:t>] = </a:t>
            </a:r>
            <a:r>
              <a:rPr sz="1900">
                <a:solidFill>
                  <a:srgbClr val="A6E22E"/>
                </a:solidFill>
                <a:latin typeface="Consolas"/>
              </a:rPr>
              <a:t>"pink"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8A93A6"/>
                </a:solidFill>
                <a:latin typeface="Consolas"/>
              </a:rPr>
              <a:t># ["pink", "green", "blue"]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5074920" y="1435607"/>
            <a:ext cx="329184" cy="329184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500" b="1" i="0">
                <a:solidFill>
                  <a:srgbClr val="2D9F5C"/>
                </a:solidFill>
                <a:latin typeface="Consolas"/>
              </a:rPr>
              <a:t>append(x)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280160"/>
            <a:ext cx="2331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מוסיף איבר לסוף הרשימה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74920" y="2212848"/>
            <a:ext cx="329184" cy="329184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500" b="1" i="0">
                <a:solidFill>
                  <a:srgbClr val="FF9F1C"/>
                </a:solidFill>
                <a:latin typeface="Consolas"/>
              </a:rPr>
              <a:t>colors[0] =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57400"/>
            <a:ext cx="2331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מחליף את האיבר במקום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39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74920" y="2990087"/>
            <a:ext cx="329184" cy="329184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834639"/>
            <a:ext cx="237744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500" b="1" i="0">
                <a:solidFill>
                  <a:srgbClr val="118AB2"/>
                </a:solidFill>
                <a:latin typeface="Consolas"/>
              </a:rPr>
              <a:t>len(colors)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34639"/>
            <a:ext cx="2331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כמה איברים יש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79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74920" y="3767328"/>
            <a:ext cx="329184" cy="329184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79"/>
            <a:ext cx="237744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500" b="1" i="0">
                <a:solidFill>
                  <a:srgbClr val="8E44AD"/>
                </a:solidFill>
                <a:latin typeface="Consolas"/>
              </a:rPr>
              <a:t>random.choice(colors)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11879"/>
            <a:ext cx="2331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איבר אקראי - כבר מכירים!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12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71632" y="4960620"/>
            <a:ext cx="685800" cy="68580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800600"/>
            <a:ext cx="9765792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800" b="1" i="0">
                <a:solidFill>
                  <a:srgbClr val="1B2B34"/>
                </a:solidFill>
                <a:latin typeface="Arial"/>
                <a:cs typeface="Arial"/>
              </a:rPr>
              <a:t>במשחק שלנו:</a:t>
            </a:r>
          </a:p>
          <a:p>
            <a:pPr algn="r" rtl="1">
              <a:spcAft>
                <a:spcPts val="200"/>
              </a:spcAft>
            </a:pPr>
            <a:r>
              <a:rPr lang="he-IL" sz="1800" b="0" i="0">
                <a:solidFill>
                  <a:srgbClr val="1B2B34"/>
                </a:solidFill>
                <a:latin typeface="Arial"/>
                <a:cs typeface="Arial"/>
              </a:rPr>
              <a:t>כל מכונית חדשה נכנסת לרשימה של המכוניות:</a:t>
            </a:r>
          </a:p>
          <a:p>
            <a:pPr algn="r" rtl="0">
              <a:spcAft>
                <a:spcPts val="200"/>
              </a:spcAft>
            </a:pPr>
            <a:r>
              <a:rPr sz="1800" b="1" i="0">
                <a:solidFill>
                  <a:srgbClr val="1B2B34"/>
                </a:solidFill>
                <a:latin typeface="Consolas"/>
              </a:rPr>
              <a:t>enemies.append(car)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לולאה על רשימה: כל איבר בתורו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8</a:t>
            </a:r>
          </a:p>
        </p:txBody>
      </p:sp>
      <p:sp>
        <p:nvSpPr>
          <p:cNvPr id="4" name="code-bg"/>
          <p:cNvSpPr/>
          <p:nvPr/>
        </p:nvSpPr>
        <p:spPr>
          <a:xfrm>
            <a:off x="4846320" y="1280160"/>
            <a:ext cx="6793992" cy="2743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code"/>
          <p:cNvSpPr txBox="1"/>
          <p:nvPr/>
        </p:nvSpPr>
        <p:spPr>
          <a:xfrm>
            <a:off x="5074920" y="1440180"/>
            <a:ext cx="6336792" cy="2423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colors = [</a:t>
            </a:r>
            <a:r>
              <a:rPr sz="1900">
                <a:solidFill>
                  <a:srgbClr val="A6E22E"/>
                </a:solidFill>
                <a:latin typeface="Consolas"/>
              </a:rPr>
              <a:t>"red"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"orange"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"yellow"</a:t>
            </a:r>
            <a:r>
              <a:rPr sz="19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      </a:t>
            </a:r>
            <a:r>
              <a:rPr sz="1900">
                <a:solidFill>
                  <a:srgbClr val="A6E22E"/>
                </a:solidFill>
                <a:latin typeface="Consolas"/>
              </a:rPr>
              <a:t>"green"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"blue"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A6E22E"/>
                </a:solidFill>
                <a:latin typeface="Consolas"/>
              </a:rPr>
              <a:t>"purple"</a:t>
            </a:r>
            <a:r>
              <a:rPr sz="19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90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FF9F1C"/>
                </a:solidFill>
                <a:latin typeface="Consolas"/>
              </a:rPr>
              <a:t>for</a:t>
            </a:r>
            <a:r>
              <a:rPr sz="1900">
                <a:solidFill>
                  <a:srgbClr val="E6E6E6"/>
                </a:solidFill>
                <a:latin typeface="Consolas"/>
              </a:rPr>
              <a:t> </a:t>
            </a:r>
            <a:r>
              <a:rPr sz="1900" b="1">
                <a:solidFill>
                  <a:srgbClr val="FF6B9A"/>
                </a:solidFill>
                <a:latin typeface="Consolas"/>
              </a:rPr>
              <a:t>color</a:t>
            </a:r>
            <a:r>
              <a:rPr sz="1900">
                <a:solidFill>
                  <a:srgbClr val="E6E6E6"/>
                </a:solidFill>
                <a:latin typeface="Consolas"/>
              </a:rPr>
              <a:t> </a:t>
            </a:r>
            <a:r>
              <a:rPr sz="1900">
                <a:solidFill>
                  <a:srgbClr val="FF9F1C"/>
                </a:solidFill>
                <a:latin typeface="Consolas"/>
              </a:rPr>
              <a:t>in</a:t>
            </a:r>
            <a:r>
              <a:rPr sz="1900">
                <a:solidFill>
                  <a:srgbClr val="E6E6E6"/>
                </a:solidFill>
                <a:latin typeface="Consolas"/>
              </a:rPr>
              <a:t> colors: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t.</a:t>
            </a:r>
            <a:r>
              <a:rPr sz="1900" b="1">
                <a:solidFill>
                  <a:srgbClr val="FF6B9A"/>
                </a:solidFill>
                <a:latin typeface="Consolas"/>
              </a:rPr>
              <a:t>color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 b="1">
                <a:solidFill>
                  <a:srgbClr val="FF6B9A"/>
                </a:solidFill>
                <a:latin typeface="Consolas"/>
              </a:rPr>
              <a:t>color</a:t>
            </a:r>
            <a:r>
              <a:rPr sz="19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t.</a:t>
            </a:r>
            <a:r>
              <a:rPr sz="1900">
                <a:solidFill>
                  <a:srgbClr val="7FDBFF"/>
                </a:solidFill>
                <a:latin typeface="Consolas"/>
              </a:rPr>
              <a:t>circle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FFD166"/>
                </a:solidFill>
                <a:latin typeface="Consolas"/>
              </a:rPr>
              <a:t>60</a:t>
            </a:r>
            <a:r>
              <a:rPr sz="19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t.</a:t>
            </a:r>
            <a:r>
              <a:rPr sz="1900">
                <a:solidFill>
                  <a:srgbClr val="7FDBFF"/>
                </a:solidFill>
                <a:latin typeface="Consolas"/>
              </a:rPr>
              <a:t>left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FFD166"/>
                </a:solidFill>
                <a:latin typeface="Consolas"/>
              </a:rPr>
              <a:t>60</a:t>
            </a:r>
            <a:r>
              <a:rPr sz="19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6" name="pic-card"/>
          <p:cNvSpPr/>
          <p:nvPr/>
        </p:nvSpPr>
        <p:spPr>
          <a:xfrm>
            <a:off x="804672" y="1307592"/>
            <a:ext cx="2618707" cy="2734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ist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2399251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4251960"/>
            <a:ext cx="67939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800" b="1" i="0">
                <a:solidFill>
                  <a:srgbClr val="EF476F"/>
                </a:solidFill>
                <a:latin typeface="Consolas"/>
              </a:rPr>
              <a:t>‎color‎</a:t>
            </a:r>
            <a:r>
              <a:rPr lang="he-IL" sz="1800" b="0" i="0">
                <a:solidFill>
                  <a:srgbClr val="1B2B34"/>
                </a:solidFill>
                <a:latin typeface="Arial"/>
                <a:cs typeface="Arial"/>
              </a:rPr>
              <a:t> מקבל בכל סיבוב את האיבר הבא ברשימה: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4392" y="4800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94392" y="4800600"/>
            <a:ext cx="1645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he-IL" sz="1400" b="1" i="0">
                <a:solidFill>
                  <a:srgbClr val="1B2B34"/>
                </a:solidFill>
                <a:latin typeface="Arial"/>
                <a:cs typeface="Arial"/>
              </a:rPr>
              <a:t>סיבוב ראשון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2D9F5C"/>
                </a:solidFill>
                <a:latin typeface="Consolas"/>
              </a:rPr>
              <a:t>"red"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800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4800600"/>
            <a:ext cx="1645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he-IL" sz="1400" b="1" i="0">
                <a:solidFill>
                  <a:srgbClr val="1B2B34"/>
                </a:solidFill>
                <a:latin typeface="Arial"/>
                <a:cs typeface="Arial"/>
              </a:rPr>
              <a:t>סיבוב שני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2D9F5C"/>
                </a:solidFill>
                <a:latin typeface="Consolas"/>
              </a:rPr>
              <a:t>"orange"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4800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4800600"/>
            <a:ext cx="1645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he-IL" sz="1400" b="1" i="0">
                <a:solidFill>
                  <a:srgbClr val="1B2B34"/>
                </a:solidFill>
                <a:latin typeface="Arial"/>
                <a:cs typeface="Arial"/>
              </a:rPr>
              <a:t>סיבוב שלישי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2D9F5C"/>
                </a:solidFill>
                <a:latin typeface="Consolas"/>
              </a:rPr>
              <a:t>"yellow"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4800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4800600"/>
            <a:ext cx="16459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he-IL" sz="1400" b="1" i="0">
                <a:solidFill>
                  <a:srgbClr val="1B2B34"/>
                </a:solidFill>
                <a:latin typeface="Arial"/>
                <a:cs typeface="Arial"/>
              </a:rPr>
              <a:t>וכך הלאה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2D9F5C"/>
                </a:solidFill>
                <a:latin typeface="Consolas"/>
              </a:rPr>
              <a:t>...</a:t>
            </a:r>
          </a:p>
        </p:txBody>
      </p:sp>
      <p:sp>
        <p:nvSpPr>
          <p:cNvPr id="17" name="file-tag"/>
          <p:cNvSpPr/>
          <p:nvPr/>
        </p:nvSpPr>
        <p:spPr>
          <a:xfrm>
            <a:off x="548640" y="57150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lists_demo.py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0233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5F6F78"/>
                </a:solidFill>
                <a:latin typeface="Arial"/>
                <a:cs typeface="Arial"/>
              </a:rPr>
              <a:t>הריצו את הקובץ ונסו את האתגרים שבסופו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חידון: מה יודפס?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9</a:t>
            </a:r>
          </a:p>
        </p:txBody>
      </p:sp>
      <p:sp>
        <p:nvSpPr>
          <p:cNvPr id="4" name="Oval 3"/>
          <p:cNvSpPr/>
          <p:nvPr/>
        </p:nvSpPr>
        <p:spPr>
          <a:xfrm>
            <a:off x="10954512" y="1234440"/>
            <a:ext cx="548640" cy="54864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code-bg"/>
          <p:cNvSpPr/>
          <p:nvPr/>
        </p:nvSpPr>
        <p:spPr>
          <a:xfrm>
            <a:off x="8119872" y="1965960"/>
            <a:ext cx="3520440" cy="19202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"/>
          <p:cNvSpPr txBox="1"/>
          <p:nvPr/>
        </p:nvSpPr>
        <p:spPr>
          <a:xfrm>
            <a:off x="8302752" y="2093976"/>
            <a:ext cx="3154680" cy="1664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nums = [</a:t>
            </a:r>
            <a:r>
              <a:rPr sz="1600">
                <a:solidFill>
                  <a:srgbClr val="FFD166"/>
                </a:solidFill>
                <a:latin typeface="Consolas"/>
              </a:rPr>
              <a:t>10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FFD166"/>
                </a:solidFill>
                <a:latin typeface="Consolas"/>
              </a:rPr>
              <a:t>20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FFD166"/>
                </a:solidFill>
                <a:latin typeface="Consolas"/>
              </a:rPr>
              <a:t>30</a:t>
            </a:r>
            <a:r>
              <a:rPr sz="16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print</a:t>
            </a:r>
            <a:r>
              <a:rPr sz="1600">
                <a:solidFill>
                  <a:srgbClr val="E6E6E6"/>
                </a:solidFill>
                <a:latin typeface="Consolas"/>
              </a:rPr>
              <a:t>(nums[</a:t>
            </a:r>
            <a:r>
              <a:rPr sz="1600">
                <a:solidFill>
                  <a:srgbClr val="FFD166"/>
                </a:solidFill>
                <a:latin typeface="Consolas"/>
              </a:rPr>
              <a:t>1</a:t>
            </a:r>
            <a:r>
              <a:rPr sz="1600">
                <a:solidFill>
                  <a:srgbClr val="E6E6E6"/>
                </a:solidFill>
                <a:latin typeface="Consolas"/>
              </a:rPr>
              <a:t>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4160520"/>
            <a:ext cx="3520440" cy="91440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 w="12700">
            <a:solidFill>
              <a:srgbClr val="BFE3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9872" y="4160520"/>
            <a:ext cx="35204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3000" b="1" i="0">
                <a:solidFill>
                  <a:srgbClr val="2D9F5C"/>
                </a:solidFill>
                <a:latin typeface="Arial"/>
              </a:rPr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7168896" y="1234440"/>
            <a:ext cx="548640" cy="54864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code-bg"/>
          <p:cNvSpPr/>
          <p:nvPr/>
        </p:nvSpPr>
        <p:spPr>
          <a:xfrm>
            <a:off x="4334256" y="1965960"/>
            <a:ext cx="3520440" cy="19202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ode"/>
          <p:cNvSpPr txBox="1"/>
          <p:nvPr/>
        </p:nvSpPr>
        <p:spPr>
          <a:xfrm>
            <a:off x="4517136" y="2093976"/>
            <a:ext cx="3154680" cy="1664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pets = [</a:t>
            </a:r>
            <a:r>
              <a:rPr sz="1600">
                <a:solidFill>
                  <a:srgbClr val="A6E22E"/>
                </a:solidFill>
                <a:latin typeface="Consolas"/>
              </a:rPr>
              <a:t>"cat"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"dog"</a:t>
            </a:r>
            <a:r>
              <a:rPr sz="16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pets.</a:t>
            </a:r>
            <a:r>
              <a:rPr sz="1600">
                <a:solidFill>
                  <a:srgbClr val="7FDBFF"/>
                </a:solidFill>
                <a:latin typeface="Consolas"/>
              </a:rPr>
              <a:t>append</a:t>
            </a:r>
            <a:r>
              <a:rPr sz="1600">
                <a:solidFill>
                  <a:srgbClr val="E6E6E6"/>
                </a:solidFill>
                <a:latin typeface="Consolas"/>
              </a:rPr>
              <a:t>(</a:t>
            </a:r>
            <a:r>
              <a:rPr sz="1600">
                <a:solidFill>
                  <a:srgbClr val="A6E22E"/>
                </a:solidFill>
                <a:latin typeface="Consolas"/>
              </a:rPr>
              <a:t>"fish"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print</a:t>
            </a:r>
            <a:r>
              <a:rPr sz="1600">
                <a:solidFill>
                  <a:srgbClr val="E6E6E6"/>
                </a:solidFill>
                <a:latin typeface="Consolas"/>
              </a:rPr>
              <a:t>(</a:t>
            </a:r>
            <a:r>
              <a:rPr sz="1600">
                <a:solidFill>
                  <a:srgbClr val="7FDBFF"/>
                </a:solidFill>
                <a:latin typeface="Consolas"/>
              </a:rPr>
              <a:t>len</a:t>
            </a:r>
            <a:r>
              <a:rPr sz="1600">
                <a:solidFill>
                  <a:srgbClr val="E6E6E6"/>
                </a:solidFill>
                <a:latin typeface="Consolas"/>
              </a:rPr>
              <a:t>(pets))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4160520"/>
            <a:ext cx="3520440" cy="91440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 w="12700">
            <a:solidFill>
              <a:srgbClr val="BFE3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4160520"/>
            <a:ext cx="35204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3000" b="1" i="0">
                <a:solidFill>
                  <a:srgbClr val="2D9F5C"/>
                </a:solidFill>
                <a:latin typeface="Arial"/>
              </a:rPr>
              <a:t>?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1234440"/>
            <a:ext cx="548640" cy="548640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code-bg"/>
          <p:cNvSpPr/>
          <p:nvPr/>
        </p:nvSpPr>
        <p:spPr>
          <a:xfrm>
            <a:off x="548639" y="1965960"/>
            <a:ext cx="3520440" cy="19202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code"/>
          <p:cNvSpPr txBox="1"/>
          <p:nvPr/>
        </p:nvSpPr>
        <p:spPr>
          <a:xfrm>
            <a:off x="731519" y="2093976"/>
            <a:ext cx="3154680" cy="1664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x = [</a:t>
            </a:r>
            <a:r>
              <a:rPr sz="1600">
                <a:solidFill>
                  <a:srgbClr val="FFD166"/>
                </a:solidFill>
                <a:latin typeface="Consolas"/>
              </a:rPr>
              <a:t>5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FFD166"/>
                </a:solidFill>
                <a:latin typeface="Consolas"/>
              </a:rPr>
              <a:t>6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FFD166"/>
                </a:solidFill>
                <a:latin typeface="Consolas"/>
              </a:rPr>
              <a:t>7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FFD166"/>
                </a:solidFill>
                <a:latin typeface="Consolas"/>
              </a:rPr>
              <a:t>8</a:t>
            </a:r>
            <a:r>
              <a:rPr sz="16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print</a:t>
            </a:r>
            <a:r>
              <a:rPr sz="1600">
                <a:solidFill>
                  <a:srgbClr val="E6E6E6"/>
                </a:solidFill>
                <a:latin typeface="Consolas"/>
              </a:rPr>
              <a:t>(x[-</a:t>
            </a:r>
            <a:r>
              <a:rPr sz="1600">
                <a:solidFill>
                  <a:srgbClr val="FFD166"/>
                </a:solidFill>
                <a:latin typeface="Consolas"/>
              </a:rPr>
              <a:t>1</a:t>
            </a:r>
            <a:r>
              <a:rPr sz="1600">
                <a:solidFill>
                  <a:srgbClr val="E6E6E6"/>
                </a:solidFill>
                <a:latin typeface="Consolas"/>
              </a:rPr>
              <a:t>] + x[</a:t>
            </a:r>
            <a:r>
              <a:rPr sz="1600">
                <a:solidFill>
                  <a:srgbClr val="FFD166"/>
                </a:solidFill>
                <a:latin typeface="Consolas"/>
              </a:rPr>
              <a:t>0</a:t>
            </a:r>
            <a:r>
              <a:rPr sz="1600">
                <a:solidFill>
                  <a:srgbClr val="E6E6E6"/>
                </a:solidFill>
                <a:latin typeface="Consolas"/>
              </a:rPr>
              <a:t>])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39" y="4160520"/>
            <a:ext cx="3520440" cy="91440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 w="12700">
            <a:solidFill>
              <a:srgbClr val="BFE3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39" y="4160520"/>
            <a:ext cx="35204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3000" b="1" i="0">
                <a:solidFill>
                  <a:srgbClr val="2D9F5C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0" i="0">
                <a:solidFill>
                  <a:srgbClr val="5F6F78"/>
                </a:solidFill>
                <a:latin typeface="Arial"/>
                <a:cs typeface="Arial"/>
              </a:rPr>
              <a:t>כתבו את התשובה במחברת - ואז מריצים ובודקים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1463040"/>
            <a:ext cx="2926080" cy="2926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0" y="1463040"/>
            <a:ext cx="292608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0" b="1" i="0">
                <a:solidFill>
                  <a:srgbClr val="FFD166"/>
                </a:solidFill>
                <a:latin typeface="Arial"/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10607040" y="118872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4069080"/>
            <a:ext cx="365760" cy="36576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9494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5000" b="1" i="0">
                <a:solidFill>
                  <a:srgbClr val="FFFFFF"/>
                </a:solidFill>
                <a:latin typeface="Arial"/>
                <a:cs typeface="Arial"/>
              </a:rPr>
              <a:t>פונקציות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694944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200" b="0" i="0" dirty="0">
                <a:solidFill>
                  <a:srgbClr val="CDE8D8"/>
                </a:solidFill>
                <a:latin typeface="Arial"/>
                <a:cs typeface="Arial"/>
              </a:rPr>
              <a:t>שימוש יעיל בקוד שחוזר על עצמו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למה צריך פונקציות?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2852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1" i="0" dirty="0">
                <a:solidFill>
                  <a:srgbClr val="EF476F"/>
                </a:solidFill>
                <a:latin typeface="Arial"/>
                <a:cs typeface="Arial"/>
              </a:rPr>
              <a:t>בלי </a:t>
            </a:r>
            <a:r>
              <a:rPr lang="he-IL" sz="2000" b="1" i="0" dirty="0" err="1">
                <a:solidFill>
                  <a:srgbClr val="EF476F"/>
                </a:solidFill>
                <a:latin typeface="Arial"/>
                <a:cs typeface="Arial"/>
              </a:rPr>
              <a:t>פונקציה:בערך</a:t>
            </a:r>
            <a:r>
              <a:rPr lang="he-IL" sz="2000" b="1" i="0" dirty="0">
                <a:solidFill>
                  <a:srgbClr val="EF476F"/>
                </a:solidFill>
                <a:latin typeface="Arial"/>
                <a:cs typeface="Arial"/>
              </a:rPr>
              <a:t> 30 שורות</a:t>
            </a:r>
          </a:p>
        </p:txBody>
      </p:sp>
      <p:sp>
        <p:nvSpPr>
          <p:cNvPr id="5" name="code-bg"/>
          <p:cNvSpPr/>
          <p:nvPr/>
        </p:nvSpPr>
        <p:spPr>
          <a:xfrm>
            <a:off x="6355080" y="1691640"/>
            <a:ext cx="5285232" cy="43434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"/>
          <p:cNvSpPr txBox="1"/>
          <p:nvPr/>
        </p:nvSpPr>
        <p:spPr>
          <a:xfrm>
            <a:off x="6583680" y="1851660"/>
            <a:ext cx="4828032" cy="4023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he-IL" sz="1500">
                <a:solidFill>
                  <a:srgbClr val="8A93A6"/>
                </a:solidFill>
                <a:latin typeface="Consolas"/>
                <a:cs typeface="Arial"/>
              </a:rPr>
              <a:t># בית ראשון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t.</a:t>
            </a:r>
            <a:r>
              <a:rPr sz="1500">
                <a:solidFill>
                  <a:srgbClr val="7FDBFF"/>
                </a:solidFill>
                <a:latin typeface="Consolas"/>
              </a:rPr>
              <a:t>goto</a:t>
            </a:r>
            <a:r>
              <a:rPr sz="1500">
                <a:solidFill>
                  <a:srgbClr val="E6E6E6"/>
                </a:solidFill>
                <a:latin typeface="Consolas"/>
              </a:rPr>
              <a:t>(-</a:t>
            </a:r>
            <a:r>
              <a:rPr sz="1500">
                <a:solidFill>
                  <a:srgbClr val="FFD166"/>
                </a:solidFill>
                <a:latin typeface="Consolas"/>
              </a:rPr>
              <a:t>250</a:t>
            </a:r>
            <a:r>
              <a:rPr sz="1500">
                <a:solidFill>
                  <a:srgbClr val="E6E6E6"/>
                </a:solidFill>
                <a:latin typeface="Consolas"/>
              </a:rPr>
              <a:t>, -</a:t>
            </a:r>
            <a:r>
              <a:rPr sz="1500">
                <a:solidFill>
                  <a:srgbClr val="FFD166"/>
                </a:solidFill>
                <a:latin typeface="Consolas"/>
              </a:rPr>
              <a:t>50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t.</a:t>
            </a:r>
            <a:r>
              <a:rPr sz="1500">
                <a:solidFill>
                  <a:srgbClr val="7FDBFF"/>
                </a:solidFill>
                <a:latin typeface="Consolas"/>
              </a:rPr>
              <a:t>begin_fill</a:t>
            </a:r>
            <a:r>
              <a:rPr sz="150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FF9F1C"/>
                </a:solidFill>
                <a:latin typeface="Consolas"/>
              </a:rPr>
              <a:t>for</a:t>
            </a:r>
            <a:r>
              <a:rPr sz="1500">
                <a:solidFill>
                  <a:srgbClr val="E6E6E6"/>
                </a:solidFill>
                <a:latin typeface="Consolas"/>
              </a:rPr>
              <a:t> i </a:t>
            </a:r>
            <a:r>
              <a:rPr sz="1500">
                <a:solidFill>
                  <a:srgbClr val="FF9F1C"/>
                </a:solidFill>
                <a:latin typeface="Consolas"/>
              </a:rPr>
              <a:t>in</a:t>
            </a:r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  <a:r>
              <a:rPr sz="1500">
                <a:solidFill>
                  <a:srgbClr val="7FDBFF"/>
                </a:solidFill>
                <a:latin typeface="Consolas"/>
              </a:rPr>
              <a:t>range</a:t>
            </a:r>
            <a:r>
              <a:rPr sz="1500">
                <a:solidFill>
                  <a:srgbClr val="E6E6E6"/>
                </a:solidFill>
                <a:latin typeface="Consolas"/>
              </a:rPr>
              <a:t>(</a:t>
            </a:r>
            <a:r>
              <a:rPr sz="1500">
                <a:solidFill>
                  <a:srgbClr val="FFD166"/>
                </a:solidFill>
                <a:latin typeface="Consolas"/>
              </a:rPr>
              <a:t>4</a:t>
            </a:r>
            <a:r>
              <a:rPr sz="150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    t.</a:t>
            </a:r>
            <a:r>
              <a:rPr sz="1500">
                <a:solidFill>
                  <a:srgbClr val="7FDBFF"/>
                </a:solidFill>
                <a:latin typeface="Consolas"/>
              </a:rPr>
              <a:t>forward</a:t>
            </a:r>
            <a:r>
              <a:rPr sz="1500">
                <a:solidFill>
                  <a:srgbClr val="E6E6E6"/>
                </a:solidFill>
                <a:latin typeface="Consolas"/>
              </a:rPr>
              <a:t>(</a:t>
            </a:r>
            <a:r>
              <a:rPr sz="1500">
                <a:solidFill>
                  <a:srgbClr val="FFD166"/>
                </a:solidFill>
                <a:latin typeface="Consolas"/>
              </a:rPr>
              <a:t>80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    t.</a:t>
            </a:r>
            <a:r>
              <a:rPr sz="1500">
                <a:solidFill>
                  <a:srgbClr val="7FDBFF"/>
                </a:solidFill>
                <a:latin typeface="Consolas"/>
              </a:rPr>
              <a:t>left</a:t>
            </a:r>
            <a:r>
              <a:rPr sz="1500">
                <a:solidFill>
                  <a:srgbClr val="E6E6E6"/>
                </a:solidFill>
                <a:latin typeface="Consolas"/>
              </a:rPr>
              <a:t>(</a:t>
            </a:r>
            <a:r>
              <a:rPr sz="1500">
                <a:solidFill>
                  <a:srgbClr val="FFD166"/>
                </a:solidFill>
                <a:latin typeface="Consolas"/>
              </a:rPr>
              <a:t>90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t.</a:t>
            </a:r>
            <a:r>
              <a:rPr sz="1500">
                <a:solidFill>
                  <a:srgbClr val="7FDBFF"/>
                </a:solidFill>
                <a:latin typeface="Consolas"/>
              </a:rPr>
              <a:t>end_fill</a:t>
            </a:r>
            <a:r>
              <a:rPr sz="150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lang="he-IL" sz="1500">
                <a:solidFill>
                  <a:srgbClr val="8A93A6"/>
                </a:solidFill>
                <a:latin typeface="Consolas"/>
                <a:cs typeface="Arial"/>
              </a:rPr>
              <a:t># גג</a:t>
            </a:r>
          </a:p>
          <a:p>
            <a:pPr algn="l" rtl="0">
              <a:lnSpc>
                <a:spcPct val="108000"/>
              </a:lnSpc>
            </a:pPr>
            <a:r>
              <a:rPr lang="he-IL" sz="1500">
                <a:solidFill>
                  <a:srgbClr val="8A93A6"/>
                </a:solidFill>
                <a:latin typeface="Consolas"/>
                <a:cs typeface="Arial"/>
              </a:rPr>
              <a:t># בית שני - שוב אותו קוד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t.</a:t>
            </a:r>
            <a:r>
              <a:rPr sz="1500">
                <a:solidFill>
                  <a:srgbClr val="7FDBFF"/>
                </a:solidFill>
                <a:latin typeface="Consolas"/>
              </a:rPr>
              <a:t>goto</a:t>
            </a:r>
            <a:r>
              <a:rPr sz="1500">
                <a:solidFill>
                  <a:srgbClr val="E6E6E6"/>
                </a:solidFill>
                <a:latin typeface="Consolas"/>
              </a:rPr>
              <a:t>(-</a:t>
            </a:r>
            <a:r>
              <a:rPr sz="1500">
                <a:solidFill>
                  <a:srgbClr val="FFD166"/>
                </a:solidFill>
                <a:latin typeface="Consolas"/>
              </a:rPr>
              <a:t>100</a:t>
            </a:r>
            <a:r>
              <a:rPr sz="1500">
                <a:solidFill>
                  <a:srgbClr val="E6E6E6"/>
                </a:solidFill>
                <a:latin typeface="Consolas"/>
              </a:rPr>
              <a:t>, -</a:t>
            </a:r>
            <a:r>
              <a:rPr sz="1500">
                <a:solidFill>
                  <a:srgbClr val="FFD166"/>
                </a:solidFill>
                <a:latin typeface="Consolas"/>
              </a:rPr>
              <a:t>50</a:t>
            </a:r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500">
                <a:solidFill>
                  <a:srgbClr val="E6E6E6"/>
                </a:solidFill>
                <a:latin typeface="Consolas"/>
              </a:rPr>
              <a:t>t.</a:t>
            </a:r>
            <a:r>
              <a:rPr sz="1500">
                <a:solidFill>
                  <a:srgbClr val="7FDBFF"/>
                </a:solidFill>
                <a:latin typeface="Consolas"/>
              </a:rPr>
              <a:t>begin_fill</a:t>
            </a:r>
            <a:r>
              <a:rPr sz="150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lang="he-IL" sz="1500">
                <a:solidFill>
                  <a:srgbClr val="8A93A6"/>
                </a:solidFill>
                <a:latin typeface="Consolas"/>
                <a:cs typeface="Arial"/>
              </a:rPr>
              <a:t># ועוד ועוד ועוד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40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1" i="0">
                <a:solidFill>
                  <a:srgbClr val="2D9F5C"/>
                </a:solidFill>
                <a:latin typeface="Arial"/>
                <a:cs typeface="Arial"/>
              </a:rPr>
              <a:t>עם פונקציה: 3 שורות</a:t>
            </a:r>
          </a:p>
        </p:txBody>
      </p:sp>
      <p:sp>
        <p:nvSpPr>
          <p:cNvPr id="8" name="code-bg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777240" y="1851660"/>
            <a:ext cx="498348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(-</a:t>
            </a:r>
            <a:r>
              <a:rPr sz="1600">
                <a:solidFill>
                  <a:srgbClr val="FFD166"/>
                </a:solidFill>
                <a:latin typeface="Consolas"/>
              </a:rPr>
              <a:t>250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"khaki"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(-</a:t>
            </a:r>
            <a:r>
              <a:rPr sz="1600">
                <a:solidFill>
                  <a:srgbClr val="FFD166"/>
                </a:solidFill>
                <a:latin typeface="Consolas"/>
              </a:rPr>
              <a:t>100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"lightblue"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"pink"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pic-card"/>
          <p:cNvSpPr/>
          <p:nvPr/>
        </p:nvSpPr>
        <p:spPr>
          <a:xfrm>
            <a:off x="576072" y="3319272"/>
            <a:ext cx="2596896" cy="130761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func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2377440" cy="1088155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806440" y="3456432"/>
            <a:ext cx="155448" cy="15544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3337560"/>
            <a:ext cx="2423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לא חוזרים על קוד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4005072"/>
            <a:ext cx="155448" cy="15544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886200"/>
            <a:ext cx="2423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מתקנים במקום אחד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4553712"/>
            <a:ext cx="155448" cy="15544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4434840"/>
            <a:ext cx="2423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שם ברור = קוד קריא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5102351"/>
            <a:ext cx="155448" cy="15544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4983479"/>
            <a:ext cx="2423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משתמשים שוב ושוב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איך בונים פונקציה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65960"/>
            <a:ext cx="10424160" cy="23317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692640" cy="1737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rtl="0"/>
            <a:r>
              <a:rPr sz="2800">
                <a:solidFill>
                  <a:srgbClr val="FF9F1C"/>
                </a:solidFill>
                <a:latin typeface="Consolas"/>
              </a:rPr>
              <a:t>def</a:t>
            </a:r>
            <a:r>
              <a:rPr sz="2800">
                <a:solidFill>
                  <a:srgbClr val="E6E6E6"/>
                </a:solidFill>
                <a:latin typeface="Consolas"/>
              </a:rPr>
              <a:t> </a:t>
            </a:r>
            <a:r>
              <a:rPr sz="2800">
                <a:solidFill>
                  <a:srgbClr val="7FDBFF"/>
                </a:solidFill>
                <a:latin typeface="Consolas"/>
              </a:rPr>
              <a:t>draw_square</a:t>
            </a:r>
            <a:r>
              <a:rPr sz="2800">
                <a:solidFill>
                  <a:srgbClr val="E6E6E6"/>
                </a:solidFill>
                <a:latin typeface="Consolas"/>
              </a:rPr>
              <a:t>(size, color):</a:t>
            </a:r>
          </a:p>
          <a:p>
            <a:pPr algn="l" rtl="0"/>
            <a:r>
              <a:rPr sz="2800">
                <a:solidFill>
                  <a:srgbClr val="E6E6E6"/>
                </a:solidFill>
                <a:latin typeface="Consolas"/>
              </a:rPr>
              <a:t>    t.</a:t>
            </a:r>
            <a:r>
              <a:rPr sz="2800">
                <a:solidFill>
                  <a:srgbClr val="7FDBFF"/>
                </a:solidFill>
                <a:latin typeface="Consolas"/>
              </a:rPr>
              <a:t>color</a:t>
            </a:r>
            <a:r>
              <a:rPr sz="2800">
                <a:solidFill>
                  <a:srgbClr val="E6E6E6"/>
                </a:solidFill>
                <a:latin typeface="Consolas"/>
              </a:rPr>
              <a:t>(color)</a:t>
            </a:r>
          </a:p>
          <a:p>
            <a:pPr algn="l" rtl="0"/>
            <a:r>
              <a:rPr sz="2800">
                <a:solidFill>
                  <a:srgbClr val="E6E6E6"/>
                </a:solidFill>
                <a:latin typeface="Consolas"/>
              </a:rPr>
              <a:t>    </a:t>
            </a:r>
            <a:r>
              <a:rPr sz="2800">
                <a:solidFill>
                  <a:srgbClr val="FF9F1C"/>
                </a:solidFill>
                <a:latin typeface="Consolas"/>
              </a:rPr>
              <a:t>for</a:t>
            </a:r>
            <a:r>
              <a:rPr sz="2800">
                <a:solidFill>
                  <a:srgbClr val="E6E6E6"/>
                </a:solidFill>
                <a:latin typeface="Consolas"/>
              </a:rPr>
              <a:t> i </a:t>
            </a:r>
            <a:r>
              <a:rPr sz="2800">
                <a:solidFill>
                  <a:srgbClr val="FF9F1C"/>
                </a:solidFill>
                <a:latin typeface="Consolas"/>
              </a:rPr>
              <a:t>in</a:t>
            </a:r>
            <a:r>
              <a:rPr sz="2800">
                <a:solidFill>
                  <a:srgbClr val="E6E6E6"/>
                </a:solidFill>
                <a:latin typeface="Consolas"/>
              </a:rPr>
              <a:t> </a:t>
            </a:r>
            <a:r>
              <a:rPr sz="2800">
                <a:solidFill>
                  <a:srgbClr val="7FDBFF"/>
                </a:solidFill>
                <a:latin typeface="Consolas"/>
              </a:rPr>
              <a:t>range</a:t>
            </a:r>
            <a:r>
              <a:rPr sz="2800">
                <a:solidFill>
                  <a:srgbClr val="E6E6E6"/>
                </a:solidFill>
                <a:latin typeface="Consolas"/>
              </a:rPr>
              <a:t>(</a:t>
            </a:r>
            <a:r>
              <a:rPr sz="2800">
                <a:solidFill>
                  <a:srgbClr val="FFD166"/>
                </a:solidFill>
                <a:latin typeface="Consolas"/>
              </a:rPr>
              <a:t>4</a:t>
            </a:r>
            <a:r>
              <a:rPr sz="2800">
                <a:solidFill>
                  <a:srgbClr val="E6E6E6"/>
                </a:solidFill>
                <a:latin typeface="Consolas"/>
              </a:rPr>
              <a:t>):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203703"/>
            <a:ext cx="586740" cy="5486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1527810" y="1481328"/>
            <a:ext cx="0" cy="722375"/>
          </a:xfrm>
          <a:prstGeom prst="line">
            <a:avLst/>
          </a:prstGeom>
          <a:ln w="25400">
            <a:solidFill>
              <a:srgbClr val="FF9F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0530" y="1078992"/>
            <a:ext cx="2194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1" i="0">
                <a:solidFill>
                  <a:srgbClr val="FF9F1C"/>
                </a:solidFill>
                <a:latin typeface="Arial"/>
                <a:cs typeface="Arial"/>
              </a:rPr>
              <a:t>מילת המפתח def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6760" y="2203703"/>
            <a:ext cx="2151380" cy="54864"/>
          </a:xfrm>
          <a:prstGeom prst="roundRect">
            <a:avLst>
              <a:gd name="adj" fmla="val 50000"/>
            </a:avLst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3092450" y="1481328"/>
            <a:ext cx="0" cy="722375"/>
          </a:xfrm>
          <a:prstGeom prst="line">
            <a:avLst/>
          </a:prstGeom>
          <a:ln w="25400">
            <a:solidFill>
              <a:srgbClr val="118A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03730" y="1078992"/>
            <a:ext cx="2377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1" i="0">
                <a:solidFill>
                  <a:srgbClr val="118AB2"/>
                </a:solidFill>
                <a:latin typeface="Arial"/>
                <a:cs typeface="Arial"/>
              </a:rPr>
              <a:t>שם הפונקציה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720" y="2203703"/>
            <a:ext cx="2151380" cy="54864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5439410" y="1481328"/>
            <a:ext cx="0" cy="722375"/>
          </a:xfrm>
          <a:prstGeom prst="line">
            <a:avLst/>
          </a:prstGeom>
          <a:ln w="25400">
            <a:solidFill>
              <a:srgbClr val="EF4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50690" y="1078992"/>
            <a:ext cx="2377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1" i="0">
                <a:solidFill>
                  <a:srgbClr val="EF476F"/>
                </a:solidFill>
                <a:latin typeface="Arial"/>
                <a:cs typeface="Arial"/>
              </a:rPr>
              <a:t>פרמטרים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0680" y="2203703"/>
            <a:ext cx="195580" cy="54864"/>
          </a:xfrm>
          <a:prstGeom prst="roundRect">
            <a:avLst>
              <a:gd name="adj" fmla="val 50000"/>
            </a:avLst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6808470" y="1481328"/>
            <a:ext cx="0" cy="722375"/>
          </a:xfrm>
          <a:prstGeom prst="line">
            <a:avLst/>
          </a:prstGeom>
          <a:ln w="25400">
            <a:solidFill>
              <a:srgbClr val="2D9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1230" y="1078992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1" i="0">
                <a:solidFill>
                  <a:srgbClr val="2D9F5C"/>
                </a:solidFill>
                <a:latin typeface="Arial"/>
                <a:cs typeface="Arial"/>
              </a:rPr>
              <a:t>נקודתיים!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852928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lang="he-IL" sz="1500" b="1" i="0">
                <a:solidFill>
                  <a:srgbClr val="B58100"/>
                </a:solidFill>
                <a:latin typeface="Arial"/>
                <a:cs typeface="Arial"/>
              </a:rPr>
              <a:t>ארבעה רווחים = גוף הפונקציה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526280"/>
            <a:ext cx="57881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1" i="0">
                <a:solidFill>
                  <a:srgbClr val="1B4332"/>
                </a:solidFill>
                <a:latin typeface="Arial"/>
                <a:cs typeface="Arial"/>
              </a:rPr>
              <a:t>קריאה לפונקציה</a:t>
            </a:r>
          </a:p>
        </p:txBody>
      </p:sp>
      <p:sp>
        <p:nvSpPr>
          <p:cNvPr id="21" name="code-bg"/>
          <p:cNvSpPr/>
          <p:nvPr/>
        </p:nvSpPr>
        <p:spPr>
          <a:xfrm>
            <a:off x="5852160" y="5029200"/>
            <a:ext cx="5788152" cy="9601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code"/>
          <p:cNvSpPr txBox="1"/>
          <p:nvPr/>
        </p:nvSpPr>
        <p:spPr>
          <a:xfrm>
            <a:off x="6080760" y="5189220"/>
            <a:ext cx="5330952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200">
                <a:solidFill>
                  <a:srgbClr val="7FDBFF"/>
                </a:solidFill>
                <a:latin typeface="Consolas"/>
              </a:rPr>
              <a:t>draw_square</a:t>
            </a:r>
            <a:r>
              <a:rPr sz="2200">
                <a:solidFill>
                  <a:srgbClr val="E6E6E6"/>
                </a:solidFill>
                <a:latin typeface="Consolas"/>
              </a:rPr>
              <a:t>(</a:t>
            </a:r>
            <a:r>
              <a:rPr sz="2200">
                <a:solidFill>
                  <a:srgbClr val="FFD166"/>
                </a:solidFill>
                <a:latin typeface="Consolas"/>
              </a:rPr>
              <a:t>100</a:t>
            </a:r>
            <a:r>
              <a:rPr sz="2200">
                <a:solidFill>
                  <a:srgbClr val="E6E6E6"/>
                </a:solidFill>
                <a:latin typeface="Consolas"/>
              </a:rPr>
              <a:t>, </a:t>
            </a:r>
            <a:r>
              <a:rPr sz="2200">
                <a:solidFill>
                  <a:srgbClr val="A6E22E"/>
                </a:solidFill>
                <a:latin typeface="Consolas"/>
              </a:rPr>
              <a:t>"red"</a:t>
            </a:r>
            <a:r>
              <a:rPr sz="22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51206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5F6F78"/>
                </a:solidFill>
                <a:latin typeface="Arial"/>
                <a:cs typeface="Arial"/>
              </a:rPr>
              <a:t>def רק מלמד את פייתון מילה חדשה. הקוד שבפנים רץ רק כשקוראים לפונקציה בשם שלה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פרמטרים: אותה פונקציה, תוצאה אחרת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13</a:t>
            </a:r>
          </a:p>
        </p:txBody>
      </p:sp>
      <p:sp>
        <p:nvSpPr>
          <p:cNvPr id="4" name="code-bg"/>
          <p:cNvSpPr/>
          <p:nvPr/>
        </p:nvSpPr>
        <p:spPr>
          <a:xfrm>
            <a:off x="548640" y="1280160"/>
            <a:ext cx="11091672" cy="1234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code"/>
          <p:cNvSpPr txBox="1"/>
          <p:nvPr/>
        </p:nvSpPr>
        <p:spPr>
          <a:xfrm>
            <a:off x="777240" y="1440180"/>
            <a:ext cx="10634472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200">
                <a:solidFill>
                  <a:srgbClr val="FF9F1C"/>
                </a:solidFill>
                <a:latin typeface="Consolas"/>
              </a:rPr>
              <a:t>def</a:t>
            </a:r>
            <a:r>
              <a:rPr sz="2200">
                <a:solidFill>
                  <a:srgbClr val="E6E6E6"/>
                </a:solidFill>
                <a:latin typeface="Consolas"/>
              </a:rPr>
              <a:t> </a:t>
            </a:r>
            <a:r>
              <a:rPr sz="2200">
                <a:solidFill>
                  <a:srgbClr val="7FDBFF"/>
                </a:solidFill>
                <a:latin typeface="Consolas"/>
              </a:rPr>
              <a:t>draw_house</a:t>
            </a:r>
            <a:r>
              <a:rPr sz="2200">
                <a:solidFill>
                  <a:srgbClr val="E6E6E6"/>
                </a:solidFill>
                <a:latin typeface="Consolas"/>
              </a:rPr>
              <a:t>(</a:t>
            </a:r>
            <a:r>
              <a:rPr sz="2200" b="1">
                <a:solidFill>
                  <a:srgbClr val="FF6B9A"/>
                </a:solidFill>
                <a:latin typeface="Consolas"/>
              </a:rPr>
              <a:t>x</a:t>
            </a:r>
            <a:r>
              <a:rPr sz="2200">
                <a:solidFill>
                  <a:srgbClr val="E6E6E6"/>
                </a:solidFill>
                <a:latin typeface="Consolas"/>
              </a:rPr>
              <a:t>, </a:t>
            </a:r>
            <a:r>
              <a:rPr sz="2200" b="1">
                <a:solidFill>
                  <a:srgbClr val="FF6B9A"/>
                </a:solidFill>
                <a:latin typeface="Consolas"/>
              </a:rPr>
              <a:t>y</a:t>
            </a:r>
            <a:r>
              <a:rPr sz="2200">
                <a:solidFill>
                  <a:srgbClr val="E6E6E6"/>
                </a:solidFill>
                <a:latin typeface="Consolas"/>
              </a:rPr>
              <a:t>, </a:t>
            </a:r>
            <a:r>
              <a:rPr sz="2200" b="1">
                <a:solidFill>
                  <a:srgbClr val="FF6B9A"/>
                </a:solidFill>
                <a:latin typeface="Consolas"/>
              </a:rPr>
              <a:t>color</a:t>
            </a:r>
            <a:r>
              <a:rPr sz="220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 rtl="0">
              <a:lnSpc>
                <a:spcPct val="108000"/>
              </a:lnSpc>
            </a:pPr>
            <a:r>
              <a:rPr sz="2200">
                <a:solidFill>
                  <a:srgbClr val="E6E6E6"/>
                </a:solidFill>
                <a:latin typeface="Consolas"/>
              </a:rPr>
              <a:t>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0"/>
            <a:ext cx="1307592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1" i="0" dirty="0">
                <a:solidFill>
                  <a:srgbClr val="5F6F78"/>
                </a:solidFill>
                <a:latin typeface="Arial"/>
                <a:cs typeface="Arial"/>
              </a:rPr>
              <a:t>הקריאה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6B9A"/>
                </a:solidFill>
                <a:latin typeface="Consolas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743200"/>
            <a:ext cx="1097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6B9A"/>
                </a:solidFill>
                <a:latin typeface="Consolas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6B9A"/>
                </a:solidFill>
                <a:latin typeface="Consolas"/>
              </a:rPr>
              <a:t>color</a:t>
            </a:r>
          </a:p>
        </p:txBody>
      </p:sp>
      <p:sp>
        <p:nvSpPr>
          <p:cNvPr id="10" name="code-bg"/>
          <p:cNvSpPr/>
          <p:nvPr/>
        </p:nvSpPr>
        <p:spPr>
          <a:xfrm>
            <a:off x="6035040" y="3200400"/>
            <a:ext cx="5605272" cy="6400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ode"/>
          <p:cNvSpPr txBox="1"/>
          <p:nvPr/>
        </p:nvSpPr>
        <p:spPr>
          <a:xfrm>
            <a:off x="6199631" y="3315614"/>
            <a:ext cx="5276088" cy="40965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(-</a:t>
            </a:r>
            <a:r>
              <a:rPr sz="1600">
                <a:solidFill>
                  <a:srgbClr val="FFD166"/>
                </a:solidFill>
                <a:latin typeface="Consolas"/>
              </a:rPr>
              <a:t>250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"khaki"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937760" y="3520440"/>
            <a:ext cx="1005840" cy="0"/>
          </a:xfrm>
          <a:prstGeom prst="line">
            <a:avLst/>
          </a:prstGeom>
          <a:ln w="25400">
            <a:solidFill>
              <a:srgbClr val="B7C4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3273552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-250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273552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3080" y="3273552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39" y="3273552"/>
            <a:ext cx="1691639" cy="502920"/>
          </a:xfrm>
          <a:prstGeom prst="roundRect">
            <a:avLst>
              <a:gd name="adj" fmla="val 20000"/>
            </a:avLst>
          </a:prstGeom>
          <a:solidFill>
            <a:srgbClr val="F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3273552"/>
            <a:ext cx="17830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"khaki"</a:t>
            </a:r>
          </a:p>
        </p:txBody>
      </p:sp>
      <p:sp>
        <p:nvSpPr>
          <p:cNvPr id="19" name="code-bg"/>
          <p:cNvSpPr/>
          <p:nvPr/>
        </p:nvSpPr>
        <p:spPr>
          <a:xfrm>
            <a:off x="6035040" y="3977639"/>
            <a:ext cx="5605272" cy="6400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code"/>
          <p:cNvSpPr txBox="1"/>
          <p:nvPr/>
        </p:nvSpPr>
        <p:spPr>
          <a:xfrm>
            <a:off x="6199631" y="4092854"/>
            <a:ext cx="5276088" cy="40965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(-</a:t>
            </a:r>
            <a:r>
              <a:rPr sz="1600">
                <a:solidFill>
                  <a:srgbClr val="FFD166"/>
                </a:solidFill>
                <a:latin typeface="Consolas"/>
              </a:rPr>
              <a:t>100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"lightblue"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937760" y="4297679"/>
            <a:ext cx="1005840" cy="0"/>
          </a:xfrm>
          <a:prstGeom prst="line">
            <a:avLst/>
          </a:prstGeom>
          <a:ln w="25400">
            <a:solidFill>
              <a:srgbClr val="B7C4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4050791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50791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050791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3080" y="4050791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39" y="4050791"/>
            <a:ext cx="1691639" cy="502920"/>
          </a:xfrm>
          <a:prstGeom prst="roundRect">
            <a:avLst>
              <a:gd name="adj" fmla="val 20000"/>
            </a:avLst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4050791"/>
            <a:ext cx="17830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"lightblue"</a:t>
            </a:r>
          </a:p>
        </p:txBody>
      </p:sp>
      <p:sp>
        <p:nvSpPr>
          <p:cNvPr id="28" name="code-bg"/>
          <p:cNvSpPr/>
          <p:nvPr/>
        </p:nvSpPr>
        <p:spPr>
          <a:xfrm>
            <a:off x="6035040" y="4754880"/>
            <a:ext cx="5605272" cy="6400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code"/>
          <p:cNvSpPr txBox="1"/>
          <p:nvPr/>
        </p:nvSpPr>
        <p:spPr>
          <a:xfrm>
            <a:off x="6199631" y="4870094"/>
            <a:ext cx="5276088" cy="40965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7FDBFF"/>
                </a:solidFill>
                <a:latin typeface="Consolas"/>
              </a:rPr>
              <a:t>draw_house</a:t>
            </a:r>
            <a:r>
              <a:rPr sz="1600">
                <a:solidFill>
                  <a:srgbClr val="E6E6E6"/>
                </a:solidFill>
                <a:latin typeface="Consolas"/>
              </a:rPr>
              <a:t>(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-</a:t>
            </a:r>
            <a:r>
              <a:rPr sz="1600">
                <a:solidFill>
                  <a:srgbClr val="FFD166"/>
                </a:solidFill>
                <a:latin typeface="Consolas"/>
              </a:rPr>
              <a:t>50</a:t>
            </a:r>
            <a:r>
              <a:rPr sz="1600">
                <a:solidFill>
                  <a:srgbClr val="E6E6E6"/>
                </a:solidFill>
                <a:latin typeface="Consolas"/>
              </a:rPr>
              <a:t>, </a:t>
            </a:r>
            <a:r>
              <a:rPr sz="1600">
                <a:solidFill>
                  <a:srgbClr val="A6E22E"/>
                </a:solidFill>
                <a:latin typeface="Consolas"/>
              </a:rPr>
              <a:t>"pink"</a:t>
            </a:r>
            <a:r>
              <a:rPr sz="16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937760" y="5074920"/>
            <a:ext cx="1005840" cy="0"/>
          </a:xfrm>
          <a:prstGeom prst="line">
            <a:avLst/>
          </a:prstGeom>
          <a:ln w="25400">
            <a:solidFill>
              <a:srgbClr val="B7C4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" y="4828032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828032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828032"/>
            <a:ext cx="1005839" cy="502920"/>
          </a:xfrm>
          <a:prstGeom prst="roundRect">
            <a:avLst>
              <a:gd name="adj" fmla="val 2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83080" y="4828032"/>
            <a:ext cx="1097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39" y="4828032"/>
            <a:ext cx="1691639" cy="502920"/>
          </a:xfrm>
          <a:prstGeom prst="roundRect">
            <a:avLst>
              <a:gd name="adj" fmla="val 20000"/>
            </a:avLst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0" y="4828032"/>
            <a:ext cx="17830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"pink"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0" i="0">
                <a:solidFill>
                  <a:srgbClr val="5F6F78"/>
                </a:solidFill>
                <a:latin typeface="Arial"/>
                <a:cs typeface="Arial"/>
              </a:rPr>
              <a:t>הערכים בקריאה נכנסים לפרמטרים לפי הסדר: הראשון ל-x, השני ל-y, השלישי ל-color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F77B26-59B1-08DF-D7F8-A2FCBAB1AF59}"/>
              </a:ext>
            </a:extLst>
          </p:cNvPr>
          <p:cNvSpPr txBox="1"/>
          <p:nvPr/>
        </p:nvSpPr>
        <p:spPr>
          <a:xfrm>
            <a:off x="4375404" y="2803972"/>
            <a:ext cx="1307592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1" i="0" dirty="0">
                <a:solidFill>
                  <a:srgbClr val="5F6F78"/>
                </a:solidFill>
                <a:latin typeface="Arial"/>
                <a:cs typeface="Arial"/>
              </a:rPr>
              <a:t>פרמטרים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return: פונקציה שמחזירה תשובה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14</a:t>
            </a:r>
          </a:p>
        </p:txBody>
      </p:sp>
      <p:sp>
        <p:nvSpPr>
          <p:cNvPr id="4" name="code-bg"/>
          <p:cNvSpPr/>
          <p:nvPr/>
        </p:nvSpPr>
        <p:spPr>
          <a:xfrm>
            <a:off x="5852160" y="1280160"/>
            <a:ext cx="5788152" cy="20574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code"/>
          <p:cNvSpPr txBox="1"/>
          <p:nvPr/>
        </p:nvSpPr>
        <p:spPr>
          <a:xfrm>
            <a:off x="6080760" y="1440180"/>
            <a:ext cx="5330952" cy="1737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FF9F1C"/>
                </a:solidFill>
                <a:latin typeface="Consolas"/>
              </a:rPr>
              <a:t>def</a:t>
            </a:r>
            <a:r>
              <a:rPr sz="1900">
                <a:solidFill>
                  <a:srgbClr val="E6E6E6"/>
                </a:solidFill>
                <a:latin typeface="Consolas"/>
              </a:rPr>
              <a:t> </a:t>
            </a:r>
            <a:r>
              <a:rPr sz="1900">
                <a:solidFill>
                  <a:srgbClr val="7FDBFF"/>
                </a:solidFill>
                <a:latin typeface="Consolas"/>
              </a:rPr>
              <a:t>area</a:t>
            </a:r>
            <a:r>
              <a:rPr sz="1900">
                <a:solidFill>
                  <a:srgbClr val="E6E6E6"/>
                </a:solidFill>
                <a:latin typeface="Consolas"/>
              </a:rPr>
              <a:t>(width, height):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result = width * height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E6E6E6"/>
                </a:solidFill>
                <a:latin typeface="Consolas"/>
              </a:rPr>
              <a:t>    </a:t>
            </a:r>
            <a:r>
              <a:rPr sz="1900">
                <a:solidFill>
                  <a:srgbClr val="FF9F1C"/>
                </a:solidFill>
                <a:latin typeface="Consolas"/>
              </a:rPr>
              <a:t>return</a:t>
            </a:r>
            <a:r>
              <a:rPr sz="1900">
                <a:solidFill>
                  <a:srgbClr val="E6E6E6"/>
                </a:solidFill>
                <a:latin typeface="Consolas"/>
              </a:rPr>
              <a:t> result</a:t>
            </a:r>
          </a:p>
          <a:p>
            <a:pPr algn="l" rtl="0">
              <a:lnSpc>
                <a:spcPct val="108000"/>
              </a:lnSpc>
            </a:pPr>
            <a:r>
              <a:rPr sz="190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1900">
                <a:solidFill>
                  <a:srgbClr val="7FDBFF"/>
                </a:solidFill>
                <a:latin typeface="Consolas"/>
              </a:rPr>
              <a:t>print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7FDBFF"/>
                </a:solidFill>
                <a:latin typeface="Consolas"/>
              </a:rPr>
              <a:t>area</a:t>
            </a:r>
            <a:r>
              <a:rPr sz="1900">
                <a:solidFill>
                  <a:srgbClr val="E6E6E6"/>
                </a:solidFill>
                <a:latin typeface="Consolas"/>
              </a:rPr>
              <a:t>(</a:t>
            </a:r>
            <a:r>
              <a:rPr sz="1900">
                <a:solidFill>
                  <a:srgbClr val="FFD166"/>
                </a:solidFill>
                <a:latin typeface="Consolas"/>
              </a:rPr>
              <a:t>80</a:t>
            </a:r>
            <a:r>
              <a:rPr sz="1900">
                <a:solidFill>
                  <a:srgbClr val="E6E6E6"/>
                </a:solidFill>
                <a:latin typeface="Consolas"/>
              </a:rPr>
              <a:t>, </a:t>
            </a:r>
            <a:r>
              <a:rPr sz="1900">
                <a:solidFill>
                  <a:srgbClr val="FFD166"/>
                </a:solidFill>
                <a:latin typeface="Consolas"/>
              </a:rPr>
              <a:t>80</a:t>
            </a:r>
            <a:r>
              <a:rPr sz="1900">
                <a:solidFill>
                  <a:srgbClr val="E6E6E6"/>
                </a:solidFill>
                <a:latin typeface="Consolas"/>
              </a:rPr>
              <a:t>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2148840"/>
            <a:ext cx="2194560" cy="1371600"/>
          </a:xfrm>
          <a:prstGeom prst="roundRect">
            <a:avLst>
              <a:gd name="adj" fmla="val 15000"/>
            </a:avLst>
          </a:prstGeom>
          <a:solidFill>
            <a:srgbClr val="FF9F1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4519" y="2148840"/>
            <a:ext cx="219456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onsolas"/>
              </a:rPr>
              <a:t>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234440"/>
            <a:ext cx="731520" cy="502920"/>
          </a:xfrm>
          <a:prstGeom prst="roundRect">
            <a:avLst>
              <a:gd name="adj" fmla="val 3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1234440"/>
            <a:ext cx="731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1B2B34"/>
                </a:solidFill>
                <a:latin typeface="Consolas"/>
              </a:rPr>
              <a:t>80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1755648"/>
            <a:ext cx="0" cy="347472"/>
          </a:xfrm>
          <a:prstGeom prst="line">
            <a:avLst/>
          </a:prstGeom>
          <a:ln w="31750">
            <a:solidFill>
              <a:srgbClr val="118A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79" y="1234440"/>
            <a:ext cx="731520" cy="502920"/>
          </a:xfrm>
          <a:prstGeom prst="roundRect">
            <a:avLst>
              <a:gd name="adj" fmla="val 3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79" y="1234440"/>
            <a:ext cx="731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1B2B34"/>
                </a:solidFill>
                <a:latin typeface="Consolas"/>
              </a:rPr>
              <a:t>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20440" y="1755648"/>
            <a:ext cx="0" cy="347472"/>
          </a:xfrm>
          <a:prstGeom prst="line">
            <a:avLst/>
          </a:prstGeom>
          <a:ln w="31750">
            <a:solidFill>
              <a:srgbClr val="118A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71800" y="3547872"/>
            <a:ext cx="0" cy="429767"/>
          </a:xfrm>
          <a:prstGeom prst="line">
            <a:avLst/>
          </a:prstGeom>
          <a:ln w="31750">
            <a:solidFill>
              <a:srgbClr val="2D9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40280" y="402336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4023360"/>
            <a:ext cx="14630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1" i="0">
                <a:solidFill>
                  <a:srgbClr val="2D9F5C"/>
                </a:solidFill>
                <a:latin typeface="Consolas"/>
              </a:rPr>
              <a:t>6400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234440"/>
            <a:ext cx="1645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1" i="0">
                <a:solidFill>
                  <a:srgbClr val="118AB2"/>
                </a:solidFill>
                <a:latin typeface="Arial"/>
                <a:cs typeface="Arial"/>
              </a:rPr>
              <a:t>נכנס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1" i="0">
                <a:solidFill>
                  <a:srgbClr val="2D9F5C"/>
                </a:solidFill>
                <a:latin typeface="Arial"/>
                <a:cs typeface="Arial"/>
              </a:rPr>
              <a:t>חוזר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520440"/>
            <a:ext cx="578815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800" b="1" i="0">
                <a:solidFill>
                  <a:srgbClr val="1B2B34"/>
                </a:solidFill>
                <a:latin typeface="Arial"/>
                <a:cs typeface="Arial"/>
              </a:rPr>
              <a:t>את התשובה אפשר לשמור ולחשב איתה:</a:t>
            </a:r>
          </a:p>
        </p:txBody>
      </p:sp>
      <p:sp>
        <p:nvSpPr>
          <p:cNvPr id="20" name="code-bg"/>
          <p:cNvSpPr/>
          <p:nvPr/>
        </p:nvSpPr>
        <p:spPr>
          <a:xfrm>
            <a:off x="5852160" y="4023360"/>
            <a:ext cx="5788152" cy="9144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code"/>
          <p:cNvSpPr txBox="1"/>
          <p:nvPr/>
        </p:nvSpPr>
        <p:spPr>
          <a:xfrm>
            <a:off x="6080760" y="4183380"/>
            <a:ext cx="5330952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700">
                <a:solidFill>
                  <a:srgbClr val="E6E6E6"/>
                </a:solidFill>
                <a:latin typeface="Consolas"/>
              </a:rPr>
              <a:t>big = </a:t>
            </a:r>
            <a:r>
              <a:rPr sz="1700">
                <a:solidFill>
                  <a:srgbClr val="7FDBFF"/>
                </a:solidFill>
                <a:latin typeface="Consolas"/>
              </a:rPr>
              <a:t>area</a:t>
            </a:r>
            <a:r>
              <a:rPr sz="1700">
                <a:solidFill>
                  <a:srgbClr val="E6E6E6"/>
                </a:solidFill>
                <a:latin typeface="Consolas"/>
              </a:rPr>
              <a:t>(</a:t>
            </a:r>
            <a:r>
              <a:rPr sz="1700">
                <a:solidFill>
                  <a:srgbClr val="FFD166"/>
                </a:solidFill>
                <a:latin typeface="Consolas"/>
              </a:rPr>
              <a:t>100</a:t>
            </a:r>
            <a:r>
              <a:rPr sz="1700">
                <a:solidFill>
                  <a:srgbClr val="E6E6E6"/>
                </a:solidFill>
                <a:latin typeface="Consolas"/>
              </a:rPr>
              <a:t>, </a:t>
            </a:r>
            <a:r>
              <a:rPr sz="1700">
                <a:solidFill>
                  <a:srgbClr val="FFD166"/>
                </a:solidFill>
                <a:latin typeface="Consolas"/>
              </a:rPr>
              <a:t>200</a:t>
            </a:r>
            <a:r>
              <a:rPr sz="1700">
                <a:solidFill>
                  <a:srgbClr val="E6E6E6"/>
                </a:solidFill>
                <a:latin typeface="Consolas"/>
              </a:rPr>
              <a:t>) + </a:t>
            </a:r>
            <a:r>
              <a:rPr sz="1700">
                <a:solidFill>
                  <a:srgbClr val="7FDBFF"/>
                </a:solidFill>
                <a:latin typeface="Consolas"/>
              </a:rPr>
              <a:t>area</a:t>
            </a:r>
            <a:r>
              <a:rPr sz="1700">
                <a:solidFill>
                  <a:srgbClr val="E6E6E6"/>
                </a:solidFill>
                <a:latin typeface="Consolas"/>
              </a:rPr>
              <a:t>(</a:t>
            </a:r>
            <a:r>
              <a:rPr sz="1700">
                <a:solidFill>
                  <a:srgbClr val="FFD166"/>
                </a:solidFill>
                <a:latin typeface="Consolas"/>
              </a:rPr>
              <a:t>10</a:t>
            </a:r>
            <a:r>
              <a:rPr sz="1700">
                <a:solidFill>
                  <a:srgbClr val="E6E6E6"/>
                </a:solidFill>
                <a:latin typeface="Consolas"/>
              </a:rPr>
              <a:t>, </a:t>
            </a:r>
            <a:r>
              <a:rPr sz="1700">
                <a:solidFill>
                  <a:srgbClr val="FFD166"/>
                </a:solidFill>
                <a:latin typeface="Consolas"/>
              </a:rPr>
              <a:t>10</a:t>
            </a:r>
            <a:r>
              <a:rPr sz="17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17352" y="5303520"/>
            <a:ext cx="640080" cy="640080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446588"/>
            <a:ext cx="9811512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700" b="1" i="0" dirty="0">
                <a:solidFill>
                  <a:srgbClr val="1B2B34"/>
                </a:solidFill>
                <a:latin typeface="Consolas"/>
              </a:rPr>
              <a:t>‎</a:t>
            </a:r>
            <a:r>
              <a:rPr lang="en-US" sz="1700" b="1" i="0" dirty="0">
                <a:solidFill>
                  <a:srgbClr val="1B2B34"/>
                </a:solidFill>
                <a:latin typeface="Consolas"/>
              </a:rPr>
              <a:t>ret</a:t>
            </a:r>
            <a:r>
              <a:rPr sz="1700" b="1" i="0" dirty="0">
                <a:solidFill>
                  <a:srgbClr val="1B2B34"/>
                </a:solidFill>
                <a:latin typeface="Consolas"/>
              </a:rPr>
              <a:t>urn‎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 מחזיר ערך לתוכנית, ואפשר להמשיך לעבוד </a:t>
            </a:r>
            <a:r>
              <a:rPr lang="he-IL" sz="1700" b="0" i="0" dirty="0" err="1">
                <a:solidFill>
                  <a:srgbClr val="1B2B34"/>
                </a:solidFill>
                <a:latin typeface="Arial"/>
                <a:cs typeface="Arial"/>
              </a:rPr>
              <a:t>איתו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משתנים מקומיים וגלובליים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234440"/>
            <a:ext cx="5788152" cy="3794760"/>
          </a:xfrm>
          <a:prstGeom prst="roundRect">
            <a:avLst>
              <a:gd name="adj" fmla="val 5000"/>
            </a:avLst>
          </a:prstGeom>
          <a:solidFill>
            <a:srgbClr val="E9F7EF"/>
          </a:solidFill>
          <a:ln w="19050">
            <a:solidFill>
              <a:srgbClr val="9F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0" y="1298448"/>
            <a:ext cx="548640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1" i="0" dirty="0">
                <a:solidFill>
                  <a:srgbClr val="2D9F5C"/>
                </a:solidFill>
                <a:latin typeface="Arial"/>
                <a:cs typeface="Arial"/>
              </a:rPr>
              <a:t>התוכנית (משתנה גלובלי)</a:t>
            </a:r>
          </a:p>
        </p:txBody>
      </p:sp>
      <p:sp>
        <p:nvSpPr>
          <p:cNvPr id="6" name="code-bg"/>
          <p:cNvSpPr/>
          <p:nvPr/>
        </p:nvSpPr>
        <p:spPr>
          <a:xfrm>
            <a:off x="6080760" y="1737360"/>
            <a:ext cx="5330952" cy="5486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6217920" y="1833372"/>
            <a:ext cx="505663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700">
                <a:solidFill>
                  <a:srgbClr val="E6E6E6"/>
                </a:solidFill>
                <a:latin typeface="Consolas"/>
              </a:rPr>
              <a:t>score = </a:t>
            </a:r>
            <a:r>
              <a:rPr sz="1700">
                <a:solidFill>
                  <a:srgbClr val="FFD166"/>
                </a:solidFill>
                <a:latin typeface="Consolas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514600"/>
            <a:ext cx="5330952" cy="23317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9050">
            <a:solidFill>
              <a:srgbClr val="F5C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0749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1" i="0" dirty="0">
                <a:solidFill>
                  <a:srgbClr val="C77700"/>
                </a:solidFill>
                <a:latin typeface="Arial"/>
                <a:cs typeface="Arial"/>
              </a:rPr>
              <a:t>בתוך הפונקציה (משתנה מקומי)</a:t>
            </a:r>
          </a:p>
        </p:txBody>
      </p:sp>
      <p:sp>
        <p:nvSpPr>
          <p:cNvPr id="10" name="code-bg"/>
          <p:cNvSpPr/>
          <p:nvPr/>
        </p:nvSpPr>
        <p:spPr>
          <a:xfrm>
            <a:off x="6217920" y="2971800"/>
            <a:ext cx="5056632" cy="16916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ode"/>
          <p:cNvSpPr txBox="1"/>
          <p:nvPr/>
        </p:nvSpPr>
        <p:spPr>
          <a:xfrm>
            <a:off x="6355080" y="3067812"/>
            <a:ext cx="4782312" cy="1499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FF9F1C"/>
                </a:solidFill>
                <a:latin typeface="Consolas"/>
              </a:rPr>
              <a:t>def</a:t>
            </a: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  <a:r>
              <a:rPr sz="1600">
                <a:solidFill>
                  <a:srgbClr val="7FDBFF"/>
                </a:solidFill>
                <a:latin typeface="Consolas"/>
              </a:rPr>
              <a:t>add_point</a:t>
            </a:r>
            <a:r>
              <a:rPr sz="1600">
                <a:solidFill>
                  <a:srgbClr val="E6E6E6"/>
                </a:solidFill>
                <a:latin typeface="Consolas"/>
              </a:rPr>
              <a:t>():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</a:t>
            </a:r>
            <a:r>
              <a:rPr sz="1600" b="1">
                <a:solidFill>
                  <a:srgbClr val="FF6B9A"/>
                </a:solidFill>
                <a:latin typeface="Consolas"/>
              </a:rPr>
              <a:t>global</a:t>
            </a:r>
            <a:r>
              <a:rPr sz="1600">
                <a:solidFill>
                  <a:srgbClr val="E6E6E6"/>
                </a:solidFill>
                <a:latin typeface="Consolas"/>
              </a:rPr>
              <a:t> score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score = score + </a:t>
            </a:r>
            <a:r>
              <a:rPr sz="1600">
                <a:solidFill>
                  <a:srgbClr val="FFD166"/>
                </a:solidFill>
                <a:latin typeface="Consolas"/>
              </a:rPr>
              <a:t>1</a:t>
            </a:r>
          </a:p>
          <a:p>
            <a:pPr algn="l" rtl="0">
              <a:lnSpc>
                <a:spcPct val="108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bonus = </a:t>
            </a:r>
            <a:r>
              <a:rPr sz="1600">
                <a:solidFill>
                  <a:srgbClr val="FFD166"/>
                </a:solidFill>
                <a:latin typeface="Consolas"/>
              </a:rPr>
              <a:t>5</a:t>
            </a:r>
            <a:r>
              <a:rPr sz="1600">
                <a:solidFill>
                  <a:srgbClr val="E6E6E6"/>
                </a:solidFill>
                <a:latin typeface="Consolas"/>
              </a:rPr>
              <a:t>  </a:t>
            </a:r>
            <a:r>
              <a:rPr lang="he-IL" sz="1600">
                <a:solidFill>
                  <a:srgbClr val="8A93A6"/>
                </a:solidFill>
                <a:latin typeface="Consolas"/>
                <a:cs typeface="Arial"/>
              </a:rPr>
              <a:t># מקומי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1600200"/>
            <a:ext cx="365760" cy="36576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234440"/>
            <a:ext cx="41605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מקומי: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משתנה שנוצר בתוך פונקציה קיים רק בתוכה, ונמחק כשהיא נגמרת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146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41605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גלובלי: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משתנה של כל התוכנית - כל פונקציה יכולה לקרוא אותו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9200" y="4160520"/>
            <a:ext cx="365760" cy="36576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41605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כדי לשנות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 משתנה גלובלי מתוך פונקציה - כותבים </a:t>
            </a:r>
            <a:r>
              <a:rPr sz="1600" b="1" i="0">
                <a:solidFill>
                  <a:srgbClr val="1B2B34"/>
                </a:solidFill>
                <a:latin typeface="Consolas"/>
              </a:rPr>
              <a:t>‎global‎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 בהתחלה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08792" y="5394960"/>
            <a:ext cx="548640" cy="54864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349240"/>
            <a:ext cx="990295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שכחתם global?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תקבלו שגיאה </a:t>
            </a:r>
            <a:r>
              <a:rPr sz="1600" b="1" i="0">
                <a:solidFill>
                  <a:srgbClr val="1B2B34"/>
                </a:solidFill>
                <a:latin typeface="Consolas"/>
              </a:rPr>
              <a:t>‎UnboundLocalError‎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 - עכשיו אתם יודעים למה!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תורכם: מתרגלים פונקציות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16</a:t>
            </a:r>
          </a:p>
        </p:txBody>
      </p:sp>
      <p:sp>
        <p:nvSpPr>
          <p:cNvPr id="4" name="pic-card"/>
          <p:cNvSpPr/>
          <p:nvPr/>
        </p:nvSpPr>
        <p:spPr>
          <a:xfrm>
            <a:off x="576072" y="1307592"/>
            <a:ext cx="4425696" cy="214465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func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206240" cy="19251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325880"/>
            <a:ext cx="61539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1444752"/>
            <a:ext cx="548640" cy="54864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37528"/>
            <a:ext cx="516636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הוסיפו בית רביעי בצבע צהוב - בשורה אחת בלבד!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58568"/>
            <a:ext cx="61539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0" y="2377439"/>
            <a:ext cx="548640" cy="54864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9411"/>
            <a:ext cx="5166360" cy="61555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הוסיפו פרמטר </a:t>
            </a:r>
            <a:r>
              <a:rPr lang="en-US" sz="1700" b="0" i="0" dirty="0">
                <a:solidFill>
                  <a:srgbClr val="1B2B34"/>
                </a:solidFill>
                <a:latin typeface="Arial"/>
                <a:cs typeface="Arial"/>
              </a:rPr>
              <a:t>size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 לפונקציה </a:t>
            </a:r>
            <a:r>
              <a:rPr lang="en-US" sz="1700" b="0" i="0" dirty="0" err="1">
                <a:solidFill>
                  <a:srgbClr val="1B2B34"/>
                </a:solidFill>
                <a:latin typeface="Arial"/>
                <a:cs typeface="Arial"/>
              </a:rPr>
              <a:t>draw_house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 וקראו אותו מהמשתמש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191256"/>
            <a:ext cx="6153912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72800" y="3310128"/>
            <a:ext cx="548640" cy="548640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402904"/>
            <a:ext cx="516636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כתבו פונקציה </a:t>
            </a:r>
            <a:r>
              <a:rPr lang="he-IL" sz="1700" b="0" i="0" dirty="0" err="1">
                <a:solidFill>
                  <a:srgbClr val="1B2B34"/>
                </a:solidFill>
                <a:latin typeface="Arial"/>
                <a:cs typeface="Arial"/>
              </a:rPr>
              <a:t>draw_sun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(x, y, </a:t>
            </a:r>
            <a:r>
              <a:rPr lang="he-IL" sz="1700" b="0" i="0" dirty="0" err="1">
                <a:solidFill>
                  <a:srgbClr val="1B2B34"/>
                </a:solidFill>
                <a:latin typeface="Arial"/>
                <a:cs typeface="Arial"/>
              </a:rPr>
              <a:t>size</a:t>
            </a: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) לצייר שמש</a:t>
            </a:r>
          </a:p>
        </p:txBody>
      </p:sp>
      <p:sp>
        <p:nvSpPr>
          <p:cNvPr id="18" name="file-tag"/>
          <p:cNvSpPr/>
          <p:nvPr/>
        </p:nvSpPr>
        <p:spPr>
          <a:xfrm>
            <a:off x="548640" y="562356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functions_demo.py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1463040"/>
            <a:ext cx="2926080" cy="2926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0" y="1463040"/>
            <a:ext cx="292608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0" b="1" i="0">
                <a:solidFill>
                  <a:srgbClr val="FFD166"/>
                </a:solidFill>
                <a:latin typeface="Arial"/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10607040" y="1188720"/>
            <a:ext cx="502920" cy="50292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4069080"/>
            <a:ext cx="365760" cy="36576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9494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5000" b="1" i="0">
                <a:solidFill>
                  <a:srgbClr val="FFFFFF"/>
                </a:solidFill>
                <a:latin typeface="Arial"/>
                <a:cs typeface="Arial"/>
              </a:rPr>
              <a:t>בונים משחק מרוץ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200" b="0" i="0">
                <a:solidFill>
                  <a:srgbClr val="CDE8D8"/>
                </a:solidFill>
                <a:latin typeface="Arial"/>
                <a:cs typeface="Arial"/>
              </a:rPr>
              <a:t>רשימות + פונקציות + לולאת משחק = 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המשחק שנבנה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18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170431"/>
            <a:ext cx="3604053" cy="4974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ca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3384597" cy="4754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1457432" y="1536192"/>
            <a:ext cx="155448" cy="15544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0" y="1417320"/>
            <a:ext cx="583387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נוהגים בין 3 נתיבים עם </a:t>
            </a:r>
            <a:r>
              <a:rPr lang="he-IL" sz="2000" b="1" i="0">
                <a:solidFill>
                  <a:srgbClr val="1B2B34"/>
                </a:solidFill>
                <a:latin typeface="Segoe UI Symbol"/>
                <a:cs typeface="Segoe UI Symbol"/>
              </a:rPr>
              <a:t>← →</a:t>
            </a:r>
          </a:p>
        </p:txBody>
      </p:sp>
      <p:sp>
        <p:nvSpPr>
          <p:cNvPr id="8" name="Oval 7"/>
          <p:cNvSpPr/>
          <p:nvPr/>
        </p:nvSpPr>
        <p:spPr>
          <a:xfrm>
            <a:off x="11457432" y="2194560"/>
            <a:ext cx="155448" cy="15544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2075688"/>
            <a:ext cx="583387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מכוניות באות מולכם בנתיבים אקראיים</a:t>
            </a:r>
          </a:p>
        </p:txBody>
      </p:sp>
      <p:sp>
        <p:nvSpPr>
          <p:cNvPr id="10" name="Oval 9"/>
          <p:cNvSpPr/>
          <p:nvPr/>
        </p:nvSpPr>
        <p:spPr>
          <a:xfrm>
            <a:off x="11457432" y="2852928"/>
            <a:ext cx="155448" cy="15544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2734056"/>
            <a:ext cx="583387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כל מכונית שעוברת = נקודה</a:t>
            </a:r>
          </a:p>
        </p:txBody>
      </p:sp>
      <p:sp>
        <p:nvSpPr>
          <p:cNvPr id="12" name="Oval 11"/>
          <p:cNvSpPr/>
          <p:nvPr/>
        </p:nvSpPr>
        <p:spPr>
          <a:xfrm>
            <a:off x="11457432" y="3511296"/>
            <a:ext cx="155448" cy="15544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3392424"/>
            <a:ext cx="583387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המשחק נהיה מהיר יותר ויותר</a:t>
            </a:r>
          </a:p>
        </p:txBody>
      </p:sp>
      <p:sp>
        <p:nvSpPr>
          <p:cNvPr id="14" name="Oval 13"/>
          <p:cNvSpPr/>
          <p:nvPr/>
        </p:nvSpPr>
        <p:spPr>
          <a:xfrm>
            <a:off x="11457432" y="4169663"/>
            <a:ext cx="155448" cy="15544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4050791"/>
            <a:ext cx="583387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2000" b="0" i="0">
                <a:solidFill>
                  <a:srgbClr val="1B2B34"/>
                </a:solidFill>
                <a:latin typeface="Arial"/>
                <a:cs typeface="Arial"/>
              </a:rPr>
              <a:t>התנגשות = סוף המשחק 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937760"/>
            <a:ext cx="6153912" cy="1097280"/>
          </a:xfrm>
          <a:prstGeom prst="roundRect">
            <a:avLst>
              <a:gd name="adj" fmla="val 12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771632" y="5143500"/>
            <a:ext cx="685800" cy="68580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029200"/>
            <a:ext cx="4828032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700" b="1" i="0">
                <a:solidFill>
                  <a:srgbClr val="1B2B34"/>
                </a:solidFill>
                <a:latin typeface="Arial"/>
                <a:cs typeface="Arial"/>
              </a:rPr>
              <a:t>בונים בשלבים: </a:t>
            </a: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כל שלב = קובץ שעובד. נתקעתם? פותחים את הקובץ של השלב הבא.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49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הפונקציות של המשחק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188720"/>
            <a:ext cx="31363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2D9F5C"/>
                </a:solidFill>
                <a:latin typeface="Arial"/>
                <a:cs typeface="Arial"/>
              </a:rPr>
              <a:t>ציור והכנה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73736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73736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draw_road()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74320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7BC89A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0" y="2743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1B2B34"/>
                </a:solidFill>
                <a:latin typeface="Consolas"/>
              </a:rPr>
              <a:t>draw_rect(...)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76688" y="2322576"/>
            <a:ext cx="0" cy="393192"/>
          </a:xfrm>
          <a:prstGeom prst="line">
            <a:avLst/>
          </a:prstGeom>
          <a:ln w="25400">
            <a:solidFill>
              <a:srgbClr val="2D9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78240" y="384048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384048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make_car(...)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526280"/>
            <a:ext cx="31363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400" b="0" i="0">
                <a:solidFill>
                  <a:srgbClr val="5F6F78"/>
                </a:solidFill>
                <a:latin typeface="Arial"/>
                <a:cs typeface="Arial"/>
              </a:rPr>
              <a:t>משתמשת בתמונות </a:t>
            </a:r>
            <a:r>
              <a:rPr sz="1400" b="1" i="0">
                <a:solidFill>
                  <a:srgbClr val="5F6F78"/>
                </a:solidFill>
                <a:latin typeface="Consolas"/>
              </a:rPr>
              <a:t>‎gif‎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A1450-7035-3E1A-9BCA-2F886625C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59B4C-48B8-A4B4-BBB2-A61A3569A342}"/>
              </a:ext>
            </a:extLst>
          </p:cNvPr>
          <p:cNvSpPr txBox="1"/>
          <p:nvPr/>
        </p:nvSpPr>
        <p:spPr>
          <a:xfrm>
            <a:off x="548640" y="38549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הפונקציות של המשחק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A8F4D-3A13-C302-7925-797F67AC879B}"/>
              </a:ext>
            </a:extLst>
          </p:cNvPr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50353-5977-7C18-84B6-D27177DC72FC}"/>
              </a:ext>
            </a:extLst>
          </p:cNvPr>
          <p:cNvSpPr txBox="1"/>
          <p:nvPr/>
        </p:nvSpPr>
        <p:spPr>
          <a:xfrm>
            <a:off x="8503920" y="1188720"/>
            <a:ext cx="31363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2D9F5C"/>
                </a:solidFill>
                <a:latin typeface="Arial"/>
                <a:cs typeface="Arial"/>
              </a:rPr>
              <a:t>ציור והכנה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063EAF-1B00-F5E7-D88C-F0FC3707D169}"/>
              </a:ext>
            </a:extLst>
          </p:cNvPr>
          <p:cNvSpPr/>
          <p:nvPr/>
        </p:nvSpPr>
        <p:spPr>
          <a:xfrm>
            <a:off x="8778240" y="173736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23626-DC44-481E-F7EA-D016D6F81C64}"/>
              </a:ext>
            </a:extLst>
          </p:cNvPr>
          <p:cNvSpPr txBox="1"/>
          <p:nvPr/>
        </p:nvSpPr>
        <p:spPr>
          <a:xfrm>
            <a:off x="8778240" y="173736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draw_road()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B7BF93-0643-0976-9409-A9C8B86B2F27}"/>
              </a:ext>
            </a:extLst>
          </p:cNvPr>
          <p:cNvSpPr/>
          <p:nvPr/>
        </p:nvSpPr>
        <p:spPr>
          <a:xfrm>
            <a:off x="8778240" y="274320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7BC89A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B6EDF-9C96-5B3A-EC17-593718B3238D}"/>
              </a:ext>
            </a:extLst>
          </p:cNvPr>
          <p:cNvSpPr txBox="1"/>
          <p:nvPr/>
        </p:nvSpPr>
        <p:spPr>
          <a:xfrm>
            <a:off x="8778240" y="2743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1B2B34"/>
                </a:solidFill>
                <a:latin typeface="Consolas"/>
              </a:rPr>
              <a:t>draw_rect(...)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CB6A0A84-B02E-91EB-B003-00818764EC49}"/>
              </a:ext>
            </a:extLst>
          </p:cNvPr>
          <p:cNvCxnSpPr/>
          <p:nvPr/>
        </p:nvCxnSpPr>
        <p:spPr>
          <a:xfrm>
            <a:off x="10076688" y="2322576"/>
            <a:ext cx="0" cy="393192"/>
          </a:xfrm>
          <a:prstGeom prst="line">
            <a:avLst/>
          </a:prstGeom>
          <a:ln w="25400">
            <a:solidFill>
              <a:srgbClr val="2D9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3E91B5-EB01-9DE1-3DE6-09F5A72073DE}"/>
              </a:ext>
            </a:extLst>
          </p:cNvPr>
          <p:cNvSpPr/>
          <p:nvPr/>
        </p:nvSpPr>
        <p:spPr>
          <a:xfrm>
            <a:off x="8778240" y="384048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DD00-9F5B-D347-8963-853944663D27}"/>
              </a:ext>
            </a:extLst>
          </p:cNvPr>
          <p:cNvSpPr txBox="1"/>
          <p:nvPr/>
        </p:nvSpPr>
        <p:spPr>
          <a:xfrm>
            <a:off x="8778240" y="384048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make_car(...)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95C54-2BA3-0AEA-C284-9EA08301FCB4}"/>
              </a:ext>
            </a:extLst>
          </p:cNvPr>
          <p:cNvSpPr txBox="1"/>
          <p:nvPr/>
        </p:nvSpPr>
        <p:spPr>
          <a:xfrm>
            <a:off x="8503920" y="4526280"/>
            <a:ext cx="31363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400" b="0" i="0">
                <a:solidFill>
                  <a:srgbClr val="5F6F78"/>
                </a:solidFill>
                <a:latin typeface="Arial"/>
                <a:cs typeface="Arial"/>
              </a:rPr>
              <a:t>משתמשת בתמונות </a:t>
            </a:r>
            <a:r>
              <a:rPr sz="1400" b="1" i="0">
                <a:solidFill>
                  <a:srgbClr val="5F6F78"/>
                </a:solidFill>
                <a:latin typeface="Consolas"/>
              </a:rPr>
              <a:t>‎gif‎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AE6C7-633A-B653-A5A1-3F8D90AEDBA3}"/>
              </a:ext>
            </a:extLst>
          </p:cNvPr>
          <p:cNvSpPr txBox="1"/>
          <p:nvPr/>
        </p:nvSpPr>
        <p:spPr>
          <a:xfrm>
            <a:off x="5120640" y="118872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118AB2"/>
                </a:solidFill>
                <a:latin typeface="Arial"/>
                <a:cs typeface="Arial"/>
              </a:rPr>
              <a:t>מקלדת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FCDA68-62E9-4316-48D4-469F4DE7B7D3}"/>
              </a:ext>
            </a:extLst>
          </p:cNvPr>
          <p:cNvSpPr/>
          <p:nvPr/>
        </p:nvSpPr>
        <p:spPr>
          <a:xfrm>
            <a:off x="5349240" y="173736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18AB2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832E3-3469-9403-92D7-8377A50F7940}"/>
              </a:ext>
            </a:extLst>
          </p:cNvPr>
          <p:cNvSpPr txBox="1"/>
          <p:nvPr/>
        </p:nvSpPr>
        <p:spPr>
          <a:xfrm>
            <a:off x="5349240" y="173736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move_left()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26B1607-3E1A-C41A-8DFD-71530467D873}"/>
              </a:ext>
            </a:extLst>
          </p:cNvPr>
          <p:cNvSpPr/>
          <p:nvPr/>
        </p:nvSpPr>
        <p:spPr>
          <a:xfrm>
            <a:off x="5349240" y="274320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18AB2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3E53A-3BEB-A96A-F3DF-09E4E0C790B4}"/>
              </a:ext>
            </a:extLst>
          </p:cNvPr>
          <p:cNvSpPr txBox="1"/>
          <p:nvPr/>
        </p:nvSpPr>
        <p:spPr>
          <a:xfrm>
            <a:off x="5349240" y="2743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move_right()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C0F39-60E6-64A3-59B2-B0CDA3563129}"/>
              </a:ext>
            </a:extLst>
          </p:cNvPr>
          <p:cNvSpPr txBox="1"/>
          <p:nvPr/>
        </p:nvSpPr>
        <p:spPr>
          <a:xfrm>
            <a:off x="5120640" y="3429000"/>
            <a:ext cx="29260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400" b="1" i="0">
                <a:solidFill>
                  <a:srgbClr val="5F6F78"/>
                </a:solidFill>
                <a:latin typeface="Consolas"/>
              </a:rPr>
              <a:t>‎onkey‎</a:t>
            </a:r>
            <a:r>
              <a:rPr lang="he-IL" sz="1400" b="0" i="0">
                <a:solidFill>
                  <a:srgbClr val="5F6F78"/>
                </a:solidFill>
                <a:latin typeface="Arial"/>
                <a:cs typeface="Arial"/>
              </a:rPr>
              <a:t> מפעיל אותן כשלוחצים על חץ</a:t>
            </a:r>
          </a:p>
        </p:txBody>
      </p:sp>
    </p:spTree>
    <p:extLst>
      <p:ext uri="{BB962C8B-B14F-4D97-AF65-F5344CB8AC3E}">
        <p14:creationId xmlns:p14="http://schemas.microsoft.com/office/powerpoint/2010/main" val="3155588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ED401-09A2-8DD8-CC82-F699DBDE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E75FF-46ED-19B9-2034-E83A5D9D8781}"/>
              </a:ext>
            </a:extLst>
          </p:cNvPr>
          <p:cNvSpPr txBox="1"/>
          <p:nvPr/>
        </p:nvSpPr>
        <p:spPr>
          <a:xfrm>
            <a:off x="548640" y="38549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הפונקציות של המשחק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CC86D-5912-E36B-436A-A4F0EE73818F}"/>
              </a:ext>
            </a:extLst>
          </p:cNvPr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8F11B-0C4A-ECDC-D2AA-F258F2148325}"/>
              </a:ext>
            </a:extLst>
          </p:cNvPr>
          <p:cNvSpPr txBox="1"/>
          <p:nvPr/>
        </p:nvSpPr>
        <p:spPr>
          <a:xfrm>
            <a:off x="8503920" y="1188720"/>
            <a:ext cx="31363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2D9F5C"/>
                </a:solidFill>
                <a:latin typeface="Arial"/>
                <a:cs typeface="Arial"/>
              </a:rPr>
              <a:t>ציור והכנה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60D5-CD1A-DC98-AD4F-DF1B09224342}"/>
              </a:ext>
            </a:extLst>
          </p:cNvPr>
          <p:cNvSpPr/>
          <p:nvPr/>
        </p:nvSpPr>
        <p:spPr>
          <a:xfrm>
            <a:off x="8778240" y="173736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3B2DE-AE26-9455-ED1A-BE448391ADCB}"/>
              </a:ext>
            </a:extLst>
          </p:cNvPr>
          <p:cNvSpPr txBox="1"/>
          <p:nvPr/>
        </p:nvSpPr>
        <p:spPr>
          <a:xfrm>
            <a:off x="8778240" y="173736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draw_road()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BE54F-C4C7-E0F2-1EE4-E52DBE5DB68D}"/>
              </a:ext>
            </a:extLst>
          </p:cNvPr>
          <p:cNvSpPr/>
          <p:nvPr/>
        </p:nvSpPr>
        <p:spPr>
          <a:xfrm>
            <a:off x="8778240" y="274320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7BC89A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72D8A-4741-07A7-F09A-EC968BB1FDEC}"/>
              </a:ext>
            </a:extLst>
          </p:cNvPr>
          <p:cNvSpPr txBox="1"/>
          <p:nvPr/>
        </p:nvSpPr>
        <p:spPr>
          <a:xfrm>
            <a:off x="8778240" y="2743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1B2B34"/>
                </a:solidFill>
                <a:latin typeface="Consolas"/>
              </a:rPr>
              <a:t>draw_rect(...)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4420EC17-7C19-8BB0-ED9C-AAB57FABA3DB}"/>
              </a:ext>
            </a:extLst>
          </p:cNvPr>
          <p:cNvCxnSpPr/>
          <p:nvPr/>
        </p:nvCxnSpPr>
        <p:spPr>
          <a:xfrm>
            <a:off x="10076688" y="2322576"/>
            <a:ext cx="0" cy="393192"/>
          </a:xfrm>
          <a:prstGeom prst="line">
            <a:avLst/>
          </a:prstGeom>
          <a:ln w="25400">
            <a:solidFill>
              <a:srgbClr val="2D9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7FB475A-C091-A6F6-13BE-181A186DC1B4}"/>
              </a:ext>
            </a:extLst>
          </p:cNvPr>
          <p:cNvSpPr/>
          <p:nvPr/>
        </p:nvSpPr>
        <p:spPr>
          <a:xfrm>
            <a:off x="8778240" y="3840480"/>
            <a:ext cx="2606040" cy="566928"/>
          </a:xfrm>
          <a:prstGeom prst="roundRect">
            <a:avLst>
              <a:gd name="adj" fmla="val 3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AE18E-0190-82E3-5B78-6380789AD0C9}"/>
              </a:ext>
            </a:extLst>
          </p:cNvPr>
          <p:cNvSpPr txBox="1"/>
          <p:nvPr/>
        </p:nvSpPr>
        <p:spPr>
          <a:xfrm>
            <a:off x="8778240" y="384048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make_car(...)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6FA74-3AE7-DF74-CDE4-B2F46EFDB234}"/>
              </a:ext>
            </a:extLst>
          </p:cNvPr>
          <p:cNvSpPr txBox="1"/>
          <p:nvPr/>
        </p:nvSpPr>
        <p:spPr>
          <a:xfrm>
            <a:off x="8503920" y="4526280"/>
            <a:ext cx="313639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400" b="0" i="0">
                <a:solidFill>
                  <a:srgbClr val="5F6F78"/>
                </a:solidFill>
                <a:latin typeface="Arial"/>
                <a:cs typeface="Arial"/>
              </a:rPr>
              <a:t>משתמשת בתמונות </a:t>
            </a:r>
            <a:r>
              <a:rPr sz="1400" b="1" i="0">
                <a:solidFill>
                  <a:srgbClr val="5F6F78"/>
                </a:solidFill>
                <a:latin typeface="Consolas"/>
              </a:rPr>
              <a:t>‎gif‎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955DE-03AD-542B-F205-38CAAB600C41}"/>
              </a:ext>
            </a:extLst>
          </p:cNvPr>
          <p:cNvSpPr txBox="1"/>
          <p:nvPr/>
        </p:nvSpPr>
        <p:spPr>
          <a:xfrm>
            <a:off x="5120640" y="118872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118AB2"/>
                </a:solidFill>
                <a:latin typeface="Arial"/>
                <a:cs typeface="Arial"/>
              </a:rPr>
              <a:t>מקלדת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C0CB0E-0508-EE05-9855-958CFFCB1D46}"/>
              </a:ext>
            </a:extLst>
          </p:cNvPr>
          <p:cNvSpPr/>
          <p:nvPr/>
        </p:nvSpPr>
        <p:spPr>
          <a:xfrm>
            <a:off x="5349240" y="173736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18AB2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20514-3E47-4806-44A3-77CEF67AA556}"/>
              </a:ext>
            </a:extLst>
          </p:cNvPr>
          <p:cNvSpPr txBox="1"/>
          <p:nvPr/>
        </p:nvSpPr>
        <p:spPr>
          <a:xfrm>
            <a:off x="5349240" y="173736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move_left()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0169F91-49EE-FB8E-5DDD-108C47D5DCD4}"/>
              </a:ext>
            </a:extLst>
          </p:cNvPr>
          <p:cNvSpPr/>
          <p:nvPr/>
        </p:nvSpPr>
        <p:spPr>
          <a:xfrm>
            <a:off x="5349240" y="274320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18AB2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EFB134-AE73-0787-2978-7A0C20DC852D}"/>
              </a:ext>
            </a:extLst>
          </p:cNvPr>
          <p:cNvSpPr txBox="1"/>
          <p:nvPr/>
        </p:nvSpPr>
        <p:spPr>
          <a:xfrm>
            <a:off x="5349240" y="2743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move_right()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C6EB0-98DF-1B7F-9793-6B33A4B7DB92}"/>
              </a:ext>
            </a:extLst>
          </p:cNvPr>
          <p:cNvSpPr txBox="1"/>
          <p:nvPr/>
        </p:nvSpPr>
        <p:spPr>
          <a:xfrm>
            <a:off x="5120640" y="3429000"/>
            <a:ext cx="29260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400" b="1" i="0">
                <a:solidFill>
                  <a:srgbClr val="5F6F78"/>
                </a:solidFill>
                <a:latin typeface="Consolas"/>
              </a:rPr>
              <a:t>‎onkey‎</a:t>
            </a:r>
            <a:r>
              <a:rPr lang="he-IL" sz="1400" b="0" i="0">
                <a:solidFill>
                  <a:srgbClr val="5F6F78"/>
                </a:solidFill>
                <a:latin typeface="Arial"/>
                <a:cs typeface="Arial"/>
              </a:rPr>
              <a:t> מפעיל אותן כשלוחצים על חץ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1367B-DEE8-EB5C-5FA3-E58712A680C1}"/>
              </a:ext>
            </a:extLst>
          </p:cNvPr>
          <p:cNvSpPr txBox="1"/>
          <p:nvPr/>
        </p:nvSpPr>
        <p:spPr>
          <a:xfrm>
            <a:off x="548640" y="118872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800" b="1" i="0">
                <a:solidFill>
                  <a:srgbClr val="EF476F"/>
                </a:solidFill>
                <a:latin typeface="Arial"/>
                <a:cs typeface="Arial"/>
              </a:rPr>
              <a:t>לולאת המשחק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D78B9FF-451B-9027-FFA9-86C83A2A88C0}"/>
              </a:ext>
            </a:extLst>
          </p:cNvPr>
          <p:cNvSpPr/>
          <p:nvPr/>
        </p:nvSpPr>
        <p:spPr>
          <a:xfrm>
            <a:off x="1234440" y="1737360"/>
            <a:ext cx="2834640" cy="566928"/>
          </a:xfrm>
          <a:prstGeom prst="roundRect">
            <a:avLst>
              <a:gd name="adj" fmla="val 30000"/>
            </a:avLst>
          </a:prstGeom>
          <a:solidFill>
            <a:srgbClr val="EF476F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C20ACE-2EF0-1609-8065-15A410C489EF}"/>
              </a:ext>
            </a:extLst>
          </p:cNvPr>
          <p:cNvSpPr txBox="1"/>
          <p:nvPr/>
        </p:nvSpPr>
        <p:spPr>
          <a:xfrm>
            <a:off x="1234440" y="173736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game_loop()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C5E9BD7-7FB3-C00D-E11A-5E0924029777}"/>
              </a:ext>
            </a:extLst>
          </p:cNvPr>
          <p:cNvSpPr/>
          <p:nvPr/>
        </p:nvSpPr>
        <p:spPr>
          <a:xfrm>
            <a:off x="1737360" y="2743200"/>
            <a:ext cx="2651760" cy="530352"/>
          </a:xfrm>
          <a:prstGeom prst="roundRect">
            <a:avLst>
              <a:gd name="adj" fmla="val 30000"/>
            </a:avLst>
          </a:prstGeom>
          <a:solidFill>
            <a:srgbClr val="F6A5B8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E0E311-29BE-61D7-A34B-07F898E5F361}"/>
              </a:ext>
            </a:extLst>
          </p:cNvPr>
          <p:cNvSpPr txBox="1"/>
          <p:nvPr/>
        </p:nvSpPr>
        <p:spPr>
          <a:xfrm>
            <a:off x="1737360" y="2743200"/>
            <a:ext cx="2651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move_lines()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5DF5F52F-C9C8-2236-84A1-8758F15AAD01}"/>
              </a:ext>
            </a:extLst>
          </p:cNvPr>
          <p:cNvCxnSpPr/>
          <p:nvPr/>
        </p:nvCxnSpPr>
        <p:spPr>
          <a:xfrm>
            <a:off x="1097280" y="3008376"/>
            <a:ext cx="594360" cy="0"/>
          </a:xfrm>
          <a:prstGeom prst="line">
            <a:avLst/>
          </a:prstGeom>
          <a:ln w="2540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D55812B-7C72-A5D1-821E-04EF7DC7F6A4}"/>
              </a:ext>
            </a:extLst>
          </p:cNvPr>
          <p:cNvSpPr/>
          <p:nvPr/>
        </p:nvSpPr>
        <p:spPr>
          <a:xfrm>
            <a:off x="1737360" y="3520440"/>
            <a:ext cx="2651760" cy="530352"/>
          </a:xfrm>
          <a:prstGeom prst="roundRect">
            <a:avLst>
              <a:gd name="adj" fmla="val 30000"/>
            </a:avLst>
          </a:prstGeom>
          <a:solidFill>
            <a:srgbClr val="F6A5B8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FE0687-54B7-205E-EBCD-72A1EC9F333C}"/>
              </a:ext>
            </a:extLst>
          </p:cNvPr>
          <p:cNvSpPr txBox="1"/>
          <p:nvPr/>
        </p:nvSpPr>
        <p:spPr>
          <a:xfrm>
            <a:off x="1737360" y="3520440"/>
            <a:ext cx="2651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move_enemy()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110C46FB-8A38-A204-B5D1-A2FDE08F5141}"/>
              </a:ext>
            </a:extLst>
          </p:cNvPr>
          <p:cNvCxnSpPr/>
          <p:nvPr/>
        </p:nvCxnSpPr>
        <p:spPr>
          <a:xfrm>
            <a:off x="1097280" y="3785615"/>
            <a:ext cx="594360" cy="0"/>
          </a:xfrm>
          <a:prstGeom prst="line">
            <a:avLst/>
          </a:prstGeom>
          <a:ln w="2540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68E1690-2C61-11BC-0C80-E43DA1B32EE9}"/>
              </a:ext>
            </a:extLst>
          </p:cNvPr>
          <p:cNvSpPr/>
          <p:nvPr/>
        </p:nvSpPr>
        <p:spPr>
          <a:xfrm>
            <a:off x="1737360" y="4297680"/>
            <a:ext cx="2651760" cy="530352"/>
          </a:xfrm>
          <a:prstGeom prst="roundRect">
            <a:avLst>
              <a:gd name="adj" fmla="val 30000"/>
            </a:avLst>
          </a:prstGeom>
          <a:solidFill>
            <a:srgbClr val="F6A5B8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863B9-616B-C6FE-A861-12B65E3F38C5}"/>
              </a:ext>
            </a:extLst>
          </p:cNvPr>
          <p:cNvSpPr txBox="1"/>
          <p:nvPr/>
        </p:nvSpPr>
        <p:spPr>
          <a:xfrm>
            <a:off x="1737360" y="4297680"/>
            <a:ext cx="2651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crashed(a, b)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F0E12E02-C886-D6AC-9068-CD6C0FCBC1AF}"/>
              </a:ext>
            </a:extLst>
          </p:cNvPr>
          <p:cNvCxnSpPr/>
          <p:nvPr/>
        </p:nvCxnSpPr>
        <p:spPr>
          <a:xfrm>
            <a:off x="1097280" y="4562856"/>
            <a:ext cx="594360" cy="0"/>
          </a:xfrm>
          <a:prstGeom prst="line">
            <a:avLst/>
          </a:prstGeom>
          <a:ln w="2540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9CEE20F-4B43-06CB-6AFE-9782EA6E44FA}"/>
              </a:ext>
            </a:extLst>
          </p:cNvPr>
          <p:cNvSpPr/>
          <p:nvPr/>
        </p:nvSpPr>
        <p:spPr>
          <a:xfrm>
            <a:off x="1737360" y="5074920"/>
            <a:ext cx="2651760" cy="530352"/>
          </a:xfrm>
          <a:prstGeom prst="roundRect">
            <a:avLst>
              <a:gd name="adj" fmla="val 30000"/>
            </a:avLst>
          </a:prstGeom>
          <a:solidFill>
            <a:srgbClr val="F6A5B8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6E5958-4F76-3F3B-8D62-476C8B4F3C84}"/>
              </a:ext>
            </a:extLst>
          </p:cNvPr>
          <p:cNvSpPr txBox="1"/>
          <p:nvPr/>
        </p:nvSpPr>
        <p:spPr>
          <a:xfrm>
            <a:off x="1737360" y="5074920"/>
            <a:ext cx="2651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show_score()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445FEBAB-D312-72AF-AA12-06870FD3B72E}"/>
              </a:ext>
            </a:extLst>
          </p:cNvPr>
          <p:cNvCxnSpPr/>
          <p:nvPr/>
        </p:nvCxnSpPr>
        <p:spPr>
          <a:xfrm>
            <a:off x="1097280" y="5340096"/>
            <a:ext cx="594360" cy="0"/>
          </a:xfrm>
          <a:prstGeom prst="line">
            <a:avLst/>
          </a:prstGeom>
          <a:ln w="2540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911FF946-4D3F-13CB-D27B-1AFBB79CA9DF}"/>
              </a:ext>
            </a:extLst>
          </p:cNvPr>
          <p:cNvCxnSpPr/>
          <p:nvPr/>
        </p:nvCxnSpPr>
        <p:spPr>
          <a:xfrm>
            <a:off x="1097280" y="2304288"/>
            <a:ext cx="0" cy="3035808"/>
          </a:xfrm>
          <a:prstGeom prst="line">
            <a:avLst/>
          </a:prstGeom>
          <a:ln w="25400">
            <a:solidFill>
              <a:srgbClr val="EF4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5935A70-0B46-4021-EE9D-A3ACFC3E4249}"/>
              </a:ext>
            </a:extLst>
          </p:cNvPr>
          <p:cNvSpPr/>
          <p:nvPr/>
        </p:nvSpPr>
        <p:spPr>
          <a:xfrm>
            <a:off x="4315968" y="1810512"/>
            <a:ext cx="658368" cy="438912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7C7B4E-F0F5-6739-A44D-6432B9FEE855}"/>
              </a:ext>
            </a:extLst>
          </p:cNvPr>
          <p:cNvSpPr txBox="1"/>
          <p:nvPr/>
        </p:nvSpPr>
        <p:spPr>
          <a:xfrm>
            <a:off x="4315968" y="1810512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2000" b="1" i="0">
                <a:solidFill>
                  <a:srgbClr val="1B2B34"/>
                </a:solidFill>
                <a:latin typeface="Segoe UI Symbol"/>
              </a:rPr>
              <a:t>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9765B6-340D-D337-C8F2-BD2F304D0DA9}"/>
              </a:ext>
            </a:extLst>
          </p:cNvPr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700" b="0" i="0">
                <a:solidFill>
                  <a:srgbClr val="5F6F78"/>
                </a:solidFill>
                <a:latin typeface="Arial"/>
                <a:cs typeface="Arial"/>
              </a:rPr>
              <a:t>כל פונקציה עושה דבר אחד קטן - וביחד הן משחק שלם</a:t>
            </a:r>
          </a:p>
        </p:txBody>
      </p:sp>
    </p:spTree>
    <p:extLst>
      <p:ext uri="{BB962C8B-B14F-4D97-AF65-F5344CB8AC3E}">
        <p14:creationId xmlns:p14="http://schemas.microsoft.com/office/powerpoint/2010/main" val="2907073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5 שלבים למשחק שלם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10154412" y="1417320"/>
            <a:ext cx="914400" cy="91440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514600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100" b="1" i="0">
                <a:solidFill>
                  <a:srgbClr val="1B2B34"/>
                </a:solidFill>
                <a:latin typeface="Arial"/>
                <a:cs typeface="Arial"/>
              </a:rPr>
              <a:t>כביש ומכונית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2912" y="3017520"/>
            <a:ext cx="2057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5F6F78"/>
                </a:solidFill>
                <a:latin typeface="Consolas"/>
              </a:rPr>
              <a:t>draw_road, make_car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2912" y="3657600"/>
            <a:ext cx="2057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car1.py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9400032" y="1874519"/>
            <a:ext cx="1645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895844" y="1417320"/>
            <a:ext cx="914400" cy="9144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4344" y="2514600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100" b="1" i="0">
                <a:solidFill>
                  <a:srgbClr val="1B2B34"/>
                </a:solidFill>
                <a:latin typeface="Arial"/>
                <a:cs typeface="Arial"/>
              </a:rPr>
              <a:t>נהיגה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3017520"/>
            <a:ext cx="2057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5F6F78"/>
                </a:solidFill>
                <a:latin typeface="Consolas"/>
              </a:rPr>
              <a:t>onkey, 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3657600"/>
            <a:ext cx="2057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car2.py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141464" y="1874519"/>
            <a:ext cx="1645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37276" y="1417320"/>
            <a:ext cx="914400" cy="91440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2514600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100" b="1" i="0">
                <a:solidFill>
                  <a:srgbClr val="1B2B34"/>
                </a:solidFill>
                <a:latin typeface="Arial"/>
                <a:cs typeface="Arial"/>
              </a:rPr>
              <a:t>תנועה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017520"/>
            <a:ext cx="2057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5F6F78"/>
                </a:solidFill>
                <a:latin typeface="Consolas"/>
              </a:rPr>
              <a:t>game_loop, ontimer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3657600"/>
            <a:ext cx="2057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car3.py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882896" y="1874519"/>
            <a:ext cx="1645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78708" y="1417320"/>
            <a:ext cx="914400" cy="914400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2514600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100" b="1" i="0">
                <a:solidFill>
                  <a:srgbClr val="1B2B34"/>
                </a:solidFill>
                <a:latin typeface="Arial"/>
                <a:cs typeface="Arial"/>
              </a:rPr>
              <a:t>התנגשות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017520"/>
            <a:ext cx="2057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5F6F78"/>
                </a:solidFill>
                <a:latin typeface="Consolas"/>
              </a:rPr>
              <a:t>crashed,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657600"/>
            <a:ext cx="2057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car4.py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624328" y="1874519"/>
            <a:ext cx="164592" cy="0"/>
          </a:xfrm>
          <a:prstGeom prst="line">
            <a:avLst/>
          </a:prstGeom>
          <a:ln w="31750">
            <a:solidFill>
              <a:srgbClr val="C9D3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20140" y="1417320"/>
            <a:ext cx="914400" cy="9144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514600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100" b="1" i="0">
                <a:solidFill>
                  <a:srgbClr val="1B2B34"/>
                </a:solidFill>
                <a:latin typeface="Arial"/>
                <a:cs typeface="Arial"/>
              </a:rPr>
              <a:t>ניקוד ורשימה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17520"/>
            <a:ext cx="2057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400" b="0" i="0">
                <a:solidFill>
                  <a:srgbClr val="5F6F78"/>
                </a:solidFill>
                <a:latin typeface="Consolas"/>
              </a:rPr>
              <a:t>enemies,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2057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700" b="1" i="0">
                <a:solidFill>
                  <a:srgbClr val="FF9F1C"/>
                </a:solidFill>
                <a:latin typeface="Arial"/>
              </a:rPr>
              <a:t>car5.py</a:t>
            </a:r>
          </a:p>
        </p:txBody>
      </p:sp>
      <p:pic>
        <p:nvPicPr>
          <p:cNvPr id="28" name="Picture 27" descr="strip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76" y="4343400"/>
            <a:ext cx="6858000" cy="16672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שלב 1: כביש ומכונית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21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216152"/>
            <a:ext cx="3213523" cy="4425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ca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994067" cy="4206240"/>
          </a:xfrm>
          <a:prstGeom prst="rect">
            <a:avLst/>
          </a:prstGeom>
        </p:spPr>
      </p:pic>
      <p:sp>
        <p:nvSpPr>
          <p:cNvPr id="6" name="code-bg"/>
          <p:cNvSpPr/>
          <p:nvPr/>
        </p:nvSpPr>
        <p:spPr>
          <a:xfrm>
            <a:off x="5120640" y="1280160"/>
            <a:ext cx="6519672" cy="26974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5349240" y="1319871"/>
            <a:ext cx="4937249" cy="26420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register_shape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dirty="0">
                <a:solidFill>
                  <a:srgbClr val="A6E22E"/>
                </a:solidFill>
                <a:latin typeface="Consolas"/>
              </a:rPr>
              <a:t>"player.gif"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FF9F1C"/>
                </a:solidFill>
                <a:latin typeface="Consolas"/>
              </a:rPr>
              <a:t>def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make_car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image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, x, y):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car =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turtle.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Turtle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car.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shape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image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car.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penup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car.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goto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(x, y)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return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car</a:t>
            </a:r>
          </a:p>
        </p:txBody>
      </p:sp>
      <p:sp>
        <p:nvSpPr>
          <p:cNvPr id="8" name="code-bg"/>
          <p:cNvSpPr/>
          <p:nvPr/>
        </p:nvSpPr>
        <p:spPr>
          <a:xfrm>
            <a:off x="5120640" y="4114800"/>
            <a:ext cx="6519672" cy="6400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5285231" y="4292941"/>
            <a:ext cx="5951950" cy="2837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player = </a:t>
            </a:r>
            <a:r>
              <a:rPr dirty="0" err="1">
                <a:solidFill>
                  <a:srgbClr val="7FDBFF"/>
                </a:solidFill>
                <a:latin typeface="Consolas"/>
              </a:rPr>
              <a:t>make_car</a:t>
            </a:r>
            <a:r>
              <a:rPr dirty="0">
                <a:solidFill>
                  <a:srgbClr val="E6E6E6"/>
                </a:solidFill>
                <a:latin typeface="Consolas"/>
              </a:rPr>
              <a:t>(</a:t>
            </a:r>
            <a:r>
              <a:rPr dirty="0">
                <a:solidFill>
                  <a:srgbClr val="A6E22E"/>
                </a:solidFill>
                <a:latin typeface="Consolas"/>
              </a:rPr>
              <a:t>"player.gif"</a:t>
            </a:r>
            <a:r>
              <a:rPr dirty="0">
                <a:solidFill>
                  <a:srgbClr val="E6E6E6"/>
                </a:solidFill>
                <a:latin typeface="Consolas"/>
              </a:rPr>
              <a:t>, </a:t>
            </a:r>
            <a:r>
              <a:rPr b="1" dirty="0">
                <a:solidFill>
                  <a:srgbClr val="FF6B9A"/>
                </a:solidFill>
                <a:latin typeface="Consolas"/>
              </a:rPr>
              <a:t>LANES</a:t>
            </a:r>
            <a:r>
              <a:rPr dirty="0">
                <a:solidFill>
                  <a:srgbClr val="E6E6E6"/>
                </a:solidFill>
                <a:latin typeface="Consolas"/>
              </a:rPr>
              <a:t>[</a:t>
            </a:r>
            <a:r>
              <a:rPr dirty="0">
                <a:solidFill>
                  <a:srgbClr val="FFD166"/>
                </a:solidFill>
                <a:latin typeface="Consolas"/>
              </a:rPr>
              <a:t>1</a:t>
            </a:r>
            <a:r>
              <a:rPr dirty="0">
                <a:solidFill>
                  <a:srgbClr val="E6E6E6"/>
                </a:solidFill>
                <a:latin typeface="Consolas"/>
              </a:rPr>
              <a:t>], -</a:t>
            </a:r>
            <a:r>
              <a:rPr dirty="0">
                <a:solidFill>
                  <a:srgbClr val="FFD166"/>
                </a:solidFill>
                <a:latin typeface="Consolas"/>
              </a:rPr>
              <a:t>250</a:t>
            </a:r>
            <a:r>
              <a:rPr dirty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93776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4937760"/>
            <a:ext cx="2057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400" b="1" i="0">
                <a:solidFill>
                  <a:srgbClr val="2D9F5C"/>
                </a:solidFill>
                <a:latin typeface="Consolas"/>
              </a:rPr>
              <a:t>LANES[0]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-120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493776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42631" y="4937760"/>
            <a:ext cx="2057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400" b="1" i="0">
                <a:solidFill>
                  <a:srgbClr val="2D9F5C"/>
                </a:solidFill>
                <a:latin typeface="Consolas"/>
              </a:rPr>
              <a:t>LANES[1]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64624" y="493776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64624" y="4937760"/>
            <a:ext cx="20574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400" b="1" i="0">
                <a:solidFill>
                  <a:srgbClr val="2D9F5C"/>
                </a:solidFill>
                <a:latin typeface="Consolas"/>
              </a:rPr>
              <a:t>LANES[2]</a:t>
            </a:r>
          </a:p>
          <a:p>
            <a:pPr algn="ctr" rtl="0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onsolas"/>
              </a:rPr>
              <a:t>120</a:t>
            </a:r>
          </a:p>
        </p:txBody>
      </p:sp>
      <p:sp>
        <p:nvSpPr>
          <p:cNvPr id="16" name="file-tag"/>
          <p:cNvSpPr/>
          <p:nvPr/>
        </p:nvSpPr>
        <p:spPr>
          <a:xfrm>
            <a:off x="1325880" y="57607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car1.py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495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כל מכונית היא צב!          </a:t>
            </a:r>
            <a:r>
              <a:rPr lang="en-US" sz="2400" b="1"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lang="en-US" sz="2400" b="1" dirty="0" err="1">
                <a:solidFill>
                  <a:srgbClr val="7FDBFF"/>
                </a:solidFill>
                <a:latin typeface="Consolas"/>
              </a:rPr>
              <a:t>register_shape</a:t>
            </a:r>
            <a:r>
              <a:rPr lang="en-US" sz="2400" b="1" dirty="0">
                <a:solidFill>
                  <a:srgbClr val="E6E6E6"/>
                </a:solidFill>
                <a:latin typeface="Consolas"/>
              </a:rPr>
              <a:t>(</a:t>
            </a:r>
            <a:r>
              <a:rPr lang="en-US" sz="2400" b="1" dirty="0">
                <a:solidFill>
                  <a:srgbClr val="A6E22E"/>
                </a:solidFill>
                <a:latin typeface="Consolas"/>
              </a:rPr>
              <a:t>"player.gif"</a:t>
            </a:r>
            <a:r>
              <a:rPr lang="en-US" sz="2400" b="1" dirty="0">
                <a:solidFill>
                  <a:srgbClr val="E6E6E6"/>
                </a:solidFill>
                <a:latin typeface="Consolas"/>
              </a:rPr>
              <a:t>)</a:t>
            </a:r>
            <a:endParaRPr lang="en-US" sz="3600" b="1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turtle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737360"/>
          </a:xfrm>
          <a:prstGeom prst="rect">
            <a:avLst/>
          </a:prstGeom>
        </p:spPr>
      </p:pic>
      <p:pic>
        <p:nvPicPr>
          <p:cNvPr id="5" name="Picture 4" descr="car_b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325880"/>
            <a:ext cx="1097280" cy="19202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489704" y="2203704"/>
            <a:ext cx="164592" cy="164592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700784" y="2203704"/>
            <a:ext cx="164592" cy="164592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 flipH="1">
            <a:off x="2514600" y="2286000"/>
            <a:ext cx="1143000" cy="0"/>
          </a:xfrm>
          <a:prstGeom prst="line">
            <a:avLst/>
          </a:prstGeom>
          <a:ln w="38100">
            <a:solidFill>
              <a:srgbClr val="FF9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77440" y="1783080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600" b="1" i="0">
                <a:solidFill>
                  <a:srgbClr val="FF9F1C"/>
                </a:solidFill>
                <a:latin typeface="Consolas"/>
              </a:rPr>
              <a:t>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9184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לפני: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צב רגיל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651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אחרי: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אותו צב, בתמונה</a:t>
            </a:r>
          </a:p>
        </p:txBody>
      </p:sp>
      <p:sp>
        <p:nvSpPr>
          <p:cNvPr id="12" name="code-bg"/>
          <p:cNvSpPr/>
          <p:nvPr/>
        </p:nvSpPr>
        <p:spPr>
          <a:xfrm>
            <a:off x="548640" y="38404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ode"/>
          <p:cNvSpPr txBox="1"/>
          <p:nvPr/>
        </p:nvSpPr>
        <p:spPr>
          <a:xfrm>
            <a:off x="777240" y="3921943"/>
            <a:ext cx="3244478" cy="9800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b="1">
                <a:solidFill>
                  <a:srgbClr val="FF6B9A"/>
                </a:solidFill>
                <a:latin typeface="Consolas"/>
              </a:rPr>
              <a:t>car</a:t>
            </a:r>
            <a:r>
              <a:rPr sz="2000">
                <a:solidFill>
                  <a:srgbClr val="E6E6E6"/>
                </a:solidFill>
                <a:latin typeface="Consolas"/>
              </a:rPr>
              <a:t> = turtle.</a:t>
            </a:r>
            <a:r>
              <a:rPr sz="2000">
                <a:solidFill>
                  <a:srgbClr val="7FDBFF"/>
                </a:solidFill>
                <a:latin typeface="Consolas"/>
              </a:rPr>
              <a:t>Turtle</a:t>
            </a:r>
            <a:r>
              <a:rPr sz="200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b="1">
                <a:solidFill>
                  <a:srgbClr val="FF6B9A"/>
                </a:solidFill>
                <a:latin typeface="Consolas"/>
              </a:rPr>
              <a:t>car</a:t>
            </a:r>
            <a:r>
              <a:rPr sz="2000">
                <a:solidFill>
                  <a:srgbClr val="E6E6E6"/>
                </a:solidFill>
                <a:latin typeface="Consolas"/>
              </a:rPr>
              <a:t>.</a:t>
            </a:r>
            <a:r>
              <a:rPr sz="2000">
                <a:solidFill>
                  <a:srgbClr val="7FDBFF"/>
                </a:solidFill>
                <a:latin typeface="Consolas"/>
              </a:rPr>
              <a:t>shape</a:t>
            </a:r>
            <a:r>
              <a:rPr sz="2000">
                <a:solidFill>
                  <a:srgbClr val="E6E6E6"/>
                </a:solidFill>
                <a:latin typeface="Consolas"/>
              </a:rPr>
              <a:t>(</a:t>
            </a:r>
            <a:r>
              <a:rPr sz="2000">
                <a:solidFill>
                  <a:srgbClr val="A6E22E"/>
                </a:solidFill>
                <a:latin typeface="Consolas"/>
              </a:rPr>
              <a:t>"player.gif"</a:t>
            </a:r>
            <a:r>
              <a:rPr sz="20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2000" b="1">
                <a:solidFill>
                  <a:srgbClr val="FF6B9A"/>
                </a:solidFill>
                <a:latin typeface="Consolas"/>
              </a:rPr>
              <a:t>car</a:t>
            </a:r>
            <a:r>
              <a:rPr sz="2000">
                <a:solidFill>
                  <a:srgbClr val="E6E6E6"/>
                </a:solidFill>
                <a:latin typeface="Consolas"/>
              </a:rPr>
              <a:t>.</a:t>
            </a:r>
            <a:r>
              <a:rPr sz="2000">
                <a:solidFill>
                  <a:srgbClr val="7FDBFF"/>
                </a:solidFill>
                <a:latin typeface="Consolas"/>
              </a:rPr>
              <a:t>goto</a:t>
            </a:r>
            <a:r>
              <a:rPr sz="2000">
                <a:solidFill>
                  <a:srgbClr val="E6E6E6"/>
                </a:solidFill>
                <a:latin typeface="Consolas"/>
              </a:rPr>
              <a:t>(</a:t>
            </a:r>
            <a:r>
              <a:rPr sz="2000">
                <a:solidFill>
                  <a:srgbClr val="FFD166"/>
                </a:solidFill>
                <a:latin typeface="Consolas"/>
              </a:rPr>
              <a:t>0</a:t>
            </a:r>
            <a:r>
              <a:rPr sz="2000">
                <a:solidFill>
                  <a:srgbClr val="E6E6E6"/>
                </a:solidFill>
                <a:latin typeface="Consolas"/>
              </a:rPr>
              <a:t>, -</a:t>
            </a:r>
            <a:r>
              <a:rPr sz="2000">
                <a:solidFill>
                  <a:srgbClr val="FFD166"/>
                </a:solidFill>
                <a:latin typeface="Consolas"/>
              </a:rPr>
              <a:t>250</a:t>
            </a:r>
            <a:r>
              <a:rPr sz="20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22392" cy="118872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0" y="1554480"/>
            <a:ext cx="548640" cy="54864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353312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1" i="0">
                <a:solidFill>
                  <a:srgbClr val="1B2B34"/>
                </a:solidFill>
                <a:latin typeface="Arial"/>
                <a:cs typeface="Arial"/>
              </a:rPr>
              <a:t>האובייקט - מה שהתוכנית יודעת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5F6F78"/>
                </a:solidFill>
                <a:latin typeface="Arial"/>
                <a:cs typeface="Arial"/>
              </a:rPr>
              <a:t>מיקום, כיוון ועט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spcAft>
                <a:spcPts val="400"/>
              </a:spcAft>
            </a:pPr>
            <a:r>
              <a:rPr sz="1400" b="1" i="0">
                <a:solidFill>
                  <a:srgbClr val="2D9F5C"/>
                </a:solidFill>
                <a:latin typeface="Consolas"/>
              </a:rPr>
              <a:t>xcor()  goto()  sety()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5422392" cy="11887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0" y="2926079"/>
            <a:ext cx="548640" cy="54864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24912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1" i="0">
                <a:solidFill>
                  <a:srgbClr val="1B2B34"/>
                </a:solidFill>
                <a:latin typeface="Arial"/>
                <a:cs typeface="Arial"/>
              </a:rPr>
              <a:t>המראה - מה שרואים על המסך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0896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500" b="0" i="0">
                <a:solidFill>
                  <a:srgbClr val="5F6F78"/>
                </a:solidFill>
                <a:latin typeface="Arial"/>
                <a:cs typeface="Arial"/>
              </a:rPr>
              <a:t>חץ, צב או תמונה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2900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spcAft>
                <a:spcPts val="400"/>
              </a:spcAft>
            </a:pPr>
            <a:r>
              <a:rPr sz="1400" b="1" i="0">
                <a:solidFill>
                  <a:srgbClr val="FF9F1C"/>
                </a:solidFill>
                <a:latin typeface="Consolas"/>
              </a:rPr>
              <a:t>shape("player.gif")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422392" cy="960120"/>
          </a:xfrm>
          <a:prstGeom prst="roundRect">
            <a:avLst>
              <a:gd name="adj" fmla="val 10000"/>
            </a:avLst>
          </a:prstGeom>
          <a:solidFill>
            <a:srgbClr val="E3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041648"/>
            <a:ext cx="5148072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‎register_shape‎</a:t>
            </a: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 = מוסיפים תחפושת לארון</a:t>
            </a:r>
          </a:p>
          <a:p>
            <a:pPr algn="r" rtl="1">
              <a:spcAft>
                <a:spcPts val="200"/>
              </a:spcAft>
            </a:pPr>
            <a:r>
              <a:rPr sz="1500" b="1" i="0">
                <a:solidFill>
                  <a:srgbClr val="1B2B34"/>
                </a:solidFill>
                <a:latin typeface="Consolas"/>
              </a:rPr>
              <a:t>‎shape‎</a:t>
            </a:r>
            <a:r>
              <a:rPr lang="he-IL" sz="1500" b="0" i="0">
                <a:solidFill>
                  <a:srgbClr val="1B2B34"/>
                </a:solidFill>
                <a:latin typeface="Arial"/>
                <a:cs typeface="Arial"/>
              </a:rPr>
              <a:t> = צב אחד לובש את התחפושת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D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63072" y="5394960"/>
            <a:ext cx="594359" cy="594359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349240"/>
            <a:ext cx="9857232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200"/>
              </a:spcAft>
            </a:pPr>
            <a:r>
              <a:rPr lang="he-IL" sz="1600" b="1" i="0">
                <a:solidFill>
                  <a:srgbClr val="1B2B34"/>
                </a:solidFill>
                <a:latin typeface="Arial"/>
                <a:cs typeface="Arial"/>
              </a:rPr>
              <a:t>אין צב מוסתר מתחת לתמונה! </a:t>
            </a:r>
            <a:r>
              <a:rPr lang="he-IL" sz="1600" b="0" i="0">
                <a:solidFill>
                  <a:srgbClr val="1B2B34"/>
                </a:solidFill>
                <a:latin typeface="Arial"/>
                <a:cs typeface="Arial"/>
              </a:rPr>
              <a:t>הנקודה של הצב היא מרכז התמונה - ממנה מודדים מיקום והתנגשות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93D5-63D2-3AA8-2BF6-716C9B36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5FE34-8A73-3C68-024B-A32B9E118E9B}"/>
              </a:ext>
            </a:extLst>
          </p:cNvPr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שלב 2: נוהגים עם החיצים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79174-D16D-CC69-856E-CD39B2CC5A0F}"/>
              </a:ext>
            </a:extLst>
          </p:cNvPr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23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EB54EAF-A6C4-E37B-BCE1-03C5316AB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83112" cy="4525963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err="1"/>
              <a:t>screen.onkey</a:t>
            </a:r>
            <a:r>
              <a:rPr lang="en-US" dirty="0"/>
              <a:t>(</a:t>
            </a:r>
            <a:r>
              <a:rPr lang="en-US" dirty="0" err="1"/>
              <a:t>move_left</a:t>
            </a:r>
            <a:r>
              <a:rPr lang="en-US" dirty="0"/>
              <a:t>, “left”)</a:t>
            </a:r>
          </a:p>
          <a:p>
            <a:pPr marL="0" indent="0" algn="l">
              <a:buNone/>
            </a:pPr>
            <a:endParaRPr lang="he-IL" dirty="0"/>
          </a:p>
          <a:p>
            <a:pPr algn="r" rtl="1"/>
            <a:r>
              <a:rPr lang="he-IL" dirty="0"/>
              <a:t>קושר פונקציה ללחיצה על מקש במקלדת</a:t>
            </a:r>
          </a:p>
          <a:p>
            <a:pPr algn="r" rtl="1"/>
            <a:r>
              <a:rPr lang="he-IL" dirty="0"/>
              <a:t>הפקודה מורה לתוכנית להריץ את הפונקציה `</a:t>
            </a:r>
            <a:r>
              <a:rPr lang="en-US" dirty="0" err="1"/>
              <a:t>move_left</a:t>
            </a:r>
            <a:r>
              <a:rPr lang="en-US" dirty="0"/>
              <a:t>` </a:t>
            </a:r>
            <a:r>
              <a:rPr lang="he-IL" dirty="0"/>
              <a:t> בכל פעם שהמשתמש לוחץ על מקש החץ השמאלי במקלדת</a:t>
            </a:r>
          </a:p>
        </p:txBody>
      </p:sp>
    </p:spTree>
    <p:extLst>
      <p:ext uri="{BB962C8B-B14F-4D97-AF65-F5344CB8AC3E}">
        <p14:creationId xmlns:p14="http://schemas.microsoft.com/office/powerpoint/2010/main" val="1176140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שלב 2: נוהגים עם החיצים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23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216152"/>
            <a:ext cx="3213523" cy="4425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c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994067" cy="4206240"/>
          </a:xfrm>
          <a:prstGeom prst="rect">
            <a:avLst/>
          </a:prstGeom>
        </p:spPr>
      </p:pic>
      <p:sp>
        <p:nvSpPr>
          <p:cNvPr id="6" name="code-bg"/>
          <p:cNvSpPr/>
          <p:nvPr/>
        </p:nvSpPr>
        <p:spPr>
          <a:xfrm>
            <a:off x="5102352" y="1325880"/>
            <a:ext cx="6519672" cy="2971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5349240" y="1342723"/>
            <a:ext cx="4514056" cy="2974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1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FF9F1C"/>
                </a:solidFill>
                <a:latin typeface="Consolas"/>
              </a:rPr>
              <a:t>def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move_left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global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if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&gt;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0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-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1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player.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setx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(LANES[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lane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])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latin typeface="Consolas"/>
              </a:rPr>
              <a:t> </a:t>
            </a:r>
          </a:p>
          <a:p>
            <a:pPr algn="l" rtl="0">
              <a:lnSpc>
                <a:spcPct val="108000"/>
              </a:lnSpc>
            </a:pPr>
            <a:r>
              <a:rPr sz="2000"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onkey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move_left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, </a:t>
            </a:r>
            <a:r>
              <a:rPr sz="2000" dirty="0">
                <a:solidFill>
                  <a:srgbClr val="A6E22E"/>
                </a:solidFill>
                <a:latin typeface="Consolas"/>
              </a:rPr>
              <a:t>"Left"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480560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4480560"/>
            <a:ext cx="2057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2D9F5C"/>
                </a:solidFill>
                <a:latin typeface="Consolas"/>
              </a:rPr>
              <a:t>lane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1" y="4480560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4480560"/>
            <a:ext cx="2057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lane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4624" y="4480560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64624" y="4480560"/>
            <a:ext cx="20574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0">
              <a:spcAft>
                <a:spcPts val="400"/>
              </a:spcAft>
            </a:pPr>
            <a:r>
              <a:rPr sz="1500" b="1" i="0">
                <a:solidFill>
                  <a:srgbClr val="2D9F5C"/>
                </a:solidFill>
                <a:latin typeface="Consolas"/>
              </a:rPr>
              <a:t>lane = 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172200" y="5349240"/>
            <a:ext cx="914400" cy="0"/>
          </a:xfrm>
          <a:prstGeom prst="line">
            <a:avLst/>
          </a:prstGeom>
          <a:ln w="3175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63840" y="5349240"/>
            <a:ext cx="914400" cy="0"/>
          </a:xfrm>
          <a:prstGeom prst="line">
            <a:avLst/>
          </a:prstGeom>
          <a:ln w="31750">
            <a:solidFill>
              <a:srgbClr val="EF4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20640" y="5440680"/>
            <a:ext cx="6519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000" b="1" i="0" dirty="0">
                <a:solidFill>
                  <a:srgbClr val="5F6F78"/>
                </a:solidFill>
                <a:latin typeface="Consolas"/>
              </a:rPr>
              <a:t>‎lane‎</a:t>
            </a:r>
            <a:r>
              <a:rPr lang="he-IL" sz="2000" b="0" i="0" dirty="0">
                <a:solidFill>
                  <a:srgbClr val="5F6F78"/>
                </a:solidFill>
                <a:latin typeface="Arial"/>
                <a:cs typeface="Arial"/>
              </a:rPr>
              <a:t> הוא האינדקס ברשימה. ה-if שומר שלא ניסע מחוץ לכביש</a:t>
            </a:r>
          </a:p>
        </p:txBody>
      </p:sp>
      <p:sp>
        <p:nvSpPr>
          <p:cNvPr id="17" name="file-tag"/>
          <p:cNvSpPr/>
          <p:nvPr/>
        </p:nvSpPr>
        <p:spPr>
          <a:xfrm>
            <a:off x="1325880" y="57607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car2.py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>
                <a:solidFill>
                  <a:srgbClr val="1B4332"/>
                </a:solidFill>
                <a:latin typeface="Arial"/>
                <a:cs typeface="Arial"/>
              </a:rPr>
              <a:t>שלב 3: לולאת המשחק - הכביש זז!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24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216152"/>
            <a:ext cx="3213523" cy="4425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-bg"/>
          <p:cNvSpPr/>
          <p:nvPr/>
        </p:nvSpPr>
        <p:spPr>
          <a:xfrm>
            <a:off x="5120640" y="1280160"/>
            <a:ext cx="6519672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5349240" y="1372646"/>
            <a:ext cx="4655121" cy="16448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FF9F1C"/>
                </a:solidFill>
                <a:latin typeface="Consolas"/>
              </a:rPr>
              <a:t>def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b="1" dirty="0" err="1">
                <a:solidFill>
                  <a:srgbClr val="FF6B9A"/>
                </a:solidFill>
                <a:latin typeface="Consolas"/>
              </a:rPr>
              <a:t>game_loop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move_lines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move_enemy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update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ontimer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b="1" dirty="0" err="1">
                <a:solidFill>
                  <a:srgbClr val="FF6B9A"/>
                </a:solidFill>
                <a:latin typeface="Consolas"/>
              </a:rPr>
              <a:t>game_loop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,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20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28632" y="3429000"/>
            <a:ext cx="2011680" cy="822960"/>
          </a:xfrm>
          <a:prstGeom prst="roundRect">
            <a:avLst>
              <a:gd name="adj" fmla="val 20000"/>
            </a:avLst>
          </a:prstGeom>
          <a:solidFill>
            <a:srgbClr val="2D9F5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28632" y="34290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500" b="1" i="0">
                <a:solidFill>
                  <a:srgbClr val="FFFFFF"/>
                </a:solidFill>
                <a:latin typeface="Arial"/>
                <a:cs typeface="Arial"/>
              </a:rPr>
              <a:t>מזיזים הכול קצת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400032" y="3840480"/>
            <a:ext cx="210312" cy="0"/>
          </a:xfrm>
          <a:prstGeom prst="line">
            <a:avLst/>
          </a:prstGeom>
          <a:ln w="2540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70064" y="3429000"/>
            <a:ext cx="2011680" cy="822960"/>
          </a:xfrm>
          <a:prstGeom prst="roundRect">
            <a:avLst>
              <a:gd name="adj" fmla="val 20000"/>
            </a:avLst>
          </a:prstGeom>
          <a:solidFill>
            <a:srgbClr val="118AB2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064" y="34290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500" b="1" i="0">
                <a:solidFill>
                  <a:srgbClr val="FFFFFF"/>
                </a:solidFill>
                <a:latin typeface="Arial"/>
                <a:cs typeface="Arial"/>
              </a:rPr>
              <a:t>מציירים את המסך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141464" y="3840480"/>
            <a:ext cx="210312" cy="0"/>
          </a:xfrm>
          <a:prstGeom prst="line">
            <a:avLst/>
          </a:prstGeom>
          <a:ln w="2540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1496" y="3429000"/>
            <a:ext cx="2011680" cy="822960"/>
          </a:xfrm>
          <a:prstGeom prst="roundRect">
            <a:avLst>
              <a:gd name="adj" fmla="val 20000"/>
            </a:avLst>
          </a:prstGeom>
          <a:solidFill>
            <a:srgbClr val="FF9F1C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1496" y="34290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500" b="1" i="0">
                <a:solidFill>
                  <a:srgbClr val="FFFFFF"/>
                </a:solidFill>
                <a:latin typeface="Arial"/>
                <a:cs typeface="Arial"/>
              </a:rPr>
              <a:t>מחכים 20 אלפיות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9240" y="4270248"/>
            <a:ext cx="0" cy="256032"/>
          </a:xfrm>
          <a:prstGeom prst="line">
            <a:avLst/>
          </a:prstGeom>
          <a:ln w="25400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49240" y="4526280"/>
            <a:ext cx="5285232" cy="0"/>
          </a:xfrm>
          <a:prstGeom prst="line">
            <a:avLst/>
          </a:prstGeom>
          <a:ln w="25400">
            <a:solidFill>
              <a:srgbClr val="5F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634472" y="4279392"/>
            <a:ext cx="0" cy="246888"/>
          </a:xfrm>
          <a:prstGeom prst="line">
            <a:avLst/>
          </a:prstGeom>
          <a:ln w="25400">
            <a:solidFill>
              <a:srgbClr val="5F6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20640" y="4663440"/>
            <a:ext cx="651967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1600" b="0" i="0">
                <a:solidFill>
                  <a:srgbClr val="5F6F78"/>
                </a:solidFill>
                <a:latin typeface="Arial"/>
                <a:cs typeface="Arial"/>
              </a:rPr>
              <a:t>50 תמונות בשנייה = תנועה חלקה, כמו ספר דפדוף</a:t>
            </a:r>
          </a:p>
        </p:txBody>
      </p:sp>
      <p:sp>
        <p:nvSpPr>
          <p:cNvPr id="20" name="file-tag"/>
          <p:cNvSpPr/>
          <p:nvPr/>
        </p:nvSpPr>
        <p:spPr>
          <a:xfrm>
            <a:off x="1325880" y="57607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car3.py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40450-3826-D933-0963-3BD4575DB23A}"/>
              </a:ext>
            </a:extLst>
          </p:cNvPr>
          <p:cNvSpPr txBox="1"/>
          <p:nvPr/>
        </p:nvSpPr>
        <p:spPr>
          <a:xfrm>
            <a:off x="5590888" y="5087172"/>
            <a:ext cx="5820824" cy="156966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en-US" sz="2400" dirty="0" err="1"/>
              <a:t>screen.ontimer</a:t>
            </a:r>
            <a:r>
              <a:rPr lang="en-US" sz="2400" dirty="0"/>
              <a:t>(</a:t>
            </a:r>
            <a:r>
              <a:rPr lang="en-US" sz="2400" dirty="0" err="1"/>
              <a:t>game_loop</a:t>
            </a:r>
            <a:r>
              <a:rPr lang="en-US" sz="2400" dirty="0"/>
              <a:t>, 20)             </a:t>
            </a:r>
            <a:endParaRPr lang="he-IL" sz="2400" dirty="0"/>
          </a:p>
          <a:p>
            <a:pPr algn="r" rtl="1"/>
            <a:r>
              <a:rPr lang="he-IL" sz="2400" dirty="0"/>
              <a:t>מתזמן את הפונקציה</a:t>
            </a:r>
            <a:endParaRPr lang="en-US" sz="2400" dirty="0"/>
          </a:p>
          <a:p>
            <a:pPr algn="r" rtl="1"/>
            <a:r>
              <a:rPr lang="en-US" sz="2400" dirty="0" err="1"/>
              <a:t>game_loop</a:t>
            </a:r>
            <a:r>
              <a:rPr lang="en-US" sz="2400" dirty="0"/>
              <a:t> </a:t>
            </a:r>
            <a:endParaRPr lang="he-IL" sz="2400" dirty="0"/>
          </a:p>
          <a:p>
            <a:pPr algn="r" rtl="1"/>
            <a:r>
              <a:rPr lang="he-IL" sz="2400" dirty="0"/>
              <a:t>לרוץ פעם אחת לאחר השהיה של 20 מילי-שניות</a:t>
            </a:r>
          </a:p>
        </p:txBody>
      </p:sp>
      <p:pic>
        <p:nvPicPr>
          <p:cNvPr id="23" name="Picture 22" descr="car2.png">
            <a:extLst>
              <a:ext uri="{FF2B5EF4-FFF2-40B4-BE49-F238E27FC236}">
                <a16:creationId xmlns:a16="http://schemas.microsoft.com/office/drawing/2014/main" id="{666205A6-AF63-48E8-A8C9-F293ABEC7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325880"/>
            <a:ext cx="299406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49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שלב 4: אויב אחד והתנגשות 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25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216152"/>
            <a:ext cx="3213523" cy="4425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car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994067" cy="4206240"/>
          </a:xfrm>
          <a:prstGeom prst="rect">
            <a:avLst/>
          </a:prstGeom>
        </p:spPr>
      </p:pic>
      <p:sp>
        <p:nvSpPr>
          <p:cNvPr id="6" name="code-bg"/>
          <p:cNvSpPr/>
          <p:nvPr/>
        </p:nvSpPr>
        <p:spPr>
          <a:xfrm>
            <a:off x="5120640" y="1280160"/>
            <a:ext cx="6519672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5349240" y="1440180"/>
            <a:ext cx="6205225" cy="11813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FF9F1C"/>
                </a:solidFill>
                <a:latin typeface="Consolas"/>
              </a:rPr>
              <a:t>def</a:t>
            </a:r>
            <a:r>
              <a:rPr dirty="0">
                <a:solidFill>
                  <a:srgbClr val="E6E6E6"/>
                </a:solidFill>
                <a:latin typeface="Consolas"/>
              </a:rPr>
              <a:t> </a:t>
            </a:r>
            <a:r>
              <a:rPr dirty="0">
                <a:solidFill>
                  <a:srgbClr val="7FDBFF"/>
                </a:solidFill>
                <a:latin typeface="Consolas"/>
              </a:rPr>
              <a:t>crashed</a:t>
            </a:r>
            <a:r>
              <a:rPr dirty="0">
                <a:solidFill>
                  <a:srgbClr val="E6E6E6"/>
                </a:solidFill>
                <a:latin typeface="Consolas"/>
              </a:rPr>
              <a:t>(car1, car2):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    </a:t>
            </a:r>
            <a:r>
              <a:rPr dirty="0" err="1">
                <a:solidFill>
                  <a:srgbClr val="E6E6E6"/>
                </a:solidFill>
                <a:latin typeface="Consolas"/>
              </a:rPr>
              <a:t>close_x</a:t>
            </a:r>
            <a:r>
              <a:rPr dirty="0">
                <a:solidFill>
                  <a:srgbClr val="E6E6E6"/>
                </a:solidFill>
                <a:latin typeface="Consolas"/>
              </a:rPr>
              <a:t> = </a:t>
            </a:r>
            <a:r>
              <a:rPr dirty="0">
                <a:solidFill>
                  <a:srgbClr val="7FDBFF"/>
                </a:solidFill>
                <a:latin typeface="Consolas"/>
              </a:rPr>
              <a:t>abs</a:t>
            </a:r>
            <a:r>
              <a:rPr dirty="0">
                <a:solidFill>
                  <a:srgbClr val="E6E6E6"/>
                </a:solidFill>
                <a:latin typeface="Consolas"/>
              </a:rPr>
              <a:t>(car1.</a:t>
            </a:r>
            <a:r>
              <a:rPr dirty="0">
                <a:solidFill>
                  <a:srgbClr val="7FDBFF"/>
                </a:solidFill>
                <a:latin typeface="Consolas"/>
              </a:rPr>
              <a:t>xcor</a:t>
            </a:r>
            <a:r>
              <a:rPr dirty="0">
                <a:solidFill>
                  <a:srgbClr val="E6E6E6"/>
                </a:solidFill>
                <a:latin typeface="Consolas"/>
              </a:rPr>
              <a:t>() - car2.</a:t>
            </a:r>
            <a:r>
              <a:rPr dirty="0">
                <a:solidFill>
                  <a:srgbClr val="7FDBFF"/>
                </a:solidFill>
                <a:latin typeface="Consolas"/>
              </a:rPr>
              <a:t>xcor</a:t>
            </a:r>
            <a:r>
              <a:rPr dirty="0">
                <a:solidFill>
                  <a:srgbClr val="E6E6E6"/>
                </a:solidFill>
                <a:latin typeface="Consolas"/>
              </a:rPr>
              <a:t>()) &lt; </a:t>
            </a:r>
            <a:r>
              <a:rPr dirty="0">
                <a:solidFill>
                  <a:srgbClr val="FFD166"/>
                </a:solidFill>
                <a:latin typeface="Consolas"/>
              </a:rPr>
              <a:t>36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    </a:t>
            </a:r>
            <a:r>
              <a:rPr dirty="0" err="1">
                <a:solidFill>
                  <a:srgbClr val="E6E6E6"/>
                </a:solidFill>
                <a:latin typeface="Consolas"/>
              </a:rPr>
              <a:t>close_y</a:t>
            </a:r>
            <a:r>
              <a:rPr dirty="0">
                <a:solidFill>
                  <a:srgbClr val="E6E6E6"/>
                </a:solidFill>
                <a:latin typeface="Consolas"/>
              </a:rPr>
              <a:t> = </a:t>
            </a:r>
            <a:r>
              <a:rPr dirty="0">
                <a:solidFill>
                  <a:srgbClr val="7FDBFF"/>
                </a:solidFill>
                <a:latin typeface="Consolas"/>
              </a:rPr>
              <a:t>abs</a:t>
            </a:r>
            <a:r>
              <a:rPr dirty="0">
                <a:solidFill>
                  <a:srgbClr val="E6E6E6"/>
                </a:solidFill>
                <a:latin typeface="Consolas"/>
              </a:rPr>
              <a:t>(car1.</a:t>
            </a:r>
            <a:r>
              <a:rPr dirty="0">
                <a:solidFill>
                  <a:srgbClr val="7FDBFF"/>
                </a:solidFill>
                <a:latin typeface="Consolas"/>
              </a:rPr>
              <a:t>ycor</a:t>
            </a:r>
            <a:r>
              <a:rPr dirty="0">
                <a:solidFill>
                  <a:srgbClr val="E6E6E6"/>
                </a:solidFill>
                <a:latin typeface="Consolas"/>
              </a:rPr>
              <a:t>() - car2.</a:t>
            </a:r>
            <a:r>
              <a:rPr dirty="0">
                <a:solidFill>
                  <a:srgbClr val="7FDBFF"/>
                </a:solidFill>
                <a:latin typeface="Consolas"/>
              </a:rPr>
              <a:t>ycor</a:t>
            </a:r>
            <a:r>
              <a:rPr dirty="0">
                <a:solidFill>
                  <a:srgbClr val="E6E6E6"/>
                </a:solidFill>
                <a:latin typeface="Consolas"/>
              </a:rPr>
              <a:t>()) &lt; </a:t>
            </a:r>
            <a:r>
              <a:rPr dirty="0">
                <a:solidFill>
                  <a:srgbClr val="FFD166"/>
                </a:solidFill>
                <a:latin typeface="Consolas"/>
              </a:rPr>
              <a:t>64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    </a:t>
            </a:r>
            <a:r>
              <a:rPr b="1" dirty="0">
                <a:solidFill>
                  <a:srgbClr val="FF6B9A"/>
                </a:solidFill>
                <a:latin typeface="Consolas"/>
              </a:rPr>
              <a:t>return</a:t>
            </a:r>
            <a:r>
              <a:rPr dirty="0">
                <a:solidFill>
                  <a:srgbClr val="E6E6E6"/>
                </a:solidFill>
                <a:latin typeface="Consolas"/>
              </a:rPr>
              <a:t> </a:t>
            </a:r>
            <a:r>
              <a:rPr dirty="0" err="1">
                <a:solidFill>
                  <a:srgbClr val="E6E6E6"/>
                </a:solidFill>
                <a:latin typeface="Consolas"/>
              </a:rPr>
              <a:t>close_x</a:t>
            </a:r>
            <a:r>
              <a:rPr dirty="0">
                <a:solidFill>
                  <a:srgbClr val="E6E6E6"/>
                </a:solidFill>
                <a:latin typeface="Consolas"/>
              </a:rPr>
              <a:t> </a:t>
            </a:r>
            <a:r>
              <a:rPr dirty="0">
                <a:solidFill>
                  <a:srgbClr val="FF9F1C"/>
                </a:solidFill>
                <a:latin typeface="Consolas"/>
              </a:rPr>
              <a:t>and</a:t>
            </a:r>
            <a:r>
              <a:rPr dirty="0">
                <a:solidFill>
                  <a:srgbClr val="E6E6E6"/>
                </a:solidFill>
                <a:latin typeface="Consolas"/>
              </a:rPr>
              <a:t> </a:t>
            </a:r>
            <a:r>
              <a:rPr dirty="0" err="1">
                <a:solidFill>
                  <a:srgbClr val="E6E6E6"/>
                </a:solidFill>
                <a:latin typeface="Consolas"/>
              </a:rPr>
              <a:t>close_y</a:t>
            </a:r>
            <a:endParaRPr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8" name="code-bg"/>
          <p:cNvSpPr/>
          <p:nvPr/>
        </p:nvSpPr>
        <p:spPr>
          <a:xfrm>
            <a:off x="5120640" y="3291839"/>
            <a:ext cx="6519672" cy="1654733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5349240" y="3451860"/>
            <a:ext cx="4179029" cy="11813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FF9F1C"/>
                </a:solidFill>
                <a:latin typeface="Consolas"/>
              </a:rPr>
              <a:t>if</a:t>
            </a:r>
            <a:r>
              <a:rPr dirty="0">
                <a:solidFill>
                  <a:srgbClr val="E6E6E6"/>
                </a:solidFill>
                <a:latin typeface="Consolas"/>
              </a:rPr>
              <a:t> </a:t>
            </a:r>
            <a:r>
              <a:rPr dirty="0">
                <a:solidFill>
                  <a:srgbClr val="7FDBFF"/>
                </a:solidFill>
                <a:latin typeface="Consolas"/>
              </a:rPr>
              <a:t>crashed</a:t>
            </a:r>
            <a:r>
              <a:rPr dirty="0">
                <a:solidFill>
                  <a:srgbClr val="E6E6E6"/>
                </a:solidFill>
                <a:latin typeface="Consolas"/>
              </a:rPr>
              <a:t>(player, enemy):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    </a:t>
            </a:r>
            <a:r>
              <a:rPr dirty="0" err="1">
                <a:solidFill>
                  <a:srgbClr val="E6E6E6"/>
                </a:solidFill>
                <a:latin typeface="Consolas"/>
              </a:rPr>
              <a:t>writer.</a:t>
            </a:r>
            <a:r>
              <a:rPr dirty="0" err="1">
                <a:solidFill>
                  <a:srgbClr val="7FDBFF"/>
                </a:solidFill>
                <a:latin typeface="Consolas"/>
              </a:rPr>
              <a:t>write</a:t>
            </a:r>
            <a:r>
              <a:rPr dirty="0">
                <a:solidFill>
                  <a:srgbClr val="E6E6E6"/>
                </a:solidFill>
                <a:latin typeface="Consolas"/>
              </a:rPr>
              <a:t>(</a:t>
            </a:r>
            <a:r>
              <a:rPr dirty="0">
                <a:solidFill>
                  <a:srgbClr val="A6E22E"/>
                </a:solidFill>
                <a:latin typeface="Consolas"/>
              </a:rPr>
              <a:t>"CRASH!"</a:t>
            </a:r>
            <a:r>
              <a:rPr dirty="0">
                <a:solidFill>
                  <a:srgbClr val="E6E6E6"/>
                </a:solidFill>
                <a:latin typeface="Consolas"/>
              </a:rPr>
              <a:t>, ...)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FF9F1C"/>
                </a:solidFill>
                <a:latin typeface="Consolas"/>
              </a:rPr>
              <a:t>else</a:t>
            </a:r>
            <a:r>
              <a:rPr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 rtl="0">
              <a:lnSpc>
                <a:spcPct val="108000"/>
              </a:lnSpc>
            </a:pPr>
            <a:r>
              <a:rPr dirty="0">
                <a:solidFill>
                  <a:srgbClr val="E6E6E6"/>
                </a:solidFill>
                <a:latin typeface="Consolas"/>
              </a:rPr>
              <a:t>    </a:t>
            </a:r>
            <a:r>
              <a:rPr dirty="0" err="1">
                <a:solidFill>
                  <a:srgbClr val="E6E6E6"/>
                </a:solidFill>
                <a:latin typeface="Consolas"/>
              </a:rPr>
              <a:t>screen.</a:t>
            </a:r>
            <a:r>
              <a:rPr dirty="0" err="1">
                <a:solidFill>
                  <a:srgbClr val="7FDBFF"/>
                </a:solidFill>
                <a:latin typeface="Consolas"/>
              </a:rPr>
              <a:t>ontimer</a:t>
            </a:r>
            <a:r>
              <a:rPr dirty="0">
                <a:solidFill>
                  <a:srgbClr val="E6E6E6"/>
                </a:solidFill>
                <a:latin typeface="Consolas"/>
              </a:rPr>
              <a:t>(</a:t>
            </a:r>
            <a:r>
              <a:rPr dirty="0" err="1">
                <a:solidFill>
                  <a:srgbClr val="E6E6E6"/>
                </a:solidFill>
                <a:latin typeface="Consolas"/>
              </a:rPr>
              <a:t>game_loop</a:t>
            </a:r>
            <a:r>
              <a:rPr dirty="0">
                <a:solidFill>
                  <a:srgbClr val="E6E6E6"/>
                </a:solidFill>
                <a:latin typeface="Consolas"/>
              </a:rPr>
              <a:t>, </a:t>
            </a:r>
            <a:r>
              <a:rPr dirty="0">
                <a:solidFill>
                  <a:srgbClr val="FFD166"/>
                </a:solidFill>
                <a:latin typeface="Consolas"/>
              </a:rPr>
              <a:t>20</a:t>
            </a:r>
            <a:r>
              <a:rPr dirty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5560" y="5201018"/>
            <a:ext cx="548640" cy="960120"/>
          </a:xfrm>
          <a:prstGeom prst="roundRect">
            <a:avLst>
              <a:gd name="adj" fmla="val 10000"/>
            </a:avLst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9880" y="5658218"/>
            <a:ext cx="548640" cy="96012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5201018"/>
            <a:ext cx="4892040" cy="14619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2800" b="1" i="0" dirty="0">
                <a:solidFill>
                  <a:srgbClr val="1B2B34"/>
                </a:solidFill>
                <a:latin typeface="Consolas"/>
              </a:rPr>
              <a:t>‎abs‎</a:t>
            </a:r>
            <a:r>
              <a:rPr lang="he-IL" sz="2800" b="0" i="0" dirty="0">
                <a:solidFill>
                  <a:srgbClr val="1B2B34"/>
                </a:solidFill>
                <a:latin typeface="Arial"/>
                <a:cs typeface="Arial"/>
              </a:rPr>
              <a:t> = מרחק בלי מינוס</a:t>
            </a:r>
          </a:p>
          <a:p>
            <a:pPr algn="r" rtl="1">
              <a:spcAft>
                <a:spcPts val="300"/>
              </a:spcAft>
            </a:pPr>
            <a:r>
              <a:rPr lang="he-IL" sz="2800" b="0" i="0" dirty="0">
                <a:solidFill>
                  <a:srgbClr val="1B2B34"/>
                </a:solidFill>
                <a:latin typeface="Arial"/>
                <a:cs typeface="Arial"/>
              </a:rPr>
              <a:t>קרובות גם ב-x וגם ב-y? ← נגעו!</a:t>
            </a:r>
          </a:p>
          <a:p>
            <a:pPr algn="r" rtl="1">
              <a:spcAft>
                <a:spcPts val="300"/>
              </a:spcAft>
            </a:pPr>
            <a:r>
              <a:rPr lang="he-IL" sz="2800" b="0" i="0" dirty="0">
                <a:solidFill>
                  <a:srgbClr val="1B2B34"/>
                </a:solidFill>
                <a:latin typeface="Arial"/>
                <a:cs typeface="Arial"/>
              </a:rPr>
              <a:t>הפונקציה מחזירה </a:t>
            </a:r>
            <a:r>
              <a:rPr sz="2800" b="1" i="0" dirty="0">
                <a:solidFill>
                  <a:srgbClr val="2D9F5C"/>
                </a:solidFill>
                <a:latin typeface="Consolas"/>
              </a:rPr>
              <a:t>‎True‎</a:t>
            </a:r>
            <a:r>
              <a:rPr lang="he-IL" sz="2800" b="0" i="0" dirty="0">
                <a:solidFill>
                  <a:srgbClr val="1B2B34"/>
                </a:solidFill>
                <a:latin typeface="Arial"/>
                <a:cs typeface="Arial"/>
              </a:rPr>
              <a:t> או </a:t>
            </a:r>
            <a:r>
              <a:rPr sz="2800" b="1" i="0" dirty="0">
                <a:solidFill>
                  <a:srgbClr val="EF476F"/>
                </a:solidFill>
                <a:latin typeface="Consolas"/>
              </a:rPr>
              <a:t>‎False‎</a:t>
            </a:r>
          </a:p>
        </p:txBody>
      </p:sp>
      <p:sp>
        <p:nvSpPr>
          <p:cNvPr id="13" name="file-tag"/>
          <p:cNvSpPr/>
          <p:nvPr/>
        </p:nvSpPr>
        <p:spPr>
          <a:xfrm>
            <a:off x="1325880" y="57607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car4.py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494"/>
            <a:ext cx="1109167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שלב 5: הוספת אויבים + ניקוד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26</a:t>
            </a:r>
          </a:p>
        </p:txBody>
      </p:sp>
      <p:sp>
        <p:nvSpPr>
          <p:cNvPr id="4" name="pic-card"/>
          <p:cNvSpPr/>
          <p:nvPr/>
        </p:nvSpPr>
        <p:spPr>
          <a:xfrm>
            <a:off x="804672" y="1216152"/>
            <a:ext cx="3213523" cy="4425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0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car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994067" cy="4206240"/>
          </a:xfrm>
          <a:prstGeom prst="rect">
            <a:avLst/>
          </a:prstGeom>
        </p:spPr>
      </p:pic>
      <p:sp>
        <p:nvSpPr>
          <p:cNvPr id="6" name="code-bg"/>
          <p:cNvSpPr/>
          <p:nvPr/>
        </p:nvSpPr>
        <p:spPr>
          <a:xfrm>
            <a:off x="4318612" y="1280159"/>
            <a:ext cx="7321700" cy="1958799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ode"/>
          <p:cNvSpPr txBox="1"/>
          <p:nvPr/>
        </p:nvSpPr>
        <p:spPr>
          <a:xfrm>
            <a:off x="4500941" y="1394461"/>
            <a:ext cx="6912149" cy="1312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b="1" dirty="0">
                <a:solidFill>
                  <a:srgbClr val="FF6B9A"/>
                </a:solidFill>
                <a:latin typeface="Consolas"/>
              </a:rPr>
              <a:t>enemies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[]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FF9F1C"/>
                </a:solidFill>
                <a:latin typeface="Consolas"/>
              </a:rPr>
              <a:t>for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i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in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>
                <a:solidFill>
                  <a:srgbClr val="7FDBFF"/>
                </a:solidFill>
                <a:latin typeface="Consolas"/>
              </a:rPr>
              <a:t>range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3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enemy =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make_car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random.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choice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(ENEMIES), ...)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b="1" dirty="0" err="1">
                <a:solidFill>
                  <a:srgbClr val="FF6B9A"/>
                </a:solidFill>
                <a:latin typeface="Consolas"/>
              </a:rPr>
              <a:t>enemies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append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(enemy)</a:t>
            </a:r>
          </a:p>
        </p:txBody>
      </p:sp>
      <p:sp>
        <p:nvSpPr>
          <p:cNvPr id="8" name="code-bg"/>
          <p:cNvSpPr/>
          <p:nvPr/>
        </p:nvSpPr>
        <p:spPr>
          <a:xfrm>
            <a:off x="4318612" y="3536139"/>
            <a:ext cx="7321700" cy="2810186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4523759" y="3704255"/>
            <a:ext cx="5078313" cy="26420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FF9F1C"/>
                </a:solidFill>
                <a:latin typeface="Consolas"/>
              </a:rPr>
              <a:t>for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enemy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in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enemies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enemy.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sety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enemy.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ycor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 -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speed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if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enemy.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ycor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() &lt; -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400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dirty="0" err="1">
                <a:solidFill>
                  <a:srgbClr val="7FDBFF"/>
                </a:solidFill>
                <a:latin typeface="Consolas"/>
              </a:rPr>
              <a:t>reset_enemy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(enemy)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score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score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+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1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speed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2000" b="1" dirty="0">
                <a:solidFill>
                  <a:srgbClr val="FF6B9A"/>
                </a:solidFill>
                <a:latin typeface="Consolas"/>
              </a:rPr>
              <a:t>speed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+ </a:t>
            </a:r>
            <a:r>
              <a:rPr sz="2000" dirty="0">
                <a:solidFill>
                  <a:srgbClr val="FFD166"/>
                </a:solidFill>
                <a:latin typeface="Consolas"/>
              </a:rPr>
              <a:t>0.3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if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</a:t>
            </a:r>
            <a:r>
              <a:rPr sz="2000" dirty="0">
                <a:solidFill>
                  <a:srgbClr val="7FDBFF"/>
                </a:solidFill>
                <a:latin typeface="Consolas"/>
              </a:rPr>
              <a:t>crashed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(player, enemy):</a:t>
            </a:r>
          </a:p>
          <a:p>
            <a:pPr algn="l" rtl="0">
              <a:lnSpc>
                <a:spcPct val="108000"/>
              </a:lnSpc>
            </a:pPr>
            <a:r>
              <a:rPr sz="20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2000" dirty="0" err="1">
                <a:solidFill>
                  <a:srgbClr val="E6E6E6"/>
                </a:solidFill>
                <a:latin typeface="Consolas"/>
              </a:rPr>
              <a:t>game_over</a:t>
            </a:r>
            <a:r>
              <a:rPr sz="20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2000" dirty="0">
                <a:solidFill>
                  <a:srgbClr val="FF9F1C"/>
                </a:solidFill>
                <a:latin typeface="Consolas"/>
              </a:rPr>
              <a:t>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9460" y="6400800"/>
            <a:ext cx="73217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b="0" i="0" dirty="0">
                <a:solidFill>
                  <a:srgbClr val="5F6F78"/>
                </a:solidFill>
                <a:latin typeface="Arial"/>
                <a:cs typeface="Arial"/>
              </a:rPr>
              <a:t>רוצים עוד מכוניות? משנים רק מספר אחד בלולאה - הרשימה עושה את השאר</a:t>
            </a:r>
          </a:p>
        </p:txBody>
      </p:sp>
      <p:sp>
        <p:nvSpPr>
          <p:cNvPr id="11" name="file-tag"/>
          <p:cNvSpPr/>
          <p:nvPr/>
        </p:nvSpPr>
        <p:spPr>
          <a:xfrm>
            <a:off x="1325880" y="57607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&lt;/&gt;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car5.py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4400" b="1" i="0">
                <a:solidFill>
                  <a:srgbClr val="FFFFFF"/>
                </a:solidFill>
                <a:latin typeface="Arial"/>
                <a:cs typeface="Arial"/>
              </a:rPr>
              <a:t>מה למדנו היום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19872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9468612" y="1874519"/>
            <a:ext cx="822960" cy="822960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9872" y="2788920"/>
            <a:ext cx="3520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FFFFFF"/>
                </a:solidFill>
                <a:latin typeface="Arial"/>
                <a:cs typeface="Arial"/>
              </a:rPr>
              <a:t>רשימות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4192" y="338328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אינדקס מתחיל מאפס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append, len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for x in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5682996" y="1874519"/>
            <a:ext cx="822960" cy="82296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788920"/>
            <a:ext cx="3520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FFFFFF"/>
                </a:solidFill>
                <a:latin typeface="Arial"/>
                <a:cs typeface="Arial"/>
              </a:rPr>
              <a:t>פונקציות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38328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def + פרמטרים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return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global / מקומי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39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97379" y="1874519"/>
            <a:ext cx="822960" cy="82296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" y="2788920"/>
            <a:ext cx="35204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600" b="1" i="0">
                <a:solidFill>
                  <a:srgbClr val="FFFFFF"/>
                </a:solidFill>
                <a:latin typeface="Arial"/>
                <a:cs typeface="Arial"/>
              </a:rPr>
              <a:t>משחק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8328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לולאת משחק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זיהוי התנגשות</a:t>
            </a:r>
          </a:p>
          <a:p>
            <a:pPr algn="ctr" rtl="1">
              <a:spcAft>
                <a:spcPts val="600"/>
              </a:spcAft>
            </a:pPr>
            <a:r>
              <a:rPr lang="he-IL" sz="1700" b="0" i="0">
                <a:solidFill>
                  <a:srgbClr val="CDE8D8"/>
                </a:solidFill>
                <a:latin typeface="Arial"/>
                <a:cs typeface="Arial"/>
              </a:rPr>
              <a:t>ניקוד ומהירות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8495"/>
            <a:ext cx="11091672" cy="120032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3600" b="1" i="0" dirty="0">
                <a:solidFill>
                  <a:srgbClr val="1B4332"/>
                </a:solidFill>
                <a:latin typeface="Arial"/>
                <a:cs typeface="Arial"/>
              </a:rPr>
              <a:t>שיעורי בית: שדרגו את המשחק (להגיש את קל ואחד מבינוני)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8251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000" b="0" i="0">
                <a:solidFill>
                  <a:srgbClr val="2D9F5C"/>
                </a:solidFill>
                <a:latin typeface="Arial"/>
              </a:rPr>
              <a:t>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19872" y="13258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48472" y="1554480"/>
            <a:ext cx="3063240" cy="685800"/>
          </a:xfrm>
          <a:prstGeom prst="roundRect">
            <a:avLst>
              <a:gd name="adj" fmla="val 50000"/>
            </a:avLst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48472" y="1554480"/>
            <a:ext cx="30632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200" b="1" i="0">
                <a:solidFill>
                  <a:srgbClr val="FFFFFF"/>
                </a:solidFill>
                <a:latin typeface="Arial"/>
                <a:cs typeface="Arial"/>
              </a:rPr>
              <a:t>★  קל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2743200"/>
            <a:ext cx="201168" cy="201168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2" y="2560320"/>
            <a:ext cx="2697480" cy="9284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הוסף מכונית חדשה ברשימה ENEMIES בעזרת התמונה</a:t>
            </a:r>
          </a:p>
          <a:p>
            <a:pPr algn="r" rtl="1">
              <a:spcAft>
                <a:spcPts val="400"/>
              </a:spcAft>
            </a:pPr>
            <a:r>
              <a:rPr lang="en-US" sz="1700" dirty="0">
                <a:solidFill>
                  <a:srgbClr val="1B2B34"/>
                </a:solidFill>
                <a:latin typeface="Arial"/>
                <a:cs typeface="Arial"/>
              </a:rPr>
              <a:t>image1.gif</a:t>
            </a:r>
            <a:endParaRPr lang="he-IL" sz="1700" b="0" i="0" dirty="0">
              <a:solidFill>
                <a:srgbClr val="1B2B34"/>
              </a:solidFill>
              <a:latin typeface="Arial"/>
              <a:cs typeface="Arial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137392" y="3657600"/>
            <a:ext cx="201168" cy="201168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3474720"/>
            <a:ext cx="2697480" cy="6668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בחרו אויב משלכם מהאתר:</a:t>
            </a:r>
          </a:p>
          <a:p>
            <a:pPr algn="r" rtl="1">
              <a:spcAft>
                <a:spcPts val="400"/>
              </a:spcAft>
            </a:pPr>
            <a:r>
              <a:rPr lang="en-US" sz="1700" dirty="0">
                <a:solidFill>
                  <a:srgbClr val="1B2B34"/>
                </a:solidFill>
                <a:latin typeface="Arial"/>
                <a:cs typeface="Arial"/>
              </a:rPr>
              <a:t>https://gifcities.org/</a:t>
            </a:r>
            <a:endParaRPr lang="he-IL" sz="1700" b="0" i="0" dirty="0">
              <a:solidFill>
                <a:srgbClr val="1B2B34"/>
              </a:solidFill>
              <a:latin typeface="Arial"/>
              <a:cs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137392" y="4572000"/>
            <a:ext cx="201168" cy="201168"/>
          </a:xfrm>
          <a:prstGeom prst="ellipse">
            <a:avLst/>
          </a:prstGeom>
          <a:solidFill>
            <a:srgbClr val="2D9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2" y="4389120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מהירות התחלתית אחרת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3258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6" y="1554480"/>
            <a:ext cx="3063240" cy="6858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1554480"/>
            <a:ext cx="30632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200" b="1" i="0">
                <a:solidFill>
                  <a:srgbClr val="FFFFFF"/>
                </a:solidFill>
                <a:latin typeface="Arial"/>
                <a:cs typeface="Arial"/>
              </a:rPr>
              <a:t>★★  בינוני</a:t>
            </a:r>
          </a:p>
        </p:txBody>
      </p:sp>
      <p:sp>
        <p:nvSpPr>
          <p:cNvPr id="16" name="Oval 15"/>
          <p:cNvSpPr/>
          <p:nvPr/>
        </p:nvSpPr>
        <p:spPr>
          <a:xfrm>
            <a:off x="7351775" y="2743200"/>
            <a:ext cx="201168" cy="20116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62856" y="2560320"/>
            <a:ext cx="269748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הוסף נתיב רביעי וכביש רחב יותר</a:t>
            </a:r>
          </a:p>
        </p:txBody>
      </p:sp>
      <p:sp>
        <p:nvSpPr>
          <p:cNvPr id="18" name="Oval 17"/>
          <p:cNvSpPr/>
          <p:nvPr/>
        </p:nvSpPr>
        <p:spPr>
          <a:xfrm>
            <a:off x="7351775" y="3657600"/>
            <a:ext cx="201168" cy="20116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3474720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שומרים את השיא הכי גבוה</a:t>
            </a:r>
          </a:p>
        </p:txBody>
      </p:sp>
      <p:sp>
        <p:nvSpPr>
          <p:cNvPr id="20" name="Oval 19"/>
          <p:cNvSpPr/>
          <p:nvPr/>
        </p:nvSpPr>
        <p:spPr>
          <a:xfrm>
            <a:off x="7351775" y="4572000"/>
            <a:ext cx="201168" cy="201168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856" y="4389120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רקע משתנה כל 10 נקודות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39" y="132588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  <a:effectLst>
            <a:outerShdw blurRad="762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39" y="1554480"/>
            <a:ext cx="3063240" cy="685800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39" y="1554480"/>
            <a:ext cx="30632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he-IL" sz="2200" b="1" i="0">
                <a:solidFill>
                  <a:srgbClr val="FFFFFF"/>
                </a:solidFill>
                <a:latin typeface="Arial"/>
                <a:cs typeface="Arial"/>
              </a:rPr>
              <a:t>★★★  אלופים</a:t>
            </a:r>
          </a:p>
        </p:txBody>
      </p:sp>
      <p:sp>
        <p:nvSpPr>
          <p:cNvPr id="25" name="Oval 24"/>
          <p:cNvSpPr/>
          <p:nvPr/>
        </p:nvSpPr>
        <p:spPr>
          <a:xfrm>
            <a:off x="3566160" y="2743200"/>
            <a:ext cx="201168" cy="20116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39" y="2560320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3 חיים במקום 1</a:t>
            </a:r>
          </a:p>
        </p:txBody>
      </p:sp>
      <p:sp>
        <p:nvSpPr>
          <p:cNvPr id="27" name="Oval 26"/>
          <p:cNvSpPr/>
          <p:nvPr/>
        </p:nvSpPr>
        <p:spPr>
          <a:xfrm>
            <a:off x="3566160" y="3657600"/>
            <a:ext cx="201168" cy="20116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39" y="3474720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>
                <a:solidFill>
                  <a:srgbClr val="1B2B34"/>
                </a:solidFill>
                <a:latin typeface="Arial"/>
                <a:cs typeface="Arial"/>
              </a:rPr>
              <a:t>מטבעות לאיסוף = בונוס</a:t>
            </a:r>
          </a:p>
        </p:txBody>
      </p:sp>
      <p:sp>
        <p:nvSpPr>
          <p:cNvPr id="29" name="Oval 28"/>
          <p:cNvSpPr/>
          <p:nvPr/>
        </p:nvSpPr>
        <p:spPr>
          <a:xfrm>
            <a:off x="3566160" y="4572000"/>
            <a:ext cx="201168" cy="20116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39" y="4389120"/>
            <a:ext cx="26974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700" b="0" i="0" dirty="0">
                <a:solidFill>
                  <a:srgbClr val="1B2B34"/>
                </a:solidFill>
                <a:latin typeface="Arial"/>
                <a:cs typeface="Arial"/>
              </a:rPr>
              <a:t>לחיצה על רווח = משחק חדש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3665</Words>
  <Application>Microsoft Office PowerPoint</Application>
  <PresentationFormat>Widescreen</PresentationFormat>
  <Paragraphs>478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 Livne</cp:lastModifiedBy>
  <cp:revision>15</cp:revision>
  <dcterms:created xsi:type="dcterms:W3CDTF">2013-01-27T09:14:16Z</dcterms:created>
  <dcterms:modified xsi:type="dcterms:W3CDTF">2026-10-11T12:13:25Z</dcterms:modified>
  <cp:category/>
</cp:coreProperties>
</file>